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23"/>
  </p:notesMasterIdLst>
  <p:sldIdLst>
    <p:sldId id="350" r:id="rId2"/>
    <p:sldId id="348" r:id="rId3"/>
    <p:sldId id="351" r:id="rId4"/>
    <p:sldId id="304" r:id="rId5"/>
    <p:sldId id="259" r:id="rId6"/>
    <p:sldId id="382" r:id="rId7"/>
    <p:sldId id="354" r:id="rId8"/>
    <p:sldId id="384" r:id="rId9"/>
    <p:sldId id="360" r:id="rId10"/>
    <p:sldId id="385" r:id="rId11"/>
    <p:sldId id="389" r:id="rId12"/>
    <p:sldId id="358" r:id="rId13"/>
    <p:sldId id="386" r:id="rId14"/>
    <p:sldId id="365" r:id="rId15"/>
    <p:sldId id="387" r:id="rId16"/>
    <p:sldId id="355" r:id="rId17"/>
    <p:sldId id="357" r:id="rId18"/>
    <p:sldId id="392" r:id="rId19"/>
    <p:sldId id="390" r:id="rId20"/>
    <p:sldId id="391" r:id="rId21"/>
    <p:sldId id="398" r:id="rId22"/>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73"/>
    <p:restoredTop sz="94660"/>
  </p:normalViewPr>
  <p:slideViewPr>
    <p:cSldViewPr>
      <p:cViewPr varScale="1">
        <p:scale>
          <a:sx n="97" d="100"/>
          <a:sy n="97" d="100"/>
        </p:scale>
        <p:origin x="1760" y="192"/>
      </p:cViewPr>
      <p:guideLst>
        <p:guide orient="horz" pos="2160"/>
        <p:guide pos="2880"/>
      </p:guideLst>
    </p:cSldViewPr>
  </p:slideViewPr>
  <p:notesTextViewPr>
    <p:cViewPr>
      <p:scale>
        <a:sx n="1" d="1"/>
        <a:sy n="1" d="1"/>
      </p:scale>
      <p:origin x="0" y="0"/>
    </p:cViewPr>
  </p:notesTextViewPr>
  <p:sorterViewPr>
    <p:cViewPr>
      <p:scale>
        <a:sx n="100" d="100"/>
        <a:sy n="100" d="100"/>
      </p:scale>
      <p:origin x="0" y="319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69291E-FBDC-D54D-A6A0-EF20BF66F8C0}" type="datetimeFigureOut">
              <a:rPr lang="en-US" smtClean="0"/>
              <a:t>4/4/24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ECF6F9-7A6B-2B43-B218-10ACC5C20D10}" type="slidenum">
              <a:rPr lang="en-US" smtClean="0"/>
              <a:t>‹#›</a:t>
            </a:fld>
            <a:endParaRPr lang="en-US"/>
          </a:p>
        </p:txBody>
      </p:sp>
    </p:spTree>
    <p:extLst>
      <p:ext uri="{BB962C8B-B14F-4D97-AF65-F5344CB8AC3E}">
        <p14:creationId xmlns:p14="http://schemas.microsoft.com/office/powerpoint/2010/main" val="948805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1DE7B59-F086-4F84-8667-F93768271040}" type="datetimeFigureOut">
              <a:rPr lang="tr-TR" smtClean="0"/>
              <a:t>4.04.2024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E8735AE-F2B9-442B-B723-96B974A2A2AA}" type="slidenum">
              <a:rPr lang="tr-TR" smtClean="0"/>
              <a:t>‹#›</a:t>
            </a:fld>
            <a:endParaRPr lang="tr-TR"/>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563" y="0"/>
            <a:ext cx="7543800" cy="1450757"/>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35CC2F-7644-4047-BD9C-15B5D7A0C27E}" type="datetimeFigureOut">
              <a:rPr lang="en-US" smtClean="0"/>
              <a:t>4/4/24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735AE-F2B9-442B-B723-96B974A2A2AA}" type="slidenum">
              <a:rPr lang="tr-TR" smtClean="0"/>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DE7B59-F086-4F84-8667-F93768271040}" type="datetimeFigureOut">
              <a:rPr lang="tr-TR" smtClean="0"/>
              <a:t>4.04.2024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E8735AE-F2B9-442B-B723-96B974A2A2AA}" type="slidenum">
              <a:rPr lang="tr-TR" smtClean="0"/>
              <a:t>‹#›</a:t>
            </a:fld>
            <a:endParaRPr lang="tr-TR"/>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DE7B59-F086-4F84-8667-F93768271040}" type="datetimeFigureOut">
              <a:rPr lang="tr-TR" smtClean="0"/>
              <a:t>4.04.2024</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E8735AE-F2B9-442B-B723-96B974A2A2AA}" type="slidenum">
              <a:rPr lang="tr-TR" smtClean="0"/>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DE7B59-F086-4F84-8667-F93768271040}" type="datetimeFigureOut">
              <a:rPr lang="tr-TR" smtClean="0"/>
              <a:t>4.04.2024</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E8735AE-F2B9-442B-B723-96B974A2A2AA}" type="slidenum">
              <a:rPr lang="tr-TR" smtClean="0"/>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DE7B59-F086-4F84-8667-F93768271040}" type="datetimeFigureOut">
              <a:rPr lang="tr-TR" smtClean="0"/>
              <a:t>4.04.2024</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E8735AE-F2B9-442B-B723-96B974A2A2AA}" type="slidenum">
              <a:rPr lang="tr-TR" smtClean="0"/>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1DE7B59-F086-4F84-8667-F93768271040}" type="datetimeFigureOut">
              <a:rPr lang="tr-TR" smtClean="0"/>
              <a:t>4.04.2024</a:t>
            </a:fld>
            <a:endParaRPr lang="tr-T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tr-TR"/>
          </a:p>
        </p:txBody>
      </p:sp>
      <p:sp>
        <p:nvSpPr>
          <p:cNvPr id="9" name="Slide Number Placeholder 8"/>
          <p:cNvSpPr>
            <a:spLocks noGrp="1"/>
          </p:cNvSpPr>
          <p:nvPr>
            <p:ph type="sldNum" sz="quarter" idx="12"/>
          </p:nvPr>
        </p:nvSpPr>
        <p:spPr/>
        <p:txBody>
          <a:bodyPr/>
          <a:lstStyle/>
          <a:p>
            <a:fld id="{CE8735AE-F2B9-442B-B723-96B974A2A2AA}" type="slidenum">
              <a:rPr lang="tr-TR" smtClean="0"/>
              <a:t>‹#›</a:t>
            </a:fld>
            <a:endParaRPr lang="tr-TR"/>
          </a:p>
        </p:txBody>
      </p:sp>
    </p:spTree>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1DE7B59-F086-4F84-8667-F93768271040}" type="datetimeFigureOut">
              <a:rPr lang="tr-TR" smtClean="0"/>
              <a:t>4.04.2024</a:t>
            </a:fld>
            <a:endParaRPr lang="tr-TR"/>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tr-T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E8735AE-F2B9-442B-B723-96B974A2A2AA}" type="slidenum">
              <a:rPr lang="tr-TR" smtClean="0"/>
              <a:t>‹#›</a:t>
            </a:fld>
            <a:endParaRPr lang="tr-TR"/>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accent2"/>
          </a:solid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DE7B59-F086-4F84-8667-F93768271040}" type="datetimeFigureOut">
              <a:rPr lang="tr-TR" smtClean="0"/>
              <a:t>4.04.2024</a:t>
            </a:fld>
            <a:endParaRPr lang="tr-T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E8735AE-F2B9-442B-B723-96B974A2A2AA}" type="slidenum">
              <a:rPr lang="tr-TR" smtClean="0"/>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DE7B59-F086-4F84-8667-F93768271040}" type="datetimeFigureOut">
              <a:rPr lang="tr-TR" smtClean="0"/>
              <a:t>4.04.2024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E8735AE-F2B9-442B-B723-96B974A2A2AA}"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DE7B59-F086-4F84-8667-F93768271040}" type="datetimeFigureOut">
              <a:rPr lang="tr-TR" smtClean="0"/>
              <a:t>4.04.2024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E8735AE-F2B9-442B-B723-96B974A2A2AA}" type="slidenum">
              <a:rPr lang="tr-TR" smtClean="0"/>
              <a:t>‹#›</a:t>
            </a:fld>
            <a:endParaRPr lang="tr-TR"/>
          </a:p>
        </p:txBody>
      </p:sp>
    </p:spTree>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1DE7B59-F086-4F84-8667-F93768271040}" type="datetimeFigureOut">
              <a:rPr lang="tr-TR" smtClean="0"/>
              <a:t>4.04.2024</a:t>
            </a:fld>
            <a:endParaRPr lang="tr-TR"/>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tr-T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E8735AE-F2B9-442B-B723-96B974A2A2AA}" type="slidenum">
              <a:rPr lang="tr-TR" smtClean="0"/>
              <a:t>‹#›</a:t>
            </a:fld>
            <a:endParaRPr lang="tr-TR"/>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4828390"/>
      </p:ext>
    </p:extLst>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ÇIKARIMSAL İSTATİSTİK</a:t>
            </a:r>
          </a:p>
        </p:txBody>
      </p:sp>
      <p:sp>
        <p:nvSpPr>
          <p:cNvPr id="3" name="Subtitle 2"/>
          <p:cNvSpPr>
            <a:spLocks noGrp="1"/>
          </p:cNvSpPr>
          <p:nvPr>
            <p:ph type="subTitle" idx="1"/>
          </p:nvPr>
        </p:nvSpPr>
        <p:spPr/>
        <p:txBody>
          <a:bodyPr/>
          <a:lstStyle/>
          <a:p>
            <a:r>
              <a:rPr lang="en-US" dirty="0"/>
              <a:t>Prof. DR. EVRİM GENÇ KUMTEPE</a:t>
            </a:r>
          </a:p>
        </p:txBody>
      </p:sp>
    </p:spTree>
    <p:extLst>
      <p:ext uri="{BB962C8B-B14F-4D97-AF65-F5344CB8AC3E}">
        <p14:creationId xmlns:p14="http://schemas.microsoft.com/office/powerpoint/2010/main" val="2137795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502322" y="375557"/>
            <a:ext cx="7200900" cy="648072"/>
          </a:xfrm>
        </p:spPr>
        <p:txBody>
          <a:bodyPr>
            <a:normAutofit/>
          </a:bodyPr>
          <a:lstStyle/>
          <a:p>
            <a:r>
              <a:rPr lang="tr-TR" sz="3600" b="1" dirty="0" err="1">
                <a:solidFill>
                  <a:schemeClr val="tx1"/>
                </a:solidFill>
                <a:ea typeface="Franklin Gothic Heavy" charset="0"/>
                <a:cs typeface="Franklin Gothic Heavy" charset="0"/>
              </a:rPr>
              <a:t>Çıkarımsal</a:t>
            </a:r>
            <a:r>
              <a:rPr lang="tr-TR" sz="3600" b="1" dirty="0">
                <a:solidFill>
                  <a:schemeClr val="tx1"/>
                </a:solidFill>
                <a:ea typeface="Franklin Gothic Heavy" charset="0"/>
                <a:cs typeface="Franklin Gothic Heavy" charset="0"/>
              </a:rPr>
              <a:t> İstatistik</a:t>
            </a:r>
            <a:endParaRPr lang="en-US" sz="3600" b="1" dirty="0">
              <a:solidFill>
                <a:schemeClr val="tx1"/>
              </a:solidFill>
              <a:ea typeface="Franklin Gothic Heavy" charset="0"/>
              <a:cs typeface="Franklin Gothic Heavy" charset="0"/>
            </a:endParaRPr>
          </a:p>
        </p:txBody>
      </p:sp>
      <p:sp>
        <p:nvSpPr>
          <p:cNvPr id="4" name="Dikdörtgen 3"/>
          <p:cNvSpPr/>
          <p:nvPr/>
        </p:nvSpPr>
        <p:spPr>
          <a:xfrm>
            <a:off x="606469" y="1244098"/>
            <a:ext cx="8206687" cy="1200329"/>
          </a:xfrm>
          <a:prstGeom prst="rect">
            <a:avLst/>
          </a:prstGeom>
        </p:spPr>
        <p:txBody>
          <a:bodyPr wrap="square">
            <a:spAutoFit/>
          </a:bodyPr>
          <a:lstStyle/>
          <a:p>
            <a:r>
              <a:rPr lang="tr-TR" sz="2400" dirty="0">
                <a:latin typeface="Calibri" charset="0"/>
                <a:ea typeface="Calibri" charset="0"/>
                <a:cs typeface="Calibri" charset="0"/>
              </a:rPr>
              <a:t>İ</a:t>
            </a:r>
            <a:r>
              <a:rPr lang="en-US" sz="2400" dirty="0" err="1">
                <a:latin typeface="Calibri" charset="0"/>
                <a:ea typeface="Calibri" charset="0"/>
                <a:cs typeface="Calibri" charset="0"/>
              </a:rPr>
              <a:t>lgili</a:t>
            </a:r>
            <a:r>
              <a:rPr lang="en-US" sz="2400" dirty="0">
                <a:latin typeface="Calibri" charset="0"/>
                <a:ea typeface="Calibri" charset="0"/>
                <a:cs typeface="Calibri" charset="0"/>
              </a:rPr>
              <a:t> </a:t>
            </a:r>
            <a:r>
              <a:rPr lang="tr-TR" sz="2400" dirty="0">
                <a:latin typeface="Calibri" charset="0"/>
                <a:ea typeface="Calibri" charset="0"/>
                <a:cs typeface="Calibri" charset="0"/>
              </a:rPr>
              <a:t>popülasyondan</a:t>
            </a:r>
            <a:r>
              <a:rPr lang="en-US" sz="2400" dirty="0">
                <a:latin typeface="Calibri" charset="0"/>
                <a:ea typeface="Calibri" charset="0"/>
                <a:cs typeface="Calibri" charset="0"/>
              </a:rPr>
              <a:t> </a:t>
            </a:r>
            <a:r>
              <a:rPr lang="en-US" sz="2400" dirty="0" err="1">
                <a:latin typeface="Calibri" charset="0"/>
                <a:ea typeface="Calibri" charset="0"/>
                <a:cs typeface="Calibri" charset="0"/>
              </a:rPr>
              <a:t>belirli</a:t>
            </a:r>
            <a:r>
              <a:rPr lang="en-US" sz="2400" dirty="0">
                <a:latin typeface="Calibri" charset="0"/>
                <a:ea typeface="Calibri" charset="0"/>
                <a:cs typeface="Calibri" charset="0"/>
              </a:rPr>
              <a:t> </a:t>
            </a:r>
            <a:r>
              <a:rPr lang="en-US" sz="2400" dirty="0" err="1">
                <a:latin typeface="Calibri" charset="0"/>
                <a:ea typeface="Calibri" charset="0"/>
                <a:cs typeface="Calibri" charset="0"/>
              </a:rPr>
              <a:t>yöntemlerle</a:t>
            </a:r>
            <a:r>
              <a:rPr lang="en-US" sz="2400" dirty="0">
                <a:latin typeface="Calibri" charset="0"/>
                <a:ea typeface="Calibri" charset="0"/>
                <a:cs typeface="Calibri" charset="0"/>
              </a:rPr>
              <a:t> </a:t>
            </a:r>
            <a:r>
              <a:rPr lang="en-US" sz="2400" dirty="0" err="1">
                <a:latin typeface="Calibri" charset="0"/>
                <a:ea typeface="Calibri" charset="0"/>
                <a:cs typeface="Calibri" charset="0"/>
              </a:rPr>
              <a:t>elde</a:t>
            </a:r>
            <a:r>
              <a:rPr lang="en-US" sz="2400" dirty="0">
                <a:latin typeface="Calibri" charset="0"/>
                <a:ea typeface="Calibri" charset="0"/>
                <a:cs typeface="Calibri" charset="0"/>
              </a:rPr>
              <a:t> </a:t>
            </a:r>
            <a:r>
              <a:rPr lang="en-US" sz="2400" dirty="0" err="1">
                <a:latin typeface="Calibri" charset="0"/>
                <a:ea typeface="Calibri" charset="0"/>
                <a:cs typeface="Calibri" charset="0"/>
              </a:rPr>
              <a:t>edilen</a:t>
            </a:r>
            <a:r>
              <a:rPr lang="en-US" sz="2400" dirty="0">
                <a:latin typeface="Calibri" charset="0"/>
                <a:ea typeface="Calibri" charset="0"/>
                <a:cs typeface="Calibri" charset="0"/>
              </a:rPr>
              <a:t> </a:t>
            </a:r>
            <a:r>
              <a:rPr lang="en-US" sz="2400" dirty="0" err="1">
                <a:latin typeface="Calibri" charset="0"/>
                <a:ea typeface="Calibri" charset="0"/>
                <a:cs typeface="Calibri" charset="0"/>
              </a:rPr>
              <a:t>örnekleme</a:t>
            </a:r>
            <a:r>
              <a:rPr lang="en-US" sz="2400" dirty="0">
                <a:latin typeface="Calibri" charset="0"/>
                <a:ea typeface="Calibri" charset="0"/>
                <a:cs typeface="Calibri" charset="0"/>
              </a:rPr>
              <a:t> </a:t>
            </a:r>
            <a:r>
              <a:rPr lang="en-US" sz="2400" dirty="0" err="1">
                <a:latin typeface="Calibri" charset="0"/>
                <a:ea typeface="Calibri" charset="0"/>
                <a:cs typeface="Calibri" charset="0"/>
              </a:rPr>
              <a:t>ilişkin</a:t>
            </a:r>
            <a:r>
              <a:rPr lang="en-US" sz="2400" dirty="0">
                <a:latin typeface="Calibri" charset="0"/>
                <a:ea typeface="Calibri" charset="0"/>
                <a:cs typeface="Calibri" charset="0"/>
              </a:rPr>
              <a:t> </a:t>
            </a:r>
            <a:r>
              <a:rPr lang="en-US" sz="2400" dirty="0" err="1">
                <a:latin typeface="Calibri" charset="0"/>
                <a:ea typeface="Calibri" charset="0"/>
                <a:cs typeface="Calibri" charset="0"/>
              </a:rPr>
              <a:t>verilerin</a:t>
            </a:r>
            <a:r>
              <a:rPr lang="en-US" sz="2400" dirty="0">
                <a:latin typeface="Calibri" charset="0"/>
                <a:ea typeface="Calibri" charset="0"/>
                <a:cs typeface="Calibri" charset="0"/>
              </a:rPr>
              <a:t> </a:t>
            </a:r>
            <a:r>
              <a:rPr lang="en-US" sz="2400" dirty="0" err="1">
                <a:latin typeface="Calibri" charset="0"/>
                <a:ea typeface="Calibri" charset="0"/>
                <a:cs typeface="Calibri" charset="0"/>
              </a:rPr>
              <a:t>uygun</a:t>
            </a:r>
            <a:r>
              <a:rPr lang="en-US" sz="2400" dirty="0">
                <a:latin typeface="Calibri" charset="0"/>
                <a:ea typeface="Calibri" charset="0"/>
                <a:cs typeface="Calibri" charset="0"/>
              </a:rPr>
              <a:t> </a:t>
            </a:r>
            <a:r>
              <a:rPr lang="en-US" sz="2400" dirty="0" err="1">
                <a:latin typeface="Calibri" charset="0"/>
                <a:ea typeface="Calibri" charset="0"/>
                <a:cs typeface="Calibri" charset="0"/>
              </a:rPr>
              <a:t>analizlere</a:t>
            </a:r>
            <a:r>
              <a:rPr lang="en-US" sz="2400" dirty="0">
                <a:latin typeface="Calibri" charset="0"/>
                <a:ea typeface="Calibri" charset="0"/>
                <a:cs typeface="Calibri" charset="0"/>
              </a:rPr>
              <a:t> </a:t>
            </a:r>
            <a:r>
              <a:rPr lang="en-US" sz="2400" dirty="0" err="1">
                <a:latin typeface="Calibri" charset="0"/>
                <a:ea typeface="Calibri" charset="0"/>
                <a:cs typeface="Calibri" charset="0"/>
              </a:rPr>
              <a:t>dayanarak</a:t>
            </a:r>
            <a:r>
              <a:rPr lang="en-US" sz="2400" dirty="0">
                <a:latin typeface="Calibri" charset="0"/>
                <a:ea typeface="Calibri" charset="0"/>
                <a:cs typeface="Calibri" charset="0"/>
              </a:rPr>
              <a:t> </a:t>
            </a:r>
            <a:r>
              <a:rPr lang="tr-TR" sz="2400" dirty="0">
                <a:latin typeface="Calibri" charset="0"/>
                <a:ea typeface="Calibri" charset="0"/>
                <a:cs typeface="Calibri" charset="0"/>
              </a:rPr>
              <a:t>popülasyon ile ilgili </a:t>
            </a:r>
            <a:r>
              <a:rPr lang="en-US" sz="2400" dirty="0" err="1">
                <a:latin typeface="Calibri" charset="0"/>
                <a:ea typeface="Calibri" charset="0"/>
                <a:cs typeface="Calibri" charset="0"/>
              </a:rPr>
              <a:t>çıkarsamalar</a:t>
            </a:r>
            <a:r>
              <a:rPr lang="en-US" sz="2400" dirty="0">
                <a:latin typeface="Calibri" charset="0"/>
                <a:ea typeface="Calibri" charset="0"/>
                <a:cs typeface="Calibri" charset="0"/>
              </a:rPr>
              <a:t>/</a:t>
            </a:r>
            <a:r>
              <a:rPr lang="en-US" sz="2400" dirty="0" err="1">
                <a:latin typeface="Calibri" charset="0"/>
                <a:ea typeface="Calibri" charset="0"/>
                <a:cs typeface="Calibri" charset="0"/>
              </a:rPr>
              <a:t>kestirimler</a:t>
            </a:r>
            <a:r>
              <a:rPr lang="en-US" sz="2400" dirty="0">
                <a:latin typeface="Calibri" charset="0"/>
                <a:ea typeface="Calibri" charset="0"/>
                <a:cs typeface="Calibri" charset="0"/>
              </a:rPr>
              <a:t> yap</a:t>
            </a:r>
            <a:r>
              <a:rPr lang="tr-TR" sz="2400" dirty="0" err="1">
                <a:latin typeface="Calibri" charset="0"/>
                <a:ea typeface="Calibri" charset="0"/>
                <a:cs typeface="Calibri" charset="0"/>
              </a:rPr>
              <a:t>ılması</a:t>
            </a:r>
            <a:endParaRPr lang="en-US" sz="2400" dirty="0">
              <a:latin typeface="Calibri" charset="0"/>
              <a:ea typeface="Calibri" charset="0"/>
              <a:cs typeface="Calibri" charset="0"/>
            </a:endParaRPr>
          </a:p>
        </p:txBody>
      </p:sp>
      <p:grpSp>
        <p:nvGrpSpPr>
          <p:cNvPr id="21" name="Group 20"/>
          <p:cNvGrpSpPr/>
          <p:nvPr/>
        </p:nvGrpSpPr>
        <p:grpSpPr>
          <a:xfrm>
            <a:off x="971649" y="2885365"/>
            <a:ext cx="6480721" cy="2655134"/>
            <a:chOff x="1187624" y="2689852"/>
            <a:chExt cx="6974043" cy="3355176"/>
          </a:xfrm>
        </p:grpSpPr>
        <p:sp>
          <p:nvSpPr>
            <p:cNvPr id="5" name="Oval 4"/>
            <p:cNvSpPr/>
            <p:nvPr/>
          </p:nvSpPr>
          <p:spPr>
            <a:xfrm>
              <a:off x="1187624" y="2689852"/>
              <a:ext cx="2304256" cy="230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POPÜLASYON</a:t>
              </a:r>
            </a:p>
          </p:txBody>
        </p:sp>
        <p:grpSp>
          <p:nvGrpSpPr>
            <p:cNvPr id="10" name="Group 9"/>
            <p:cNvGrpSpPr/>
            <p:nvPr/>
          </p:nvGrpSpPr>
          <p:grpSpPr>
            <a:xfrm>
              <a:off x="4618368" y="3175489"/>
              <a:ext cx="1224136" cy="1224136"/>
              <a:chOff x="5508154" y="3253734"/>
              <a:chExt cx="1224136" cy="1224136"/>
            </a:xfrm>
          </p:grpSpPr>
          <p:sp>
            <p:nvSpPr>
              <p:cNvPr id="6" name="Oval 5"/>
              <p:cNvSpPr/>
              <p:nvPr/>
            </p:nvSpPr>
            <p:spPr>
              <a:xfrm>
                <a:off x="5508154" y="3253734"/>
                <a:ext cx="1224136" cy="12241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5556605" y="3664204"/>
                <a:ext cx="1127233" cy="369332"/>
              </a:xfrm>
              <a:prstGeom prst="rect">
                <a:avLst/>
              </a:prstGeom>
            </p:spPr>
            <p:txBody>
              <a:bodyPr wrap="none">
                <a:spAutoFit/>
              </a:bodyPr>
              <a:lstStyle/>
              <a:p>
                <a:pPr algn="ctr"/>
                <a:r>
                  <a:rPr lang="en-US" dirty="0" err="1">
                    <a:solidFill>
                      <a:schemeClr val="bg1"/>
                    </a:solidFill>
                  </a:rPr>
                  <a:t>Örneklem</a:t>
                </a:r>
                <a:endParaRPr lang="en-US" dirty="0">
                  <a:solidFill>
                    <a:schemeClr val="bg1"/>
                  </a:solidFill>
                </a:endParaRPr>
              </a:p>
            </p:txBody>
          </p:sp>
        </p:grpSp>
        <p:sp>
          <p:nvSpPr>
            <p:cNvPr id="11" name="Right Arrow 10"/>
            <p:cNvSpPr/>
            <p:nvPr/>
          </p:nvSpPr>
          <p:spPr>
            <a:xfrm>
              <a:off x="3563888" y="3556976"/>
              <a:ext cx="993204" cy="576064"/>
            </a:xfrm>
            <a:prstGeom prst="rightArrow">
              <a:avLst/>
            </a:prstGeom>
            <a:solidFill>
              <a:srgbClr val="7030A0"/>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dirty="0" err="1">
                  <a:solidFill>
                    <a:schemeClr val="bg1"/>
                  </a:solidFill>
                </a:rPr>
                <a:t>seçim</a:t>
              </a:r>
              <a:endParaRPr lang="en-US" dirty="0">
                <a:solidFill>
                  <a:schemeClr val="bg1"/>
                </a:solidFill>
              </a:endParaRPr>
            </a:p>
          </p:txBody>
        </p:sp>
        <p:sp>
          <p:nvSpPr>
            <p:cNvPr id="13" name="Right Arrow 12"/>
            <p:cNvSpPr/>
            <p:nvPr/>
          </p:nvSpPr>
          <p:spPr>
            <a:xfrm>
              <a:off x="5877895" y="3524531"/>
              <a:ext cx="1044000" cy="576000"/>
            </a:xfrm>
            <a:prstGeom prst="right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ölçüm</a:t>
              </a:r>
              <a:endParaRPr lang="en-US" dirty="0">
                <a:solidFill>
                  <a:schemeClr val="bg1"/>
                </a:solidFill>
              </a:endParaRPr>
            </a:p>
          </p:txBody>
        </p:sp>
        <p:sp>
          <p:nvSpPr>
            <p:cNvPr id="15" name="Freeform 14"/>
            <p:cNvSpPr/>
            <p:nvPr/>
          </p:nvSpPr>
          <p:spPr>
            <a:xfrm>
              <a:off x="3347864" y="4299575"/>
              <a:ext cx="3816424" cy="867124"/>
            </a:xfrm>
            <a:custGeom>
              <a:avLst/>
              <a:gdLst>
                <a:gd name="connsiteX0" fmla="*/ 4861458 w 4861458"/>
                <a:gd name="connsiteY0" fmla="*/ 0 h 2116322"/>
                <a:gd name="connsiteX1" fmla="*/ 2880258 w 4861458"/>
                <a:gd name="connsiteY1" fmla="*/ 2108200 h 2116322"/>
                <a:gd name="connsiteX2" fmla="*/ 238658 w 4861458"/>
                <a:gd name="connsiteY2" fmla="*/ 723900 h 2116322"/>
                <a:gd name="connsiteX3" fmla="*/ 124358 w 4861458"/>
                <a:gd name="connsiteY3" fmla="*/ 635000 h 2116322"/>
              </a:gdLst>
              <a:ahLst/>
              <a:cxnLst>
                <a:cxn ang="0">
                  <a:pos x="connsiteX0" y="connsiteY0"/>
                </a:cxn>
                <a:cxn ang="0">
                  <a:pos x="connsiteX1" y="connsiteY1"/>
                </a:cxn>
                <a:cxn ang="0">
                  <a:pos x="connsiteX2" y="connsiteY2"/>
                </a:cxn>
                <a:cxn ang="0">
                  <a:pos x="connsiteX3" y="connsiteY3"/>
                </a:cxn>
              </a:cxnLst>
              <a:rect l="l" t="t" r="r" b="b"/>
              <a:pathLst>
                <a:path w="4861458" h="2116322">
                  <a:moveTo>
                    <a:pt x="4861458" y="0"/>
                  </a:moveTo>
                  <a:cubicBezTo>
                    <a:pt x="4256091" y="993775"/>
                    <a:pt x="3650725" y="1987550"/>
                    <a:pt x="2880258" y="2108200"/>
                  </a:cubicBezTo>
                  <a:cubicBezTo>
                    <a:pt x="2109791" y="2228850"/>
                    <a:pt x="697975" y="969433"/>
                    <a:pt x="238658" y="723900"/>
                  </a:cubicBezTo>
                  <a:cubicBezTo>
                    <a:pt x="-220659" y="478367"/>
                    <a:pt x="124358" y="635000"/>
                    <a:pt x="124358" y="635000"/>
                  </a:cubicBezTo>
                </a:path>
              </a:pathLst>
            </a:custGeom>
            <a:noFill/>
            <a:ln>
              <a:prstDash val="dash"/>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p:cNvGrpSpPr/>
            <p:nvPr/>
          </p:nvGrpSpPr>
          <p:grpSpPr>
            <a:xfrm>
              <a:off x="6937531" y="3158557"/>
              <a:ext cx="1224136" cy="1224136"/>
              <a:chOff x="5508154" y="3253734"/>
              <a:chExt cx="1224136" cy="1224136"/>
            </a:xfrm>
          </p:grpSpPr>
          <p:sp>
            <p:nvSpPr>
              <p:cNvPr id="18" name="Oval 17"/>
              <p:cNvSpPr/>
              <p:nvPr/>
            </p:nvSpPr>
            <p:spPr>
              <a:xfrm>
                <a:off x="5508154" y="3253734"/>
                <a:ext cx="1224136" cy="12241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5740952" y="3664204"/>
                <a:ext cx="758541" cy="369332"/>
              </a:xfrm>
              <a:prstGeom prst="rect">
                <a:avLst/>
              </a:prstGeom>
            </p:spPr>
            <p:txBody>
              <a:bodyPr wrap="none">
                <a:spAutoFit/>
              </a:bodyPr>
              <a:lstStyle/>
              <a:p>
                <a:pPr algn="ctr"/>
                <a:r>
                  <a:rPr lang="en-US" dirty="0" err="1">
                    <a:solidFill>
                      <a:schemeClr val="bg1"/>
                    </a:solidFill>
                  </a:rPr>
                  <a:t>Analiz</a:t>
                </a:r>
                <a:endParaRPr lang="en-US" dirty="0">
                  <a:solidFill>
                    <a:schemeClr val="bg1"/>
                  </a:solidFill>
                </a:endParaRPr>
              </a:p>
            </p:txBody>
          </p:sp>
        </p:grpSp>
        <p:sp>
          <p:nvSpPr>
            <p:cNvPr id="16" name="TextBox 15"/>
            <p:cNvSpPr txBox="1"/>
            <p:nvPr/>
          </p:nvSpPr>
          <p:spPr>
            <a:xfrm>
              <a:off x="4364581" y="5228288"/>
              <a:ext cx="1900048" cy="81674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b="1" dirty="0" err="1"/>
                <a:t>Olasılık</a:t>
              </a:r>
              <a:r>
                <a:rPr lang="en-US" b="1" dirty="0"/>
                <a:t> </a:t>
              </a:r>
              <a:r>
                <a:rPr lang="en-US" b="1" dirty="0" err="1"/>
                <a:t>temelli</a:t>
              </a:r>
              <a:endParaRPr lang="en-US" b="1" dirty="0"/>
            </a:p>
            <a:p>
              <a:pPr algn="ctr"/>
              <a:r>
                <a:rPr lang="en-US" b="1" dirty="0" err="1"/>
                <a:t>Çıkarsama</a:t>
              </a:r>
              <a:endParaRPr lang="en-US" b="1" dirty="0"/>
            </a:p>
          </p:txBody>
        </p:sp>
      </p:grpSp>
      <p:sp>
        <p:nvSpPr>
          <p:cNvPr id="12" name="Rectangle 11"/>
          <p:cNvSpPr/>
          <p:nvPr/>
        </p:nvSpPr>
        <p:spPr>
          <a:xfrm>
            <a:off x="2042279" y="5934626"/>
            <a:ext cx="5961152" cy="369332"/>
          </a:xfrm>
          <a:prstGeom prst="rect">
            <a:avLst/>
          </a:prstGeom>
        </p:spPr>
        <p:txBody>
          <a:bodyPr wrap="square">
            <a:spAutoFit/>
          </a:bodyPr>
          <a:lstStyle/>
          <a:p>
            <a:r>
              <a:rPr lang="tr-TR" altLang="tr-TR" b="1" dirty="0">
                <a:latin typeface="Calibri" charset="0"/>
                <a:ea typeface="Calibri" charset="0"/>
                <a:cs typeface="Calibri" charset="0"/>
              </a:rPr>
              <a:t>örneklem </a:t>
            </a:r>
            <a:r>
              <a:rPr lang="tr-TR" altLang="tr-TR" b="1">
                <a:latin typeface="Calibri" charset="0"/>
                <a:ea typeface="Calibri" charset="0"/>
                <a:cs typeface="Calibri" charset="0"/>
              </a:rPr>
              <a:t>değerinden popülasyon değerinin </a:t>
            </a:r>
            <a:r>
              <a:rPr lang="tr-TR" altLang="tr-TR" b="1" dirty="0">
                <a:latin typeface="Calibri" charset="0"/>
                <a:ea typeface="Calibri" charset="0"/>
                <a:cs typeface="Calibri" charset="0"/>
              </a:rPr>
              <a:t>kestirilmesi  </a:t>
            </a:r>
          </a:p>
        </p:txBody>
      </p:sp>
    </p:spTree>
    <p:extLst>
      <p:ext uri="{BB962C8B-B14F-4D97-AF65-F5344CB8AC3E}">
        <p14:creationId xmlns:p14="http://schemas.microsoft.com/office/powerpoint/2010/main" val="749541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76672"/>
            <a:ext cx="7200900" cy="870992"/>
          </a:xfrm>
        </p:spPr>
        <p:txBody>
          <a:bodyPr>
            <a:normAutofit/>
          </a:bodyPr>
          <a:lstStyle/>
          <a:p>
            <a:r>
              <a:rPr lang="en-US" sz="4000" b="1" dirty="0" err="1">
                <a:solidFill>
                  <a:schemeClr val="tx1"/>
                </a:solidFill>
              </a:rPr>
              <a:t>Kestirim</a:t>
            </a:r>
            <a:r>
              <a:rPr lang="en-US" sz="4000" b="1" dirty="0">
                <a:solidFill>
                  <a:schemeClr val="tx1"/>
                </a:solidFill>
              </a:rPr>
              <a:t> </a:t>
            </a:r>
            <a:r>
              <a:rPr lang="en-US" sz="4000" b="1" dirty="0" err="1">
                <a:solidFill>
                  <a:schemeClr val="tx1"/>
                </a:solidFill>
              </a:rPr>
              <a:t>Yaparken</a:t>
            </a:r>
            <a:r>
              <a:rPr lang="mr-IN" sz="4000" b="1" dirty="0">
                <a:solidFill>
                  <a:schemeClr val="tx1"/>
                </a:solidFill>
              </a:rPr>
              <a:t>…</a:t>
            </a:r>
            <a:endParaRPr lang="en-US" sz="4000" b="1" dirty="0">
              <a:solidFill>
                <a:schemeClr val="tx1"/>
              </a:solidFill>
            </a:endParaRPr>
          </a:p>
        </p:txBody>
      </p:sp>
      <p:sp>
        <p:nvSpPr>
          <p:cNvPr id="4" name="Content Placeholder 7"/>
          <p:cNvSpPr>
            <a:spLocks noGrp="1"/>
          </p:cNvSpPr>
          <p:nvPr>
            <p:ph idx="1"/>
          </p:nvPr>
        </p:nvSpPr>
        <p:spPr>
          <a:xfrm>
            <a:off x="395536" y="1844824"/>
            <a:ext cx="8424936" cy="4608512"/>
          </a:xfrm>
        </p:spPr>
        <p:txBody>
          <a:bodyPr>
            <a:noAutofit/>
          </a:bodyPr>
          <a:lstStyle/>
          <a:p>
            <a:pPr marL="0" indent="0">
              <a:buNone/>
            </a:pPr>
            <a:r>
              <a:rPr lang="tr-TR" sz="2800" kern="0" dirty="0">
                <a:solidFill>
                  <a:schemeClr val="tx1"/>
                </a:solidFill>
                <a:latin typeface="Calibri" charset="0"/>
                <a:ea typeface="Calibri" charset="0"/>
                <a:cs typeface="Calibri" charset="0"/>
              </a:rPr>
              <a:t>Örneklemden elde edilen sonuçların tesadüfe (rastlantıya) bağlı olup olmadığını (yani önemli olduğu) belirlemek amacıyla uygulanan yöntemler vardır.</a:t>
            </a:r>
          </a:p>
          <a:p>
            <a:pPr lvl="1"/>
            <a:r>
              <a:rPr lang="tr-TR" sz="2400" b="1" u="sng" kern="0" dirty="0">
                <a:solidFill>
                  <a:schemeClr val="tx1"/>
                </a:solidFill>
                <a:latin typeface="Calibri" charset="0"/>
                <a:ea typeface="Calibri" charset="0"/>
                <a:cs typeface="Calibri" charset="0"/>
              </a:rPr>
              <a:t>Önemlilik (Anlamlılık) (</a:t>
            </a:r>
            <a:r>
              <a:rPr lang="tr-TR" sz="2400" b="1" u="sng" kern="0" dirty="0" err="1">
                <a:solidFill>
                  <a:schemeClr val="tx1"/>
                </a:solidFill>
                <a:latin typeface="Calibri" charset="0"/>
                <a:ea typeface="Calibri" charset="0"/>
                <a:cs typeface="Calibri" charset="0"/>
              </a:rPr>
              <a:t>significance</a:t>
            </a:r>
            <a:r>
              <a:rPr lang="tr-TR" sz="2400" b="1" u="sng" kern="0" dirty="0">
                <a:solidFill>
                  <a:schemeClr val="tx1"/>
                </a:solidFill>
                <a:latin typeface="Calibri" charset="0"/>
                <a:ea typeface="Calibri" charset="0"/>
                <a:cs typeface="Calibri" charset="0"/>
              </a:rPr>
              <a:t>) </a:t>
            </a:r>
            <a:r>
              <a:rPr lang="tr-TR" sz="2400" kern="0" dirty="0">
                <a:solidFill>
                  <a:schemeClr val="tx1"/>
                </a:solidFill>
                <a:latin typeface="Calibri" charset="0"/>
                <a:ea typeface="Calibri" charset="0"/>
                <a:cs typeface="Calibri" charset="0"/>
              </a:rPr>
              <a:t>elde edilen sonuçların tesadüfe bağlı olmadığını, yani istatistiksel açıdan anlamlı olduğunu ifade eder.</a:t>
            </a:r>
          </a:p>
          <a:p>
            <a:pPr marL="0" indent="0">
              <a:buNone/>
            </a:pPr>
            <a:r>
              <a:rPr lang="tr-TR" altLang="x-none" sz="2800" dirty="0">
                <a:solidFill>
                  <a:schemeClr val="tx1"/>
                </a:solidFill>
                <a:latin typeface="Calibri" charset="0"/>
                <a:ea typeface="Calibri" charset="0"/>
                <a:cs typeface="Calibri" charset="0"/>
              </a:rPr>
              <a:t>Sonuçların rastlantıya bağlı olup olmadığı araştırılırken,</a:t>
            </a:r>
          </a:p>
          <a:p>
            <a:pPr lvl="1">
              <a:buFont typeface="+mj-lt"/>
              <a:buAutoNum type="arabicPeriod"/>
            </a:pPr>
            <a:r>
              <a:rPr lang="tr-TR" altLang="x-none" sz="2400" dirty="0">
                <a:solidFill>
                  <a:schemeClr val="tx1"/>
                </a:solidFill>
                <a:latin typeface="Calibri" charset="0"/>
                <a:ea typeface="Calibri" charset="0"/>
                <a:cs typeface="Calibri" charset="0"/>
              </a:rPr>
              <a:t>Popülasyon parametreleri (ortalama, ortanca, varyans, vb.) üzerine kurulmuş hipotezler test edilir</a:t>
            </a:r>
          </a:p>
          <a:p>
            <a:pPr lvl="1">
              <a:buFont typeface="+mj-lt"/>
              <a:buAutoNum type="arabicPeriod"/>
            </a:pPr>
            <a:r>
              <a:rPr lang="tr-TR" altLang="x-none" sz="2400" dirty="0">
                <a:solidFill>
                  <a:schemeClr val="tx1"/>
                </a:solidFill>
                <a:latin typeface="Calibri" charset="0"/>
                <a:ea typeface="Calibri" charset="0"/>
                <a:cs typeface="Calibri" charset="0"/>
              </a:rPr>
              <a:t> Güven aralığı sınırları kullanılır</a:t>
            </a:r>
          </a:p>
          <a:p>
            <a:endParaRPr lang="en-US" sz="2800" dirty="0">
              <a:solidFill>
                <a:schemeClr val="tx1"/>
              </a:solidFill>
            </a:endParaRPr>
          </a:p>
        </p:txBody>
      </p:sp>
    </p:spTree>
    <p:extLst>
      <p:ext uri="{BB962C8B-B14F-4D97-AF65-F5344CB8AC3E}">
        <p14:creationId xmlns:p14="http://schemas.microsoft.com/office/powerpoint/2010/main" val="1493853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251520" y="332656"/>
            <a:ext cx="8021004" cy="864096"/>
          </a:xfrm>
        </p:spPr>
        <p:txBody>
          <a:bodyPr>
            <a:noAutofit/>
          </a:bodyPr>
          <a:lstStyle/>
          <a:p>
            <a:r>
              <a:rPr lang="tr-TR" sz="3200" kern="0" dirty="0" err="1">
                <a:solidFill>
                  <a:schemeClr val="tx1"/>
                </a:solidFill>
                <a:latin typeface="+mn-lt"/>
              </a:rPr>
              <a:t>Çıkarımsal</a:t>
            </a:r>
            <a:r>
              <a:rPr lang="tr-TR" sz="3200" kern="0" dirty="0">
                <a:solidFill>
                  <a:schemeClr val="tx1"/>
                </a:solidFill>
                <a:latin typeface="+mn-lt"/>
              </a:rPr>
              <a:t> İstatistiksel Yöntemlerin Kullanımları</a:t>
            </a:r>
            <a:endParaRPr lang="tr-TR" sz="3200" dirty="0">
              <a:solidFill>
                <a:schemeClr val="tx1"/>
              </a:solidFill>
              <a:latin typeface="+mn-lt"/>
            </a:endParaRPr>
          </a:p>
        </p:txBody>
      </p:sp>
      <p:sp>
        <p:nvSpPr>
          <p:cNvPr id="4" name="Rectangle 3"/>
          <p:cNvSpPr/>
          <p:nvPr/>
        </p:nvSpPr>
        <p:spPr>
          <a:xfrm>
            <a:off x="251520" y="2060848"/>
            <a:ext cx="8784976" cy="2554545"/>
          </a:xfrm>
          <a:prstGeom prst="rect">
            <a:avLst/>
          </a:prstGeom>
        </p:spPr>
        <p:txBody>
          <a:bodyPr wrap="square">
            <a:spAutoFit/>
          </a:bodyPr>
          <a:lstStyle/>
          <a:p>
            <a:pPr marL="342900" indent="-342900">
              <a:buFont typeface="Arial" charset="0"/>
              <a:buChar char="•"/>
            </a:pPr>
            <a:r>
              <a:rPr lang="tr-TR" sz="2000" dirty="0"/>
              <a:t>İstatistiksel önemlilik testleri çeşitli durumlarda ve farklı amaçlarla uygulanır. </a:t>
            </a:r>
          </a:p>
          <a:p>
            <a:pPr marL="342900" indent="-342900">
              <a:buFont typeface="Arial" charset="0"/>
              <a:buChar char="•"/>
            </a:pPr>
            <a:r>
              <a:rPr lang="tr-TR" sz="2000" dirty="0"/>
              <a:t>Bu testlerin başlıca kullanım alanları;</a:t>
            </a:r>
          </a:p>
          <a:p>
            <a:endParaRPr lang="tr-TR" sz="2000" dirty="0"/>
          </a:p>
          <a:p>
            <a:pPr marL="800100" lvl="1" indent="-342900">
              <a:buFont typeface="+mj-lt"/>
              <a:buAutoNum type="arabicPeriod"/>
            </a:pPr>
            <a:r>
              <a:rPr lang="tr-TR" sz="2000" dirty="0"/>
              <a:t>Popülasyondan seçilen iki ya da daha fazla grup arasındaki farkın önemli olup olmadığının test edilmesinde</a:t>
            </a:r>
          </a:p>
          <a:p>
            <a:pPr marL="800100" lvl="1" indent="-342900">
              <a:buFont typeface="+mj-lt"/>
              <a:buAutoNum type="arabicPeriod"/>
            </a:pPr>
            <a:r>
              <a:rPr lang="tr-TR" sz="2000" dirty="0"/>
              <a:t>Aynı grupta farklı koşullar altında elde edilen veriler arasındaki farkın önemli olup olmadığının test edilmesinde</a:t>
            </a:r>
          </a:p>
          <a:p>
            <a:pPr marL="800100" lvl="1" indent="-342900">
              <a:buFont typeface="+mj-lt"/>
              <a:buAutoNum type="arabicPeriod"/>
            </a:pPr>
            <a:r>
              <a:rPr lang="tr-TR" sz="2000" dirty="0"/>
              <a:t>Verilerin belli bir teorik yayılıma uygun olup olmadığının test edilmesinde</a:t>
            </a:r>
          </a:p>
        </p:txBody>
      </p:sp>
    </p:spTree>
    <p:extLst>
      <p:ext uri="{BB962C8B-B14F-4D97-AF65-F5344CB8AC3E}">
        <p14:creationId xmlns:p14="http://schemas.microsoft.com/office/powerpoint/2010/main" val="4271768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395536" y="243837"/>
            <a:ext cx="7200900" cy="576064"/>
          </a:xfrm>
        </p:spPr>
        <p:txBody>
          <a:bodyPr>
            <a:normAutofit/>
          </a:bodyPr>
          <a:lstStyle/>
          <a:p>
            <a:r>
              <a:rPr lang="tr-TR" sz="3200" dirty="0">
                <a:solidFill>
                  <a:schemeClr val="tx1"/>
                </a:solidFill>
                <a:latin typeface="+mn-lt"/>
              </a:rPr>
              <a:t>Hipotez  Testi</a:t>
            </a:r>
          </a:p>
        </p:txBody>
      </p:sp>
      <p:sp>
        <p:nvSpPr>
          <p:cNvPr id="3" name="İçerik Yer Tutucusu 2"/>
          <p:cNvSpPr>
            <a:spLocks noGrp="1"/>
          </p:cNvSpPr>
          <p:nvPr>
            <p:ph idx="1"/>
          </p:nvPr>
        </p:nvSpPr>
        <p:spPr>
          <a:xfrm>
            <a:off x="395536" y="1772816"/>
            <a:ext cx="8543180" cy="4103600"/>
          </a:xfrm>
        </p:spPr>
        <p:txBody>
          <a:bodyPr>
            <a:noAutofit/>
          </a:bodyPr>
          <a:lstStyle/>
          <a:p>
            <a:pPr algn="just">
              <a:lnSpc>
                <a:spcPct val="100000"/>
              </a:lnSpc>
              <a:spcBef>
                <a:spcPts val="0"/>
              </a:spcBef>
              <a:spcAft>
                <a:spcPts val="0"/>
              </a:spcAft>
            </a:pPr>
            <a:r>
              <a:rPr lang="tr-TR" sz="2400" dirty="0">
                <a:solidFill>
                  <a:schemeClr val="tx1"/>
                </a:solidFill>
              </a:rPr>
              <a:t>Bir konu hakkında öne sürülen ve doğruluğu henüz ispatlanmamış, geçerliliği olasılık (</a:t>
            </a:r>
            <a:r>
              <a:rPr lang="tr-TR" sz="2400" dirty="0" err="1">
                <a:solidFill>
                  <a:schemeClr val="tx1"/>
                </a:solidFill>
              </a:rPr>
              <a:t>probability</a:t>
            </a:r>
            <a:r>
              <a:rPr lang="tr-TR" sz="2400" dirty="0">
                <a:solidFill>
                  <a:schemeClr val="tx1"/>
                </a:solidFill>
              </a:rPr>
              <a:t>=p) esaslarına göre araştırılabilen ve karar verebilmek için ortaya atılan görüşlere istatistikte “</a:t>
            </a:r>
            <a:r>
              <a:rPr lang="tr-TR" sz="2400" b="1" dirty="0">
                <a:solidFill>
                  <a:srgbClr val="C00000"/>
                </a:solidFill>
              </a:rPr>
              <a:t>hipotez</a:t>
            </a:r>
            <a:r>
              <a:rPr lang="tr-TR" sz="2400" dirty="0">
                <a:solidFill>
                  <a:schemeClr val="tx1"/>
                </a:solidFill>
              </a:rPr>
              <a:t>” (denence) denir. </a:t>
            </a:r>
          </a:p>
          <a:p>
            <a:pPr lvl="2" algn="just">
              <a:lnSpc>
                <a:spcPct val="100000"/>
              </a:lnSpc>
              <a:spcBef>
                <a:spcPts val="0"/>
              </a:spcBef>
              <a:spcAft>
                <a:spcPts val="0"/>
              </a:spcAft>
            </a:pPr>
            <a:r>
              <a:rPr lang="tr-TR" sz="2000" dirty="0">
                <a:solidFill>
                  <a:schemeClr val="tx1"/>
                </a:solidFill>
              </a:rPr>
              <a:t>Hipotezlerin örneklem yardımıyla incelenmesine “</a:t>
            </a:r>
            <a:r>
              <a:rPr lang="tr-TR" sz="2000" b="1" dirty="0">
                <a:solidFill>
                  <a:srgbClr val="C00000"/>
                </a:solidFill>
              </a:rPr>
              <a:t>hipotez testi</a:t>
            </a:r>
            <a:r>
              <a:rPr lang="tr-TR" sz="2000" dirty="0">
                <a:solidFill>
                  <a:schemeClr val="tx1"/>
                </a:solidFill>
              </a:rPr>
              <a:t>” denir.</a:t>
            </a:r>
            <a:endParaRPr lang="tr-TR" sz="2000" dirty="0"/>
          </a:p>
          <a:p>
            <a:pPr lvl="2" algn="just">
              <a:lnSpc>
                <a:spcPct val="100000"/>
              </a:lnSpc>
              <a:spcBef>
                <a:spcPts val="0"/>
              </a:spcBef>
              <a:spcAft>
                <a:spcPts val="0"/>
              </a:spcAft>
            </a:pPr>
            <a:r>
              <a:rPr lang="tr-TR" altLang="tr-TR" sz="2000" dirty="0">
                <a:solidFill>
                  <a:schemeClr val="tx1"/>
                </a:solidFill>
              </a:rPr>
              <a:t>Hipotezler üzerinde çeşitli işlemler yapılarak ifadenin doğruluğu araştırılır.</a:t>
            </a:r>
          </a:p>
          <a:p>
            <a:r>
              <a:rPr lang="tr-TR" altLang="tr-TR" sz="2400" b="1" i="1" dirty="0">
                <a:solidFill>
                  <a:schemeClr val="tx1"/>
                </a:solidFill>
              </a:rPr>
              <a:t>Örneğin</a:t>
            </a:r>
            <a:r>
              <a:rPr lang="tr-TR" altLang="tr-TR" sz="2400" dirty="0">
                <a:solidFill>
                  <a:schemeClr val="tx1"/>
                </a:solidFill>
              </a:rPr>
              <a:t>;</a:t>
            </a:r>
          </a:p>
          <a:p>
            <a:pPr lvl="1"/>
            <a:r>
              <a:rPr lang="tr-TR" altLang="tr-TR" dirty="0">
                <a:solidFill>
                  <a:schemeClr val="tx1"/>
                </a:solidFill>
              </a:rPr>
              <a:t>Ölçme ve Veri Analitiği Programındaki öğrencilerin “İstatistik”</a:t>
            </a:r>
            <a:r>
              <a:rPr lang="tr-TR" altLang="tr-TR" sz="1800" dirty="0">
                <a:solidFill>
                  <a:schemeClr val="tx1"/>
                </a:solidFill>
              </a:rPr>
              <a:t> dersi için vize ortalaması genel ortalamanın (50) altındadır.</a:t>
            </a:r>
          </a:p>
          <a:p>
            <a:pPr lvl="1"/>
            <a:r>
              <a:rPr lang="tr-TR" altLang="tr-TR" sz="1800" dirty="0">
                <a:solidFill>
                  <a:schemeClr val="tx1"/>
                </a:solidFill>
              </a:rPr>
              <a:t>Firestone ve Lassa firmalarının ürettikleri lastiklerin kaliteleri aynıdır.</a:t>
            </a:r>
          </a:p>
          <a:p>
            <a:pPr lvl="1" algn="just">
              <a:lnSpc>
                <a:spcPct val="100000"/>
              </a:lnSpc>
              <a:spcBef>
                <a:spcPts val="0"/>
              </a:spcBef>
              <a:spcAft>
                <a:spcPts val="0"/>
              </a:spcAft>
            </a:pPr>
            <a:endParaRPr lang="tr-TR" sz="2400" dirty="0">
              <a:solidFill>
                <a:schemeClr val="tx1"/>
              </a:solidFill>
            </a:endParaRPr>
          </a:p>
        </p:txBody>
      </p:sp>
    </p:spTree>
    <p:extLst>
      <p:ext uri="{BB962C8B-B14F-4D97-AF65-F5344CB8AC3E}">
        <p14:creationId xmlns:p14="http://schemas.microsoft.com/office/powerpoint/2010/main" val="853053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817241"/>
            <a:ext cx="7704667" cy="739551"/>
          </a:xfrm>
        </p:spPr>
        <p:txBody>
          <a:bodyPr/>
          <a:lstStyle/>
          <a:p>
            <a:r>
              <a:rPr lang="en-US" b="1"/>
              <a:t>Hipotezler</a:t>
            </a:r>
            <a:endParaRPr lang="en-US" b="1" dirty="0"/>
          </a:p>
        </p:txBody>
      </p:sp>
      <p:sp>
        <p:nvSpPr>
          <p:cNvPr id="3" name="Content Placeholder 2"/>
          <p:cNvSpPr>
            <a:spLocks noGrp="1"/>
          </p:cNvSpPr>
          <p:nvPr>
            <p:ph idx="1"/>
          </p:nvPr>
        </p:nvSpPr>
        <p:spPr>
          <a:xfrm>
            <a:off x="179513" y="2060848"/>
            <a:ext cx="8476456" cy="3456384"/>
          </a:xfrm>
        </p:spPr>
        <p:txBody>
          <a:bodyPr>
            <a:noAutofit/>
          </a:bodyPr>
          <a:lstStyle/>
          <a:p>
            <a:pPr algn="just"/>
            <a:r>
              <a:rPr lang="tr-TR" altLang="tr-TR" sz="2400" dirty="0"/>
              <a:t>Hipotez testi aslında bir çeşit karşılaştırma ve seçim işlemi olduğu için birden fazla hipoteze ihtiyaç duyulur. </a:t>
            </a:r>
          </a:p>
          <a:p>
            <a:pPr algn="just"/>
            <a:r>
              <a:rPr lang="tr-TR" altLang="x-none" sz="2400" dirty="0">
                <a:solidFill>
                  <a:srgbClr val="000000"/>
                </a:solidFill>
                <a:ea typeface="Times New Roman" charset="0"/>
                <a:cs typeface="Times New Roman" charset="0"/>
              </a:rPr>
              <a:t>Hipotez testlerinde iki hipotez vardır. </a:t>
            </a:r>
          </a:p>
          <a:p>
            <a:pPr marL="914400" lvl="1" indent="-457200" algn="just">
              <a:buFont typeface="+mj-lt"/>
              <a:buAutoNum type="arabicPeriod"/>
            </a:pPr>
            <a:r>
              <a:rPr lang="tr-TR" altLang="x-none" sz="2400" b="1" dirty="0">
                <a:solidFill>
                  <a:srgbClr val="000000"/>
                </a:solidFill>
                <a:ea typeface="Times New Roman" charset="0"/>
                <a:cs typeface="Times New Roman" charset="0"/>
              </a:rPr>
              <a:t>H</a:t>
            </a:r>
            <a:r>
              <a:rPr lang="tr-TR" altLang="x-none" sz="2400" b="1" baseline="-30000" dirty="0">
                <a:solidFill>
                  <a:srgbClr val="000000"/>
                </a:solidFill>
                <a:ea typeface="Times New Roman" charset="0"/>
                <a:cs typeface="Times New Roman" charset="0"/>
              </a:rPr>
              <a:t>0 </a:t>
            </a:r>
            <a:r>
              <a:rPr lang="tr-TR" altLang="x-none" sz="2400" b="1" dirty="0">
                <a:solidFill>
                  <a:srgbClr val="000000"/>
                </a:solidFill>
                <a:ea typeface="Times New Roman" charset="0"/>
                <a:cs typeface="Times New Roman" charset="0"/>
              </a:rPr>
              <a:t> </a:t>
            </a:r>
            <a:r>
              <a:rPr lang="tr-TR" altLang="x-none" sz="2400" dirty="0">
                <a:solidFill>
                  <a:srgbClr val="000000"/>
                </a:solidFill>
                <a:ea typeface="Times New Roman" charset="0"/>
                <a:cs typeface="Times New Roman" charset="0"/>
              </a:rPr>
              <a:t>ile gösterilen </a:t>
            </a:r>
            <a:r>
              <a:rPr lang="tr-TR" altLang="x-none" sz="2400" b="1" u="sng" dirty="0">
                <a:solidFill>
                  <a:srgbClr val="000000"/>
                </a:solidFill>
                <a:ea typeface="Times New Roman" charset="0"/>
                <a:cs typeface="Times New Roman" charset="0"/>
              </a:rPr>
              <a:t>sıfır/yokluk/farksızlık (</a:t>
            </a:r>
            <a:r>
              <a:rPr lang="tr-TR" altLang="x-none" sz="2400" b="1" u="sng" dirty="0" err="1">
                <a:solidFill>
                  <a:srgbClr val="000000"/>
                </a:solidFill>
                <a:ea typeface="Times New Roman" charset="0"/>
                <a:cs typeface="Times New Roman" charset="0"/>
              </a:rPr>
              <a:t>null</a:t>
            </a:r>
            <a:r>
              <a:rPr lang="tr-TR" altLang="x-none" sz="2400" b="1" u="sng" dirty="0">
                <a:solidFill>
                  <a:srgbClr val="000000"/>
                </a:solidFill>
                <a:ea typeface="Times New Roman" charset="0"/>
                <a:cs typeface="Times New Roman" charset="0"/>
              </a:rPr>
              <a:t>)</a:t>
            </a:r>
            <a:r>
              <a:rPr lang="tr-TR" altLang="x-none" sz="2400" b="1" dirty="0">
                <a:solidFill>
                  <a:srgbClr val="000000"/>
                </a:solidFill>
                <a:ea typeface="Times New Roman" charset="0"/>
                <a:cs typeface="Times New Roman" charset="0"/>
              </a:rPr>
              <a:t> hipotezi</a:t>
            </a:r>
          </a:p>
          <a:p>
            <a:pPr marL="914400" lvl="1" indent="-457200" algn="just">
              <a:buFont typeface="+mj-lt"/>
              <a:buAutoNum type="arabicPeriod"/>
            </a:pPr>
            <a:r>
              <a:rPr lang="tr-TR" altLang="x-none" sz="2400" b="1" dirty="0">
                <a:solidFill>
                  <a:srgbClr val="000000"/>
                </a:solidFill>
                <a:ea typeface="Times New Roman" charset="0"/>
                <a:cs typeface="Times New Roman" charset="0"/>
              </a:rPr>
              <a:t>H</a:t>
            </a:r>
            <a:r>
              <a:rPr lang="tr-TR" altLang="x-none" sz="2400" b="1" baseline="-30000" dirty="0">
                <a:solidFill>
                  <a:srgbClr val="000000"/>
                </a:solidFill>
                <a:ea typeface="Times New Roman" charset="0"/>
                <a:cs typeface="Times New Roman" charset="0"/>
              </a:rPr>
              <a:t>1 </a:t>
            </a:r>
            <a:r>
              <a:rPr lang="tr-TR" altLang="x-none" sz="2400" b="1" dirty="0">
                <a:solidFill>
                  <a:srgbClr val="000000"/>
                </a:solidFill>
                <a:ea typeface="Times New Roman" charset="0"/>
                <a:cs typeface="Times New Roman" charset="0"/>
              </a:rPr>
              <a:t> </a:t>
            </a:r>
            <a:r>
              <a:rPr lang="tr-TR" altLang="x-none" sz="2400" dirty="0">
                <a:solidFill>
                  <a:srgbClr val="000000"/>
                </a:solidFill>
                <a:ea typeface="Times New Roman" charset="0"/>
                <a:cs typeface="Times New Roman" charset="0"/>
              </a:rPr>
              <a:t>veya</a:t>
            </a:r>
            <a:r>
              <a:rPr lang="tr-TR" altLang="x-none" sz="2400" b="1" dirty="0">
                <a:solidFill>
                  <a:srgbClr val="000000"/>
                </a:solidFill>
                <a:ea typeface="Times New Roman" charset="0"/>
                <a:cs typeface="Times New Roman" charset="0"/>
              </a:rPr>
              <a:t> H</a:t>
            </a:r>
            <a:r>
              <a:rPr lang="tr-TR" altLang="x-none" sz="2400" b="1" baseline="-25000" dirty="0">
                <a:solidFill>
                  <a:srgbClr val="000000"/>
                </a:solidFill>
                <a:ea typeface="Times New Roman" charset="0"/>
                <a:cs typeface="Times New Roman" charset="0"/>
              </a:rPr>
              <a:t>A</a:t>
            </a:r>
            <a:r>
              <a:rPr lang="tr-TR" altLang="x-none" sz="2400" b="1" dirty="0">
                <a:solidFill>
                  <a:srgbClr val="000000"/>
                </a:solidFill>
                <a:ea typeface="Times New Roman" charset="0"/>
                <a:cs typeface="Times New Roman" charset="0"/>
              </a:rPr>
              <a:t> </a:t>
            </a:r>
            <a:r>
              <a:rPr lang="tr-TR" altLang="x-none" sz="2400" dirty="0">
                <a:solidFill>
                  <a:srgbClr val="000000"/>
                </a:solidFill>
                <a:ea typeface="Times New Roman" charset="0"/>
                <a:cs typeface="Times New Roman" charset="0"/>
              </a:rPr>
              <a:t>ile gösterilen </a:t>
            </a:r>
            <a:r>
              <a:rPr lang="tr-TR" altLang="x-none" sz="2400" b="1" dirty="0">
                <a:solidFill>
                  <a:srgbClr val="000000"/>
                </a:solidFill>
                <a:ea typeface="Times New Roman" charset="0"/>
                <a:cs typeface="Times New Roman" charset="0"/>
              </a:rPr>
              <a:t>alternatif hipotez</a:t>
            </a:r>
            <a:endParaRPr lang="tr-TR" altLang="x-none" sz="2400" b="1" dirty="0">
              <a:solidFill>
                <a:srgbClr val="000000"/>
              </a:solidFill>
            </a:endParaRPr>
          </a:p>
          <a:p>
            <a:pPr algn="just"/>
            <a:br>
              <a:rPr lang="tr-TR" altLang="x-none" sz="2800" dirty="0">
                <a:solidFill>
                  <a:srgbClr val="000000"/>
                </a:solidFill>
                <a:ea typeface="Times New Roman" charset="0"/>
                <a:cs typeface="Times New Roman" charset="0"/>
              </a:rPr>
            </a:br>
            <a:r>
              <a:rPr lang="tr-TR" altLang="x-none" sz="2400" dirty="0">
                <a:solidFill>
                  <a:srgbClr val="000000"/>
                </a:solidFill>
                <a:ea typeface="Times New Roman" charset="0"/>
                <a:cs typeface="Times New Roman" charset="0"/>
              </a:rPr>
              <a:t>İstatistiksel hipotez testlerinin tümü H</a:t>
            </a:r>
            <a:r>
              <a:rPr lang="tr-TR" altLang="x-none" sz="2400" baseline="-30000" dirty="0">
                <a:solidFill>
                  <a:srgbClr val="000000"/>
                </a:solidFill>
                <a:ea typeface="Times New Roman" charset="0"/>
                <a:cs typeface="Times New Roman" charset="0"/>
              </a:rPr>
              <a:t>0</a:t>
            </a:r>
            <a:r>
              <a:rPr lang="tr-TR" altLang="x-none" sz="2400" dirty="0">
                <a:solidFill>
                  <a:srgbClr val="000000"/>
                </a:solidFill>
                <a:ea typeface="Times New Roman" charset="0"/>
                <a:cs typeface="Times New Roman" charset="0"/>
              </a:rPr>
              <a:t> hipotezinin doğru oldu</a:t>
            </a:r>
            <a:r>
              <a:rPr lang="tr-TR" altLang="x-none" sz="2400" dirty="0">
                <a:solidFill>
                  <a:srgbClr val="000000"/>
                </a:solidFill>
              </a:rPr>
              <a:t>ğ</a:t>
            </a:r>
            <a:r>
              <a:rPr lang="tr-TR" altLang="x-none" sz="2400" dirty="0">
                <a:solidFill>
                  <a:srgbClr val="000000"/>
                </a:solidFill>
                <a:ea typeface="Times New Roman" charset="0"/>
                <a:cs typeface="Times New Roman" charset="0"/>
              </a:rPr>
              <a:t>u varsay</a:t>
            </a:r>
            <a:r>
              <a:rPr lang="tr-TR" altLang="x-none" sz="2400" dirty="0">
                <a:solidFill>
                  <a:srgbClr val="000000"/>
                </a:solidFill>
              </a:rPr>
              <a:t>ı</a:t>
            </a:r>
            <a:r>
              <a:rPr lang="tr-TR" altLang="x-none" sz="2400" dirty="0">
                <a:solidFill>
                  <a:srgbClr val="000000"/>
                </a:solidFill>
                <a:ea typeface="Times New Roman" charset="0"/>
                <a:cs typeface="Times New Roman" charset="0"/>
              </a:rPr>
              <a:t>m</a:t>
            </a:r>
            <a:r>
              <a:rPr lang="tr-TR" altLang="x-none" sz="2400" dirty="0">
                <a:solidFill>
                  <a:srgbClr val="000000"/>
                </a:solidFill>
              </a:rPr>
              <a:t>ı</a:t>
            </a:r>
            <a:r>
              <a:rPr lang="tr-TR" altLang="x-none" sz="2400" dirty="0">
                <a:solidFill>
                  <a:srgbClr val="000000"/>
                </a:solidFill>
                <a:ea typeface="Times New Roman" charset="0"/>
                <a:cs typeface="Times New Roman" charset="0"/>
              </a:rPr>
              <a:t> alt</a:t>
            </a:r>
            <a:r>
              <a:rPr lang="tr-TR" altLang="x-none" sz="2400" dirty="0">
                <a:solidFill>
                  <a:srgbClr val="000000"/>
                </a:solidFill>
              </a:rPr>
              <a:t>ı</a:t>
            </a:r>
            <a:r>
              <a:rPr lang="tr-TR" altLang="x-none" sz="2400" dirty="0">
                <a:solidFill>
                  <a:srgbClr val="000000"/>
                </a:solidFill>
                <a:ea typeface="Times New Roman" charset="0"/>
                <a:cs typeface="Times New Roman" charset="0"/>
              </a:rPr>
              <a:t>nda gerçekle</a:t>
            </a:r>
            <a:r>
              <a:rPr lang="tr-TR" altLang="x-none" sz="2400" dirty="0">
                <a:solidFill>
                  <a:srgbClr val="000000"/>
                </a:solidFill>
              </a:rPr>
              <a:t>ş</a:t>
            </a:r>
            <a:r>
              <a:rPr lang="tr-TR" altLang="x-none" sz="2400" dirty="0">
                <a:solidFill>
                  <a:srgbClr val="000000"/>
                </a:solidFill>
                <a:ea typeface="Times New Roman" charset="0"/>
                <a:cs typeface="Times New Roman" charset="0"/>
              </a:rPr>
              <a:t>tirilir.</a:t>
            </a:r>
            <a:endParaRPr lang="en-US" sz="2400" dirty="0"/>
          </a:p>
        </p:txBody>
      </p:sp>
    </p:spTree>
    <p:extLst>
      <p:ext uri="{BB962C8B-B14F-4D97-AF65-F5344CB8AC3E}">
        <p14:creationId xmlns:p14="http://schemas.microsoft.com/office/powerpoint/2010/main" val="1609632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79512" y="332656"/>
            <a:ext cx="8640960" cy="1027583"/>
          </a:xfrm>
        </p:spPr>
        <p:txBody>
          <a:bodyPr>
            <a:noAutofit/>
          </a:bodyPr>
          <a:lstStyle/>
          <a:p>
            <a:r>
              <a:rPr lang="tr-TR" sz="4000" dirty="0"/>
              <a:t>Sıfır ve Alternatif Hipotezlerin Belirlenmesi</a:t>
            </a:r>
          </a:p>
        </p:txBody>
      </p:sp>
      <p:sp>
        <p:nvSpPr>
          <p:cNvPr id="3" name="İçerik Yer Tutucusu 2"/>
          <p:cNvSpPr>
            <a:spLocks noGrp="1"/>
          </p:cNvSpPr>
          <p:nvPr>
            <p:ph idx="1"/>
          </p:nvPr>
        </p:nvSpPr>
        <p:spPr>
          <a:xfrm>
            <a:off x="323528" y="2271222"/>
            <a:ext cx="8496944" cy="3606050"/>
          </a:xfrm>
        </p:spPr>
        <p:txBody>
          <a:bodyPr>
            <a:noAutofit/>
          </a:bodyPr>
          <a:lstStyle/>
          <a:p>
            <a:pPr>
              <a:buFont typeface="Wingdings" charset="2"/>
              <a:buChar char="v"/>
            </a:pPr>
            <a:r>
              <a:rPr lang="tr-TR" sz="2200" dirty="0">
                <a:solidFill>
                  <a:schemeClr val="tx1"/>
                </a:solidFill>
              </a:rPr>
              <a:t>Farklılık olmadığının varsayıldığı hipoteze, yokluk hipotezi, farksızlık hipotezi, sıfır hipotezi, başlangıç hipotezi (</a:t>
            </a:r>
            <a:r>
              <a:rPr lang="tr-TR" sz="2200" dirty="0" err="1">
                <a:solidFill>
                  <a:schemeClr val="tx1"/>
                </a:solidFill>
              </a:rPr>
              <a:t>null</a:t>
            </a:r>
            <a:r>
              <a:rPr lang="tr-TR" sz="2200" dirty="0">
                <a:solidFill>
                  <a:schemeClr val="tx1"/>
                </a:solidFill>
              </a:rPr>
              <a:t>) gibi isimler verilir ve </a:t>
            </a:r>
            <a:r>
              <a:rPr lang="tr-TR" sz="2200" dirty="0" err="1">
                <a:solidFill>
                  <a:schemeClr val="tx1"/>
                </a:solidFill>
              </a:rPr>
              <a:t>Ho</a:t>
            </a:r>
            <a:r>
              <a:rPr lang="tr-TR" sz="2200" dirty="0">
                <a:solidFill>
                  <a:schemeClr val="tx1"/>
                </a:solidFill>
              </a:rPr>
              <a:t> simgesiyle gösterilir.  </a:t>
            </a:r>
          </a:p>
          <a:p>
            <a:pPr>
              <a:buFont typeface="Wingdings" charset="2"/>
              <a:buChar char="v"/>
            </a:pPr>
            <a:r>
              <a:rPr lang="tr-TR" sz="2200" dirty="0">
                <a:solidFill>
                  <a:schemeClr val="tx1"/>
                </a:solidFill>
              </a:rPr>
              <a:t> Mevcut veriler farksızlık (</a:t>
            </a:r>
            <a:r>
              <a:rPr lang="tr-TR" sz="2200" dirty="0" err="1">
                <a:solidFill>
                  <a:schemeClr val="tx1"/>
                </a:solidFill>
              </a:rPr>
              <a:t>null</a:t>
            </a:r>
            <a:r>
              <a:rPr lang="tr-TR" sz="2200" dirty="0">
                <a:solidFill>
                  <a:schemeClr val="tx1"/>
                </a:solidFill>
              </a:rPr>
              <a:t>) hipotezinin doğruluğu hakkında şüphe  uyandırdığında, kıyas yapmak için ortaya atılan ikinci hipotez alternatif hipotezdir. </a:t>
            </a:r>
          </a:p>
          <a:p>
            <a:pPr>
              <a:buFont typeface="Wingdings" charset="2"/>
              <a:buChar char="v"/>
            </a:pPr>
            <a:r>
              <a:rPr lang="tr-TR" sz="2200" dirty="0">
                <a:solidFill>
                  <a:schemeClr val="tx1"/>
                </a:solidFill>
              </a:rPr>
              <a:t> Yapılan işlemler eğer H</a:t>
            </a:r>
            <a:r>
              <a:rPr lang="tr-TR" sz="2200" baseline="-25000" dirty="0">
                <a:solidFill>
                  <a:schemeClr val="tx1"/>
                </a:solidFill>
              </a:rPr>
              <a:t>0</a:t>
            </a:r>
            <a:r>
              <a:rPr lang="tr-TR" sz="2200" dirty="0">
                <a:solidFill>
                  <a:schemeClr val="tx1"/>
                </a:solidFill>
              </a:rPr>
              <a:t>’ı yanlış çıkarırsa, bu H</a:t>
            </a:r>
            <a:r>
              <a:rPr lang="tr-TR" sz="2200" baseline="-25000" dirty="0">
                <a:solidFill>
                  <a:schemeClr val="tx1"/>
                </a:solidFill>
              </a:rPr>
              <a:t>1</a:t>
            </a:r>
            <a:r>
              <a:rPr lang="tr-TR" sz="2200" dirty="0">
                <a:solidFill>
                  <a:schemeClr val="tx1"/>
                </a:solidFill>
              </a:rPr>
              <a:t>’in kabulü veya istatistiksel anlamlı olduğu anlamına gelir.</a:t>
            </a:r>
          </a:p>
        </p:txBody>
      </p:sp>
    </p:spTree>
    <p:extLst>
      <p:ext uri="{BB962C8B-B14F-4D97-AF65-F5344CB8AC3E}">
        <p14:creationId xmlns:p14="http://schemas.microsoft.com/office/powerpoint/2010/main" val="294890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idx="1"/>
          </p:nvPr>
        </p:nvSpPr>
        <p:spPr>
          <a:xfrm>
            <a:off x="395536" y="459426"/>
            <a:ext cx="8748464" cy="792088"/>
          </a:xfrm>
        </p:spPr>
        <p:txBody>
          <a:bodyPr>
            <a:noAutofit/>
          </a:bodyPr>
          <a:lstStyle/>
          <a:p>
            <a:pPr marL="0" indent="0" eaLnBrk="1" hangingPunct="1">
              <a:buNone/>
            </a:pPr>
            <a:r>
              <a:rPr lang="tr-TR" altLang="x-none" sz="3200" dirty="0"/>
              <a:t>İstatistiksel hipotez testlerinde iki tür yanılgı vardır.</a:t>
            </a:r>
          </a:p>
        </p:txBody>
      </p:sp>
      <p:graphicFrame>
        <p:nvGraphicFramePr>
          <p:cNvPr id="12350" name="Group 62"/>
          <p:cNvGraphicFramePr>
            <a:graphicFrameLocks noGrp="1"/>
          </p:cNvGraphicFramePr>
          <p:nvPr>
            <p:extLst>
              <p:ext uri="{D42A27DB-BD31-4B8C-83A1-F6EECF244321}">
                <p14:modId xmlns:p14="http://schemas.microsoft.com/office/powerpoint/2010/main" val="603324971"/>
              </p:ext>
            </p:extLst>
          </p:nvPr>
        </p:nvGraphicFramePr>
        <p:xfrm>
          <a:off x="698704" y="2276463"/>
          <a:ext cx="7345362" cy="2838451"/>
        </p:xfrm>
        <a:graphic>
          <a:graphicData uri="http://schemas.openxmlformats.org/drawingml/2006/table">
            <a:tbl>
              <a:tblPr/>
              <a:tblGrid>
                <a:gridCol w="1743075">
                  <a:extLst>
                    <a:ext uri="{9D8B030D-6E8A-4147-A177-3AD203B41FA5}">
                      <a16:colId xmlns:a16="http://schemas.microsoft.com/office/drawing/2014/main" val="20000"/>
                    </a:ext>
                  </a:extLst>
                </a:gridCol>
                <a:gridCol w="2490787">
                  <a:extLst>
                    <a:ext uri="{9D8B030D-6E8A-4147-A177-3AD203B41FA5}">
                      <a16:colId xmlns:a16="http://schemas.microsoft.com/office/drawing/2014/main" val="20001"/>
                    </a:ext>
                  </a:extLst>
                </a:gridCol>
                <a:gridCol w="3111500">
                  <a:extLst>
                    <a:ext uri="{9D8B030D-6E8A-4147-A177-3AD203B41FA5}">
                      <a16:colId xmlns:a16="http://schemas.microsoft.com/office/drawing/2014/main" val="20002"/>
                    </a:ext>
                  </a:extLst>
                </a:gridCol>
              </a:tblGrid>
              <a:tr h="576263">
                <a:tc rowSpan="2">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tr-TR" altLang="x-none" sz="2400" b="1" i="0" u="none" strike="noStrike" cap="none" normalizeH="0" baseline="0" dirty="0">
                          <a:ln>
                            <a:noFill/>
                          </a:ln>
                          <a:solidFill>
                            <a:srgbClr val="000000"/>
                          </a:solidFill>
                          <a:effectLst/>
                          <a:latin typeface="Times New Roman" charset="0"/>
                          <a:ea typeface="Times New Roman" charset="0"/>
                          <a:cs typeface="Times New Roman" charset="0"/>
                        </a:rPr>
                        <a:t>Test Sonucu</a:t>
                      </a:r>
                      <a:endParaRPr kumimoji="0" lang="tr-TR" altLang="x-none" sz="3600" b="1" i="0" u="none" strike="noStrike" cap="none" normalizeH="0" baseline="0" dirty="0">
                        <a:ln>
                          <a:noFill/>
                        </a:ln>
                        <a:solidFill>
                          <a:schemeClr val="tx1"/>
                        </a:solidFill>
                        <a:effectLst/>
                        <a:latin typeface="Arial" charset="0"/>
                        <a:ea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2400" b="1" i="0" u="none" strike="noStrike" cap="none" normalizeH="0" baseline="0" dirty="0">
                          <a:ln>
                            <a:noFill/>
                          </a:ln>
                          <a:solidFill>
                            <a:srgbClr val="000000"/>
                          </a:solidFill>
                          <a:effectLst/>
                          <a:latin typeface="Times New Roman" charset="0"/>
                          <a:ea typeface="Times New Roman" charset="0"/>
                          <a:cs typeface="Times New Roman" charset="0"/>
                        </a:rPr>
                        <a:t>Gerçek Durum</a:t>
                      </a:r>
                      <a:endParaRPr kumimoji="0" lang="tr-TR" altLang="x-none" sz="3600" b="1" i="0" u="none" strike="noStrike" cap="none" normalizeH="0" baseline="0" dirty="0">
                        <a:ln>
                          <a:noFill/>
                        </a:ln>
                        <a:solidFill>
                          <a:schemeClr val="tx1"/>
                        </a:solidFill>
                        <a:effectLst/>
                        <a:latin typeface="Arial" charset="0"/>
                        <a:ea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617538">
                <a:tc vMerge="1">
                  <a:txBody>
                    <a:bodyPr/>
                    <a:lstStyle/>
                    <a:p>
                      <a:endParaRPr lang="en-US"/>
                    </a:p>
                  </a:txBody>
                  <a:tcPr/>
                </a:tc>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2400" b="0" i="0" u="none" strike="noStrike" cap="none" normalizeH="0" baseline="0">
                          <a:ln>
                            <a:noFill/>
                          </a:ln>
                          <a:solidFill>
                            <a:srgbClr val="000000"/>
                          </a:solidFill>
                          <a:effectLst/>
                          <a:latin typeface="Times New Roman" charset="0"/>
                          <a:ea typeface="Times New Roman" charset="0"/>
                          <a:cs typeface="Times New Roman" charset="0"/>
                        </a:rPr>
                        <a:t>H</a:t>
                      </a:r>
                      <a:r>
                        <a:rPr kumimoji="0" lang="tr-TR" altLang="x-none" sz="2400" b="0" i="0" u="none" strike="noStrike" cap="none" normalizeH="0" baseline="-30000">
                          <a:ln>
                            <a:noFill/>
                          </a:ln>
                          <a:solidFill>
                            <a:srgbClr val="000000"/>
                          </a:solidFill>
                          <a:effectLst/>
                          <a:latin typeface="Times New Roman" charset="0"/>
                          <a:ea typeface="Times New Roman" charset="0"/>
                          <a:cs typeface="Times New Roman" charset="0"/>
                        </a:rPr>
                        <a:t>0</a:t>
                      </a:r>
                      <a:r>
                        <a:rPr kumimoji="0" lang="tr-TR" altLang="x-none" sz="2400" b="0" i="0" u="none" strike="noStrike" cap="none" normalizeH="0" baseline="0">
                          <a:ln>
                            <a:noFill/>
                          </a:ln>
                          <a:solidFill>
                            <a:srgbClr val="000000"/>
                          </a:solidFill>
                          <a:effectLst/>
                          <a:latin typeface="Times New Roman" charset="0"/>
                          <a:ea typeface="Times New Roman" charset="0"/>
                          <a:cs typeface="Times New Roman" charset="0"/>
                        </a:rPr>
                        <a:t> Doğru</a:t>
                      </a:r>
                      <a:endParaRPr kumimoji="0" lang="tr-TR" altLang="x-none" sz="3600" b="0" i="0" u="none" strike="noStrike" cap="none" normalizeH="0" baseline="0">
                        <a:ln>
                          <a:noFill/>
                        </a:ln>
                        <a:solidFill>
                          <a:schemeClr val="tx1"/>
                        </a:solidFill>
                        <a:effectLst/>
                        <a:latin typeface="Arial" charset="0"/>
                        <a:ea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2400" b="0" i="0" u="none" strike="noStrike" cap="none" normalizeH="0" baseline="0">
                          <a:ln>
                            <a:noFill/>
                          </a:ln>
                          <a:solidFill>
                            <a:srgbClr val="000000"/>
                          </a:solidFill>
                          <a:effectLst/>
                          <a:latin typeface="Times New Roman" charset="0"/>
                          <a:ea typeface="Times New Roman" charset="0"/>
                          <a:cs typeface="Times New Roman" charset="0"/>
                        </a:rPr>
                        <a:t>H</a:t>
                      </a:r>
                      <a:r>
                        <a:rPr kumimoji="0" lang="tr-TR" altLang="x-none" sz="2400" b="0" i="0" u="none" strike="noStrike" cap="none" normalizeH="0" baseline="-30000">
                          <a:ln>
                            <a:noFill/>
                          </a:ln>
                          <a:solidFill>
                            <a:srgbClr val="000000"/>
                          </a:solidFill>
                          <a:effectLst/>
                          <a:latin typeface="Times New Roman" charset="0"/>
                          <a:ea typeface="Times New Roman" charset="0"/>
                          <a:cs typeface="Times New Roman" charset="0"/>
                        </a:rPr>
                        <a:t>0</a:t>
                      </a:r>
                      <a:r>
                        <a:rPr kumimoji="0" lang="tr-TR" altLang="x-none" sz="2400" b="0" i="0" u="none" strike="noStrike" cap="none" normalizeH="0" baseline="0">
                          <a:ln>
                            <a:noFill/>
                          </a:ln>
                          <a:solidFill>
                            <a:srgbClr val="000000"/>
                          </a:solidFill>
                          <a:effectLst/>
                          <a:latin typeface="Times New Roman" charset="0"/>
                          <a:ea typeface="Times New Roman" charset="0"/>
                          <a:cs typeface="Times New Roman" charset="0"/>
                        </a:rPr>
                        <a:t> Yanlış</a:t>
                      </a:r>
                      <a:endParaRPr kumimoji="0" lang="tr-TR" altLang="x-none" sz="3600" b="0" i="0" u="none" strike="noStrike" cap="none" normalizeH="0" baseline="0">
                        <a:ln>
                          <a:noFill/>
                        </a:ln>
                        <a:solidFill>
                          <a:schemeClr val="tx1"/>
                        </a:solidFill>
                        <a:effectLst/>
                        <a:latin typeface="Arial" charset="0"/>
                        <a:ea typeface="Arial" charset="0"/>
                        <a:cs typeface="Arial" charset="0"/>
                      </a:endParaRPr>
                    </a:p>
                  </a:txBody>
                  <a:tcPr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4075">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tr-TR" altLang="x-none" sz="2400" b="0" i="0" u="none" strike="noStrike" cap="none" normalizeH="0" baseline="0">
                          <a:ln>
                            <a:noFill/>
                          </a:ln>
                          <a:solidFill>
                            <a:srgbClr val="000000"/>
                          </a:solidFill>
                          <a:effectLst/>
                          <a:latin typeface="Times New Roman" charset="0"/>
                          <a:ea typeface="Times New Roman" charset="0"/>
                          <a:cs typeface="Times New Roman" charset="0"/>
                        </a:rPr>
                        <a:t>H</a:t>
                      </a:r>
                      <a:r>
                        <a:rPr kumimoji="0" lang="tr-TR" altLang="x-none" sz="2400" b="0" i="0" u="none" strike="noStrike" cap="none" normalizeH="0" baseline="-30000">
                          <a:ln>
                            <a:noFill/>
                          </a:ln>
                          <a:solidFill>
                            <a:srgbClr val="000000"/>
                          </a:solidFill>
                          <a:effectLst/>
                          <a:latin typeface="Times New Roman" charset="0"/>
                          <a:ea typeface="Times New Roman" charset="0"/>
                          <a:cs typeface="Times New Roman" charset="0"/>
                        </a:rPr>
                        <a:t>0</a:t>
                      </a:r>
                      <a:r>
                        <a:rPr kumimoji="0" lang="tr-TR" altLang="x-none" sz="2400" b="0" i="0" u="none" strike="noStrike" cap="none" normalizeH="0" baseline="0">
                          <a:ln>
                            <a:noFill/>
                          </a:ln>
                          <a:solidFill>
                            <a:srgbClr val="000000"/>
                          </a:solidFill>
                          <a:effectLst/>
                          <a:latin typeface="Times New Roman" charset="0"/>
                          <a:ea typeface="Times New Roman" charset="0"/>
                          <a:cs typeface="Times New Roman" charset="0"/>
                        </a:rPr>
                        <a:t> Kabul</a:t>
                      </a:r>
                      <a:endParaRPr kumimoji="0" lang="tr-TR" altLang="x-none" sz="3600" b="0" i="0" u="none" strike="noStrike" cap="none" normalizeH="0" baseline="0">
                        <a:ln>
                          <a:noFill/>
                        </a:ln>
                        <a:solidFill>
                          <a:schemeClr val="tx1"/>
                        </a:solidFill>
                        <a:effectLst/>
                        <a:latin typeface="Arial" charset="0"/>
                        <a:ea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2400" b="0" i="0" u="none" strike="noStrike" cap="none" normalizeH="0" baseline="0">
                          <a:ln>
                            <a:noFill/>
                          </a:ln>
                          <a:solidFill>
                            <a:srgbClr val="000000"/>
                          </a:solidFill>
                          <a:effectLst/>
                          <a:latin typeface="Times New Roman" charset="0"/>
                          <a:ea typeface="Times New Roman" charset="0"/>
                          <a:cs typeface="Times New Roman" charset="0"/>
                        </a:rPr>
                        <a:t>Doğru Karar</a:t>
                      </a:r>
                      <a:endParaRPr kumimoji="0" lang="tr-TR" altLang="x-none" sz="3600" b="0" i="0" u="none" strike="noStrike" cap="none" normalizeH="0" baseline="0">
                        <a:ln>
                          <a:noFill/>
                        </a:ln>
                        <a:solidFill>
                          <a:schemeClr val="tx1"/>
                        </a:solidFill>
                        <a:effectLst/>
                        <a:latin typeface="Arial" charset="0"/>
                        <a:ea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2400" b="0" i="0" u="none" strike="noStrike" cap="none" normalizeH="0" baseline="0" dirty="0">
                          <a:ln>
                            <a:noFill/>
                          </a:ln>
                          <a:solidFill>
                            <a:srgbClr val="000000"/>
                          </a:solidFill>
                          <a:effectLst/>
                          <a:latin typeface="Times New Roman" charset="0"/>
                          <a:ea typeface="Times New Roman" charset="0"/>
                          <a:cs typeface="Times New Roman" charset="0"/>
                        </a:rPr>
                        <a:t>II. Tip Hata (</a:t>
                      </a:r>
                      <a:r>
                        <a:rPr kumimoji="0" lang="tr-TR" altLang="x-none" sz="2400" b="0" i="0" u="none" strike="noStrike" cap="none" normalizeH="0" baseline="0" dirty="0">
                          <a:ln>
                            <a:noFill/>
                          </a:ln>
                          <a:solidFill>
                            <a:srgbClr val="000000"/>
                          </a:solidFill>
                          <a:effectLst/>
                          <a:latin typeface="Times New Roman" charset="0"/>
                          <a:ea typeface="Times New Roman" charset="0"/>
                          <a:cs typeface="Times New Roman" charset="0"/>
                          <a:sym typeface="Symbol" charset="2"/>
                        </a:rPr>
                        <a:t></a:t>
                      </a:r>
                      <a:r>
                        <a:rPr kumimoji="0" lang="tr-TR" altLang="x-none" sz="2400" b="0" i="0" u="none" strike="noStrike" cap="none" normalizeH="0" baseline="0" dirty="0">
                          <a:ln>
                            <a:noFill/>
                          </a:ln>
                          <a:solidFill>
                            <a:srgbClr val="000000"/>
                          </a:solidFill>
                          <a:effectLst/>
                          <a:latin typeface="Times New Roman" charset="0"/>
                          <a:ea typeface="Times New Roman" charset="0"/>
                          <a:cs typeface="Times New Roman" charset="0"/>
                        </a:rPr>
                        <a:t>)</a:t>
                      </a:r>
                      <a:endParaRPr kumimoji="0" lang="tr-TR" altLang="x-none" sz="2400" b="0" i="0" u="none" strike="noStrike" cap="none" normalizeH="0" baseline="0" dirty="0">
                        <a:ln>
                          <a:noFill/>
                        </a:ln>
                        <a:solidFill>
                          <a:srgbClr val="000000"/>
                        </a:solidFill>
                        <a:effectLst/>
                        <a:latin typeface="Times New Roman" charset="0"/>
                        <a:ea typeface="Times New Roman" charset="0"/>
                        <a:cs typeface="Times New Roman" charset="0"/>
                        <a:sym typeface="Symbol"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90575">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tr-TR" altLang="x-none" sz="2400" b="0" i="0" u="none" strike="noStrike" cap="none" normalizeH="0" baseline="0">
                          <a:ln>
                            <a:noFill/>
                          </a:ln>
                          <a:solidFill>
                            <a:srgbClr val="000000"/>
                          </a:solidFill>
                          <a:effectLst/>
                          <a:latin typeface="Times New Roman" charset="0"/>
                          <a:ea typeface="Times New Roman" charset="0"/>
                          <a:cs typeface="Times New Roman" charset="0"/>
                        </a:rPr>
                        <a:t>H</a:t>
                      </a:r>
                      <a:r>
                        <a:rPr kumimoji="0" lang="tr-TR" altLang="x-none" sz="2400" b="0" i="0" u="none" strike="noStrike" cap="none" normalizeH="0" baseline="-30000">
                          <a:ln>
                            <a:noFill/>
                          </a:ln>
                          <a:solidFill>
                            <a:srgbClr val="000000"/>
                          </a:solidFill>
                          <a:effectLst/>
                          <a:latin typeface="Times New Roman" charset="0"/>
                          <a:ea typeface="Times New Roman" charset="0"/>
                          <a:cs typeface="Times New Roman" charset="0"/>
                        </a:rPr>
                        <a:t>0</a:t>
                      </a:r>
                      <a:r>
                        <a:rPr kumimoji="0" lang="tr-TR" altLang="x-none" sz="2400" b="0" i="0" u="none" strike="noStrike" cap="none" normalizeH="0" baseline="0">
                          <a:ln>
                            <a:noFill/>
                          </a:ln>
                          <a:solidFill>
                            <a:srgbClr val="000000"/>
                          </a:solidFill>
                          <a:effectLst/>
                          <a:latin typeface="Times New Roman" charset="0"/>
                          <a:ea typeface="Times New Roman" charset="0"/>
                          <a:cs typeface="Times New Roman" charset="0"/>
                        </a:rPr>
                        <a:t> Red</a:t>
                      </a:r>
                      <a:endParaRPr kumimoji="0" lang="tr-TR" altLang="x-none" sz="3600" b="0" i="0" u="none" strike="noStrike" cap="none" normalizeH="0" baseline="0">
                        <a:ln>
                          <a:noFill/>
                        </a:ln>
                        <a:solidFill>
                          <a:schemeClr val="tx1"/>
                        </a:solidFill>
                        <a:effectLst/>
                        <a:latin typeface="Arial" charset="0"/>
                        <a:ea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2400" b="0" i="0" u="none" strike="noStrike" cap="none" normalizeH="0" baseline="0">
                          <a:ln>
                            <a:noFill/>
                          </a:ln>
                          <a:solidFill>
                            <a:srgbClr val="000000"/>
                          </a:solidFill>
                          <a:effectLst/>
                          <a:latin typeface="Times New Roman" charset="0"/>
                          <a:ea typeface="Times New Roman" charset="0"/>
                          <a:cs typeface="Times New Roman" charset="0"/>
                        </a:rPr>
                        <a:t>I. Tip Hata (</a:t>
                      </a:r>
                      <a:r>
                        <a:rPr kumimoji="0" lang="tr-TR" altLang="x-none" sz="2400" b="0" i="0" u="none" strike="noStrike" cap="none" normalizeH="0" baseline="0">
                          <a:ln>
                            <a:noFill/>
                          </a:ln>
                          <a:solidFill>
                            <a:srgbClr val="000000"/>
                          </a:solidFill>
                          <a:effectLst/>
                          <a:latin typeface="Times New Roman" charset="0"/>
                          <a:ea typeface="Times New Roman" charset="0"/>
                          <a:cs typeface="Times New Roman" charset="0"/>
                          <a:sym typeface="Symbol" charset="2"/>
                        </a:rPr>
                        <a:t></a:t>
                      </a:r>
                      <a:r>
                        <a:rPr kumimoji="0" lang="tr-TR" altLang="x-none" sz="2400" b="0" i="0" u="none" strike="noStrike" cap="none" normalizeH="0" baseline="0">
                          <a:ln>
                            <a:noFill/>
                          </a:ln>
                          <a:solidFill>
                            <a:srgbClr val="000000"/>
                          </a:solidFill>
                          <a:effectLst/>
                          <a:latin typeface="Times New Roman" charset="0"/>
                          <a:ea typeface="Times New Roman" charset="0"/>
                          <a:cs typeface="Times New Roman" charset="0"/>
                        </a:rPr>
                        <a:t>)</a:t>
                      </a:r>
                      <a:endParaRPr kumimoji="0" lang="tr-TR" altLang="x-none" sz="2400" b="0" i="0" u="none" strike="noStrike" cap="none" normalizeH="0" baseline="0">
                        <a:ln>
                          <a:noFill/>
                        </a:ln>
                        <a:solidFill>
                          <a:srgbClr val="000000"/>
                        </a:solidFill>
                        <a:effectLst/>
                        <a:latin typeface="Times New Roman" charset="0"/>
                        <a:ea typeface="Times New Roman" charset="0"/>
                        <a:cs typeface="Times New Roman" charset="0"/>
                        <a:sym typeface="Symbol"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2400" b="0" i="0" u="none" strike="noStrike" cap="none" normalizeH="0" baseline="0" dirty="0">
                          <a:ln>
                            <a:noFill/>
                          </a:ln>
                          <a:solidFill>
                            <a:srgbClr val="000000"/>
                          </a:solidFill>
                          <a:effectLst/>
                          <a:latin typeface="Times New Roman" charset="0"/>
                          <a:ea typeface="Times New Roman" charset="0"/>
                          <a:cs typeface="Times New Roman" charset="0"/>
                        </a:rPr>
                        <a:t>Doğru Karar</a:t>
                      </a:r>
                      <a:endParaRPr kumimoji="0" lang="tr-TR" altLang="x-none" sz="3600" b="0" i="0" u="none" strike="noStrike" cap="none" normalizeH="0" baseline="0" dirty="0">
                        <a:ln>
                          <a:noFill/>
                        </a:ln>
                        <a:solidFill>
                          <a:schemeClr val="tx1"/>
                        </a:solidFill>
                        <a:effectLst/>
                        <a:latin typeface="Arial" charset="0"/>
                        <a:ea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2311" name="Rectangle 60"/>
          <p:cNvSpPr>
            <a:spLocks noChangeArrowheads="1"/>
          </p:cNvSpPr>
          <p:nvPr/>
        </p:nvSpPr>
        <p:spPr bwMode="auto">
          <a:xfrm>
            <a:off x="858404" y="5429835"/>
            <a:ext cx="70259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Font typeface="Arial" charset="0"/>
              <a:buChar char="•"/>
              <a:defRPr sz="3200">
                <a:solidFill>
                  <a:schemeClr val="tx1"/>
                </a:solidFill>
                <a:latin typeface="Calibri" charset="0"/>
              </a:defRPr>
            </a:lvl1pPr>
            <a:lvl2pPr marL="742950" indent="-285750">
              <a:spcBef>
                <a:spcPct val="20000"/>
              </a:spcBef>
              <a:buFont typeface="Arial" charset="0"/>
              <a:buChar char="–"/>
              <a:defRPr sz="2800">
                <a:solidFill>
                  <a:schemeClr val="tx1"/>
                </a:solidFill>
                <a:latin typeface="Calibri" charset="0"/>
              </a:defRPr>
            </a:lvl2pPr>
            <a:lvl3pPr marL="1143000" indent="-228600">
              <a:spcBef>
                <a:spcPct val="20000"/>
              </a:spcBef>
              <a:buFont typeface="Arial" charset="0"/>
              <a:buChar char="•"/>
              <a:defRPr sz="2400">
                <a:solidFill>
                  <a:schemeClr val="tx1"/>
                </a:solidFill>
                <a:latin typeface="Calibri" charset="0"/>
              </a:defRPr>
            </a:lvl3pPr>
            <a:lvl4pPr marL="1600200" indent="-228600">
              <a:spcBef>
                <a:spcPct val="20000"/>
              </a:spcBef>
              <a:buFont typeface="Arial" charset="0"/>
              <a:buChar char="–"/>
              <a:defRPr sz="2000">
                <a:solidFill>
                  <a:schemeClr val="tx1"/>
                </a:solidFill>
                <a:latin typeface="Calibri" charset="0"/>
              </a:defRPr>
            </a:lvl4pPr>
            <a:lvl5pPr marL="2057400" indent="-228600">
              <a:spcBef>
                <a:spcPct val="20000"/>
              </a:spcBef>
              <a:buFont typeface="Arial" charset="0"/>
              <a:buChar char="»"/>
              <a:defRPr sz="2000">
                <a:solidFill>
                  <a:schemeClr val="tx1"/>
                </a:solidFill>
                <a:latin typeface="Calibri"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defRPr>
            </a:lvl9pPr>
          </a:lstStyle>
          <a:p>
            <a:pPr eaLnBrk="1" hangingPunct="1">
              <a:spcBef>
                <a:spcPct val="0"/>
              </a:spcBef>
              <a:buFontTx/>
              <a:buNone/>
            </a:pPr>
            <a:r>
              <a:rPr lang="tr-TR" altLang="x-none" sz="2000" dirty="0">
                <a:sym typeface="Symbol" charset="2"/>
              </a:rPr>
              <a:t></a:t>
            </a:r>
            <a:r>
              <a:rPr lang="tr-TR" altLang="x-none" sz="2000" dirty="0"/>
              <a:t> : Anlamlılık Düzeyi </a:t>
            </a:r>
            <a:r>
              <a:rPr lang="tr-TR" altLang="x-none" sz="2000" dirty="0">
                <a:sym typeface="Symbol" charset="2"/>
              </a:rPr>
              <a:t>    1-</a:t>
            </a:r>
            <a:r>
              <a:rPr lang="tr-TR" altLang="x-none" sz="2000" dirty="0"/>
              <a:t>= Güven Düzeyi</a:t>
            </a:r>
            <a:r>
              <a:rPr lang="tr-TR" altLang="x-none" sz="2000" dirty="0">
                <a:sym typeface="Symbol" charset="2"/>
              </a:rPr>
              <a:t>       1- </a:t>
            </a:r>
            <a:r>
              <a:rPr lang="tr-TR" altLang="x-none" sz="2000" dirty="0"/>
              <a:t> : Testin Gücü</a:t>
            </a:r>
          </a:p>
        </p:txBody>
      </p:sp>
    </p:spTree>
    <p:extLst>
      <p:ext uri="{BB962C8B-B14F-4D97-AF65-F5344CB8AC3E}">
        <p14:creationId xmlns:p14="http://schemas.microsoft.com/office/powerpoint/2010/main" val="524208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764704"/>
            <a:ext cx="7704667" cy="739551"/>
          </a:xfrm>
        </p:spPr>
        <p:txBody>
          <a:bodyPr/>
          <a:lstStyle/>
          <a:p>
            <a:r>
              <a:rPr lang="en-US" b="1" dirty="0" err="1"/>
              <a:t>Hatalar</a:t>
            </a:r>
            <a:r>
              <a:rPr lang="mr-IN" b="1" dirty="0"/>
              <a:t>…</a:t>
            </a:r>
            <a:endParaRPr lang="en-US" b="1" dirty="0"/>
          </a:p>
        </p:txBody>
      </p:sp>
      <p:sp>
        <p:nvSpPr>
          <p:cNvPr id="3" name="Content Placeholder 2"/>
          <p:cNvSpPr>
            <a:spLocks noGrp="1"/>
          </p:cNvSpPr>
          <p:nvPr>
            <p:ph idx="1"/>
          </p:nvPr>
        </p:nvSpPr>
        <p:spPr>
          <a:xfrm>
            <a:off x="179512" y="1844824"/>
            <a:ext cx="4860032" cy="3559224"/>
          </a:xfrm>
        </p:spPr>
        <p:txBody>
          <a:bodyPr>
            <a:noAutofit/>
          </a:bodyPr>
          <a:lstStyle/>
          <a:p>
            <a:pPr>
              <a:spcBef>
                <a:spcPts val="0"/>
              </a:spcBef>
              <a:spcAft>
                <a:spcPts val="0"/>
              </a:spcAft>
            </a:pPr>
            <a:r>
              <a:rPr lang="tr-TR" dirty="0">
                <a:solidFill>
                  <a:schemeClr val="tx1"/>
                </a:solidFill>
              </a:rPr>
              <a:t>Alpha Hatası: 1. tip (tür) hata</a:t>
            </a:r>
          </a:p>
          <a:p>
            <a:pPr lvl="1">
              <a:spcBef>
                <a:spcPts val="0"/>
              </a:spcBef>
              <a:spcAft>
                <a:spcPts val="0"/>
              </a:spcAft>
            </a:pPr>
            <a:r>
              <a:rPr lang="tr-TR" sz="2000" dirty="0">
                <a:solidFill>
                  <a:schemeClr val="tx1"/>
                </a:solidFill>
              </a:rPr>
              <a:t>Doğru olan bir yokluk hipotezinin reddedilmesi olasılığıdır. </a:t>
            </a:r>
          </a:p>
          <a:p>
            <a:pPr lvl="1">
              <a:spcBef>
                <a:spcPts val="0"/>
              </a:spcBef>
              <a:spcAft>
                <a:spcPts val="0"/>
              </a:spcAft>
            </a:pPr>
            <a:r>
              <a:rPr lang="tr-TR" sz="2000" dirty="0">
                <a:solidFill>
                  <a:schemeClr val="tx1"/>
                </a:solidFill>
              </a:rPr>
              <a:t>Bir örnekleme dağılımının ret bölgesinin büyüklüğünü gösterir. </a:t>
            </a:r>
          </a:p>
          <a:p>
            <a:pPr lvl="1">
              <a:spcBef>
                <a:spcPts val="0"/>
              </a:spcBef>
              <a:spcAft>
                <a:spcPts val="0"/>
              </a:spcAft>
            </a:pPr>
            <a:r>
              <a:rPr lang="tr-TR" sz="2000" dirty="0">
                <a:solidFill>
                  <a:schemeClr val="tx1"/>
                </a:solidFill>
              </a:rPr>
              <a:t>Anlamlılık düzeyi olarak da adlandırılır. </a:t>
            </a:r>
          </a:p>
          <a:p>
            <a:pPr lvl="1">
              <a:spcBef>
                <a:spcPts val="0"/>
              </a:spcBef>
              <a:spcAft>
                <a:spcPts val="0"/>
              </a:spcAft>
            </a:pPr>
            <a:endParaRPr lang="tr-TR" sz="2000" dirty="0">
              <a:solidFill>
                <a:schemeClr val="tx1"/>
              </a:solidFill>
            </a:endParaRPr>
          </a:p>
          <a:p>
            <a:pPr marL="201168" lvl="1" indent="0">
              <a:spcBef>
                <a:spcPts val="0"/>
              </a:spcBef>
              <a:spcAft>
                <a:spcPts val="0"/>
              </a:spcAft>
              <a:buNone/>
            </a:pPr>
            <a:r>
              <a:rPr lang="tr-TR" sz="2000" dirty="0">
                <a:solidFill>
                  <a:schemeClr val="tx1"/>
                </a:solidFill>
              </a:rPr>
              <a:t>Beta Hatası: 2. tip hata</a:t>
            </a:r>
          </a:p>
          <a:p>
            <a:pPr lvl="1">
              <a:spcBef>
                <a:spcPts val="0"/>
              </a:spcBef>
              <a:spcAft>
                <a:spcPts val="0"/>
              </a:spcAft>
            </a:pPr>
            <a:r>
              <a:rPr lang="tr-TR" sz="2000" dirty="0">
                <a:solidFill>
                  <a:schemeClr val="tx1"/>
                </a:solidFill>
              </a:rPr>
              <a:t>Yanlış olan yokluk hipotezinin doğru kabul edilmesi olasılığıdır. </a:t>
            </a:r>
          </a:p>
          <a:p>
            <a:pPr lvl="1">
              <a:spcBef>
                <a:spcPts val="0"/>
              </a:spcBef>
              <a:spcAft>
                <a:spcPts val="0"/>
              </a:spcAft>
            </a:pPr>
            <a:endParaRPr lang="tr-TR" sz="2000" dirty="0">
              <a:solidFill>
                <a:schemeClr val="tx1"/>
              </a:solidFill>
            </a:endParaRPr>
          </a:p>
          <a:p>
            <a:pPr lvl="1">
              <a:spcBef>
                <a:spcPts val="0"/>
              </a:spcBef>
              <a:spcAft>
                <a:spcPts val="0"/>
              </a:spcAft>
            </a:pPr>
            <a:r>
              <a:rPr lang="tr-TR" sz="2000" dirty="0" err="1">
                <a:solidFill>
                  <a:schemeClr val="tx1"/>
                </a:solidFill>
              </a:rPr>
              <a:t>Ho</a:t>
            </a:r>
            <a:r>
              <a:rPr lang="tr-TR" sz="2000" dirty="0">
                <a:solidFill>
                  <a:schemeClr val="tx1"/>
                </a:solidFill>
              </a:rPr>
              <a:t>- Beta HCG=0 kişi hamile değildir</a:t>
            </a:r>
          </a:p>
          <a:p>
            <a:pPr>
              <a:spcBef>
                <a:spcPts val="0"/>
              </a:spcBef>
              <a:spcAft>
                <a:spcPts val="0"/>
              </a:spcAft>
            </a:pPr>
            <a:endParaRPr lang="tr-TR" dirty="0">
              <a:solidFill>
                <a:schemeClr val="tx1"/>
              </a:solidFill>
            </a:endParaRPr>
          </a:p>
        </p:txBody>
      </p:sp>
      <p:pic>
        <p:nvPicPr>
          <p:cNvPr id="4" name="Picture 2" descr="http://i.stack.imgur.com/FPCq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2488" y="1988840"/>
            <a:ext cx="3929762" cy="2942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478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Örnekle</a:t>
            </a:r>
            <a:r>
              <a:rPr lang="en-US" dirty="0"/>
              <a:t> </a:t>
            </a:r>
            <a:r>
              <a:rPr lang="en-US" dirty="0" err="1"/>
              <a:t>Tartışalım</a:t>
            </a:r>
            <a:endParaRPr lang="en-US" dirty="0"/>
          </a:p>
        </p:txBody>
      </p:sp>
      <p:sp>
        <p:nvSpPr>
          <p:cNvPr id="3" name="Content Placeholder 2"/>
          <p:cNvSpPr>
            <a:spLocks noGrp="1"/>
          </p:cNvSpPr>
          <p:nvPr>
            <p:ph idx="1"/>
          </p:nvPr>
        </p:nvSpPr>
        <p:spPr>
          <a:xfrm>
            <a:off x="611560" y="2132856"/>
            <a:ext cx="7543801" cy="2448272"/>
          </a:xfrm>
        </p:spPr>
        <p:txBody>
          <a:bodyPr>
            <a:noAutofit/>
          </a:bodyPr>
          <a:lstStyle/>
          <a:p>
            <a:pPr>
              <a:spcBef>
                <a:spcPts val="0"/>
              </a:spcBef>
              <a:spcAft>
                <a:spcPts val="0"/>
              </a:spcAft>
            </a:pPr>
            <a:r>
              <a:rPr lang="tr-TR" sz="2400" dirty="0">
                <a:solidFill>
                  <a:schemeClr val="tx1"/>
                </a:solidFill>
              </a:rPr>
              <a:t>Örneğin yeni bir ilacın klinik denemelerinde, </a:t>
            </a:r>
          </a:p>
          <a:p>
            <a:pPr lvl="1">
              <a:spcBef>
                <a:spcPts val="0"/>
              </a:spcBef>
              <a:spcAft>
                <a:spcPts val="0"/>
              </a:spcAft>
            </a:pPr>
            <a:r>
              <a:rPr lang="tr-TR" sz="2400" dirty="0">
                <a:solidFill>
                  <a:schemeClr val="tx1"/>
                </a:solidFill>
              </a:rPr>
              <a:t>“yeni geliştirilen ilacın denendiği grup ile kontrol grubu arasında hayatta kalma bakımından bir fark yoktur” hipotezi test edilmeye çalışılsın. </a:t>
            </a:r>
          </a:p>
          <a:p>
            <a:pPr lvl="1">
              <a:spcBef>
                <a:spcPts val="0"/>
              </a:spcBef>
              <a:spcAft>
                <a:spcPts val="0"/>
              </a:spcAft>
            </a:pPr>
            <a:r>
              <a:rPr lang="tr-TR" sz="2400" i="1" dirty="0">
                <a:solidFill>
                  <a:schemeClr val="tx1"/>
                </a:solidFill>
              </a:rPr>
              <a:t>Testin olası sonuçlarını yapılan hataları araştırma çerçevesinde tartışın.</a:t>
            </a:r>
          </a:p>
          <a:p>
            <a:endParaRPr lang="en-US" sz="2400" dirty="0"/>
          </a:p>
        </p:txBody>
      </p:sp>
    </p:spTree>
    <p:extLst>
      <p:ext uri="{BB962C8B-B14F-4D97-AF65-F5344CB8AC3E}">
        <p14:creationId xmlns:p14="http://schemas.microsoft.com/office/powerpoint/2010/main" val="625514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92" name="Group 80"/>
          <p:cNvGraphicFramePr>
            <a:graphicFrameLocks noGrp="1"/>
          </p:cNvGraphicFramePr>
          <p:nvPr>
            <p:extLst>
              <p:ext uri="{D42A27DB-BD31-4B8C-83A1-F6EECF244321}">
                <p14:modId xmlns:p14="http://schemas.microsoft.com/office/powerpoint/2010/main" val="3235640688"/>
              </p:ext>
            </p:extLst>
          </p:nvPr>
        </p:nvGraphicFramePr>
        <p:xfrm>
          <a:off x="395535" y="1988841"/>
          <a:ext cx="8447631" cy="3762079"/>
        </p:xfrm>
        <a:graphic>
          <a:graphicData uri="http://schemas.openxmlformats.org/drawingml/2006/table">
            <a:tbl>
              <a:tblPr/>
              <a:tblGrid>
                <a:gridCol w="1884704">
                  <a:extLst>
                    <a:ext uri="{9D8B030D-6E8A-4147-A177-3AD203B41FA5}">
                      <a16:colId xmlns:a16="http://schemas.microsoft.com/office/drawing/2014/main" val="20000"/>
                    </a:ext>
                  </a:extLst>
                </a:gridCol>
                <a:gridCol w="1884704">
                  <a:extLst>
                    <a:ext uri="{9D8B030D-6E8A-4147-A177-3AD203B41FA5}">
                      <a16:colId xmlns:a16="http://schemas.microsoft.com/office/drawing/2014/main" val="20001"/>
                    </a:ext>
                  </a:extLst>
                </a:gridCol>
                <a:gridCol w="2291105">
                  <a:extLst>
                    <a:ext uri="{9D8B030D-6E8A-4147-A177-3AD203B41FA5}">
                      <a16:colId xmlns:a16="http://schemas.microsoft.com/office/drawing/2014/main" val="20002"/>
                    </a:ext>
                  </a:extLst>
                </a:gridCol>
                <a:gridCol w="2387118">
                  <a:extLst>
                    <a:ext uri="{9D8B030D-6E8A-4147-A177-3AD203B41FA5}">
                      <a16:colId xmlns:a16="http://schemas.microsoft.com/office/drawing/2014/main" val="20003"/>
                    </a:ext>
                  </a:extLst>
                </a:gridCol>
              </a:tblGrid>
              <a:tr h="348085">
                <a:tc rowSpan="2"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tr-TR" altLang="x-none" sz="2800" b="0" i="0" u="none" strike="noStrike" cap="none" normalizeH="0" baseline="0" dirty="0">
                        <a:ln>
                          <a:noFill/>
                        </a:ln>
                        <a:solidFill>
                          <a:schemeClr val="tx1"/>
                        </a:solidFill>
                        <a:effectLst/>
                        <a:latin typeface="Calibri" charset="0"/>
                        <a:ea typeface="Calibri" charset="0"/>
                        <a:cs typeface="Calibri" charset="0"/>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tr-TR" altLang="x-none" sz="2800" b="0" i="0" u="none" strike="noStrike" cap="none" normalizeH="0" baseline="0" dirty="0">
                        <a:ln>
                          <a:noFill/>
                        </a:ln>
                        <a:solidFill>
                          <a:schemeClr val="tx1"/>
                        </a:solidFill>
                        <a:effectLst/>
                        <a:latin typeface="Calibri" charset="0"/>
                        <a:ea typeface="Calibri" charset="0"/>
                        <a:cs typeface="Calibri" charset="0"/>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1800" b="1" i="0" u="none" strike="noStrike" cap="none" normalizeH="0" baseline="0">
                          <a:ln>
                            <a:noFill/>
                          </a:ln>
                          <a:solidFill>
                            <a:srgbClr val="000000"/>
                          </a:solidFill>
                          <a:effectLst/>
                          <a:latin typeface="Calibri" charset="0"/>
                          <a:ea typeface="Calibri" charset="0"/>
                          <a:cs typeface="Calibri" charset="0"/>
                        </a:rPr>
                        <a:t>Gerçek Durum</a:t>
                      </a:r>
                      <a:endParaRPr kumimoji="0" lang="tr-TR" altLang="x-none" sz="2800" b="0" i="0" u="none" strike="noStrike" cap="none" normalizeH="0" baseline="0">
                        <a:ln>
                          <a:noFill/>
                        </a:ln>
                        <a:solidFill>
                          <a:schemeClr val="tx1"/>
                        </a:solidFill>
                        <a:effectLst/>
                        <a:latin typeface="Calibri" charset="0"/>
                        <a:ea typeface="Calibri" charset="0"/>
                        <a:cs typeface="Calibri" charset="0"/>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1106469">
                <a:tc gridSpan="2" vMerge="1">
                  <a:txBody>
                    <a:bodyPr/>
                    <a:lstStyle/>
                    <a:p>
                      <a:endParaRPr lang="en-US"/>
                    </a:p>
                  </a:txBody>
                  <a:tcPr/>
                </a:tc>
                <a:tc hMerge="1" vMerge="1">
                  <a:txBody>
                    <a:bodyPr/>
                    <a:lstStyle/>
                    <a:p>
                      <a:endParaRPr lang="en-US"/>
                    </a:p>
                  </a:txBody>
                  <a:tcPr/>
                </a:tc>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tr-TR" altLang="x-none" sz="1800" b="1" i="0" u="none" strike="noStrike" cap="none" normalizeH="0" baseline="0" dirty="0" err="1">
                          <a:ln>
                            <a:noFill/>
                          </a:ln>
                          <a:solidFill>
                            <a:schemeClr val="tx1"/>
                          </a:solidFill>
                          <a:effectLst/>
                          <a:latin typeface="Calibri" charset="0"/>
                          <a:ea typeface="Calibri" charset="0"/>
                          <a:cs typeface="Calibri" charset="0"/>
                        </a:rPr>
                        <a:t>Ho</a:t>
                      </a:r>
                      <a:r>
                        <a:rPr kumimoji="0" lang="tr-TR" altLang="x-none" sz="1800" b="1" i="0" u="none" strike="noStrike" cap="none" normalizeH="0" baseline="0" dirty="0">
                          <a:ln>
                            <a:noFill/>
                          </a:ln>
                          <a:solidFill>
                            <a:schemeClr val="tx1"/>
                          </a:solidFill>
                          <a:effectLst/>
                          <a:latin typeface="Calibri" charset="0"/>
                          <a:ea typeface="Calibri" charset="0"/>
                          <a:cs typeface="Calibri" charset="0"/>
                        </a:rPr>
                        <a:t> doğru</a:t>
                      </a:r>
                      <a:endParaRPr kumimoji="0" lang="tr-TR" altLang="x-none" sz="2800" b="1" i="0" u="none" strike="noStrike" cap="none" normalizeH="0" baseline="0" dirty="0">
                        <a:ln>
                          <a:noFill/>
                        </a:ln>
                        <a:solidFill>
                          <a:schemeClr val="tx1"/>
                        </a:solidFill>
                        <a:effectLst/>
                        <a:latin typeface="Calibri" charset="0"/>
                        <a:ea typeface="Calibri" charset="0"/>
                        <a:cs typeface="Calibri"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tr-TR" altLang="x-none" sz="1800" b="1" i="0" u="none" strike="noStrike" cap="none" normalizeH="0" baseline="0" dirty="0">
                        <a:ln>
                          <a:noFill/>
                        </a:ln>
                        <a:solidFill>
                          <a:schemeClr val="tx1"/>
                        </a:solidFill>
                        <a:effectLst/>
                        <a:latin typeface="Calibri" charset="0"/>
                        <a:ea typeface="Calibri" charset="0"/>
                        <a:cs typeface="Calibri"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1800" b="1" i="0" u="none" strike="noStrike" cap="none" normalizeH="0" baseline="0" dirty="0">
                          <a:ln>
                            <a:noFill/>
                          </a:ln>
                          <a:solidFill>
                            <a:schemeClr val="tx1"/>
                          </a:solidFill>
                          <a:effectLst/>
                          <a:latin typeface="Calibri" charset="0"/>
                          <a:ea typeface="Calibri" charset="0"/>
                          <a:cs typeface="Calibri" charset="0"/>
                        </a:rPr>
                        <a:t>fark yok</a:t>
                      </a: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tr-TR" altLang="x-none" sz="1800" b="1" i="0" u="none" strike="noStrike" cap="none" normalizeH="0" baseline="0" dirty="0" err="1">
                          <a:ln>
                            <a:noFill/>
                          </a:ln>
                          <a:solidFill>
                            <a:schemeClr val="tx1"/>
                          </a:solidFill>
                          <a:effectLst/>
                          <a:latin typeface="Calibri" charset="0"/>
                          <a:ea typeface="Calibri" charset="0"/>
                          <a:cs typeface="Calibri" charset="0"/>
                        </a:rPr>
                        <a:t>Ho</a:t>
                      </a:r>
                      <a:r>
                        <a:rPr kumimoji="0" lang="tr-TR" altLang="x-none" sz="1800" b="1" i="0" u="none" strike="noStrike" cap="none" normalizeH="0" baseline="0" dirty="0">
                          <a:ln>
                            <a:noFill/>
                          </a:ln>
                          <a:solidFill>
                            <a:schemeClr val="tx1"/>
                          </a:solidFill>
                          <a:effectLst/>
                          <a:latin typeface="Calibri" charset="0"/>
                          <a:ea typeface="Calibri" charset="0"/>
                          <a:cs typeface="Calibri" charset="0"/>
                        </a:rPr>
                        <a:t> yanlış</a:t>
                      </a:r>
                      <a:endParaRPr kumimoji="0" lang="tr-TR" altLang="x-none" sz="2800" b="1" i="0" u="none" strike="noStrike" cap="none" normalizeH="0" baseline="0" dirty="0">
                        <a:ln>
                          <a:noFill/>
                        </a:ln>
                        <a:solidFill>
                          <a:schemeClr val="tx1"/>
                        </a:solidFill>
                        <a:effectLst/>
                        <a:latin typeface="Calibri" charset="0"/>
                        <a:ea typeface="Calibri" charset="0"/>
                        <a:cs typeface="Calibri"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tr-TR" altLang="x-none" sz="1800" b="1" i="0" u="none" strike="noStrike" cap="none" normalizeH="0" baseline="0" dirty="0">
                        <a:ln>
                          <a:noFill/>
                        </a:ln>
                        <a:solidFill>
                          <a:schemeClr val="tx1"/>
                        </a:solidFill>
                        <a:effectLst/>
                        <a:latin typeface="Calibri" charset="0"/>
                        <a:ea typeface="Calibri" charset="0"/>
                        <a:cs typeface="Calibri"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1800" b="1" i="0" u="none" strike="noStrike" cap="none" normalizeH="0" baseline="0" dirty="0">
                          <a:ln>
                            <a:noFill/>
                          </a:ln>
                          <a:solidFill>
                            <a:schemeClr val="tx1"/>
                          </a:solidFill>
                          <a:effectLst/>
                          <a:latin typeface="Calibri" charset="0"/>
                          <a:ea typeface="Calibri" charset="0"/>
                          <a:cs typeface="Calibri" charset="0"/>
                        </a:rPr>
                        <a:t>fark var</a:t>
                      </a: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44931">
                <a:tc row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tr-TR" altLang="x-none" sz="2000" b="1" i="0" u="none" strike="noStrike" cap="none" normalizeH="0" baseline="0" dirty="0">
                        <a:ln>
                          <a:noFill/>
                        </a:ln>
                        <a:solidFill>
                          <a:schemeClr val="tx1"/>
                        </a:solidFill>
                        <a:effectLst/>
                        <a:latin typeface="Calibri" charset="0"/>
                        <a:ea typeface="Calibri" charset="0"/>
                        <a:cs typeface="Calibri"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tr-TR" altLang="x-none" sz="2000" b="1" i="0" u="none" strike="noStrike" cap="none" normalizeH="0" baseline="0" dirty="0">
                          <a:ln>
                            <a:noFill/>
                          </a:ln>
                          <a:solidFill>
                            <a:schemeClr val="tx1"/>
                          </a:solidFill>
                          <a:effectLst/>
                          <a:latin typeface="Calibri" charset="0"/>
                          <a:ea typeface="Calibri" charset="0"/>
                          <a:cs typeface="Calibri" charset="0"/>
                        </a:rPr>
                        <a:t>Test Sonucu</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tr-TR" altLang="x-none" sz="2800" b="0" i="0" u="none" strike="noStrike" cap="none" normalizeH="0" baseline="0" dirty="0">
                        <a:ln>
                          <a:noFill/>
                        </a:ln>
                        <a:solidFill>
                          <a:schemeClr val="tx1"/>
                        </a:solidFill>
                        <a:effectLst/>
                        <a:latin typeface="Calibri" charset="0"/>
                        <a:ea typeface="Calibri" charset="0"/>
                        <a:cs typeface="Calibri" charset="0"/>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1800" b="0" i="0" u="none" strike="noStrike" cap="none" normalizeH="0" baseline="0" dirty="0">
                          <a:ln>
                            <a:noFill/>
                          </a:ln>
                          <a:solidFill>
                            <a:schemeClr val="tx1"/>
                          </a:solidFill>
                          <a:effectLst/>
                          <a:latin typeface="Calibri" charset="0"/>
                          <a:ea typeface="Calibri" charset="0"/>
                          <a:cs typeface="Calibri" charset="0"/>
                        </a:rPr>
                        <a:t>Gruplar arasında fark yok</a:t>
                      </a:r>
                      <a:endParaRPr kumimoji="0" lang="tr-TR" altLang="x-none" sz="1600" b="0" i="0" u="none" strike="noStrike" cap="none" normalizeH="0" baseline="0" dirty="0">
                        <a:ln>
                          <a:noFill/>
                        </a:ln>
                        <a:solidFill>
                          <a:schemeClr val="tx1"/>
                        </a:solidFill>
                        <a:effectLst/>
                        <a:latin typeface="Calibri" charset="0"/>
                        <a:ea typeface="Calibri" charset="0"/>
                        <a:cs typeface="Calibri"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tr-TR" altLang="x-none" sz="1800" b="1" i="0" u="none" strike="noStrike" cap="none" normalizeH="0" baseline="0" dirty="0">
                          <a:ln>
                            <a:noFill/>
                          </a:ln>
                          <a:solidFill>
                            <a:srgbClr val="000000"/>
                          </a:solidFill>
                          <a:effectLst/>
                          <a:latin typeface="Calibri" charset="0"/>
                          <a:ea typeface="Calibri" charset="0"/>
                          <a:cs typeface="Calibri" charset="0"/>
                        </a:rPr>
                        <a:t>(H</a:t>
                      </a:r>
                      <a:r>
                        <a:rPr kumimoji="0" lang="tr-TR" altLang="x-none" sz="1800" b="1" i="0" u="none" strike="noStrike" cap="none" normalizeH="0" baseline="-30000" dirty="0">
                          <a:ln>
                            <a:noFill/>
                          </a:ln>
                          <a:solidFill>
                            <a:srgbClr val="000000"/>
                          </a:solidFill>
                          <a:effectLst/>
                          <a:latin typeface="Calibri" charset="0"/>
                          <a:ea typeface="Calibri" charset="0"/>
                          <a:cs typeface="Calibri" charset="0"/>
                        </a:rPr>
                        <a:t>0</a:t>
                      </a:r>
                      <a:r>
                        <a:rPr kumimoji="0" lang="tr-TR" altLang="x-none" sz="1800" b="1" i="0" u="none" strike="noStrike" cap="none" normalizeH="0" baseline="0" dirty="0">
                          <a:ln>
                            <a:noFill/>
                          </a:ln>
                          <a:solidFill>
                            <a:srgbClr val="000000"/>
                          </a:solidFill>
                          <a:effectLst/>
                          <a:latin typeface="Calibri" charset="0"/>
                          <a:ea typeface="Calibri" charset="0"/>
                          <a:cs typeface="Calibri" charset="0"/>
                        </a:rPr>
                        <a:t> Kabul)</a:t>
                      </a:r>
                      <a:endParaRPr kumimoji="0" lang="tr-TR" altLang="x-none" sz="2800" b="0" i="0" u="none" strike="noStrike" cap="none" normalizeH="0" baseline="0" dirty="0">
                        <a:ln>
                          <a:noFill/>
                        </a:ln>
                        <a:solidFill>
                          <a:schemeClr val="tx1"/>
                        </a:solidFill>
                        <a:effectLst/>
                        <a:latin typeface="Calibri" charset="0"/>
                        <a:ea typeface="Calibri" charset="0"/>
                        <a:cs typeface="Calibri" charset="0"/>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1800" b="1" i="0" u="none" strike="noStrike" cap="none" normalizeH="0" baseline="0" dirty="0">
                          <a:ln>
                            <a:noFill/>
                          </a:ln>
                          <a:solidFill>
                            <a:srgbClr val="000000"/>
                          </a:solidFill>
                          <a:effectLst/>
                          <a:latin typeface="Calibri" charset="0"/>
                          <a:ea typeface="Calibri" charset="0"/>
                          <a:cs typeface="Calibri" charset="0"/>
                        </a:rPr>
                        <a:t>Doğru Karar</a:t>
                      </a:r>
                      <a:endParaRPr kumimoji="0" lang="tr-TR" altLang="x-none" sz="2800" b="0" i="0" u="none" strike="noStrike" cap="none" normalizeH="0" baseline="0" dirty="0">
                        <a:ln>
                          <a:noFill/>
                        </a:ln>
                        <a:solidFill>
                          <a:schemeClr val="tx1"/>
                        </a:solidFill>
                        <a:effectLst/>
                        <a:latin typeface="Calibri" charset="0"/>
                        <a:ea typeface="Calibri" charset="0"/>
                        <a:cs typeface="Calibri" charset="0"/>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1800" b="1" i="0" u="none" strike="noStrike" cap="none" normalizeH="0" baseline="0" dirty="0">
                          <a:ln>
                            <a:noFill/>
                          </a:ln>
                          <a:solidFill>
                            <a:schemeClr val="bg1"/>
                          </a:solidFill>
                          <a:effectLst/>
                          <a:latin typeface="Calibri" charset="0"/>
                          <a:ea typeface="Calibri" charset="0"/>
                          <a:cs typeface="Calibri" charset="0"/>
                        </a:rPr>
                        <a:t>II. Tip Hata (</a:t>
                      </a:r>
                      <a:r>
                        <a:rPr kumimoji="0" lang="tr-TR" altLang="x-none" sz="1800" b="1" i="0" u="none" strike="noStrike" cap="none" normalizeH="0" baseline="0" dirty="0">
                          <a:ln>
                            <a:noFill/>
                          </a:ln>
                          <a:solidFill>
                            <a:schemeClr val="bg1"/>
                          </a:solidFill>
                          <a:effectLst/>
                          <a:latin typeface="Calibri" charset="0"/>
                          <a:ea typeface="Calibri" charset="0"/>
                          <a:cs typeface="Calibri" charset="0"/>
                          <a:sym typeface="Symbol" charset="2"/>
                        </a:rPr>
                        <a:t></a:t>
                      </a:r>
                      <a:r>
                        <a:rPr kumimoji="0" lang="tr-TR" altLang="x-none" sz="1800" b="1" i="0" u="none" strike="noStrike" cap="none" normalizeH="0" baseline="0" dirty="0">
                          <a:ln>
                            <a:noFill/>
                          </a:ln>
                          <a:solidFill>
                            <a:schemeClr val="bg1"/>
                          </a:solidFill>
                          <a:effectLst/>
                          <a:latin typeface="Calibri" charset="0"/>
                          <a:ea typeface="Calibri" charset="0"/>
                          <a:cs typeface="Calibri" charset="0"/>
                        </a:rPr>
                        <a:t>)</a:t>
                      </a:r>
                      <a:endParaRPr kumimoji="0" lang="tr-TR" altLang="x-none" sz="1800" b="1" i="0" u="none" strike="noStrike" cap="none" normalizeH="0" baseline="0" dirty="0">
                        <a:ln>
                          <a:noFill/>
                        </a:ln>
                        <a:solidFill>
                          <a:schemeClr val="bg1"/>
                        </a:solidFill>
                        <a:effectLst/>
                        <a:latin typeface="Calibri" charset="0"/>
                        <a:ea typeface="Calibri" charset="0"/>
                        <a:cs typeface="Calibri" charset="0"/>
                        <a:sym typeface="Symbol" charset="2"/>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0000"/>
                    </a:solidFill>
                  </a:tcPr>
                </a:tc>
                <a:extLst>
                  <a:ext uri="{0D108BD9-81ED-4DB2-BD59-A6C34878D82A}">
                    <a16:rowId xmlns:a16="http://schemas.microsoft.com/office/drawing/2014/main" val="10002"/>
                  </a:ext>
                </a:extLst>
              </a:tr>
              <a:tr h="1144931">
                <a:tc v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tr-TR" altLang="x-none" sz="2800" b="0" i="0" u="none" strike="noStrike" cap="none" normalizeH="0" baseline="0" dirty="0">
                        <a:ln>
                          <a:noFill/>
                        </a:ln>
                        <a:solidFill>
                          <a:schemeClr val="tx1"/>
                        </a:solidFill>
                        <a:effectLst/>
                        <a:latin typeface="Calibri" charset="0"/>
                        <a:ea typeface="Calibri" charset="0"/>
                        <a:cs typeface="Calibri" charset="0"/>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1800" b="0" i="0" u="none" strike="noStrike" cap="none" normalizeH="0" baseline="0" dirty="0">
                          <a:ln>
                            <a:noFill/>
                          </a:ln>
                          <a:solidFill>
                            <a:schemeClr val="tx1"/>
                          </a:solidFill>
                          <a:effectLst/>
                          <a:latin typeface="Calibri" charset="0"/>
                          <a:ea typeface="Calibri" charset="0"/>
                          <a:cs typeface="Calibri" charset="0"/>
                        </a:rPr>
                        <a:t>Gruplar arasında fark var</a:t>
                      </a:r>
                      <a:endParaRPr kumimoji="0" lang="tr-TR" altLang="x-none" sz="1600" b="0" i="0" u="none" strike="noStrike" cap="none" normalizeH="0" baseline="0" dirty="0">
                        <a:ln>
                          <a:noFill/>
                        </a:ln>
                        <a:solidFill>
                          <a:schemeClr val="tx1"/>
                        </a:solidFill>
                        <a:effectLst/>
                        <a:latin typeface="Calibri" charset="0"/>
                        <a:ea typeface="Calibri" charset="0"/>
                        <a:cs typeface="Calibri"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tr-TR" altLang="x-none" sz="1800" b="1" i="0" u="none" strike="noStrike" cap="none" normalizeH="0" baseline="0" dirty="0">
                          <a:ln>
                            <a:noFill/>
                          </a:ln>
                          <a:solidFill>
                            <a:srgbClr val="000000"/>
                          </a:solidFill>
                          <a:effectLst/>
                          <a:latin typeface="Calibri" charset="0"/>
                          <a:ea typeface="Calibri" charset="0"/>
                          <a:cs typeface="Calibri" charset="0"/>
                        </a:rPr>
                        <a:t>(H</a:t>
                      </a:r>
                      <a:r>
                        <a:rPr kumimoji="0" lang="tr-TR" altLang="x-none" sz="1800" b="1" i="0" u="none" strike="noStrike" cap="none" normalizeH="0" baseline="-30000" dirty="0">
                          <a:ln>
                            <a:noFill/>
                          </a:ln>
                          <a:solidFill>
                            <a:srgbClr val="000000"/>
                          </a:solidFill>
                          <a:effectLst/>
                          <a:latin typeface="Calibri" charset="0"/>
                          <a:ea typeface="Calibri" charset="0"/>
                          <a:cs typeface="Calibri" charset="0"/>
                        </a:rPr>
                        <a:t>0</a:t>
                      </a:r>
                      <a:r>
                        <a:rPr kumimoji="0" lang="tr-TR" altLang="x-none" sz="1800" b="1" i="0" u="none" strike="noStrike" cap="none" normalizeH="0" baseline="0" dirty="0">
                          <a:ln>
                            <a:noFill/>
                          </a:ln>
                          <a:solidFill>
                            <a:srgbClr val="000000"/>
                          </a:solidFill>
                          <a:effectLst/>
                          <a:latin typeface="Calibri" charset="0"/>
                          <a:ea typeface="Calibri" charset="0"/>
                          <a:cs typeface="Calibri" charset="0"/>
                        </a:rPr>
                        <a:t> </a:t>
                      </a:r>
                      <a:r>
                        <a:rPr kumimoji="0" lang="tr-TR" altLang="x-none" sz="1800" b="1" i="0" u="none" strike="noStrike" cap="none" normalizeH="0" baseline="0" dirty="0" err="1">
                          <a:ln>
                            <a:noFill/>
                          </a:ln>
                          <a:solidFill>
                            <a:srgbClr val="000000"/>
                          </a:solidFill>
                          <a:effectLst/>
                          <a:latin typeface="Calibri" charset="0"/>
                          <a:ea typeface="Calibri" charset="0"/>
                          <a:cs typeface="Calibri" charset="0"/>
                        </a:rPr>
                        <a:t>Red</a:t>
                      </a:r>
                      <a:r>
                        <a:rPr kumimoji="0" lang="tr-TR" altLang="x-none" sz="1800" b="1" i="0" u="none" strike="noStrike" cap="none" normalizeH="0" baseline="0" dirty="0">
                          <a:ln>
                            <a:noFill/>
                          </a:ln>
                          <a:solidFill>
                            <a:srgbClr val="000000"/>
                          </a:solidFill>
                          <a:effectLst/>
                          <a:latin typeface="Calibri" charset="0"/>
                          <a:ea typeface="Calibri" charset="0"/>
                          <a:cs typeface="Calibri" charset="0"/>
                        </a:rPr>
                        <a:t>)</a:t>
                      </a:r>
                      <a:endParaRPr kumimoji="0" lang="tr-TR" altLang="x-none" sz="2800" b="0" i="0" u="none" strike="noStrike" cap="none" normalizeH="0" baseline="0" dirty="0">
                        <a:ln>
                          <a:noFill/>
                        </a:ln>
                        <a:solidFill>
                          <a:schemeClr val="tx1"/>
                        </a:solidFill>
                        <a:effectLst/>
                        <a:latin typeface="Calibri" charset="0"/>
                        <a:ea typeface="Calibri" charset="0"/>
                        <a:cs typeface="Calibri" charset="0"/>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1800" b="1" i="0" u="none" strike="noStrike" cap="none" normalizeH="0" baseline="0" dirty="0">
                          <a:ln>
                            <a:noFill/>
                          </a:ln>
                          <a:solidFill>
                            <a:schemeClr val="bg1"/>
                          </a:solidFill>
                          <a:effectLst/>
                          <a:latin typeface="Calibri" charset="0"/>
                          <a:ea typeface="Calibri" charset="0"/>
                          <a:cs typeface="Calibri" charset="0"/>
                        </a:rPr>
                        <a:t>I. Tip Hata (</a:t>
                      </a:r>
                      <a:r>
                        <a:rPr kumimoji="0" lang="tr-TR" altLang="x-none" sz="1800" b="1" i="0" u="none" strike="noStrike" cap="none" normalizeH="0" baseline="0" dirty="0">
                          <a:ln>
                            <a:noFill/>
                          </a:ln>
                          <a:solidFill>
                            <a:schemeClr val="bg1"/>
                          </a:solidFill>
                          <a:effectLst/>
                          <a:latin typeface="Calibri" charset="0"/>
                          <a:ea typeface="Calibri" charset="0"/>
                          <a:cs typeface="Calibri" charset="0"/>
                          <a:sym typeface="Symbol" charset="2"/>
                        </a:rPr>
                        <a:t></a:t>
                      </a:r>
                      <a:r>
                        <a:rPr kumimoji="0" lang="tr-TR" altLang="x-none" sz="1800" b="1" i="0" u="none" strike="noStrike" cap="none" normalizeH="0" baseline="0" dirty="0">
                          <a:ln>
                            <a:noFill/>
                          </a:ln>
                          <a:solidFill>
                            <a:schemeClr val="bg1"/>
                          </a:solidFill>
                          <a:effectLst/>
                          <a:latin typeface="Calibri" charset="0"/>
                          <a:ea typeface="Calibri" charset="0"/>
                          <a:cs typeface="Calibri" charset="0"/>
                        </a:rPr>
                        <a:t>)</a:t>
                      </a:r>
                      <a:endParaRPr kumimoji="0" lang="tr-TR" altLang="x-none" sz="1800" b="1" i="0" u="none" strike="noStrike" cap="none" normalizeH="0" baseline="0" dirty="0">
                        <a:ln>
                          <a:noFill/>
                        </a:ln>
                        <a:solidFill>
                          <a:schemeClr val="bg1"/>
                        </a:solidFill>
                        <a:effectLst/>
                        <a:latin typeface="Calibri" charset="0"/>
                        <a:ea typeface="Calibri" charset="0"/>
                        <a:cs typeface="Calibri" charset="0"/>
                        <a:sym typeface="Symbol" charset="2"/>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0000"/>
                    </a:solidFill>
                  </a:tcPr>
                </a:tc>
                <a:tc>
                  <a:txBody>
                    <a:bodyPr/>
                    <a:lstStyle>
                      <a:lvl1pPr>
                        <a:spcBef>
                          <a:spcPct val="20000"/>
                        </a:spcBef>
                        <a:buFont typeface="Arial" charset="0"/>
                        <a:defRPr sz="2800">
                          <a:solidFill>
                            <a:schemeClr val="tx1"/>
                          </a:solidFill>
                          <a:latin typeface="Calibri" charset="0"/>
                        </a:defRPr>
                      </a:lvl1pPr>
                      <a:lvl2pPr marL="742950" indent="-285750">
                        <a:spcBef>
                          <a:spcPct val="20000"/>
                        </a:spcBef>
                        <a:buFont typeface="Arial" charset="0"/>
                        <a:defRPr sz="2400">
                          <a:solidFill>
                            <a:schemeClr val="tx1"/>
                          </a:solidFill>
                          <a:latin typeface="Calibri" charset="0"/>
                        </a:defRPr>
                      </a:lvl2pPr>
                      <a:lvl3pPr marL="1143000" indent="-228600">
                        <a:spcBef>
                          <a:spcPct val="20000"/>
                        </a:spcBef>
                        <a:buFont typeface="Arial" charset="0"/>
                        <a:defRPr sz="2000">
                          <a:solidFill>
                            <a:schemeClr val="tx1"/>
                          </a:solidFill>
                          <a:latin typeface="Calibri" charset="0"/>
                        </a:defRPr>
                      </a:lvl3pPr>
                      <a:lvl4pPr marL="1600200" indent="-228600">
                        <a:spcBef>
                          <a:spcPct val="20000"/>
                        </a:spcBef>
                        <a:buFont typeface="Arial" charset="0"/>
                        <a:defRPr>
                          <a:solidFill>
                            <a:schemeClr val="tx1"/>
                          </a:solidFill>
                          <a:latin typeface="Calibri" charset="0"/>
                        </a:defRPr>
                      </a:lvl4pPr>
                      <a:lvl5pPr marL="2057400" indent="-228600">
                        <a:spcBef>
                          <a:spcPct val="20000"/>
                        </a:spcBef>
                        <a:buFont typeface="Arial" charset="0"/>
                        <a:defRPr>
                          <a:solidFill>
                            <a:schemeClr val="tx1"/>
                          </a:solidFill>
                          <a:latin typeface="Calibri" charset="0"/>
                        </a:defRPr>
                      </a:lvl5pPr>
                      <a:lvl6pPr marL="2514600" indent="-228600" eaLnBrk="0" fontAlgn="base" hangingPunct="0">
                        <a:spcBef>
                          <a:spcPct val="20000"/>
                        </a:spcBef>
                        <a:spcAft>
                          <a:spcPct val="0"/>
                        </a:spcAft>
                        <a:buFont typeface="Arial" charset="0"/>
                        <a:defRPr>
                          <a:solidFill>
                            <a:schemeClr val="tx1"/>
                          </a:solidFill>
                          <a:latin typeface="Calibri" charset="0"/>
                        </a:defRPr>
                      </a:lvl6pPr>
                      <a:lvl7pPr marL="2971800" indent="-228600" eaLnBrk="0" fontAlgn="base" hangingPunct="0">
                        <a:spcBef>
                          <a:spcPct val="20000"/>
                        </a:spcBef>
                        <a:spcAft>
                          <a:spcPct val="0"/>
                        </a:spcAft>
                        <a:buFont typeface="Arial" charset="0"/>
                        <a:defRPr>
                          <a:solidFill>
                            <a:schemeClr val="tx1"/>
                          </a:solidFill>
                          <a:latin typeface="Calibri" charset="0"/>
                        </a:defRPr>
                      </a:lvl7pPr>
                      <a:lvl8pPr marL="3429000" indent="-228600" eaLnBrk="0" fontAlgn="base" hangingPunct="0">
                        <a:spcBef>
                          <a:spcPct val="20000"/>
                        </a:spcBef>
                        <a:spcAft>
                          <a:spcPct val="0"/>
                        </a:spcAft>
                        <a:buFont typeface="Arial" charset="0"/>
                        <a:defRPr>
                          <a:solidFill>
                            <a:schemeClr val="tx1"/>
                          </a:solidFill>
                          <a:latin typeface="Calibri" charset="0"/>
                        </a:defRPr>
                      </a:lvl8pPr>
                      <a:lvl9pPr marL="3886200" indent="-228600" eaLnBrk="0" fontAlgn="base" hangingPunct="0">
                        <a:spcBef>
                          <a:spcPct val="20000"/>
                        </a:spcBef>
                        <a:spcAft>
                          <a:spcPct val="0"/>
                        </a:spcAft>
                        <a:buFont typeface="Arial" charset="0"/>
                        <a:defRPr>
                          <a:solidFill>
                            <a:schemeClr val="tx1"/>
                          </a:solidFill>
                          <a:latin typeface="Calibri"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x-none" sz="1800" b="1" i="0" u="none" strike="noStrike" cap="none" normalizeH="0" baseline="0" dirty="0">
                          <a:ln>
                            <a:noFill/>
                          </a:ln>
                          <a:solidFill>
                            <a:srgbClr val="000000"/>
                          </a:solidFill>
                          <a:effectLst/>
                          <a:latin typeface="Calibri" charset="0"/>
                          <a:ea typeface="Calibri" charset="0"/>
                          <a:cs typeface="Calibri" charset="0"/>
                        </a:rPr>
                        <a:t>Doğru Karar</a:t>
                      </a:r>
                      <a:endParaRPr kumimoji="0" lang="tr-TR" altLang="x-none" sz="2800" b="0" i="0" u="none" strike="noStrike" cap="none" normalizeH="0" baseline="0" dirty="0">
                        <a:ln>
                          <a:noFill/>
                        </a:ln>
                        <a:solidFill>
                          <a:schemeClr val="tx1"/>
                        </a:solidFill>
                        <a:effectLst/>
                        <a:latin typeface="Calibri" charset="0"/>
                        <a:ea typeface="Calibri" charset="0"/>
                        <a:cs typeface="Calibri" charset="0"/>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3"/>
                  </a:ext>
                </a:extLst>
              </a:tr>
            </a:tbl>
          </a:graphicData>
        </a:graphic>
      </p:graphicFrame>
      <p:sp>
        <p:nvSpPr>
          <p:cNvPr id="3" name="TextBox 2"/>
          <p:cNvSpPr txBox="1"/>
          <p:nvPr/>
        </p:nvSpPr>
        <p:spPr>
          <a:xfrm>
            <a:off x="390174" y="599248"/>
            <a:ext cx="8663654" cy="1015663"/>
          </a:xfrm>
          <a:prstGeom prst="rect">
            <a:avLst/>
          </a:prstGeom>
          <a:noFill/>
        </p:spPr>
        <p:txBody>
          <a:bodyPr wrap="square" rtlCol="0">
            <a:spAutoFit/>
          </a:bodyPr>
          <a:lstStyle/>
          <a:p>
            <a:r>
              <a:rPr lang="en-US" sz="2000" dirty="0" err="1">
                <a:latin typeface="Calibri" charset="0"/>
                <a:ea typeface="Calibri" charset="0"/>
                <a:cs typeface="Calibri" charset="0"/>
              </a:rPr>
              <a:t>Araştırmanın</a:t>
            </a:r>
            <a:r>
              <a:rPr lang="en-US" sz="2000" dirty="0">
                <a:latin typeface="Calibri" charset="0"/>
                <a:ea typeface="Calibri" charset="0"/>
                <a:cs typeface="Calibri" charset="0"/>
              </a:rPr>
              <a:t> </a:t>
            </a:r>
            <a:r>
              <a:rPr lang="en-US" sz="2000" dirty="0" err="1">
                <a:latin typeface="Calibri" charset="0"/>
                <a:ea typeface="Calibri" charset="0"/>
                <a:cs typeface="Calibri" charset="0"/>
              </a:rPr>
              <a:t>Hipotezi</a:t>
            </a:r>
            <a:endParaRPr lang="en-US" sz="2000" dirty="0">
              <a:latin typeface="Calibri" charset="0"/>
              <a:ea typeface="Calibri" charset="0"/>
              <a:cs typeface="Calibri" charset="0"/>
            </a:endParaRPr>
          </a:p>
          <a:p>
            <a:r>
              <a:rPr lang="en-US" sz="2000" dirty="0">
                <a:latin typeface="Calibri" charset="0"/>
                <a:ea typeface="Calibri" charset="0"/>
                <a:cs typeface="Calibri" charset="0"/>
              </a:rPr>
              <a:t>Ho: </a:t>
            </a:r>
            <a:r>
              <a:rPr lang="tr-TR" altLang="x-none" sz="2000" dirty="0">
                <a:latin typeface="Calibri" charset="0"/>
                <a:ea typeface="Calibri" charset="0"/>
                <a:cs typeface="Calibri" charset="0"/>
              </a:rPr>
              <a:t>Deney ve kontrol grupları arasında iyileşme bakımından fark yok</a:t>
            </a:r>
          </a:p>
          <a:p>
            <a:r>
              <a:rPr lang="tr-TR" altLang="x-none" sz="2000" dirty="0">
                <a:latin typeface="Calibri" charset="0"/>
                <a:ea typeface="Calibri" charset="0"/>
                <a:cs typeface="Calibri" charset="0"/>
              </a:rPr>
              <a:t>H1: Deney ve kontrol grupları arasında iyileşme bakımından farklılık var</a:t>
            </a:r>
            <a:endParaRPr lang="en-US" sz="2000" dirty="0">
              <a:latin typeface="Calibri" charset="0"/>
              <a:ea typeface="Calibri" charset="0"/>
              <a:cs typeface="Calibri" charset="0"/>
            </a:endParaRPr>
          </a:p>
        </p:txBody>
      </p:sp>
    </p:spTree>
    <p:extLst>
      <p:ext uri="{BB962C8B-B14F-4D97-AF65-F5344CB8AC3E}">
        <p14:creationId xmlns:p14="http://schemas.microsoft.com/office/powerpoint/2010/main" val="1471537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33923" y="836711"/>
            <a:ext cx="8058557" cy="789773"/>
          </a:xfrm>
        </p:spPr>
        <p:txBody>
          <a:bodyPr>
            <a:normAutofit/>
          </a:bodyPr>
          <a:lstStyle/>
          <a:p>
            <a:pPr>
              <a:defRPr/>
            </a:pPr>
            <a:r>
              <a:rPr lang="tr-TR" sz="4000" b="1" dirty="0">
                <a:solidFill>
                  <a:schemeClr val="tx1"/>
                </a:solidFill>
              </a:rPr>
              <a:t>Anlamlılık </a:t>
            </a:r>
            <a:r>
              <a:rPr lang="mr-IN" sz="4000" b="1" dirty="0">
                <a:solidFill>
                  <a:schemeClr val="tx1"/>
                </a:solidFill>
              </a:rPr>
              <a:t>–</a:t>
            </a:r>
            <a:r>
              <a:rPr lang="tr-TR" sz="4000" b="1" dirty="0">
                <a:solidFill>
                  <a:schemeClr val="tx1"/>
                </a:solidFill>
              </a:rPr>
              <a:t>Risk Düzeyi</a:t>
            </a:r>
          </a:p>
        </p:txBody>
      </p:sp>
      <p:sp>
        <p:nvSpPr>
          <p:cNvPr id="33795" name="İçerik Yer Tutucusu 2"/>
          <p:cNvSpPr>
            <a:spLocks noGrp="1"/>
          </p:cNvSpPr>
          <p:nvPr>
            <p:ph idx="1"/>
          </p:nvPr>
        </p:nvSpPr>
        <p:spPr>
          <a:xfrm>
            <a:off x="395537" y="1845734"/>
            <a:ext cx="8424936" cy="4463586"/>
          </a:xfrm>
        </p:spPr>
        <p:txBody>
          <a:bodyPr anchor="t">
            <a:noAutofit/>
          </a:bodyPr>
          <a:lstStyle/>
          <a:p>
            <a:r>
              <a:rPr lang="tr-TR" altLang="tr-TR" b="1" dirty="0">
                <a:solidFill>
                  <a:schemeClr val="tx1"/>
                </a:solidFill>
              </a:rPr>
              <a:t>Anlamlılık veya Risk derecesi  </a:t>
            </a:r>
            <a:r>
              <a:rPr lang="tr-TR" altLang="tr-TR" dirty="0">
                <a:solidFill>
                  <a:schemeClr val="tx1"/>
                </a:solidFill>
              </a:rPr>
              <a:t>temelde doğru olan yokluk hipotezinin reddedilme olasılığını gösterir.</a:t>
            </a:r>
          </a:p>
          <a:p>
            <a:r>
              <a:rPr lang="tr-TR" dirty="0">
                <a:solidFill>
                  <a:schemeClr val="tx1"/>
                </a:solidFill>
              </a:rPr>
              <a:t>İstatistiksel anlamlılık ifadesinin arkasında olasılık bulunan bir anlam vardır.</a:t>
            </a:r>
          </a:p>
          <a:p>
            <a:pPr lvl="1"/>
            <a:r>
              <a:rPr lang="tr-TR" dirty="0">
                <a:solidFill>
                  <a:srgbClr val="C00000"/>
                </a:solidFill>
              </a:rPr>
              <a:t>Bir olayın ortaya çıkma şansının/olasılığının çok küçük olduğunu kabul etmek için gereken kanıtların miktarı “anlamlılık düzeyi” olarak isimlendirilir. </a:t>
            </a:r>
          </a:p>
          <a:p>
            <a:pPr defTabSz="336947">
              <a:tabLst>
                <a:tab pos="334566" algn="l"/>
                <a:tab pos="671513" algn="l"/>
                <a:tab pos="1008460" algn="l"/>
                <a:tab pos="1345406" algn="l"/>
                <a:tab pos="1682354" algn="l"/>
                <a:tab pos="2019300" algn="l"/>
                <a:tab pos="2356247" algn="l"/>
                <a:tab pos="2693194" algn="l"/>
                <a:tab pos="3030141" algn="l"/>
                <a:tab pos="3367088" algn="l"/>
                <a:tab pos="3704035" algn="l"/>
                <a:tab pos="4040981" algn="l"/>
                <a:tab pos="4377929" algn="l"/>
                <a:tab pos="4714875" algn="l"/>
                <a:tab pos="5051822" algn="l"/>
                <a:tab pos="5388769" algn="l"/>
                <a:tab pos="5725716" algn="l"/>
                <a:tab pos="6062663" algn="l"/>
                <a:tab pos="6399610" algn="l"/>
                <a:tab pos="6736556" algn="l"/>
              </a:tabLst>
            </a:pPr>
            <a:r>
              <a:rPr lang="tr-TR" dirty="0">
                <a:solidFill>
                  <a:schemeClr val="tx1"/>
                </a:solidFill>
              </a:rPr>
              <a:t>Anlamlılık düzeyi, hipotetik değerle örneklemden elde edilen değer arasındaki farkın şansla açıklanamayacak kadar önemli olduğu anlamındadır.</a:t>
            </a:r>
          </a:p>
          <a:p>
            <a:r>
              <a:rPr lang="tr-TR" altLang="tr-TR" dirty="0">
                <a:solidFill>
                  <a:schemeClr val="tx1"/>
                </a:solidFill>
              </a:rPr>
              <a:t>Hatasız bir test yapamayacağımız için her testte bir miktar yanılma riskimiz vardır. </a:t>
            </a:r>
          </a:p>
          <a:p>
            <a:pPr lvl="1"/>
            <a:r>
              <a:rPr lang="tr-TR" altLang="tr-TR" dirty="0">
                <a:solidFill>
                  <a:schemeClr val="tx1"/>
                </a:solidFill>
              </a:rPr>
              <a:t>Bunu 0,05 (%5); 0,01 (%1) ;... gibi küçük düzeylerde seçmekle birlikte bu araştırmanın hassasiyetine göre tercih edilen bir durumdur. </a:t>
            </a:r>
          </a:p>
          <a:p>
            <a:pPr lvl="1"/>
            <a:r>
              <a:rPr lang="tr-TR" altLang="tr-TR" dirty="0">
                <a:solidFill>
                  <a:schemeClr val="tx1"/>
                </a:solidFill>
              </a:rPr>
              <a:t>Y</a:t>
            </a:r>
            <a:r>
              <a:rPr lang="tr-TR" altLang="tr-TR" sz="2000" dirty="0">
                <a:solidFill>
                  <a:schemeClr val="tx1"/>
                </a:solidFill>
              </a:rPr>
              <a:t>anılma payımız küçüldükçe, teste olan güven düzeyimiz yükselir.</a:t>
            </a:r>
            <a:endParaRPr lang="tr-TR" dirty="0">
              <a:solidFill>
                <a:schemeClr val="tx1"/>
              </a:solidFill>
            </a:endParaRPr>
          </a:p>
          <a:p>
            <a:endParaRPr lang="tr-TR" altLang="tr-TR" dirty="0">
              <a:solidFill>
                <a:schemeClr val="tx1"/>
              </a:solidFill>
            </a:endParaRPr>
          </a:p>
          <a:p>
            <a:endParaRPr lang="tr-TR" altLang="x-none" dirty="0">
              <a:solidFill>
                <a:schemeClr val="tx1"/>
              </a:solidFill>
            </a:endParaRPr>
          </a:p>
          <a:p>
            <a:r>
              <a:rPr lang="tr-TR" altLang="tr-TR" dirty="0">
                <a:solidFill>
                  <a:schemeClr val="tx1"/>
                </a:solidFill>
              </a:rPr>
              <a:t> </a:t>
            </a:r>
          </a:p>
        </p:txBody>
      </p:sp>
    </p:spTree>
    <p:extLst>
      <p:ext uri="{BB962C8B-B14F-4D97-AF65-F5344CB8AC3E}">
        <p14:creationId xmlns:p14="http://schemas.microsoft.com/office/powerpoint/2010/main" val="496725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5" y="260648"/>
            <a:ext cx="7543800" cy="1450757"/>
          </a:xfrm>
        </p:spPr>
        <p:txBody>
          <a:bodyPr/>
          <a:lstStyle/>
          <a:p>
            <a:r>
              <a:rPr lang="en-US" b="1" dirty="0" err="1"/>
              <a:t>Anlamlılık</a:t>
            </a:r>
            <a:r>
              <a:rPr lang="en-US" b="1" dirty="0"/>
              <a:t>-Risk </a:t>
            </a:r>
            <a:r>
              <a:rPr lang="en-US" b="1" dirty="0" err="1"/>
              <a:t>Düzeyi</a:t>
            </a:r>
            <a:endParaRPr lang="en-US" b="1" dirty="0"/>
          </a:p>
        </p:txBody>
      </p:sp>
      <p:sp>
        <p:nvSpPr>
          <p:cNvPr id="3" name="Content Placeholder 2"/>
          <p:cNvSpPr>
            <a:spLocks noGrp="1"/>
          </p:cNvSpPr>
          <p:nvPr>
            <p:ph idx="1"/>
          </p:nvPr>
        </p:nvSpPr>
        <p:spPr>
          <a:xfrm>
            <a:off x="467544" y="1845734"/>
            <a:ext cx="8280919" cy="4319570"/>
          </a:xfrm>
        </p:spPr>
        <p:txBody>
          <a:bodyPr>
            <a:normAutofit/>
          </a:bodyPr>
          <a:lstStyle/>
          <a:p>
            <a:r>
              <a:rPr lang="tr-TR" altLang="x-none" sz="2400" dirty="0">
                <a:solidFill>
                  <a:schemeClr val="tx1"/>
                </a:solidFill>
              </a:rPr>
              <a:t>Diyelim ki, çalışmamızın başında Tip I hata olasılığını </a:t>
            </a:r>
            <a:r>
              <a:rPr lang="tr-TR" altLang="x-none" sz="2400" b="1" dirty="0">
                <a:solidFill>
                  <a:schemeClr val="tx1"/>
                </a:solidFill>
                <a:sym typeface="Symbol" charset="2"/>
              </a:rPr>
              <a:t></a:t>
            </a:r>
            <a:r>
              <a:rPr lang="tr-TR" altLang="x-none" sz="2400" dirty="0">
                <a:solidFill>
                  <a:schemeClr val="tx1"/>
                </a:solidFill>
              </a:rPr>
              <a:t>=0,05  olarak öngördük. Bunun anlamı H</a:t>
            </a:r>
            <a:r>
              <a:rPr lang="tr-TR" altLang="x-none" sz="2400" baseline="-25000" dirty="0">
                <a:solidFill>
                  <a:schemeClr val="tx1"/>
                </a:solidFill>
              </a:rPr>
              <a:t>0</a:t>
            </a:r>
            <a:r>
              <a:rPr lang="tr-TR" altLang="x-none" sz="2400" dirty="0">
                <a:solidFill>
                  <a:schemeClr val="tx1"/>
                </a:solidFill>
              </a:rPr>
              <a:t> gerçekte doğru iken onu yanlışlıkla reddetme olasılığımız maksimum %5 olmalı.</a:t>
            </a:r>
            <a:r>
              <a:rPr lang="tr-TR" altLang="tr-TR" sz="2400" dirty="0">
                <a:solidFill>
                  <a:schemeClr val="tx1"/>
                </a:solidFill>
              </a:rPr>
              <a:t> </a:t>
            </a:r>
          </a:p>
          <a:p>
            <a:r>
              <a:rPr lang="tr-TR" altLang="x-none" sz="2400" dirty="0">
                <a:solidFill>
                  <a:schemeClr val="tx1"/>
                </a:solidFill>
              </a:rPr>
              <a:t>İstatistiksel paket programları (ör., SPSS), bir hipotez testinde </a:t>
            </a:r>
            <a:r>
              <a:rPr lang="tr-TR" altLang="x-none" sz="2400" b="1" dirty="0">
                <a:solidFill>
                  <a:schemeClr val="tx1"/>
                </a:solidFill>
              </a:rPr>
              <a:t>olayın olma (gerçekleşme) olasılığını hesaplar </a:t>
            </a:r>
            <a:r>
              <a:rPr lang="tr-TR" altLang="x-none" sz="2400" dirty="0">
                <a:solidFill>
                  <a:schemeClr val="tx1"/>
                </a:solidFill>
              </a:rPr>
              <a:t>ve bu değere </a:t>
            </a:r>
            <a:r>
              <a:rPr lang="tr-TR" altLang="x-none" sz="2400" b="1" dirty="0">
                <a:solidFill>
                  <a:srgbClr val="C00000"/>
                </a:solidFill>
              </a:rPr>
              <a:t>p </a:t>
            </a:r>
            <a:r>
              <a:rPr lang="tr-TR" altLang="x-none" sz="2400" dirty="0">
                <a:solidFill>
                  <a:schemeClr val="tx1"/>
                </a:solidFill>
              </a:rPr>
              <a:t>(</a:t>
            </a:r>
            <a:r>
              <a:rPr lang="tr-TR" altLang="x-none" sz="2400" dirty="0" err="1">
                <a:solidFill>
                  <a:schemeClr val="tx1"/>
                </a:solidFill>
              </a:rPr>
              <a:t>probability</a:t>
            </a:r>
            <a:r>
              <a:rPr lang="tr-TR" altLang="x-none" sz="2400" dirty="0">
                <a:solidFill>
                  <a:schemeClr val="tx1"/>
                </a:solidFill>
              </a:rPr>
              <a:t>-olasılık) veya </a:t>
            </a:r>
            <a:r>
              <a:rPr lang="tr-TR" altLang="x-none" sz="2400" b="1" dirty="0" err="1">
                <a:solidFill>
                  <a:srgbClr val="C00000"/>
                </a:solidFill>
              </a:rPr>
              <a:t>sig</a:t>
            </a:r>
            <a:r>
              <a:rPr lang="tr-TR" altLang="x-none" sz="2400" b="1" dirty="0">
                <a:solidFill>
                  <a:srgbClr val="C00000"/>
                </a:solidFill>
              </a:rPr>
              <a:t>. </a:t>
            </a:r>
            <a:r>
              <a:rPr lang="tr-TR" altLang="x-none" sz="2400" dirty="0">
                <a:solidFill>
                  <a:schemeClr val="tx1"/>
                </a:solidFill>
              </a:rPr>
              <a:t>(</a:t>
            </a:r>
            <a:r>
              <a:rPr lang="tr-TR" altLang="x-none" sz="2400" dirty="0" err="1">
                <a:solidFill>
                  <a:schemeClr val="tx1"/>
                </a:solidFill>
              </a:rPr>
              <a:t>significance</a:t>
            </a:r>
            <a:r>
              <a:rPr lang="tr-TR" altLang="x-none" sz="2400" dirty="0">
                <a:solidFill>
                  <a:schemeClr val="tx1"/>
                </a:solidFill>
              </a:rPr>
              <a:t>-önemlilik-anlamlılık) değeri denir. </a:t>
            </a:r>
          </a:p>
          <a:p>
            <a:pPr lvl="1"/>
            <a:r>
              <a:rPr lang="tr-TR" altLang="x-none" sz="2000" dirty="0">
                <a:solidFill>
                  <a:schemeClr val="tx1"/>
                </a:solidFill>
              </a:rPr>
              <a:t>p değeri önceden belirlenmiş alfa değeri ile karşılaştırılarak </a:t>
            </a:r>
            <a:r>
              <a:rPr lang="tr-TR" altLang="x-none" sz="2000" dirty="0" err="1">
                <a:solidFill>
                  <a:schemeClr val="tx1"/>
                </a:solidFill>
              </a:rPr>
              <a:t>Ho</a:t>
            </a:r>
            <a:r>
              <a:rPr lang="tr-TR" altLang="x-none" sz="2000" dirty="0">
                <a:solidFill>
                  <a:schemeClr val="tx1"/>
                </a:solidFill>
              </a:rPr>
              <a:t> hipotezinin </a:t>
            </a:r>
            <a:r>
              <a:rPr lang="tr-TR" altLang="x-none" sz="2000" dirty="0" err="1">
                <a:solidFill>
                  <a:schemeClr val="tx1"/>
                </a:solidFill>
              </a:rPr>
              <a:t>red</a:t>
            </a:r>
            <a:r>
              <a:rPr lang="tr-TR" altLang="x-none" sz="2000" dirty="0">
                <a:solidFill>
                  <a:schemeClr val="tx1"/>
                </a:solidFill>
              </a:rPr>
              <a:t> veya kabulüne karar verilir.</a:t>
            </a:r>
          </a:p>
          <a:p>
            <a:pPr lvl="1"/>
            <a:r>
              <a:rPr lang="tr-TR" altLang="tr-TR" sz="2000" i="1" dirty="0" err="1">
                <a:solidFill>
                  <a:schemeClr val="tx1"/>
                </a:solidFill>
              </a:rPr>
              <a:t>Örn</a:t>
            </a:r>
            <a:r>
              <a:rPr lang="tr-TR" altLang="tr-TR" sz="2000" i="1" dirty="0">
                <a:solidFill>
                  <a:schemeClr val="tx1"/>
                </a:solidFill>
              </a:rPr>
              <a:t>., </a:t>
            </a:r>
            <a:r>
              <a:rPr lang="tr-TR" altLang="tr-TR" sz="2000" i="1" dirty="0" err="1">
                <a:solidFill>
                  <a:schemeClr val="tx1"/>
                </a:solidFill>
              </a:rPr>
              <a:t>H</a:t>
            </a:r>
            <a:r>
              <a:rPr lang="tr-TR" altLang="tr-TR" sz="2000" i="1" baseline="-25000" dirty="0" err="1">
                <a:solidFill>
                  <a:schemeClr val="tx1"/>
                </a:solidFill>
              </a:rPr>
              <a:t>o</a:t>
            </a:r>
            <a:r>
              <a:rPr lang="tr-TR" altLang="tr-TR" sz="2000" i="1" dirty="0">
                <a:solidFill>
                  <a:schemeClr val="tx1"/>
                </a:solidFill>
              </a:rPr>
              <a:t> hipotezi için hesaplanan olasılık (p) </a:t>
            </a:r>
            <a:r>
              <a:rPr lang="tr-TR" sz="2000" i="1" dirty="0">
                <a:solidFill>
                  <a:schemeClr val="tx1"/>
                </a:solidFill>
              </a:rPr>
              <a:t>belirlenen Alpha sınırından (</a:t>
            </a:r>
            <a:r>
              <a:rPr lang="tr-TR" altLang="tr-TR" sz="2000" i="1" dirty="0">
                <a:solidFill>
                  <a:schemeClr val="tx1"/>
                </a:solidFill>
              </a:rPr>
              <a:t>%5) küçükse, </a:t>
            </a:r>
            <a:r>
              <a:rPr lang="tr-TR" altLang="tr-TR" sz="2000" i="1" dirty="0" err="1">
                <a:solidFill>
                  <a:schemeClr val="tx1"/>
                </a:solidFill>
              </a:rPr>
              <a:t>H</a:t>
            </a:r>
            <a:r>
              <a:rPr lang="tr-TR" altLang="tr-TR" sz="2000" i="1" baseline="-25000" dirty="0" err="1">
                <a:solidFill>
                  <a:schemeClr val="tx1"/>
                </a:solidFill>
              </a:rPr>
              <a:t>o</a:t>
            </a:r>
            <a:r>
              <a:rPr lang="tr-TR" altLang="tr-TR" sz="2000" i="1" dirty="0">
                <a:solidFill>
                  <a:schemeClr val="tx1"/>
                </a:solidFill>
              </a:rPr>
              <a:t> hipotezinin kabul edilemeyeceği yargısına varılır veya </a:t>
            </a:r>
            <a:r>
              <a:rPr lang="tr-TR" sz="2000" i="1" dirty="0">
                <a:solidFill>
                  <a:schemeClr val="tx1"/>
                </a:solidFill>
              </a:rPr>
              <a:t>çok ender ve olağan olmayan bir olay ortaya çıkmıştır.</a:t>
            </a:r>
            <a:endParaRPr lang="tr-TR" altLang="x-none" sz="2000" i="1" dirty="0">
              <a:solidFill>
                <a:schemeClr val="tx1"/>
              </a:solidFill>
            </a:endParaRPr>
          </a:p>
          <a:p>
            <a:pPr lvl="1"/>
            <a:endParaRPr lang="tr-TR" altLang="x-none" sz="2000" dirty="0">
              <a:solidFill>
                <a:schemeClr val="tx1"/>
              </a:solidFill>
            </a:endParaRPr>
          </a:p>
          <a:p>
            <a:endParaRPr lang="en-US" sz="2800" dirty="0"/>
          </a:p>
        </p:txBody>
      </p:sp>
    </p:spTree>
    <p:extLst>
      <p:ext uri="{BB962C8B-B14F-4D97-AF65-F5344CB8AC3E}">
        <p14:creationId xmlns:p14="http://schemas.microsoft.com/office/powerpoint/2010/main" val="1582091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0" y="620688"/>
            <a:ext cx="8820472" cy="1044757"/>
          </a:xfrm>
        </p:spPr>
        <p:txBody>
          <a:bodyPr>
            <a:normAutofit/>
          </a:bodyPr>
          <a:lstStyle/>
          <a:p>
            <a:pPr>
              <a:defRPr/>
            </a:pPr>
            <a:r>
              <a:rPr lang="tr-TR" sz="3200" b="1" dirty="0">
                <a:solidFill>
                  <a:schemeClr val="tx1"/>
                </a:solidFill>
                <a:sym typeface="Symbol" panose="05050102010706020507" pitchFamily="18" charset="2"/>
              </a:rPr>
              <a:t>“”</a:t>
            </a:r>
            <a:r>
              <a:rPr lang="tr-TR" sz="3200" b="1" dirty="0">
                <a:solidFill>
                  <a:schemeClr val="tx1"/>
                </a:solidFill>
              </a:rPr>
              <a:t> Sınırı yani Tip 1 Hata: Sıfır Hipotezi Gerçekte Doğru iken onu reddetme Olasılığı</a:t>
            </a:r>
          </a:p>
        </p:txBody>
      </p:sp>
      <p:pic>
        <p:nvPicPr>
          <p:cNvPr id="38915" name="İçerik Yer Tutucusu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3688" y="1916832"/>
            <a:ext cx="5513954" cy="2880320"/>
          </a:xfrm>
        </p:spPr>
      </p:pic>
      <p:sp>
        <p:nvSpPr>
          <p:cNvPr id="3" name="Rectangle 2"/>
          <p:cNvSpPr/>
          <p:nvPr/>
        </p:nvSpPr>
        <p:spPr>
          <a:xfrm>
            <a:off x="251520" y="5121502"/>
            <a:ext cx="8568952" cy="1323439"/>
          </a:xfrm>
          <a:prstGeom prst="rect">
            <a:avLst/>
          </a:prstGeom>
        </p:spPr>
        <p:txBody>
          <a:bodyPr wrap="square">
            <a:spAutoFit/>
          </a:bodyPr>
          <a:lstStyle/>
          <a:p>
            <a:r>
              <a:rPr lang="en-US" sz="2000" b="1" dirty="0">
                <a:latin typeface="Helvetica" charset="0"/>
              </a:rPr>
              <a:t>Ret </a:t>
            </a:r>
            <a:r>
              <a:rPr lang="en-US" sz="2000" b="1" dirty="0" err="1">
                <a:latin typeface="Helvetica" charset="0"/>
              </a:rPr>
              <a:t>alanı</a:t>
            </a:r>
            <a:r>
              <a:rPr lang="en-US" sz="2000" b="1" dirty="0">
                <a:latin typeface="Helvetica" charset="0"/>
              </a:rPr>
              <a:t>: </a:t>
            </a:r>
            <a:r>
              <a:rPr lang="en-US" sz="2000" dirty="0">
                <a:latin typeface="Helvetica" charset="0"/>
              </a:rPr>
              <a:t>Normal </a:t>
            </a:r>
            <a:r>
              <a:rPr lang="en-US" sz="2000" dirty="0" err="1">
                <a:latin typeface="Helvetica" charset="0"/>
              </a:rPr>
              <a:t>dağılım</a:t>
            </a:r>
            <a:r>
              <a:rPr lang="en-US" sz="2000" dirty="0">
                <a:latin typeface="Helvetica" charset="0"/>
              </a:rPr>
              <a:t> </a:t>
            </a:r>
            <a:r>
              <a:rPr lang="en-US" sz="2000" dirty="0" err="1">
                <a:latin typeface="Helvetica" charset="0"/>
              </a:rPr>
              <a:t>eğrisi</a:t>
            </a:r>
            <a:r>
              <a:rPr lang="en-US" sz="2000" dirty="0">
                <a:latin typeface="Helvetica" charset="0"/>
              </a:rPr>
              <a:t> </a:t>
            </a:r>
            <a:r>
              <a:rPr lang="en-US" sz="2000" dirty="0" err="1">
                <a:latin typeface="Helvetica" charset="0"/>
              </a:rPr>
              <a:t>altında</a:t>
            </a:r>
            <a:r>
              <a:rPr lang="en-US" sz="2000" dirty="0">
                <a:latin typeface="Helvetica" charset="0"/>
              </a:rPr>
              <a:t> </a:t>
            </a:r>
            <a:r>
              <a:rPr lang="en-US" sz="2000" dirty="0" err="1">
                <a:latin typeface="Helvetica" charset="0"/>
              </a:rPr>
              <a:t>seçtiğimiz</a:t>
            </a:r>
            <a:r>
              <a:rPr lang="en-US" sz="2000" dirty="0">
                <a:latin typeface="Helvetica" charset="0"/>
              </a:rPr>
              <a:t> </a:t>
            </a:r>
            <a:r>
              <a:rPr lang="en-US" sz="2000" dirty="0" err="1">
                <a:latin typeface="Helvetica" charset="0"/>
              </a:rPr>
              <a:t>güven</a:t>
            </a:r>
            <a:r>
              <a:rPr lang="en-US" sz="2000" dirty="0">
                <a:latin typeface="Helvetica" charset="0"/>
              </a:rPr>
              <a:t> </a:t>
            </a:r>
            <a:r>
              <a:rPr lang="en-US" sz="2000" dirty="0" err="1">
                <a:latin typeface="Helvetica" charset="0"/>
              </a:rPr>
              <a:t>alanı</a:t>
            </a:r>
            <a:r>
              <a:rPr lang="en-US" sz="2000" dirty="0">
                <a:latin typeface="Helvetica" charset="0"/>
              </a:rPr>
              <a:t> </a:t>
            </a:r>
          </a:p>
          <a:p>
            <a:r>
              <a:rPr lang="en-US" sz="2000" dirty="0">
                <a:latin typeface="Helvetica" charset="0"/>
              </a:rPr>
              <a:t>(</a:t>
            </a:r>
            <a:r>
              <a:rPr lang="en-US" sz="2000" dirty="0" err="1">
                <a:latin typeface="Helvetica" charset="0"/>
              </a:rPr>
              <a:t>H</a:t>
            </a:r>
            <a:r>
              <a:rPr lang="en-US" sz="2000" baseline="-25000" dirty="0" err="1">
                <a:latin typeface="Helvetica" charset="0"/>
              </a:rPr>
              <a:t>o</a:t>
            </a:r>
            <a:r>
              <a:rPr lang="en-US" sz="2000" dirty="0" err="1">
                <a:latin typeface="Helvetica" charset="0"/>
              </a:rPr>
              <a:t>'ın</a:t>
            </a:r>
            <a:r>
              <a:rPr lang="en-US" sz="2000" dirty="0">
                <a:latin typeface="Helvetica" charset="0"/>
              </a:rPr>
              <a:t> </a:t>
            </a:r>
            <a:r>
              <a:rPr lang="en-US" sz="2000" dirty="0" err="1">
                <a:latin typeface="Helvetica" charset="0"/>
              </a:rPr>
              <a:t>kabul</a:t>
            </a:r>
            <a:r>
              <a:rPr lang="en-US" sz="2000" dirty="0">
                <a:latin typeface="Helvetica" charset="0"/>
              </a:rPr>
              <a:t> </a:t>
            </a:r>
            <a:r>
              <a:rPr lang="en-US" sz="2000" dirty="0" err="1">
                <a:latin typeface="Helvetica" charset="0"/>
              </a:rPr>
              <a:t>alanı</a:t>
            </a:r>
            <a:r>
              <a:rPr lang="en-US" sz="2000" dirty="0">
                <a:latin typeface="Helvetica" charset="0"/>
              </a:rPr>
              <a:t>) </a:t>
            </a:r>
            <a:r>
              <a:rPr lang="en-US" sz="2000" dirty="0" err="1">
                <a:latin typeface="Helvetica" charset="0"/>
              </a:rPr>
              <a:t>dışında</a:t>
            </a:r>
            <a:r>
              <a:rPr lang="en-US" sz="2000" dirty="0">
                <a:latin typeface="Helvetica" charset="0"/>
              </a:rPr>
              <a:t> </a:t>
            </a:r>
            <a:r>
              <a:rPr lang="en-US" sz="2000" dirty="0" err="1">
                <a:latin typeface="Helvetica" charset="0"/>
              </a:rPr>
              <a:t>kalan</a:t>
            </a:r>
            <a:r>
              <a:rPr lang="en-US" sz="2000" dirty="0">
                <a:latin typeface="Helvetica" charset="0"/>
              </a:rPr>
              <a:t> </a:t>
            </a:r>
            <a:r>
              <a:rPr lang="en-US" sz="2000" dirty="0" err="1">
                <a:latin typeface="Helvetica" charset="0"/>
              </a:rPr>
              <a:t>H</a:t>
            </a:r>
            <a:r>
              <a:rPr lang="en-US" sz="2000" baseline="-25000" dirty="0" err="1">
                <a:latin typeface="Helvetica" charset="0"/>
              </a:rPr>
              <a:t>o</a:t>
            </a:r>
            <a:r>
              <a:rPr lang="en-US" sz="2000" dirty="0" err="1">
                <a:latin typeface="Helvetica" charset="0"/>
              </a:rPr>
              <a:t>'ın</a:t>
            </a:r>
            <a:r>
              <a:rPr lang="en-US" sz="2000" dirty="0">
                <a:latin typeface="Helvetica" charset="0"/>
              </a:rPr>
              <a:t> </a:t>
            </a:r>
            <a:r>
              <a:rPr lang="en-US" sz="2000" dirty="0" err="1">
                <a:latin typeface="Helvetica" charset="0"/>
              </a:rPr>
              <a:t>reddedilmesini</a:t>
            </a:r>
            <a:r>
              <a:rPr lang="en-US" sz="2000" dirty="0">
                <a:latin typeface="Helvetica" charset="0"/>
              </a:rPr>
              <a:t> </a:t>
            </a:r>
            <a:r>
              <a:rPr lang="en-US" sz="2000" dirty="0" err="1">
                <a:latin typeface="Helvetica" charset="0"/>
              </a:rPr>
              <a:t>sağlayan</a:t>
            </a:r>
            <a:r>
              <a:rPr lang="en-US" sz="2000" dirty="0">
                <a:latin typeface="Helvetica" charset="0"/>
              </a:rPr>
              <a:t> </a:t>
            </a:r>
            <a:r>
              <a:rPr lang="en-US" sz="2000" dirty="0" err="1">
                <a:latin typeface="Helvetica" charset="0"/>
              </a:rPr>
              <a:t>küçük</a:t>
            </a:r>
            <a:r>
              <a:rPr lang="en-US" sz="2000" dirty="0">
                <a:latin typeface="Helvetica" charset="0"/>
              </a:rPr>
              <a:t> </a:t>
            </a:r>
            <a:r>
              <a:rPr lang="en-US" sz="2000" dirty="0" err="1">
                <a:latin typeface="Helvetica" charset="0"/>
              </a:rPr>
              <a:t>alan</a:t>
            </a:r>
            <a:r>
              <a:rPr lang="en-US" sz="2000" dirty="0">
                <a:latin typeface="Helvetica" charset="0"/>
              </a:rPr>
              <a:t> </a:t>
            </a:r>
            <a:r>
              <a:rPr lang="en-US" sz="2000" dirty="0" err="1">
                <a:latin typeface="Helvetica" charset="0"/>
              </a:rPr>
              <a:t>veya</a:t>
            </a:r>
            <a:r>
              <a:rPr lang="en-US" sz="2000" dirty="0">
                <a:latin typeface="Helvetica" charset="0"/>
              </a:rPr>
              <a:t> </a:t>
            </a:r>
            <a:r>
              <a:rPr lang="en-US" sz="2000" dirty="0" err="1">
                <a:latin typeface="Helvetica" charset="0"/>
              </a:rPr>
              <a:t>alanlardır</a:t>
            </a:r>
            <a:r>
              <a:rPr lang="en-US" sz="2000" dirty="0">
                <a:latin typeface="Helvetica" charset="0"/>
              </a:rPr>
              <a:t>. </a:t>
            </a:r>
          </a:p>
          <a:p>
            <a:endParaRPr lang="en-US" sz="2000" dirty="0">
              <a:latin typeface="Helvetica" charset="0"/>
            </a:endParaRPr>
          </a:p>
        </p:txBody>
      </p:sp>
    </p:spTree>
    <p:extLst>
      <p:ext uri="{BB962C8B-B14F-4D97-AF65-F5344CB8AC3E}">
        <p14:creationId xmlns:p14="http://schemas.microsoft.com/office/powerpoint/2010/main" val="1667033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67545" y="758253"/>
            <a:ext cx="7543800" cy="953152"/>
          </a:xfrm>
        </p:spPr>
        <p:txBody>
          <a:bodyPr/>
          <a:lstStyle/>
          <a:p>
            <a:r>
              <a:rPr lang="en-US" b="1" dirty="0" err="1"/>
              <a:t>Kıyaslama</a:t>
            </a:r>
            <a:r>
              <a:rPr lang="en-US" b="1" dirty="0"/>
              <a:t> </a:t>
            </a:r>
            <a:r>
              <a:rPr lang="en-US" b="1" dirty="0" err="1"/>
              <a:t>ve</a:t>
            </a:r>
            <a:r>
              <a:rPr lang="en-US" b="1" dirty="0"/>
              <a:t> </a:t>
            </a:r>
            <a:r>
              <a:rPr lang="en-US" b="1" dirty="0" err="1"/>
              <a:t>Karar</a:t>
            </a:r>
            <a:endParaRPr lang="en-US" b="1" dirty="0"/>
          </a:p>
        </p:txBody>
      </p:sp>
      <p:sp>
        <p:nvSpPr>
          <p:cNvPr id="17410" name="Rectangle 3"/>
          <p:cNvSpPr>
            <a:spLocks noGrp="1" noChangeArrowheads="1"/>
          </p:cNvSpPr>
          <p:nvPr>
            <p:ph idx="1"/>
          </p:nvPr>
        </p:nvSpPr>
        <p:spPr>
          <a:xfrm>
            <a:off x="468313" y="1916831"/>
            <a:ext cx="8229600" cy="3384377"/>
          </a:xfrm>
        </p:spPr>
        <p:txBody>
          <a:bodyPr>
            <a:noAutofit/>
          </a:bodyPr>
          <a:lstStyle/>
          <a:p>
            <a:pPr algn="just" eaLnBrk="1" hangingPunct="1">
              <a:buFontTx/>
              <a:buNone/>
            </a:pPr>
            <a:r>
              <a:rPr lang="tr-TR" altLang="x-none" dirty="0">
                <a:solidFill>
                  <a:schemeClr val="tx1"/>
                </a:solidFill>
              </a:rPr>
              <a:t>Eğer:</a:t>
            </a:r>
            <a:endParaRPr lang="tr-TR" altLang="x-none" b="1" dirty="0">
              <a:solidFill>
                <a:schemeClr val="tx1"/>
              </a:solidFill>
            </a:endParaRPr>
          </a:p>
          <a:p>
            <a:pPr algn="just" eaLnBrk="1" hangingPunct="1"/>
            <a:r>
              <a:rPr lang="tr-TR" altLang="x-none" b="1" dirty="0">
                <a:solidFill>
                  <a:schemeClr val="tx1"/>
                </a:solidFill>
              </a:rPr>
              <a:t>p ≤ </a:t>
            </a:r>
            <a:r>
              <a:rPr lang="tr-TR" altLang="x-none" b="1" dirty="0">
                <a:solidFill>
                  <a:schemeClr val="tx1"/>
                </a:solidFill>
                <a:sym typeface="Symbol" charset="2"/>
              </a:rPr>
              <a:t></a:t>
            </a:r>
            <a:r>
              <a:rPr lang="tr-TR" altLang="x-none" b="1" dirty="0">
                <a:solidFill>
                  <a:schemeClr val="tx1"/>
                </a:solidFill>
              </a:rPr>
              <a:t>  </a:t>
            </a:r>
            <a:r>
              <a:rPr lang="tr-TR" altLang="x-none" dirty="0">
                <a:solidFill>
                  <a:schemeClr val="tx1"/>
                </a:solidFill>
              </a:rPr>
              <a:t>ise H</a:t>
            </a:r>
            <a:r>
              <a:rPr lang="tr-TR" altLang="x-none" baseline="-25000" dirty="0">
                <a:solidFill>
                  <a:schemeClr val="tx1"/>
                </a:solidFill>
              </a:rPr>
              <a:t>0</a:t>
            </a:r>
            <a:r>
              <a:rPr lang="tr-TR" altLang="x-none" dirty="0">
                <a:solidFill>
                  <a:schemeClr val="tx1"/>
                </a:solidFill>
              </a:rPr>
              <a:t> </a:t>
            </a:r>
            <a:r>
              <a:rPr lang="tr-TR" altLang="x-none" dirty="0" err="1">
                <a:solidFill>
                  <a:schemeClr val="tx1"/>
                </a:solidFill>
              </a:rPr>
              <a:t>red</a:t>
            </a:r>
            <a:r>
              <a:rPr lang="tr-TR" altLang="x-none" dirty="0">
                <a:solidFill>
                  <a:schemeClr val="tx1"/>
                </a:solidFill>
              </a:rPr>
              <a:t> edilir. Bunun anlamı, H</a:t>
            </a:r>
            <a:r>
              <a:rPr lang="tr-TR" altLang="x-none" baseline="-25000" dirty="0">
                <a:solidFill>
                  <a:schemeClr val="tx1"/>
                </a:solidFill>
              </a:rPr>
              <a:t>0</a:t>
            </a:r>
            <a:r>
              <a:rPr lang="tr-TR" altLang="x-none" dirty="0">
                <a:solidFill>
                  <a:schemeClr val="tx1"/>
                </a:solidFill>
              </a:rPr>
              <a:t>’ı </a:t>
            </a:r>
            <a:r>
              <a:rPr lang="tr-TR" altLang="x-none" dirty="0" err="1">
                <a:solidFill>
                  <a:schemeClr val="tx1"/>
                </a:solidFill>
              </a:rPr>
              <a:t>red</a:t>
            </a:r>
            <a:r>
              <a:rPr lang="tr-TR" altLang="x-none" dirty="0">
                <a:solidFill>
                  <a:schemeClr val="tx1"/>
                </a:solidFill>
              </a:rPr>
              <a:t> etmekle gerçekleşen yanılgı </a:t>
            </a:r>
            <a:r>
              <a:rPr lang="tr-TR" altLang="x-none" b="1" dirty="0">
                <a:solidFill>
                  <a:schemeClr val="tx1"/>
                </a:solidFill>
              </a:rPr>
              <a:t>öngörülenden küçüktür</a:t>
            </a:r>
            <a:r>
              <a:rPr lang="tr-TR" altLang="x-none" dirty="0">
                <a:solidFill>
                  <a:schemeClr val="tx1"/>
                </a:solidFill>
              </a:rPr>
              <a:t>. Dolayısıyla rahatlıkla H</a:t>
            </a:r>
            <a:r>
              <a:rPr lang="tr-TR" altLang="x-none" baseline="-25000" dirty="0">
                <a:solidFill>
                  <a:schemeClr val="tx1"/>
                </a:solidFill>
              </a:rPr>
              <a:t>0</a:t>
            </a:r>
            <a:r>
              <a:rPr lang="tr-TR" altLang="x-none" dirty="0">
                <a:solidFill>
                  <a:schemeClr val="tx1"/>
                </a:solidFill>
              </a:rPr>
              <a:t> </a:t>
            </a:r>
            <a:r>
              <a:rPr lang="tr-TR" altLang="x-none" dirty="0" err="1">
                <a:solidFill>
                  <a:schemeClr val="tx1"/>
                </a:solidFill>
              </a:rPr>
              <a:t>red</a:t>
            </a:r>
            <a:r>
              <a:rPr lang="tr-TR" altLang="x-none" dirty="0">
                <a:solidFill>
                  <a:schemeClr val="tx1"/>
                </a:solidFill>
              </a:rPr>
              <a:t> edilebilir.</a:t>
            </a:r>
          </a:p>
          <a:p>
            <a:pPr algn="just" eaLnBrk="1" hangingPunct="1"/>
            <a:r>
              <a:rPr lang="tr-TR" altLang="x-none" b="1" dirty="0">
                <a:solidFill>
                  <a:schemeClr val="tx1"/>
                </a:solidFill>
              </a:rPr>
              <a:t>p &gt; </a:t>
            </a:r>
            <a:r>
              <a:rPr lang="tr-TR" altLang="x-none" b="1" dirty="0">
                <a:solidFill>
                  <a:schemeClr val="tx1"/>
                </a:solidFill>
                <a:sym typeface="Symbol" charset="2"/>
              </a:rPr>
              <a:t></a:t>
            </a:r>
            <a:r>
              <a:rPr lang="tr-TR" altLang="x-none" dirty="0">
                <a:solidFill>
                  <a:schemeClr val="tx1"/>
                </a:solidFill>
              </a:rPr>
              <a:t>   ise H</a:t>
            </a:r>
            <a:r>
              <a:rPr lang="tr-TR" altLang="x-none" baseline="-25000" dirty="0">
                <a:solidFill>
                  <a:schemeClr val="tx1"/>
                </a:solidFill>
              </a:rPr>
              <a:t>0</a:t>
            </a:r>
            <a:r>
              <a:rPr lang="tr-TR" altLang="x-none" dirty="0">
                <a:solidFill>
                  <a:schemeClr val="tx1"/>
                </a:solidFill>
              </a:rPr>
              <a:t> kabul edilir. Bunun anlamı gerçekleşen yanılgı öngörülenden küçük olmadığı için H</a:t>
            </a:r>
            <a:r>
              <a:rPr lang="tr-TR" altLang="x-none" baseline="-25000" dirty="0">
                <a:solidFill>
                  <a:schemeClr val="tx1"/>
                </a:solidFill>
              </a:rPr>
              <a:t>0</a:t>
            </a:r>
            <a:r>
              <a:rPr lang="tr-TR" altLang="x-none" dirty="0">
                <a:solidFill>
                  <a:schemeClr val="tx1"/>
                </a:solidFill>
              </a:rPr>
              <a:t> </a:t>
            </a:r>
            <a:r>
              <a:rPr lang="tr-TR" altLang="x-none" dirty="0" err="1">
                <a:solidFill>
                  <a:schemeClr val="tx1"/>
                </a:solidFill>
              </a:rPr>
              <a:t>red</a:t>
            </a:r>
            <a:r>
              <a:rPr lang="tr-TR" altLang="x-none" dirty="0">
                <a:solidFill>
                  <a:schemeClr val="tx1"/>
                </a:solidFill>
              </a:rPr>
              <a:t> edilemez.</a:t>
            </a:r>
          </a:p>
          <a:p>
            <a:pPr marL="0" indent="0">
              <a:buNone/>
            </a:pPr>
            <a:r>
              <a:rPr lang="tr-TR" altLang="x-none" dirty="0">
                <a:solidFill>
                  <a:schemeClr val="tx1"/>
                </a:solidFill>
              </a:rPr>
              <a:t>Varsayalım ki, örnekte için uygun hipotez testini kullandık ve p değerini 0,26 olarak elde ettik. Bu durumda aşağıdaki şekilde kurulan;</a:t>
            </a:r>
            <a:br>
              <a:rPr lang="tr-TR" altLang="x-none" dirty="0">
                <a:solidFill>
                  <a:schemeClr val="tx1"/>
                </a:solidFill>
              </a:rPr>
            </a:br>
            <a:br>
              <a:rPr lang="tr-TR" altLang="x-none" dirty="0">
                <a:solidFill>
                  <a:schemeClr val="tx1"/>
                </a:solidFill>
              </a:rPr>
            </a:br>
            <a:r>
              <a:rPr lang="en-US" dirty="0">
                <a:solidFill>
                  <a:schemeClr val="tx1"/>
                </a:solidFill>
                <a:latin typeface="Calibri" charset="0"/>
                <a:ea typeface="Calibri" charset="0"/>
                <a:cs typeface="Calibri" charset="0"/>
              </a:rPr>
              <a:t>Ho: </a:t>
            </a:r>
            <a:r>
              <a:rPr lang="tr-TR" altLang="x-none" dirty="0">
                <a:solidFill>
                  <a:schemeClr val="tx1"/>
                </a:solidFill>
                <a:latin typeface="Calibri" charset="0"/>
                <a:ea typeface="Calibri" charset="0"/>
                <a:cs typeface="Calibri" charset="0"/>
              </a:rPr>
              <a:t>Deney ve Kontrol grupları arasında iyileşme bakımından fark yok</a:t>
            </a:r>
            <a:br>
              <a:rPr lang="tr-TR" altLang="x-none" dirty="0">
                <a:solidFill>
                  <a:schemeClr val="tx1"/>
                </a:solidFill>
                <a:latin typeface="Calibri" charset="0"/>
                <a:ea typeface="Calibri" charset="0"/>
                <a:cs typeface="Calibri" charset="0"/>
              </a:rPr>
            </a:br>
            <a:r>
              <a:rPr lang="tr-TR" altLang="x-none" dirty="0">
                <a:solidFill>
                  <a:schemeClr val="tx1"/>
                </a:solidFill>
                <a:latin typeface="Calibri" charset="0"/>
                <a:ea typeface="Calibri" charset="0"/>
                <a:cs typeface="Calibri" charset="0"/>
              </a:rPr>
              <a:t>H1: Deney ve Kontrol grupları arasında iyileşme bakımından farklılık var</a:t>
            </a:r>
            <a:br>
              <a:rPr lang="tr-TR" altLang="x-none" dirty="0">
                <a:solidFill>
                  <a:schemeClr val="tx1"/>
                </a:solidFill>
              </a:rPr>
            </a:br>
            <a:endParaRPr lang="tr-TR" altLang="x-none" dirty="0">
              <a:solidFill>
                <a:schemeClr val="tx1"/>
              </a:solidFill>
            </a:endParaRPr>
          </a:p>
        </p:txBody>
      </p:sp>
      <p:sp>
        <p:nvSpPr>
          <p:cNvPr id="2" name="Rectangle 1">
            <a:extLst>
              <a:ext uri="{FF2B5EF4-FFF2-40B4-BE49-F238E27FC236}">
                <a16:creationId xmlns:a16="http://schemas.microsoft.com/office/drawing/2014/main" id="{71584304-61A7-434C-BBA5-96A4192049D3}"/>
              </a:ext>
            </a:extLst>
          </p:cNvPr>
          <p:cNvSpPr/>
          <p:nvPr/>
        </p:nvSpPr>
        <p:spPr>
          <a:xfrm>
            <a:off x="272976" y="5506634"/>
            <a:ext cx="8871023" cy="892552"/>
          </a:xfrm>
          <a:prstGeom prst="rect">
            <a:avLst/>
          </a:prstGeom>
        </p:spPr>
        <p:txBody>
          <a:bodyPr wrap="square">
            <a:spAutoFit/>
          </a:bodyPr>
          <a:lstStyle/>
          <a:p>
            <a:r>
              <a:rPr lang="tr-TR" altLang="x-none" sz="2400" b="1" dirty="0"/>
              <a:t>YANIT: </a:t>
            </a:r>
            <a:r>
              <a:rPr lang="tr-TR" altLang="x-none" sz="2800" b="1" dirty="0">
                <a:solidFill>
                  <a:srgbClr val="C00000"/>
                </a:solidFill>
              </a:rPr>
              <a:t>p &gt; </a:t>
            </a:r>
            <a:r>
              <a:rPr lang="tr-TR" altLang="x-none" sz="2800" b="1" dirty="0">
                <a:solidFill>
                  <a:srgbClr val="C00000"/>
                </a:solidFill>
                <a:sym typeface="Symbol" charset="2"/>
              </a:rPr>
              <a:t></a:t>
            </a:r>
            <a:r>
              <a:rPr lang="tr-TR" altLang="x-none" sz="2800" b="1" dirty="0"/>
              <a:t>  </a:t>
            </a:r>
            <a:r>
              <a:rPr lang="tr-TR" altLang="x-none" sz="2400" dirty="0"/>
              <a:t>(0,26  &gt; 0,05) olduğu için H</a:t>
            </a:r>
            <a:r>
              <a:rPr lang="tr-TR" altLang="x-none" sz="2400" baseline="-25000" dirty="0"/>
              <a:t>0</a:t>
            </a:r>
            <a:r>
              <a:rPr lang="tr-TR" altLang="x-none" sz="2400" dirty="0"/>
              <a:t> kabul edilir. Bunun anlamı gruplar arasında iyileşme açısından bir farklılık yoktur.</a:t>
            </a:r>
          </a:p>
        </p:txBody>
      </p:sp>
    </p:spTree>
    <p:extLst>
      <p:ext uri="{BB962C8B-B14F-4D97-AF65-F5344CB8AC3E}">
        <p14:creationId xmlns:p14="http://schemas.microsoft.com/office/powerpoint/2010/main" val="573352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203052" y="620688"/>
            <a:ext cx="8054363" cy="811559"/>
          </a:xfrm>
        </p:spPr>
        <p:txBody>
          <a:bodyPr>
            <a:noAutofit/>
          </a:bodyPr>
          <a:lstStyle/>
          <a:p>
            <a:r>
              <a:rPr lang="tr-TR" sz="4400" b="1" dirty="0"/>
              <a:t>Hipotez Testinin Yönünü Belirlemek</a:t>
            </a:r>
          </a:p>
        </p:txBody>
      </p:sp>
      <p:sp>
        <p:nvSpPr>
          <p:cNvPr id="3" name="İçerik Yer Tutucusu 2"/>
          <p:cNvSpPr>
            <a:spLocks noGrp="1"/>
          </p:cNvSpPr>
          <p:nvPr>
            <p:ph idx="1"/>
          </p:nvPr>
        </p:nvSpPr>
        <p:spPr>
          <a:xfrm>
            <a:off x="203052" y="1844824"/>
            <a:ext cx="8940948" cy="4320480"/>
          </a:xfrm>
        </p:spPr>
        <p:txBody>
          <a:bodyPr anchor="t">
            <a:noAutofit/>
          </a:bodyPr>
          <a:lstStyle/>
          <a:p>
            <a:pPr>
              <a:spcBef>
                <a:spcPts val="0"/>
              </a:spcBef>
              <a:spcAft>
                <a:spcPts val="0"/>
              </a:spcAft>
            </a:pPr>
            <a:r>
              <a:rPr lang="tr-TR" sz="2000" dirty="0">
                <a:solidFill>
                  <a:schemeClr val="tx1"/>
                </a:solidFill>
              </a:rPr>
              <a:t>Alternatif hipotez yazılırken;</a:t>
            </a:r>
          </a:p>
          <a:p>
            <a:pPr lvl="1">
              <a:spcBef>
                <a:spcPts val="0"/>
              </a:spcBef>
              <a:spcAft>
                <a:spcPts val="0"/>
              </a:spcAft>
            </a:pPr>
            <a:r>
              <a:rPr lang="tr-TR" sz="1800" dirty="0">
                <a:solidFill>
                  <a:schemeClr val="tx1"/>
                </a:solidFill>
              </a:rPr>
              <a:t>değişkenler arası ilişkinin yönü </a:t>
            </a:r>
            <a:r>
              <a:rPr lang="tr-TR" sz="1800" u="sng" dirty="0">
                <a:solidFill>
                  <a:schemeClr val="tx1"/>
                </a:solidFill>
              </a:rPr>
              <a:t>belirtilmediği</a:t>
            </a:r>
            <a:r>
              <a:rPr lang="tr-TR" sz="1800" dirty="0">
                <a:solidFill>
                  <a:schemeClr val="tx1"/>
                </a:solidFill>
              </a:rPr>
              <a:t> zaman yönsüz (</a:t>
            </a:r>
            <a:r>
              <a:rPr lang="tr-TR" sz="1800" dirty="0" err="1">
                <a:solidFill>
                  <a:schemeClr val="tx1"/>
                </a:solidFill>
              </a:rPr>
              <a:t>nondirectional</a:t>
            </a:r>
            <a:r>
              <a:rPr lang="tr-TR" sz="1800" dirty="0">
                <a:solidFill>
                  <a:schemeClr val="tx1"/>
                </a:solidFill>
              </a:rPr>
              <a:t>) ya da iki yönlü (</a:t>
            </a:r>
            <a:r>
              <a:rPr lang="tr-TR" sz="1800" dirty="0" err="1">
                <a:solidFill>
                  <a:schemeClr val="tx1"/>
                </a:solidFill>
              </a:rPr>
              <a:t>two-sided</a:t>
            </a:r>
            <a:r>
              <a:rPr lang="tr-TR" sz="1800" dirty="0">
                <a:solidFill>
                  <a:schemeClr val="tx1"/>
                </a:solidFill>
              </a:rPr>
              <a:t>) hipotez</a:t>
            </a:r>
          </a:p>
          <a:p>
            <a:pPr lvl="1">
              <a:spcBef>
                <a:spcPts val="0"/>
              </a:spcBef>
              <a:spcAft>
                <a:spcPts val="0"/>
              </a:spcAft>
            </a:pPr>
            <a:r>
              <a:rPr lang="tr-TR" sz="1800" u="sng" dirty="0">
                <a:solidFill>
                  <a:schemeClr val="tx1"/>
                </a:solidFill>
              </a:rPr>
              <a:t>ilişkinin yönü belirtiliyorsa </a:t>
            </a:r>
            <a:r>
              <a:rPr lang="tr-TR" sz="1800" dirty="0">
                <a:solidFill>
                  <a:schemeClr val="tx1"/>
                </a:solidFill>
              </a:rPr>
              <a:t>tek yönlü (</a:t>
            </a:r>
            <a:r>
              <a:rPr lang="tr-TR" sz="1800" dirty="0" err="1">
                <a:solidFill>
                  <a:schemeClr val="tx1"/>
                </a:solidFill>
              </a:rPr>
              <a:t>one-sided</a:t>
            </a:r>
            <a:r>
              <a:rPr lang="tr-TR" sz="1800" dirty="0">
                <a:solidFill>
                  <a:schemeClr val="tx1"/>
                </a:solidFill>
              </a:rPr>
              <a:t>) veya yönlü (</a:t>
            </a:r>
            <a:r>
              <a:rPr lang="tr-TR" sz="1800" dirty="0" err="1">
                <a:solidFill>
                  <a:schemeClr val="tx1"/>
                </a:solidFill>
              </a:rPr>
              <a:t>directional</a:t>
            </a:r>
            <a:r>
              <a:rPr lang="tr-TR" sz="1800" dirty="0">
                <a:solidFill>
                  <a:schemeClr val="tx1"/>
                </a:solidFill>
              </a:rPr>
              <a:t>) hipotez olarak tanımlanır.</a:t>
            </a:r>
          </a:p>
          <a:p>
            <a:pPr>
              <a:spcBef>
                <a:spcPts val="0"/>
              </a:spcBef>
              <a:spcAft>
                <a:spcPts val="0"/>
              </a:spcAft>
            </a:pPr>
            <a:r>
              <a:rPr lang="tr-TR" sz="2000" b="1" dirty="0">
                <a:solidFill>
                  <a:schemeClr val="tx1"/>
                </a:solidFill>
              </a:rPr>
              <a:t>İki-Yönlü / Yönsüz Hipotez</a:t>
            </a:r>
            <a:endParaRPr lang="tr-TR" sz="2000" dirty="0">
              <a:solidFill>
                <a:schemeClr val="tx1"/>
              </a:solidFill>
            </a:endParaRPr>
          </a:p>
          <a:p>
            <a:pPr lvl="1">
              <a:spcBef>
                <a:spcPts val="0"/>
              </a:spcBef>
              <a:spcAft>
                <a:spcPts val="0"/>
              </a:spcAft>
            </a:pPr>
            <a:r>
              <a:rPr lang="tr-TR" sz="1800" dirty="0">
                <a:solidFill>
                  <a:schemeClr val="tx1"/>
                </a:solidFill>
              </a:rPr>
              <a:t>Evren ait bir parametrenin, belirlenen bir de­ğerden sadece farklı olduğunu açıklayan bir alternatif hipotezdir. </a:t>
            </a:r>
          </a:p>
          <a:p>
            <a:pPr lvl="1">
              <a:spcBef>
                <a:spcPts val="0"/>
              </a:spcBef>
              <a:spcAft>
                <a:spcPts val="0"/>
              </a:spcAft>
            </a:pPr>
            <a:r>
              <a:rPr lang="tr-TR" sz="1800" dirty="0">
                <a:solidFill>
                  <a:schemeClr val="tx1"/>
                </a:solidFill>
              </a:rPr>
              <a:t>Örneğin, “kızların ve erkeklerin istatistik dersine yönelik tutum­ları farklıdır” hipotezi bir alternatif hipotez­dir. </a:t>
            </a:r>
          </a:p>
          <a:p>
            <a:pPr lvl="2">
              <a:spcBef>
                <a:spcPts val="0"/>
              </a:spcBef>
              <a:spcAft>
                <a:spcPts val="0"/>
              </a:spcAft>
            </a:pPr>
            <a:r>
              <a:rPr lang="tr-TR" sz="1600" dirty="0">
                <a:solidFill>
                  <a:schemeClr val="tx1"/>
                </a:solidFill>
              </a:rPr>
              <a:t>Burada farkın yönüne ilişkin bir öngörü yoktur ya da araştırma herhangi bir yönle ilgilenilmemektedir.</a:t>
            </a:r>
          </a:p>
          <a:p>
            <a:pPr>
              <a:spcBef>
                <a:spcPts val="0"/>
              </a:spcBef>
              <a:spcAft>
                <a:spcPts val="0"/>
              </a:spcAft>
            </a:pPr>
            <a:r>
              <a:rPr lang="tr-TR" sz="2000" b="1" dirty="0">
                <a:solidFill>
                  <a:schemeClr val="tx1"/>
                </a:solidFill>
              </a:rPr>
              <a:t>Tek-Yönlü / Yönlü Hipotez </a:t>
            </a:r>
          </a:p>
          <a:p>
            <a:pPr lvl="1">
              <a:spcBef>
                <a:spcPts val="0"/>
              </a:spcBef>
              <a:spcAft>
                <a:spcPts val="0"/>
              </a:spcAft>
            </a:pPr>
            <a:r>
              <a:rPr lang="tr-TR" sz="1800" dirty="0">
                <a:solidFill>
                  <a:schemeClr val="tx1"/>
                </a:solidFill>
              </a:rPr>
              <a:t>Evrene ait bir parametrenin, belli bir değerden farklı olduğunu yönünü belirterek açıklayan yani yönü vurgulayan alternatif hipotezdir. </a:t>
            </a:r>
          </a:p>
          <a:p>
            <a:pPr lvl="1">
              <a:spcBef>
                <a:spcPts val="0"/>
              </a:spcBef>
              <a:spcAft>
                <a:spcPts val="0"/>
              </a:spcAft>
            </a:pPr>
            <a:r>
              <a:rPr lang="tr-TR" sz="1800" dirty="0">
                <a:solidFill>
                  <a:schemeClr val="tx1"/>
                </a:solidFill>
              </a:rPr>
              <a:t>Örneğin, “kızların istatistiğe yönelik tutumları erkeklerinkinden yüksektir” hipotezi bir alternatif hipotezdir.</a:t>
            </a:r>
            <a:endParaRPr lang="tr-TR" sz="2000" dirty="0">
              <a:solidFill>
                <a:schemeClr val="tx1"/>
              </a:solidFill>
            </a:endParaRPr>
          </a:p>
        </p:txBody>
      </p:sp>
    </p:spTree>
    <p:extLst>
      <p:ext uri="{BB962C8B-B14F-4D97-AF65-F5344CB8AC3E}">
        <p14:creationId xmlns:p14="http://schemas.microsoft.com/office/powerpoint/2010/main" val="1977826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4" name="Resim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12963" y="1988840"/>
            <a:ext cx="5031037" cy="3996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251520" y="1844824"/>
            <a:ext cx="3672408" cy="4401205"/>
          </a:xfrm>
          <a:prstGeom prst="rect">
            <a:avLst/>
          </a:prstGeom>
        </p:spPr>
        <p:txBody>
          <a:bodyPr wrap="square">
            <a:spAutoFit/>
          </a:bodyPr>
          <a:lstStyle/>
          <a:p>
            <a:r>
              <a:rPr lang="en-US" sz="2000" b="1" dirty="0" err="1">
                <a:latin typeface="Calibri" charset="0"/>
                <a:ea typeface="Calibri" charset="0"/>
                <a:cs typeface="Calibri" charset="0"/>
              </a:rPr>
              <a:t>Yönlü</a:t>
            </a:r>
            <a:r>
              <a:rPr lang="en-US" sz="2000" b="1" dirty="0">
                <a:latin typeface="Calibri" charset="0"/>
                <a:ea typeface="Calibri" charset="0"/>
                <a:cs typeface="Calibri" charset="0"/>
              </a:rPr>
              <a:t> Test (Directional Test)</a:t>
            </a:r>
            <a:endParaRPr lang="en-US" sz="2000" dirty="0">
              <a:latin typeface="Calibri" charset="0"/>
              <a:ea typeface="Calibri" charset="0"/>
              <a:cs typeface="Calibri" charset="0"/>
            </a:endParaRPr>
          </a:p>
          <a:p>
            <a:pPr algn="just"/>
            <a:r>
              <a:rPr lang="en-US" sz="2000" dirty="0" err="1">
                <a:latin typeface="Calibri" charset="0"/>
                <a:ea typeface="Calibri" charset="0"/>
                <a:cs typeface="Calibri" charset="0"/>
              </a:rPr>
              <a:t>Sadece</a:t>
            </a:r>
            <a:r>
              <a:rPr lang="en-US" sz="2000" dirty="0">
                <a:latin typeface="Calibri" charset="0"/>
                <a:ea typeface="Calibri" charset="0"/>
                <a:cs typeface="Calibri" charset="0"/>
              </a:rPr>
              <a:t> </a:t>
            </a:r>
            <a:r>
              <a:rPr lang="en-US" sz="2000" dirty="0" err="1">
                <a:latin typeface="Calibri" charset="0"/>
                <a:ea typeface="Calibri" charset="0"/>
                <a:cs typeface="Calibri" charset="0"/>
              </a:rPr>
              <a:t>olasılık</a:t>
            </a:r>
            <a:r>
              <a:rPr lang="en-US" sz="2000" dirty="0">
                <a:latin typeface="Calibri" charset="0"/>
                <a:ea typeface="Calibri" charset="0"/>
                <a:cs typeface="Calibri" charset="0"/>
              </a:rPr>
              <a:t> </a:t>
            </a:r>
            <a:r>
              <a:rPr lang="en-US" sz="2000" dirty="0" err="1">
                <a:latin typeface="Calibri" charset="0"/>
                <a:ea typeface="Calibri" charset="0"/>
                <a:cs typeface="Calibri" charset="0"/>
              </a:rPr>
              <a:t>dağılımının</a:t>
            </a:r>
            <a:r>
              <a:rPr lang="en-US" sz="2000" dirty="0">
                <a:latin typeface="Calibri" charset="0"/>
                <a:ea typeface="Calibri" charset="0"/>
                <a:cs typeface="Calibri" charset="0"/>
              </a:rPr>
              <a:t> </a:t>
            </a:r>
            <a:r>
              <a:rPr lang="en-US" sz="2000" dirty="0" err="1">
                <a:latin typeface="Calibri" charset="0"/>
                <a:ea typeface="Calibri" charset="0"/>
                <a:cs typeface="Calibri" charset="0"/>
              </a:rPr>
              <a:t>bir</a:t>
            </a:r>
            <a:r>
              <a:rPr lang="en-US" sz="2000" dirty="0">
                <a:latin typeface="Calibri" charset="0"/>
                <a:ea typeface="Calibri" charset="0"/>
                <a:cs typeface="Calibri" charset="0"/>
              </a:rPr>
              <a:t> </a:t>
            </a:r>
            <a:r>
              <a:rPr lang="en-US" sz="2000" dirty="0" err="1">
                <a:latin typeface="Calibri" charset="0"/>
                <a:ea typeface="Calibri" charset="0"/>
                <a:cs typeface="Calibri" charset="0"/>
              </a:rPr>
              <a:t>yönü</a:t>
            </a:r>
            <a:r>
              <a:rPr lang="en-US" sz="2000" dirty="0">
                <a:latin typeface="Calibri" charset="0"/>
                <a:ea typeface="Calibri" charset="0"/>
                <a:cs typeface="Calibri" charset="0"/>
              </a:rPr>
              <a:t> </a:t>
            </a:r>
            <a:r>
              <a:rPr lang="en-US" sz="2000" dirty="0" err="1">
                <a:latin typeface="Calibri" charset="0"/>
                <a:ea typeface="Calibri" charset="0"/>
                <a:cs typeface="Calibri" charset="0"/>
              </a:rPr>
              <a:t>ile</a:t>
            </a:r>
            <a:r>
              <a:rPr lang="en-US" sz="2000" dirty="0">
                <a:latin typeface="Calibri" charset="0"/>
                <a:ea typeface="Calibri" charset="0"/>
                <a:cs typeface="Calibri" charset="0"/>
              </a:rPr>
              <a:t> </a:t>
            </a:r>
            <a:r>
              <a:rPr lang="en-US" sz="2000" dirty="0" err="1">
                <a:latin typeface="Calibri" charset="0"/>
                <a:ea typeface="Calibri" charset="0"/>
                <a:cs typeface="Calibri" charset="0"/>
              </a:rPr>
              <a:t>ilgilenir</a:t>
            </a:r>
            <a:r>
              <a:rPr lang="en-US" sz="2000" dirty="0">
                <a:latin typeface="Calibri" charset="0"/>
                <a:ea typeface="Calibri" charset="0"/>
                <a:cs typeface="Calibri" charset="0"/>
              </a:rPr>
              <a:t>. </a:t>
            </a:r>
            <a:r>
              <a:rPr lang="en-US" sz="2000" b="1" dirty="0">
                <a:latin typeface="Calibri" charset="0"/>
                <a:ea typeface="Calibri" charset="0"/>
                <a:cs typeface="Calibri" charset="0"/>
              </a:rPr>
              <a:t> </a:t>
            </a:r>
            <a:endParaRPr lang="en-US" sz="2000" dirty="0">
              <a:latin typeface="Calibri" charset="0"/>
              <a:ea typeface="Calibri" charset="0"/>
              <a:cs typeface="Calibri" charset="0"/>
            </a:endParaRPr>
          </a:p>
          <a:p>
            <a:endParaRPr lang="en-US" sz="2000" b="1" dirty="0">
              <a:latin typeface="Calibri" charset="0"/>
              <a:ea typeface="Calibri" charset="0"/>
              <a:cs typeface="Calibri" charset="0"/>
            </a:endParaRPr>
          </a:p>
          <a:p>
            <a:r>
              <a:rPr lang="en-US" sz="2000" b="1" dirty="0" err="1">
                <a:latin typeface="Calibri" charset="0"/>
                <a:ea typeface="Calibri" charset="0"/>
                <a:cs typeface="Calibri" charset="0"/>
              </a:rPr>
              <a:t>Yönsüz</a:t>
            </a:r>
            <a:r>
              <a:rPr lang="en-US" sz="2000" b="1" dirty="0">
                <a:latin typeface="Calibri" charset="0"/>
                <a:ea typeface="Calibri" charset="0"/>
                <a:cs typeface="Calibri" charset="0"/>
              </a:rPr>
              <a:t> Test (Nondirectional Test) </a:t>
            </a:r>
            <a:r>
              <a:rPr lang="en-US" sz="2000" dirty="0">
                <a:latin typeface="Calibri" charset="0"/>
                <a:ea typeface="Calibri" charset="0"/>
                <a:cs typeface="Calibri" charset="0"/>
              </a:rPr>
              <a:t>“</a:t>
            </a:r>
            <a:r>
              <a:rPr lang="en-US" sz="2000" dirty="0" err="1">
                <a:latin typeface="Calibri" charset="0"/>
                <a:ea typeface="Calibri" charset="0"/>
                <a:cs typeface="Calibri" charset="0"/>
              </a:rPr>
              <a:t>İki</a:t>
            </a:r>
            <a:r>
              <a:rPr lang="en-US" sz="2000" dirty="0">
                <a:latin typeface="Calibri" charset="0"/>
                <a:ea typeface="Calibri" charset="0"/>
                <a:cs typeface="Calibri" charset="0"/>
              </a:rPr>
              <a:t> </a:t>
            </a:r>
            <a:r>
              <a:rPr lang="en-US" sz="2000" dirty="0" err="1">
                <a:latin typeface="Calibri" charset="0"/>
                <a:ea typeface="Calibri" charset="0"/>
                <a:cs typeface="Calibri" charset="0"/>
              </a:rPr>
              <a:t>örneklem</a:t>
            </a:r>
            <a:r>
              <a:rPr lang="en-US" sz="2000" dirty="0">
                <a:latin typeface="Calibri" charset="0"/>
                <a:ea typeface="Calibri" charset="0"/>
                <a:cs typeface="Calibri" charset="0"/>
              </a:rPr>
              <a:t> </a:t>
            </a:r>
            <a:r>
              <a:rPr lang="en-US" sz="2000" dirty="0" err="1">
                <a:latin typeface="Calibri" charset="0"/>
                <a:ea typeface="Calibri" charset="0"/>
                <a:cs typeface="Calibri" charset="0"/>
              </a:rPr>
              <a:t>ortalaması</a:t>
            </a:r>
            <a:r>
              <a:rPr lang="en-US" sz="2000" dirty="0">
                <a:latin typeface="Calibri" charset="0"/>
                <a:ea typeface="Calibri" charset="0"/>
                <a:cs typeface="Calibri" charset="0"/>
              </a:rPr>
              <a:t> </a:t>
            </a:r>
            <a:r>
              <a:rPr lang="en-US" sz="2000" dirty="0" err="1">
                <a:latin typeface="Calibri" charset="0"/>
                <a:ea typeface="Calibri" charset="0"/>
                <a:cs typeface="Calibri" charset="0"/>
              </a:rPr>
              <a:t>arasında</a:t>
            </a:r>
            <a:r>
              <a:rPr lang="en-US" sz="2000" dirty="0">
                <a:latin typeface="Calibri" charset="0"/>
                <a:ea typeface="Calibri" charset="0"/>
                <a:cs typeface="Calibri" charset="0"/>
              </a:rPr>
              <a:t> fark </a:t>
            </a:r>
            <a:r>
              <a:rPr lang="en-US" sz="2000" dirty="0" err="1">
                <a:latin typeface="Calibri" charset="0"/>
                <a:ea typeface="Calibri" charset="0"/>
                <a:cs typeface="Calibri" charset="0"/>
              </a:rPr>
              <a:t>vardır</a:t>
            </a:r>
            <a:r>
              <a:rPr lang="en-US" sz="2000" dirty="0">
                <a:latin typeface="Calibri" charset="0"/>
                <a:ea typeface="Calibri" charset="0"/>
                <a:cs typeface="Calibri" charset="0"/>
              </a:rPr>
              <a:t>” </a:t>
            </a:r>
            <a:r>
              <a:rPr lang="en-US" sz="2000" dirty="0" err="1">
                <a:latin typeface="Calibri" charset="0"/>
                <a:ea typeface="Calibri" charset="0"/>
                <a:cs typeface="Calibri" charset="0"/>
              </a:rPr>
              <a:t>araştırma</a:t>
            </a:r>
            <a:r>
              <a:rPr lang="en-US" sz="2000" dirty="0">
                <a:latin typeface="Calibri" charset="0"/>
                <a:ea typeface="Calibri" charset="0"/>
                <a:cs typeface="Calibri" charset="0"/>
              </a:rPr>
              <a:t> </a:t>
            </a:r>
            <a:r>
              <a:rPr lang="en-US" sz="2000" dirty="0" err="1">
                <a:latin typeface="Calibri" charset="0"/>
                <a:ea typeface="Calibri" charset="0"/>
                <a:cs typeface="Calibri" charset="0"/>
              </a:rPr>
              <a:t>hipotezinde</a:t>
            </a:r>
            <a:r>
              <a:rPr lang="en-US" sz="2000" dirty="0">
                <a:latin typeface="Calibri" charset="0"/>
                <a:ea typeface="Calibri" charset="0"/>
                <a:cs typeface="Calibri" charset="0"/>
              </a:rPr>
              <a:t>, </a:t>
            </a:r>
            <a:r>
              <a:rPr lang="en-US" sz="2000" dirty="0" err="1">
                <a:latin typeface="Calibri" charset="0"/>
                <a:ea typeface="Calibri" charset="0"/>
                <a:cs typeface="Calibri" charset="0"/>
              </a:rPr>
              <a:t>farkın</a:t>
            </a:r>
            <a:r>
              <a:rPr lang="en-US" sz="2000" dirty="0">
                <a:latin typeface="Calibri" charset="0"/>
                <a:ea typeface="Calibri" charset="0"/>
                <a:cs typeface="Calibri" charset="0"/>
              </a:rPr>
              <a:t> </a:t>
            </a:r>
            <a:r>
              <a:rPr lang="en-US" sz="2000" dirty="0" err="1">
                <a:latin typeface="Calibri" charset="0"/>
                <a:ea typeface="Calibri" charset="0"/>
                <a:cs typeface="Calibri" charset="0"/>
              </a:rPr>
              <a:t>yönü</a:t>
            </a:r>
            <a:r>
              <a:rPr lang="en-US" sz="2000" dirty="0">
                <a:latin typeface="Calibri" charset="0"/>
                <a:ea typeface="Calibri" charset="0"/>
                <a:cs typeface="Calibri" charset="0"/>
              </a:rPr>
              <a:t> </a:t>
            </a:r>
            <a:r>
              <a:rPr lang="en-US" sz="2000" dirty="0" err="1">
                <a:latin typeface="Calibri" charset="0"/>
                <a:ea typeface="Calibri" charset="0"/>
                <a:cs typeface="Calibri" charset="0"/>
              </a:rPr>
              <a:t>ile</a:t>
            </a:r>
            <a:r>
              <a:rPr lang="en-US" sz="2000" dirty="0">
                <a:latin typeface="Calibri" charset="0"/>
                <a:ea typeface="Calibri" charset="0"/>
                <a:cs typeface="Calibri" charset="0"/>
              </a:rPr>
              <a:t> </a:t>
            </a:r>
            <a:r>
              <a:rPr lang="en-US" sz="2000" dirty="0" err="1">
                <a:latin typeface="Calibri" charset="0"/>
                <a:ea typeface="Calibri" charset="0"/>
                <a:cs typeface="Calibri" charset="0"/>
              </a:rPr>
              <a:t>ilgilenilmez</a:t>
            </a:r>
            <a:r>
              <a:rPr lang="en-US" sz="2000" dirty="0">
                <a:latin typeface="Calibri" charset="0"/>
                <a:ea typeface="Calibri" charset="0"/>
                <a:cs typeface="Calibri" charset="0"/>
              </a:rPr>
              <a:t>. Bu </a:t>
            </a:r>
            <a:r>
              <a:rPr lang="en-US" sz="2000" dirty="0" err="1">
                <a:latin typeface="Calibri" charset="0"/>
                <a:ea typeface="Calibri" charset="0"/>
                <a:cs typeface="Calibri" charset="0"/>
              </a:rPr>
              <a:t>nedenle</a:t>
            </a:r>
            <a:r>
              <a:rPr lang="en-US" sz="2000" dirty="0">
                <a:latin typeface="Calibri" charset="0"/>
                <a:ea typeface="Calibri" charset="0"/>
                <a:cs typeface="Calibri" charset="0"/>
              </a:rPr>
              <a:t> </a:t>
            </a:r>
            <a:r>
              <a:rPr lang="en-US" sz="2000" dirty="0" err="1">
                <a:latin typeface="Calibri" charset="0"/>
                <a:ea typeface="Calibri" charset="0"/>
                <a:cs typeface="Calibri" charset="0"/>
              </a:rPr>
              <a:t>kullanılan</a:t>
            </a:r>
            <a:r>
              <a:rPr lang="en-US" sz="2000" dirty="0">
                <a:latin typeface="Calibri" charset="0"/>
                <a:ea typeface="Calibri" charset="0"/>
                <a:cs typeface="Calibri" charset="0"/>
              </a:rPr>
              <a:t> </a:t>
            </a:r>
            <a:r>
              <a:rPr lang="en-US" sz="2000" dirty="0" err="1">
                <a:latin typeface="Calibri" charset="0"/>
                <a:ea typeface="Calibri" charset="0"/>
                <a:cs typeface="Calibri" charset="0"/>
              </a:rPr>
              <a:t>dağılımın</a:t>
            </a:r>
            <a:r>
              <a:rPr lang="en-US" sz="2000" dirty="0">
                <a:latin typeface="Calibri" charset="0"/>
                <a:ea typeface="Calibri" charset="0"/>
                <a:cs typeface="Calibri" charset="0"/>
              </a:rPr>
              <a:t> </a:t>
            </a:r>
            <a:r>
              <a:rPr lang="en-US" sz="2000" dirty="0" err="1">
                <a:latin typeface="Calibri" charset="0"/>
                <a:ea typeface="Calibri" charset="0"/>
                <a:cs typeface="Calibri" charset="0"/>
              </a:rPr>
              <a:t>olasılıklarının</a:t>
            </a:r>
            <a:r>
              <a:rPr lang="en-US" sz="2000" dirty="0">
                <a:latin typeface="Calibri" charset="0"/>
                <a:ea typeface="Calibri" charset="0"/>
                <a:cs typeface="Calibri" charset="0"/>
              </a:rPr>
              <a:t> </a:t>
            </a:r>
            <a:r>
              <a:rPr lang="en-US" sz="2000" dirty="0" err="1">
                <a:latin typeface="Calibri" charset="0"/>
                <a:ea typeface="Calibri" charset="0"/>
                <a:cs typeface="Calibri" charset="0"/>
              </a:rPr>
              <a:t>hesaplanmasında</a:t>
            </a:r>
            <a:r>
              <a:rPr lang="en-US" sz="2000" dirty="0">
                <a:latin typeface="Calibri" charset="0"/>
                <a:ea typeface="Calibri" charset="0"/>
                <a:cs typeface="Calibri" charset="0"/>
              </a:rPr>
              <a:t>, </a:t>
            </a:r>
            <a:r>
              <a:rPr lang="en-US" sz="2000" dirty="0" err="1">
                <a:latin typeface="Calibri" charset="0"/>
                <a:ea typeface="Calibri" charset="0"/>
                <a:cs typeface="Calibri" charset="0"/>
              </a:rPr>
              <a:t>dağılım</a:t>
            </a:r>
            <a:r>
              <a:rPr lang="en-US" sz="2000" dirty="0">
                <a:latin typeface="Calibri" charset="0"/>
                <a:ea typeface="Calibri" charset="0"/>
                <a:cs typeface="Calibri" charset="0"/>
              </a:rPr>
              <a:t> </a:t>
            </a:r>
            <a:r>
              <a:rPr lang="en-US" sz="2000" dirty="0" err="1">
                <a:latin typeface="Calibri" charset="0"/>
                <a:ea typeface="Calibri" charset="0"/>
                <a:cs typeface="Calibri" charset="0"/>
              </a:rPr>
              <a:t>eğrisinin</a:t>
            </a:r>
            <a:r>
              <a:rPr lang="en-US" sz="2000" dirty="0">
                <a:latin typeface="Calibri" charset="0"/>
                <a:ea typeface="Calibri" charset="0"/>
                <a:cs typeface="Calibri" charset="0"/>
              </a:rPr>
              <a:t> her </a:t>
            </a:r>
            <a:r>
              <a:rPr lang="en-US" sz="2000" dirty="0" err="1">
                <a:latin typeface="Calibri" charset="0"/>
                <a:ea typeface="Calibri" charset="0"/>
                <a:cs typeface="Calibri" charset="0"/>
              </a:rPr>
              <a:t>iki</a:t>
            </a:r>
            <a:r>
              <a:rPr lang="en-US" sz="2000" dirty="0">
                <a:latin typeface="Calibri" charset="0"/>
                <a:ea typeface="Calibri" charset="0"/>
                <a:cs typeface="Calibri" charset="0"/>
              </a:rPr>
              <a:t> </a:t>
            </a:r>
            <a:r>
              <a:rPr lang="en-US" sz="2000" dirty="0" err="1">
                <a:latin typeface="Calibri" charset="0"/>
                <a:ea typeface="Calibri" charset="0"/>
                <a:cs typeface="Calibri" charset="0"/>
              </a:rPr>
              <a:t>ucu</a:t>
            </a:r>
            <a:r>
              <a:rPr lang="en-US" sz="2000" dirty="0">
                <a:latin typeface="Calibri" charset="0"/>
                <a:ea typeface="Calibri" charset="0"/>
                <a:cs typeface="Calibri" charset="0"/>
              </a:rPr>
              <a:t> </a:t>
            </a:r>
            <a:r>
              <a:rPr lang="en-US" sz="2000" dirty="0" err="1">
                <a:latin typeface="Calibri" charset="0"/>
                <a:ea typeface="Calibri" charset="0"/>
                <a:cs typeface="Calibri" charset="0"/>
              </a:rPr>
              <a:t>ele</a:t>
            </a:r>
            <a:r>
              <a:rPr lang="en-US" sz="2000" dirty="0">
                <a:latin typeface="Calibri" charset="0"/>
                <a:ea typeface="Calibri" charset="0"/>
                <a:cs typeface="Calibri" charset="0"/>
              </a:rPr>
              <a:t> </a:t>
            </a:r>
            <a:r>
              <a:rPr lang="en-US" sz="2000" dirty="0" err="1">
                <a:latin typeface="Calibri" charset="0"/>
                <a:ea typeface="Calibri" charset="0"/>
                <a:cs typeface="Calibri" charset="0"/>
              </a:rPr>
              <a:t>alınır</a:t>
            </a:r>
            <a:r>
              <a:rPr lang="en-US" sz="2000" dirty="0">
                <a:latin typeface="Calibri" charset="0"/>
                <a:ea typeface="Calibri" charset="0"/>
                <a:cs typeface="Calibri" charset="0"/>
              </a:rPr>
              <a:t>. Bu teste </a:t>
            </a:r>
            <a:r>
              <a:rPr lang="en-US" sz="2000" dirty="0" err="1">
                <a:latin typeface="Calibri" charset="0"/>
                <a:ea typeface="Calibri" charset="0"/>
                <a:cs typeface="Calibri" charset="0"/>
              </a:rPr>
              <a:t>yönsüz</a:t>
            </a:r>
            <a:r>
              <a:rPr lang="en-US" sz="2000" dirty="0">
                <a:latin typeface="Calibri" charset="0"/>
                <a:ea typeface="Calibri" charset="0"/>
                <a:cs typeface="Calibri" charset="0"/>
              </a:rPr>
              <a:t> test </a:t>
            </a:r>
            <a:r>
              <a:rPr lang="en-US" sz="2000" dirty="0" err="1">
                <a:latin typeface="Calibri" charset="0"/>
                <a:ea typeface="Calibri" charset="0"/>
                <a:cs typeface="Calibri" charset="0"/>
              </a:rPr>
              <a:t>ya</a:t>
            </a:r>
            <a:r>
              <a:rPr lang="en-US" sz="2000" dirty="0">
                <a:latin typeface="Calibri" charset="0"/>
                <a:ea typeface="Calibri" charset="0"/>
                <a:cs typeface="Calibri" charset="0"/>
              </a:rPr>
              <a:t> da </a:t>
            </a:r>
            <a:r>
              <a:rPr lang="en-US" sz="2000" dirty="0" err="1">
                <a:latin typeface="Calibri" charset="0"/>
                <a:ea typeface="Calibri" charset="0"/>
                <a:cs typeface="Calibri" charset="0"/>
              </a:rPr>
              <a:t>iki</a:t>
            </a:r>
            <a:r>
              <a:rPr lang="en-US" sz="2000" dirty="0">
                <a:latin typeface="Calibri" charset="0"/>
                <a:ea typeface="Calibri" charset="0"/>
                <a:cs typeface="Calibri" charset="0"/>
              </a:rPr>
              <a:t> </a:t>
            </a:r>
            <a:r>
              <a:rPr lang="en-US" sz="2000" dirty="0" err="1">
                <a:latin typeface="Calibri" charset="0"/>
                <a:ea typeface="Calibri" charset="0"/>
                <a:cs typeface="Calibri" charset="0"/>
              </a:rPr>
              <a:t>yönlü</a:t>
            </a:r>
            <a:r>
              <a:rPr lang="en-US" sz="2000" dirty="0">
                <a:latin typeface="Calibri" charset="0"/>
                <a:ea typeface="Calibri" charset="0"/>
                <a:cs typeface="Calibri" charset="0"/>
              </a:rPr>
              <a:t> test </a:t>
            </a:r>
            <a:r>
              <a:rPr lang="en-US" sz="2000" dirty="0" err="1">
                <a:latin typeface="Calibri" charset="0"/>
                <a:ea typeface="Calibri" charset="0"/>
                <a:cs typeface="Calibri" charset="0"/>
              </a:rPr>
              <a:t>denir</a:t>
            </a:r>
            <a:r>
              <a:rPr lang="en-US" sz="2000" dirty="0">
                <a:latin typeface="Calibri" charset="0"/>
                <a:ea typeface="Calibri" charset="0"/>
                <a:cs typeface="Calibri" charset="0"/>
              </a:rPr>
              <a:t>. </a:t>
            </a:r>
          </a:p>
        </p:txBody>
      </p:sp>
    </p:spTree>
    <p:extLst>
      <p:ext uri="{BB962C8B-B14F-4D97-AF65-F5344CB8AC3E}">
        <p14:creationId xmlns:p14="http://schemas.microsoft.com/office/powerpoint/2010/main" val="1796392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613108" y="908720"/>
            <a:ext cx="7200900" cy="582960"/>
          </a:xfrm>
        </p:spPr>
        <p:txBody>
          <a:bodyPr>
            <a:noAutofit/>
          </a:bodyPr>
          <a:lstStyle/>
          <a:p>
            <a:r>
              <a:rPr lang="tr-TR" sz="4000" b="1" dirty="0">
                <a:solidFill>
                  <a:schemeClr val="tx1"/>
                </a:solidFill>
              </a:rPr>
              <a:t>Hipotez Testleri</a:t>
            </a:r>
          </a:p>
        </p:txBody>
      </p:sp>
      <p:sp>
        <p:nvSpPr>
          <p:cNvPr id="3" name="İçerik Yer Tutucusu 2"/>
          <p:cNvSpPr>
            <a:spLocks noGrp="1"/>
          </p:cNvSpPr>
          <p:nvPr>
            <p:ph idx="1"/>
          </p:nvPr>
        </p:nvSpPr>
        <p:spPr>
          <a:xfrm>
            <a:off x="179512" y="1844824"/>
            <a:ext cx="8640960" cy="4536504"/>
          </a:xfrm>
        </p:spPr>
        <p:txBody>
          <a:bodyPr>
            <a:noAutofit/>
          </a:bodyPr>
          <a:lstStyle/>
          <a:p>
            <a:pPr algn="just">
              <a:lnSpc>
                <a:spcPct val="100000"/>
              </a:lnSpc>
              <a:spcBef>
                <a:spcPts val="0"/>
              </a:spcBef>
              <a:spcAft>
                <a:spcPts val="0"/>
              </a:spcAft>
              <a:buFont typeface="Wingdings" charset="2"/>
              <a:buChar char="v"/>
            </a:pPr>
            <a:r>
              <a:rPr lang="tr-TR" sz="2800" b="1" dirty="0">
                <a:solidFill>
                  <a:schemeClr val="tx1"/>
                </a:solidFill>
                <a:ea typeface="Calibri"/>
                <a:cs typeface="Times New Roman"/>
              </a:rPr>
              <a:t>Nokta tahmini, </a:t>
            </a:r>
            <a:r>
              <a:rPr lang="tr-TR" sz="2800" dirty="0">
                <a:solidFill>
                  <a:schemeClr val="tx1"/>
                </a:solidFill>
                <a:ea typeface="Calibri"/>
                <a:cs typeface="Times New Roman"/>
              </a:rPr>
              <a:t>bir pop. parametresini tahmin etmek için kullanılan örnek istatistiğinin değerine denir.</a:t>
            </a:r>
          </a:p>
          <a:p>
            <a:pPr algn="just">
              <a:lnSpc>
                <a:spcPct val="100000"/>
              </a:lnSpc>
              <a:spcBef>
                <a:spcPts val="0"/>
              </a:spcBef>
              <a:spcAft>
                <a:spcPts val="0"/>
              </a:spcAft>
              <a:buFont typeface="Wingdings" charset="2"/>
              <a:buChar char="v"/>
            </a:pPr>
            <a:endParaRPr lang="tr-TR" sz="2800" dirty="0">
              <a:solidFill>
                <a:schemeClr val="tx1"/>
              </a:solidFill>
              <a:ea typeface="Calibri"/>
              <a:cs typeface="Times New Roman"/>
            </a:endParaRPr>
          </a:p>
          <a:p>
            <a:pPr algn="just">
              <a:lnSpc>
                <a:spcPct val="100000"/>
              </a:lnSpc>
              <a:spcBef>
                <a:spcPts val="0"/>
              </a:spcBef>
              <a:spcAft>
                <a:spcPts val="0"/>
              </a:spcAft>
              <a:buFont typeface="Wingdings" charset="2"/>
              <a:buChar char="v"/>
            </a:pPr>
            <a:r>
              <a:rPr lang="tr-TR" sz="2800" dirty="0">
                <a:solidFill>
                  <a:schemeClr val="tx1"/>
                </a:solidFill>
                <a:ea typeface="Calibri"/>
                <a:cs typeface="Times New Roman"/>
              </a:rPr>
              <a:t>Bir parametrenin </a:t>
            </a:r>
            <a:r>
              <a:rPr lang="tr-TR" sz="2800" b="1" dirty="0">
                <a:solidFill>
                  <a:schemeClr val="tx1"/>
                </a:solidFill>
                <a:ea typeface="Calibri"/>
                <a:cs typeface="Times New Roman"/>
              </a:rPr>
              <a:t>aralık tahmini </a:t>
            </a:r>
            <a:r>
              <a:rPr lang="tr-TR" sz="2800" dirty="0">
                <a:solidFill>
                  <a:schemeClr val="tx1"/>
                </a:solidFill>
                <a:ea typeface="Calibri"/>
                <a:cs typeface="Times New Roman"/>
              </a:rPr>
              <a:t>ise, parametreyi tahmin etmek için kullanılan değerleri içeren bir aralıktır. </a:t>
            </a:r>
          </a:p>
          <a:p>
            <a:pPr lvl="1">
              <a:lnSpc>
                <a:spcPct val="100000"/>
              </a:lnSpc>
              <a:spcBef>
                <a:spcPts val="0"/>
              </a:spcBef>
              <a:spcAft>
                <a:spcPts val="0"/>
              </a:spcAft>
            </a:pPr>
            <a:r>
              <a:rPr lang="tr-TR" sz="2400" dirty="0">
                <a:solidFill>
                  <a:schemeClr val="tx1"/>
                </a:solidFill>
              </a:rPr>
              <a:t>Tahminin güven düzeyini kullanarak bir parametre için belirlenen aralığa güven aralığı denir. En çok kullanılan güven aralıkları %90, %95 ve %99’ dur.</a:t>
            </a:r>
          </a:p>
          <a:p>
            <a:pPr lvl="1">
              <a:lnSpc>
                <a:spcPct val="100000"/>
              </a:lnSpc>
              <a:spcBef>
                <a:spcPts val="0"/>
              </a:spcBef>
              <a:spcAft>
                <a:spcPts val="0"/>
              </a:spcAft>
            </a:pPr>
            <a:r>
              <a:rPr lang="tr-TR" sz="2400" dirty="0">
                <a:solidFill>
                  <a:schemeClr val="tx1"/>
                </a:solidFill>
              </a:rPr>
              <a:t>Bir parametrenin bir aralık tahminin güven düzeyi, parametreyi kapsama olasılığıdır. 1-α ile gösterilir. </a:t>
            </a:r>
            <a:endParaRPr lang="tr-TR" sz="2800" dirty="0">
              <a:solidFill>
                <a:schemeClr val="tx1"/>
              </a:solidFill>
            </a:endParaRPr>
          </a:p>
          <a:p>
            <a:pPr algn="just">
              <a:lnSpc>
                <a:spcPct val="100000"/>
              </a:lnSpc>
              <a:spcBef>
                <a:spcPts val="0"/>
              </a:spcBef>
              <a:spcAft>
                <a:spcPts val="0"/>
              </a:spcAft>
            </a:pPr>
            <a:endParaRPr lang="tr-TR" sz="2800" dirty="0">
              <a:solidFill>
                <a:schemeClr val="tx1"/>
              </a:solidFill>
              <a:ea typeface="Calibri"/>
              <a:cs typeface="Times New Roman"/>
            </a:endParaRPr>
          </a:p>
          <a:p>
            <a:pPr algn="just">
              <a:lnSpc>
                <a:spcPct val="100000"/>
              </a:lnSpc>
              <a:spcBef>
                <a:spcPts val="0"/>
              </a:spcBef>
              <a:spcAft>
                <a:spcPts val="0"/>
              </a:spcAft>
            </a:pPr>
            <a:endParaRPr lang="tr-TR" sz="2800" dirty="0">
              <a:solidFill>
                <a:schemeClr val="tx1"/>
              </a:solidFill>
              <a:ea typeface="Calibri"/>
              <a:cs typeface="Times New Roman"/>
            </a:endParaRPr>
          </a:p>
          <a:p>
            <a:pPr>
              <a:lnSpc>
                <a:spcPct val="100000"/>
              </a:lnSpc>
              <a:spcBef>
                <a:spcPts val="0"/>
              </a:spcBef>
              <a:spcAft>
                <a:spcPts val="0"/>
              </a:spcAft>
            </a:pPr>
            <a:endParaRPr lang="tr-TR" sz="2800" dirty="0">
              <a:solidFill>
                <a:schemeClr val="tx1"/>
              </a:solidFill>
            </a:endParaRPr>
          </a:p>
        </p:txBody>
      </p:sp>
    </p:spTree>
    <p:extLst>
      <p:ext uri="{BB962C8B-B14F-4D97-AF65-F5344CB8AC3E}">
        <p14:creationId xmlns:p14="http://schemas.microsoft.com/office/powerpoint/2010/main" val="936977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79512" y="332656"/>
            <a:ext cx="8748713" cy="5709603"/>
            <a:chOff x="0" y="549275"/>
            <a:chExt cx="8748713" cy="5709603"/>
          </a:xfrm>
        </p:grpSpPr>
        <p:sp>
          <p:nvSpPr>
            <p:cNvPr id="19458" name="Text Box 4"/>
            <p:cNvSpPr txBox="1">
              <a:spLocks noChangeArrowheads="1"/>
            </p:cNvSpPr>
            <p:nvPr/>
          </p:nvSpPr>
          <p:spPr bwMode="auto">
            <a:xfrm>
              <a:off x="2843213" y="549275"/>
              <a:ext cx="2879725" cy="719138"/>
            </a:xfrm>
            <a:prstGeom prst="rect">
              <a:avLst/>
            </a:prstGeom>
            <a:noFill/>
            <a:ln w="76200" cmpd="tri">
              <a:solidFill>
                <a:srgbClr val="C69416"/>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Font typeface="Arial" charset="0"/>
                <a:buChar char="•"/>
                <a:defRPr sz="3200">
                  <a:solidFill>
                    <a:schemeClr val="tx1"/>
                  </a:solidFill>
                  <a:latin typeface="Calibri" charset="0"/>
                </a:defRPr>
              </a:lvl1pPr>
              <a:lvl2pPr marL="742950" indent="-285750">
                <a:spcBef>
                  <a:spcPct val="20000"/>
                </a:spcBef>
                <a:buFont typeface="Arial" charset="0"/>
                <a:buChar char="–"/>
                <a:defRPr sz="2800">
                  <a:solidFill>
                    <a:schemeClr val="tx1"/>
                  </a:solidFill>
                  <a:latin typeface="Calibri" charset="0"/>
                </a:defRPr>
              </a:lvl2pPr>
              <a:lvl3pPr marL="1143000" indent="-228600">
                <a:spcBef>
                  <a:spcPct val="20000"/>
                </a:spcBef>
                <a:buFont typeface="Arial" charset="0"/>
                <a:buChar char="•"/>
                <a:defRPr sz="2400">
                  <a:solidFill>
                    <a:schemeClr val="tx1"/>
                  </a:solidFill>
                  <a:latin typeface="Calibri" charset="0"/>
                </a:defRPr>
              </a:lvl3pPr>
              <a:lvl4pPr marL="1600200" indent="-228600">
                <a:spcBef>
                  <a:spcPct val="20000"/>
                </a:spcBef>
                <a:buFont typeface="Arial" charset="0"/>
                <a:buChar char="–"/>
                <a:defRPr sz="2000">
                  <a:solidFill>
                    <a:schemeClr val="tx1"/>
                  </a:solidFill>
                  <a:latin typeface="Calibri" charset="0"/>
                </a:defRPr>
              </a:lvl4pPr>
              <a:lvl5pPr marL="2057400" indent="-228600">
                <a:spcBef>
                  <a:spcPct val="20000"/>
                </a:spcBef>
                <a:buFont typeface="Arial" charset="0"/>
                <a:buChar char="»"/>
                <a:defRPr sz="2000">
                  <a:solidFill>
                    <a:schemeClr val="tx1"/>
                  </a:solidFill>
                  <a:latin typeface="Calibri"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defRPr>
              </a:lvl9pPr>
            </a:lstStyle>
            <a:p>
              <a:pPr algn="ctr" eaLnBrk="1" hangingPunct="1">
                <a:spcBef>
                  <a:spcPct val="0"/>
                </a:spcBef>
                <a:buFontTx/>
                <a:buNone/>
              </a:pPr>
              <a:r>
                <a:rPr lang="tr-TR" altLang="x-none" sz="2800"/>
                <a:t>Hipotez testleri</a:t>
              </a:r>
            </a:p>
          </p:txBody>
        </p:sp>
        <p:sp>
          <p:nvSpPr>
            <p:cNvPr id="19459" name="Text Box 6"/>
            <p:cNvSpPr txBox="1">
              <a:spLocks noChangeArrowheads="1"/>
            </p:cNvSpPr>
            <p:nvPr/>
          </p:nvSpPr>
          <p:spPr bwMode="auto">
            <a:xfrm>
              <a:off x="684213" y="2168525"/>
              <a:ext cx="2879725" cy="719138"/>
            </a:xfrm>
            <a:prstGeom prst="rect">
              <a:avLst/>
            </a:prstGeom>
            <a:noFill/>
            <a:ln w="76200" cmpd="tri">
              <a:solidFill>
                <a:srgbClr val="C69416"/>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Font typeface="Arial" charset="0"/>
                <a:buChar char="•"/>
                <a:defRPr sz="3200">
                  <a:solidFill>
                    <a:schemeClr val="tx1"/>
                  </a:solidFill>
                  <a:latin typeface="Calibri" charset="0"/>
                </a:defRPr>
              </a:lvl1pPr>
              <a:lvl2pPr marL="742950" indent="-285750">
                <a:spcBef>
                  <a:spcPct val="20000"/>
                </a:spcBef>
                <a:buFont typeface="Arial" charset="0"/>
                <a:buChar char="–"/>
                <a:defRPr sz="2800">
                  <a:solidFill>
                    <a:schemeClr val="tx1"/>
                  </a:solidFill>
                  <a:latin typeface="Calibri" charset="0"/>
                </a:defRPr>
              </a:lvl2pPr>
              <a:lvl3pPr marL="1143000" indent="-228600">
                <a:spcBef>
                  <a:spcPct val="20000"/>
                </a:spcBef>
                <a:buFont typeface="Arial" charset="0"/>
                <a:buChar char="•"/>
                <a:defRPr sz="2400">
                  <a:solidFill>
                    <a:schemeClr val="tx1"/>
                  </a:solidFill>
                  <a:latin typeface="Calibri" charset="0"/>
                </a:defRPr>
              </a:lvl3pPr>
              <a:lvl4pPr marL="1600200" indent="-228600">
                <a:spcBef>
                  <a:spcPct val="20000"/>
                </a:spcBef>
                <a:buFont typeface="Arial" charset="0"/>
                <a:buChar char="–"/>
                <a:defRPr sz="2000">
                  <a:solidFill>
                    <a:schemeClr val="tx1"/>
                  </a:solidFill>
                  <a:latin typeface="Calibri" charset="0"/>
                </a:defRPr>
              </a:lvl4pPr>
              <a:lvl5pPr marL="2057400" indent="-228600">
                <a:spcBef>
                  <a:spcPct val="20000"/>
                </a:spcBef>
                <a:buFont typeface="Arial" charset="0"/>
                <a:buChar char="»"/>
                <a:defRPr sz="2000">
                  <a:solidFill>
                    <a:schemeClr val="tx1"/>
                  </a:solidFill>
                  <a:latin typeface="Calibri"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defRPr>
              </a:lvl9pPr>
            </a:lstStyle>
            <a:p>
              <a:pPr algn="ctr" eaLnBrk="1" hangingPunct="1">
                <a:spcBef>
                  <a:spcPct val="0"/>
                </a:spcBef>
                <a:buFontTx/>
                <a:buNone/>
              </a:pPr>
              <a:r>
                <a:rPr lang="tr-TR" altLang="x-none" sz="2400"/>
                <a:t>Parametrik Hipotez </a:t>
              </a:r>
            </a:p>
            <a:p>
              <a:pPr algn="ctr" eaLnBrk="1" hangingPunct="1">
                <a:spcBef>
                  <a:spcPct val="0"/>
                </a:spcBef>
                <a:buFontTx/>
                <a:buNone/>
              </a:pPr>
              <a:r>
                <a:rPr lang="tr-TR" altLang="x-none" sz="2400" dirty="0"/>
                <a:t>Testleri</a:t>
              </a:r>
            </a:p>
          </p:txBody>
        </p:sp>
        <p:sp>
          <p:nvSpPr>
            <p:cNvPr id="19460" name="Text Box 7"/>
            <p:cNvSpPr txBox="1">
              <a:spLocks noChangeArrowheads="1"/>
            </p:cNvSpPr>
            <p:nvPr/>
          </p:nvSpPr>
          <p:spPr bwMode="auto">
            <a:xfrm>
              <a:off x="5005388" y="2168525"/>
              <a:ext cx="2879725" cy="719138"/>
            </a:xfrm>
            <a:prstGeom prst="rect">
              <a:avLst/>
            </a:prstGeom>
            <a:noFill/>
            <a:ln w="76200" cmpd="tri">
              <a:solidFill>
                <a:srgbClr val="C69416"/>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Font typeface="Arial" charset="0"/>
                <a:buChar char="•"/>
                <a:defRPr sz="3200">
                  <a:solidFill>
                    <a:schemeClr val="tx1"/>
                  </a:solidFill>
                  <a:latin typeface="Calibri" charset="0"/>
                </a:defRPr>
              </a:lvl1pPr>
              <a:lvl2pPr marL="742950" indent="-285750">
                <a:spcBef>
                  <a:spcPct val="20000"/>
                </a:spcBef>
                <a:buFont typeface="Arial" charset="0"/>
                <a:buChar char="–"/>
                <a:defRPr sz="2800">
                  <a:solidFill>
                    <a:schemeClr val="tx1"/>
                  </a:solidFill>
                  <a:latin typeface="Calibri" charset="0"/>
                </a:defRPr>
              </a:lvl2pPr>
              <a:lvl3pPr marL="1143000" indent="-228600">
                <a:spcBef>
                  <a:spcPct val="20000"/>
                </a:spcBef>
                <a:buFont typeface="Arial" charset="0"/>
                <a:buChar char="•"/>
                <a:defRPr sz="2400">
                  <a:solidFill>
                    <a:schemeClr val="tx1"/>
                  </a:solidFill>
                  <a:latin typeface="Calibri" charset="0"/>
                </a:defRPr>
              </a:lvl3pPr>
              <a:lvl4pPr marL="1600200" indent="-228600">
                <a:spcBef>
                  <a:spcPct val="20000"/>
                </a:spcBef>
                <a:buFont typeface="Arial" charset="0"/>
                <a:buChar char="–"/>
                <a:defRPr sz="2000">
                  <a:solidFill>
                    <a:schemeClr val="tx1"/>
                  </a:solidFill>
                  <a:latin typeface="Calibri" charset="0"/>
                </a:defRPr>
              </a:lvl4pPr>
              <a:lvl5pPr marL="2057400" indent="-228600">
                <a:spcBef>
                  <a:spcPct val="20000"/>
                </a:spcBef>
                <a:buFont typeface="Arial" charset="0"/>
                <a:buChar char="»"/>
                <a:defRPr sz="2000">
                  <a:solidFill>
                    <a:schemeClr val="tx1"/>
                  </a:solidFill>
                  <a:latin typeface="Calibri"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defRPr>
              </a:lvl9pPr>
            </a:lstStyle>
            <a:p>
              <a:pPr algn="ctr" eaLnBrk="1" hangingPunct="1">
                <a:spcBef>
                  <a:spcPct val="0"/>
                </a:spcBef>
                <a:buFontTx/>
                <a:buNone/>
              </a:pPr>
              <a:r>
                <a:rPr lang="tr-TR" altLang="x-none" sz="2400"/>
                <a:t>Parametrik Olmayan Hipotez Testleri</a:t>
              </a:r>
            </a:p>
          </p:txBody>
        </p:sp>
        <p:sp>
          <p:nvSpPr>
            <p:cNvPr id="19461" name="Line 8"/>
            <p:cNvSpPr>
              <a:spLocks noChangeShapeType="1"/>
            </p:cNvSpPr>
            <p:nvPr/>
          </p:nvSpPr>
          <p:spPr bwMode="auto">
            <a:xfrm>
              <a:off x="4284663" y="1339850"/>
              <a:ext cx="0" cy="431800"/>
            </a:xfrm>
            <a:prstGeom prst="line">
              <a:avLst/>
            </a:prstGeom>
            <a:noFill/>
            <a:ln w="38100">
              <a:solidFill>
                <a:srgbClr val="C69416"/>
              </a:solidFill>
              <a:miter lim="800000"/>
              <a:headEnd/>
              <a:tailEnd/>
            </a:ln>
            <a:extLst>
              <a:ext uri="{909E8E84-426E-40DD-AFC4-6F175D3DCCD1}">
                <a14:hiddenFill xmlns:a14="http://schemas.microsoft.com/office/drawing/2010/main">
                  <a:noFill/>
                </a14:hiddenFill>
              </a:ext>
            </a:extLst>
          </p:spPr>
          <p:txBody>
            <a:bodyPr wrap="none"/>
            <a:lstStyle/>
            <a:p>
              <a:endParaRPr lang="en-US" sz="2000"/>
            </a:p>
          </p:txBody>
        </p:sp>
        <p:sp>
          <p:nvSpPr>
            <p:cNvPr id="19462" name="Line 9"/>
            <p:cNvSpPr>
              <a:spLocks noChangeShapeType="1"/>
            </p:cNvSpPr>
            <p:nvPr/>
          </p:nvSpPr>
          <p:spPr bwMode="auto">
            <a:xfrm>
              <a:off x="2051050" y="1773238"/>
              <a:ext cx="4465638" cy="0"/>
            </a:xfrm>
            <a:prstGeom prst="line">
              <a:avLst/>
            </a:prstGeom>
            <a:noFill/>
            <a:ln w="38100">
              <a:solidFill>
                <a:srgbClr val="C69416"/>
              </a:solidFill>
              <a:miter lim="800000"/>
              <a:headEnd/>
              <a:tailEnd/>
            </a:ln>
            <a:extLst>
              <a:ext uri="{909E8E84-426E-40DD-AFC4-6F175D3DCCD1}">
                <a14:hiddenFill xmlns:a14="http://schemas.microsoft.com/office/drawing/2010/main">
                  <a:noFill/>
                </a14:hiddenFill>
              </a:ext>
            </a:extLst>
          </p:spPr>
          <p:txBody>
            <a:bodyPr wrap="none"/>
            <a:lstStyle/>
            <a:p>
              <a:endParaRPr lang="en-US" sz="2000"/>
            </a:p>
          </p:txBody>
        </p:sp>
        <p:grpSp>
          <p:nvGrpSpPr>
            <p:cNvPr id="19463" name="Group 20"/>
            <p:cNvGrpSpPr>
              <a:grpSpLocks/>
            </p:cNvGrpSpPr>
            <p:nvPr/>
          </p:nvGrpSpPr>
          <p:grpSpPr bwMode="auto">
            <a:xfrm>
              <a:off x="2051050" y="1771650"/>
              <a:ext cx="4465638" cy="361950"/>
              <a:chOff x="1292" y="1479"/>
              <a:chExt cx="2813" cy="228"/>
            </a:xfrm>
          </p:grpSpPr>
          <p:sp>
            <p:nvSpPr>
              <p:cNvPr id="22538" name="Line 10"/>
              <p:cNvSpPr>
                <a:spLocks noChangeShapeType="1"/>
              </p:cNvSpPr>
              <p:nvPr/>
            </p:nvSpPr>
            <p:spPr bwMode="auto">
              <a:xfrm>
                <a:off x="1292" y="1480"/>
                <a:ext cx="0" cy="227"/>
              </a:xfrm>
              <a:prstGeom prst="line">
                <a:avLst/>
              </a:prstGeom>
              <a:noFill/>
              <a:ln w="38100">
                <a:solidFill>
                  <a:srgbClr val="C69416"/>
                </a:solidFill>
                <a:miter lim="800000"/>
                <a:headEnd/>
                <a:tailEnd/>
              </a:ln>
              <a:effectLst>
                <a:outerShdw blurRad="63500" dist="38099" dir="2700000" algn="ctr" rotWithShape="0">
                  <a:schemeClr val="tx1">
                    <a:alpha val="74998"/>
                  </a:schemeClr>
                </a:outerShdw>
              </a:effectLst>
              <a:extLst>
                <a:ext uri="{909E8E84-426E-40DD-AFC4-6F175D3DCCD1}">
                  <a14:hiddenFill xmlns:a14="http://schemas.microsoft.com/office/drawing/2010/main">
                    <a:noFill/>
                  </a14:hiddenFill>
                </a:ext>
              </a:extLst>
            </p:spPr>
            <p:txBody>
              <a:bodyPr wrap="none"/>
              <a:lstStyle/>
              <a:p>
                <a:endParaRPr lang="en-US" sz="2000"/>
              </a:p>
            </p:txBody>
          </p:sp>
          <p:sp>
            <p:nvSpPr>
              <p:cNvPr id="22539" name="Line 11"/>
              <p:cNvSpPr>
                <a:spLocks noChangeShapeType="1"/>
              </p:cNvSpPr>
              <p:nvPr/>
            </p:nvSpPr>
            <p:spPr bwMode="auto">
              <a:xfrm>
                <a:off x="4105" y="1479"/>
                <a:ext cx="0" cy="227"/>
              </a:xfrm>
              <a:prstGeom prst="line">
                <a:avLst/>
              </a:prstGeom>
              <a:noFill/>
              <a:ln w="38100">
                <a:solidFill>
                  <a:srgbClr val="C69416"/>
                </a:solidFill>
                <a:miter lim="800000"/>
                <a:headEnd/>
                <a:tailEnd/>
              </a:ln>
              <a:effectLst>
                <a:outerShdw blurRad="63500" dist="38099" dir="2700000" algn="ctr" rotWithShape="0">
                  <a:schemeClr val="tx1">
                    <a:alpha val="74998"/>
                  </a:schemeClr>
                </a:outerShdw>
              </a:effectLst>
              <a:extLst>
                <a:ext uri="{909E8E84-426E-40DD-AFC4-6F175D3DCCD1}">
                  <a14:hiddenFill xmlns:a14="http://schemas.microsoft.com/office/drawing/2010/main">
                    <a:noFill/>
                  </a14:hiddenFill>
                </a:ext>
              </a:extLst>
            </p:spPr>
            <p:txBody>
              <a:bodyPr wrap="none"/>
              <a:lstStyle/>
              <a:p>
                <a:endParaRPr lang="en-US" sz="2000"/>
              </a:p>
            </p:txBody>
          </p:sp>
        </p:grpSp>
        <p:sp>
          <p:nvSpPr>
            <p:cNvPr id="19464" name="Text Box 12"/>
            <p:cNvSpPr txBox="1">
              <a:spLocks noChangeArrowheads="1"/>
            </p:cNvSpPr>
            <p:nvPr/>
          </p:nvSpPr>
          <p:spPr bwMode="auto">
            <a:xfrm>
              <a:off x="2555875" y="3297238"/>
              <a:ext cx="3527425" cy="707886"/>
            </a:xfrm>
            <a:prstGeom prst="rect">
              <a:avLst/>
            </a:prstGeom>
            <a:noFill/>
            <a:ln w="76200" cmpd="tri">
              <a:solidFill>
                <a:srgbClr val="70564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charset="0"/>
                <a:buChar char="•"/>
                <a:defRPr sz="3200">
                  <a:solidFill>
                    <a:schemeClr val="tx1"/>
                  </a:solidFill>
                  <a:latin typeface="Calibri" charset="0"/>
                </a:defRPr>
              </a:lvl1pPr>
              <a:lvl2pPr marL="742950" indent="-285750">
                <a:spcBef>
                  <a:spcPct val="20000"/>
                </a:spcBef>
                <a:buFont typeface="Arial" charset="0"/>
                <a:buChar char="–"/>
                <a:defRPr sz="2800">
                  <a:solidFill>
                    <a:schemeClr val="tx1"/>
                  </a:solidFill>
                  <a:latin typeface="Calibri" charset="0"/>
                </a:defRPr>
              </a:lvl2pPr>
              <a:lvl3pPr marL="1143000" indent="-228600">
                <a:spcBef>
                  <a:spcPct val="20000"/>
                </a:spcBef>
                <a:buFont typeface="Arial" charset="0"/>
                <a:buChar char="•"/>
                <a:defRPr sz="2400">
                  <a:solidFill>
                    <a:schemeClr val="tx1"/>
                  </a:solidFill>
                  <a:latin typeface="Calibri" charset="0"/>
                </a:defRPr>
              </a:lvl3pPr>
              <a:lvl4pPr marL="1600200" indent="-228600">
                <a:spcBef>
                  <a:spcPct val="20000"/>
                </a:spcBef>
                <a:buFont typeface="Arial" charset="0"/>
                <a:buChar char="–"/>
                <a:defRPr sz="2000">
                  <a:solidFill>
                    <a:schemeClr val="tx1"/>
                  </a:solidFill>
                  <a:latin typeface="Calibri" charset="0"/>
                </a:defRPr>
              </a:lvl4pPr>
              <a:lvl5pPr marL="2057400" indent="-228600">
                <a:spcBef>
                  <a:spcPct val="20000"/>
                </a:spcBef>
                <a:buFont typeface="Arial" charset="0"/>
                <a:buChar char="»"/>
                <a:defRPr sz="2000">
                  <a:solidFill>
                    <a:schemeClr val="tx1"/>
                  </a:solidFill>
                  <a:latin typeface="Calibri"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defRPr>
              </a:lvl9pPr>
            </a:lstStyle>
            <a:p>
              <a:pPr eaLnBrk="1" hangingPunct="1">
                <a:spcBef>
                  <a:spcPct val="50000"/>
                </a:spcBef>
                <a:buSzPct val="150000"/>
                <a:buFontTx/>
                <a:buChar char="•"/>
              </a:pPr>
              <a:r>
                <a:rPr lang="tr-TR" altLang="x-none" sz="2000" b="1">
                  <a:latin typeface="Verdana" charset="0"/>
                </a:rPr>
                <a:t> Örneklem(ler) rasgele olmalıdır.</a:t>
              </a:r>
            </a:p>
          </p:txBody>
        </p:sp>
        <p:grpSp>
          <p:nvGrpSpPr>
            <p:cNvPr id="19465" name="Group 21"/>
            <p:cNvGrpSpPr>
              <a:grpSpLocks/>
            </p:cNvGrpSpPr>
            <p:nvPr/>
          </p:nvGrpSpPr>
          <p:grpSpPr bwMode="auto">
            <a:xfrm>
              <a:off x="3563938" y="2492375"/>
              <a:ext cx="1439862" cy="792163"/>
              <a:chOff x="2245" y="1933"/>
              <a:chExt cx="907" cy="499"/>
            </a:xfrm>
          </p:grpSpPr>
          <p:sp>
            <p:nvSpPr>
              <p:cNvPr id="22542" name="Line 14"/>
              <p:cNvSpPr>
                <a:spLocks noChangeShapeType="1"/>
              </p:cNvSpPr>
              <p:nvPr/>
            </p:nvSpPr>
            <p:spPr bwMode="auto">
              <a:xfrm flipV="1">
                <a:off x="2699" y="1933"/>
                <a:ext cx="0" cy="499"/>
              </a:xfrm>
              <a:prstGeom prst="line">
                <a:avLst/>
              </a:prstGeom>
              <a:noFill/>
              <a:ln w="57150">
                <a:solidFill>
                  <a:srgbClr val="705642"/>
                </a:solidFill>
                <a:miter lim="800000"/>
                <a:headEnd/>
                <a:tailEnd/>
              </a:ln>
              <a:effectLst>
                <a:outerShdw blurRad="63500" dist="38099" dir="2700000" algn="ctr" rotWithShape="0">
                  <a:schemeClr val="tx1">
                    <a:alpha val="74998"/>
                  </a:schemeClr>
                </a:outerShdw>
              </a:effectLst>
              <a:extLst>
                <a:ext uri="{909E8E84-426E-40DD-AFC4-6F175D3DCCD1}">
                  <a14:hiddenFill xmlns:a14="http://schemas.microsoft.com/office/drawing/2010/main">
                    <a:noFill/>
                  </a14:hiddenFill>
                </a:ext>
              </a:extLst>
            </p:spPr>
            <p:txBody>
              <a:bodyPr wrap="none"/>
              <a:lstStyle/>
              <a:p>
                <a:endParaRPr lang="en-US" sz="2000"/>
              </a:p>
            </p:txBody>
          </p:sp>
          <p:sp>
            <p:nvSpPr>
              <p:cNvPr id="22543" name="Line 15"/>
              <p:cNvSpPr>
                <a:spLocks noChangeShapeType="1"/>
              </p:cNvSpPr>
              <p:nvPr/>
            </p:nvSpPr>
            <p:spPr bwMode="auto">
              <a:xfrm>
                <a:off x="2245" y="1933"/>
                <a:ext cx="907" cy="0"/>
              </a:xfrm>
              <a:prstGeom prst="line">
                <a:avLst/>
              </a:prstGeom>
              <a:noFill/>
              <a:ln w="38100">
                <a:solidFill>
                  <a:srgbClr val="705642"/>
                </a:solidFill>
                <a:miter lim="800000"/>
                <a:headEnd/>
                <a:tailEnd/>
              </a:ln>
              <a:effectLst>
                <a:outerShdw blurRad="63500" dist="38099" dir="2700000" algn="ctr" rotWithShape="0">
                  <a:schemeClr val="tx1">
                    <a:alpha val="74998"/>
                  </a:schemeClr>
                </a:outerShdw>
              </a:effectLst>
              <a:extLst>
                <a:ext uri="{909E8E84-426E-40DD-AFC4-6F175D3DCCD1}">
                  <a14:hiddenFill xmlns:a14="http://schemas.microsoft.com/office/drawing/2010/main">
                    <a:noFill/>
                  </a14:hiddenFill>
                </a:ext>
              </a:extLst>
            </p:spPr>
            <p:txBody>
              <a:bodyPr wrap="none"/>
              <a:lstStyle/>
              <a:p>
                <a:endParaRPr lang="en-US" sz="2000"/>
              </a:p>
            </p:txBody>
          </p:sp>
        </p:grpSp>
        <p:sp>
          <p:nvSpPr>
            <p:cNvPr id="19466" name="Text Box 16"/>
            <p:cNvSpPr txBox="1">
              <a:spLocks noChangeArrowheads="1"/>
            </p:cNvSpPr>
            <p:nvPr/>
          </p:nvSpPr>
          <p:spPr bwMode="auto">
            <a:xfrm>
              <a:off x="0" y="4903788"/>
              <a:ext cx="4140200" cy="1169551"/>
            </a:xfrm>
            <a:prstGeom prst="rect">
              <a:avLst/>
            </a:prstGeom>
            <a:noFill/>
            <a:ln w="76200" cmpd="tri">
              <a:solidFill>
                <a:srgbClr val="70564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charset="0"/>
                <a:buChar char="•"/>
                <a:defRPr sz="3200">
                  <a:solidFill>
                    <a:schemeClr val="tx1"/>
                  </a:solidFill>
                  <a:latin typeface="Calibri" charset="0"/>
                </a:defRPr>
              </a:lvl1pPr>
              <a:lvl2pPr marL="742950" indent="-285750">
                <a:spcBef>
                  <a:spcPct val="20000"/>
                </a:spcBef>
                <a:buFont typeface="Arial" charset="0"/>
                <a:buChar char="–"/>
                <a:defRPr sz="2800">
                  <a:solidFill>
                    <a:schemeClr val="tx1"/>
                  </a:solidFill>
                  <a:latin typeface="Calibri" charset="0"/>
                </a:defRPr>
              </a:lvl2pPr>
              <a:lvl3pPr marL="1143000" indent="-228600">
                <a:spcBef>
                  <a:spcPct val="20000"/>
                </a:spcBef>
                <a:buFont typeface="Arial" charset="0"/>
                <a:buChar char="•"/>
                <a:defRPr sz="2400">
                  <a:solidFill>
                    <a:schemeClr val="tx1"/>
                  </a:solidFill>
                  <a:latin typeface="Calibri" charset="0"/>
                </a:defRPr>
              </a:lvl3pPr>
              <a:lvl4pPr marL="1600200" indent="-228600">
                <a:spcBef>
                  <a:spcPct val="20000"/>
                </a:spcBef>
                <a:buFont typeface="Arial" charset="0"/>
                <a:buChar char="–"/>
                <a:defRPr sz="2000">
                  <a:solidFill>
                    <a:schemeClr val="tx1"/>
                  </a:solidFill>
                  <a:latin typeface="Calibri" charset="0"/>
                </a:defRPr>
              </a:lvl4pPr>
              <a:lvl5pPr marL="2057400" indent="-228600">
                <a:spcBef>
                  <a:spcPct val="20000"/>
                </a:spcBef>
                <a:buFont typeface="Arial" charset="0"/>
                <a:buChar char="»"/>
                <a:defRPr sz="2000">
                  <a:solidFill>
                    <a:schemeClr val="tx1"/>
                  </a:solidFill>
                  <a:latin typeface="Calibri"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defRPr>
              </a:lvl9pPr>
            </a:lstStyle>
            <a:p>
              <a:pPr eaLnBrk="1" hangingPunct="1">
                <a:spcBef>
                  <a:spcPct val="50000"/>
                </a:spcBef>
                <a:buSzPct val="150000"/>
                <a:buFontTx/>
                <a:buChar char="•"/>
              </a:pPr>
              <a:r>
                <a:rPr lang="tr-TR" altLang="x-none" sz="2000" b="1">
                  <a:latin typeface="Verdana" charset="0"/>
                </a:rPr>
                <a:t> Kitle normal dağılmalıdır.</a:t>
              </a:r>
            </a:p>
            <a:p>
              <a:pPr eaLnBrk="1" hangingPunct="1">
                <a:spcBef>
                  <a:spcPct val="50000"/>
                </a:spcBef>
                <a:buSzPct val="150000"/>
                <a:buFontTx/>
                <a:buChar char="•"/>
              </a:pPr>
              <a:r>
                <a:rPr lang="tr-TR" altLang="x-none" sz="2000" b="1">
                  <a:latin typeface="Verdana" charset="0"/>
                </a:rPr>
                <a:t>Denek sayısı 30’ dan büyük olmalıdır.</a:t>
              </a:r>
            </a:p>
          </p:txBody>
        </p:sp>
        <p:sp>
          <p:nvSpPr>
            <p:cNvPr id="19467" name="Line 17"/>
            <p:cNvSpPr>
              <a:spLocks noChangeShapeType="1"/>
            </p:cNvSpPr>
            <p:nvPr/>
          </p:nvSpPr>
          <p:spPr bwMode="auto">
            <a:xfrm flipH="1" flipV="1">
              <a:off x="2051050" y="2924175"/>
              <a:ext cx="0" cy="1944688"/>
            </a:xfrm>
            <a:prstGeom prst="line">
              <a:avLst/>
            </a:prstGeom>
            <a:noFill/>
            <a:ln w="57150">
              <a:solidFill>
                <a:srgbClr val="705642"/>
              </a:solidFill>
              <a:miter lim="800000"/>
              <a:headEnd/>
              <a:tailEnd/>
            </a:ln>
            <a:extLst>
              <a:ext uri="{909E8E84-426E-40DD-AFC4-6F175D3DCCD1}">
                <a14:hiddenFill xmlns:a14="http://schemas.microsoft.com/office/drawing/2010/main">
                  <a:noFill/>
                </a14:hiddenFill>
              </a:ext>
            </a:extLst>
          </p:spPr>
          <p:txBody>
            <a:bodyPr wrap="none"/>
            <a:lstStyle/>
            <a:p>
              <a:endParaRPr lang="en-US" sz="2000"/>
            </a:p>
          </p:txBody>
        </p:sp>
        <p:sp>
          <p:nvSpPr>
            <p:cNvPr id="19468" name="Text Box 18"/>
            <p:cNvSpPr txBox="1">
              <a:spLocks noChangeArrowheads="1"/>
            </p:cNvSpPr>
            <p:nvPr/>
          </p:nvSpPr>
          <p:spPr bwMode="auto">
            <a:xfrm>
              <a:off x="4789488" y="4781550"/>
              <a:ext cx="3959225" cy="1477328"/>
            </a:xfrm>
            <a:prstGeom prst="rect">
              <a:avLst/>
            </a:prstGeom>
            <a:noFill/>
            <a:ln w="76200" cmpd="tri">
              <a:solidFill>
                <a:srgbClr val="70564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charset="0"/>
                <a:buChar char="•"/>
                <a:defRPr sz="3200">
                  <a:solidFill>
                    <a:schemeClr val="tx1"/>
                  </a:solidFill>
                  <a:latin typeface="Calibri" charset="0"/>
                </a:defRPr>
              </a:lvl1pPr>
              <a:lvl2pPr marL="742950" indent="-285750">
                <a:spcBef>
                  <a:spcPct val="20000"/>
                </a:spcBef>
                <a:buFont typeface="Arial" charset="0"/>
                <a:buChar char="–"/>
                <a:defRPr sz="2800">
                  <a:solidFill>
                    <a:schemeClr val="tx1"/>
                  </a:solidFill>
                  <a:latin typeface="Calibri" charset="0"/>
                </a:defRPr>
              </a:lvl2pPr>
              <a:lvl3pPr marL="1143000" indent="-228600">
                <a:spcBef>
                  <a:spcPct val="20000"/>
                </a:spcBef>
                <a:buFont typeface="Arial" charset="0"/>
                <a:buChar char="•"/>
                <a:defRPr sz="2400">
                  <a:solidFill>
                    <a:schemeClr val="tx1"/>
                  </a:solidFill>
                  <a:latin typeface="Calibri" charset="0"/>
                </a:defRPr>
              </a:lvl3pPr>
              <a:lvl4pPr marL="1600200" indent="-228600">
                <a:spcBef>
                  <a:spcPct val="20000"/>
                </a:spcBef>
                <a:buFont typeface="Arial" charset="0"/>
                <a:buChar char="–"/>
                <a:defRPr sz="2000">
                  <a:solidFill>
                    <a:schemeClr val="tx1"/>
                  </a:solidFill>
                  <a:latin typeface="Calibri" charset="0"/>
                </a:defRPr>
              </a:lvl4pPr>
              <a:lvl5pPr marL="2057400" indent="-228600">
                <a:spcBef>
                  <a:spcPct val="20000"/>
                </a:spcBef>
                <a:buFont typeface="Arial" charset="0"/>
                <a:buChar char="»"/>
                <a:defRPr sz="2000">
                  <a:solidFill>
                    <a:schemeClr val="tx1"/>
                  </a:solidFill>
                  <a:latin typeface="Calibri"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defRPr>
              </a:lvl9pPr>
            </a:lstStyle>
            <a:p>
              <a:pPr eaLnBrk="1" hangingPunct="1">
                <a:spcBef>
                  <a:spcPct val="50000"/>
                </a:spcBef>
                <a:buSzPct val="150000"/>
                <a:buFontTx/>
                <a:buChar char="•"/>
              </a:pPr>
              <a:r>
                <a:rPr lang="tr-TR" altLang="x-none" sz="2000" b="1">
                  <a:latin typeface="Verdana" charset="0"/>
                </a:rPr>
                <a:t> Kitlenin  normal dağılması gerekmez.</a:t>
              </a:r>
            </a:p>
            <a:p>
              <a:pPr eaLnBrk="1" hangingPunct="1">
                <a:spcBef>
                  <a:spcPct val="50000"/>
                </a:spcBef>
                <a:buSzPct val="150000"/>
                <a:buFontTx/>
                <a:buChar char="•"/>
              </a:pPr>
              <a:r>
                <a:rPr lang="tr-TR" altLang="x-none" sz="2000" b="1">
                  <a:latin typeface="Verdana" charset="0"/>
                </a:rPr>
                <a:t> Denek sayısı kısıtlaması yoktur.</a:t>
              </a:r>
            </a:p>
          </p:txBody>
        </p:sp>
        <p:sp>
          <p:nvSpPr>
            <p:cNvPr id="19469" name="Line 19"/>
            <p:cNvSpPr>
              <a:spLocks noChangeShapeType="1"/>
            </p:cNvSpPr>
            <p:nvPr/>
          </p:nvSpPr>
          <p:spPr bwMode="auto">
            <a:xfrm flipV="1">
              <a:off x="6516688" y="2924175"/>
              <a:ext cx="0" cy="1800225"/>
            </a:xfrm>
            <a:prstGeom prst="line">
              <a:avLst/>
            </a:prstGeom>
            <a:noFill/>
            <a:ln w="57150">
              <a:solidFill>
                <a:srgbClr val="705642"/>
              </a:solidFill>
              <a:miter lim="800000"/>
              <a:headEnd/>
              <a:tailEnd/>
            </a:ln>
            <a:extLst>
              <a:ext uri="{909E8E84-426E-40DD-AFC4-6F175D3DCCD1}">
                <a14:hiddenFill xmlns:a14="http://schemas.microsoft.com/office/drawing/2010/main">
                  <a:noFill/>
                </a14:hiddenFill>
              </a:ext>
            </a:extLst>
          </p:spPr>
          <p:txBody>
            <a:bodyPr wrap="none"/>
            <a:lstStyle/>
            <a:p>
              <a:endParaRPr lang="en-US" sz="2000"/>
            </a:p>
          </p:txBody>
        </p:sp>
      </p:grpSp>
      <p:sp>
        <p:nvSpPr>
          <p:cNvPr id="19470" name="17 Slayt Numarası Yer Tutucusu"/>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charset="0"/>
              </a:defRPr>
            </a:lvl1pPr>
            <a:lvl2pPr marL="742950" indent="-285750">
              <a:spcBef>
                <a:spcPct val="20000"/>
              </a:spcBef>
              <a:buFont typeface="Arial" charset="0"/>
              <a:buChar char="–"/>
              <a:defRPr sz="2800">
                <a:solidFill>
                  <a:schemeClr val="tx1"/>
                </a:solidFill>
                <a:latin typeface="Calibri" charset="0"/>
              </a:defRPr>
            </a:lvl2pPr>
            <a:lvl3pPr marL="1143000" indent="-228600">
              <a:spcBef>
                <a:spcPct val="20000"/>
              </a:spcBef>
              <a:buFont typeface="Arial" charset="0"/>
              <a:buChar char="•"/>
              <a:defRPr sz="2400">
                <a:solidFill>
                  <a:schemeClr val="tx1"/>
                </a:solidFill>
                <a:latin typeface="Calibri" charset="0"/>
              </a:defRPr>
            </a:lvl3pPr>
            <a:lvl4pPr marL="1600200" indent="-228600">
              <a:spcBef>
                <a:spcPct val="20000"/>
              </a:spcBef>
              <a:buFont typeface="Arial" charset="0"/>
              <a:buChar char="–"/>
              <a:defRPr sz="2000">
                <a:solidFill>
                  <a:schemeClr val="tx1"/>
                </a:solidFill>
                <a:latin typeface="Calibri" charset="0"/>
              </a:defRPr>
            </a:lvl4pPr>
            <a:lvl5pPr marL="2057400" indent="-228600">
              <a:spcBef>
                <a:spcPct val="20000"/>
              </a:spcBef>
              <a:buFont typeface="Arial" charset="0"/>
              <a:buChar char="»"/>
              <a:defRPr sz="2000">
                <a:solidFill>
                  <a:schemeClr val="tx1"/>
                </a:solidFill>
                <a:latin typeface="Calibri"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defRPr>
            </a:lvl9pPr>
          </a:lstStyle>
          <a:p>
            <a:pPr>
              <a:spcBef>
                <a:spcPct val="0"/>
              </a:spcBef>
              <a:buFontTx/>
              <a:buNone/>
            </a:pPr>
            <a:fld id="{6A0AA334-0AD9-0748-B9E2-C6C5918E2CFD}" type="slidenum">
              <a:rPr lang="tr-TR" altLang="x-none" sz="1200">
                <a:solidFill>
                  <a:srgbClr val="898989"/>
                </a:solidFill>
              </a:rPr>
              <a:pPr>
                <a:spcBef>
                  <a:spcPct val="0"/>
                </a:spcBef>
                <a:buFontTx/>
                <a:buNone/>
              </a:pPr>
              <a:t>19</a:t>
            </a:fld>
            <a:endParaRPr lang="tr-TR" altLang="x-none" sz="1200">
              <a:solidFill>
                <a:srgbClr val="898989"/>
              </a:solidFill>
            </a:endParaRPr>
          </a:p>
        </p:txBody>
      </p:sp>
    </p:spTree>
    <p:extLst>
      <p:ext uri="{BB962C8B-B14F-4D97-AF65-F5344CB8AC3E}">
        <p14:creationId xmlns:p14="http://schemas.microsoft.com/office/powerpoint/2010/main" val="668827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251520" y="836712"/>
            <a:ext cx="8424936" cy="582960"/>
          </a:xfrm>
        </p:spPr>
        <p:txBody>
          <a:bodyPr>
            <a:noAutofit/>
          </a:bodyPr>
          <a:lstStyle/>
          <a:p>
            <a:r>
              <a:rPr lang="tr-TR" sz="4000" b="1" kern="0" dirty="0">
                <a:solidFill>
                  <a:schemeClr val="tx1"/>
                </a:solidFill>
              </a:rPr>
              <a:t>Testin Seçimini Etkileyen Faktörler</a:t>
            </a:r>
            <a:endParaRPr lang="tr-TR" sz="4000" dirty="0">
              <a:solidFill>
                <a:schemeClr val="tx1"/>
              </a:solidFill>
            </a:endParaRPr>
          </a:p>
        </p:txBody>
      </p:sp>
      <p:sp>
        <p:nvSpPr>
          <p:cNvPr id="3" name="İçerik Yer Tutucusu 2"/>
          <p:cNvSpPr>
            <a:spLocks noGrp="1"/>
          </p:cNvSpPr>
          <p:nvPr>
            <p:ph idx="1"/>
          </p:nvPr>
        </p:nvSpPr>
        <p:spPr>
          <a:xfrm>
            <a:off x="251520" y="1916832"/>
            <a:ext cx="8784976" cy="4176464"/>
          </a:xfrm>
        </p:spPr>
        <p:txBody>
          <a:bodyPr>
            <a:noAutofit/>
          </a:bodyPr>
          <a:lstStyle/>
          <a:p>
            <a:pPr marL="0" lvl="0" indent="0" algn="just" fontAlgn="base">
              <a:lnSpc>
                <a:spcPct val="100000"/>
              </a:lnSpc>
              <a:spcBef>
                <a:spcPts val="0"/>
              </a:spcBef>
              <a:spcAft>
                <a:spcPts val="0"/>
              </a:spcAft>
              <a:buNone/>
            </a:pPr>
            <a:r>
              <a:rPr lang="tr-TR" sz="2200" kern="0" dirty="0">
                <a:solidFill>
                  <a:schemeClr val="tx1"/>
                </a:solidFill>
              </a:rPr>
              <a:t>Testlerinin uygulanmasında en önemli adım, uygulanacak testin doğru seçilmesidir. Uygun testin seçimini etkileyen faktörler:</a:t>
            </a:r>
          </a:p>
          <a:p>
            <a:pPr lvl="0" algn="just" fontAlgn="base">
              <a:lnSpc>
                <a:spcPct val="100000"/>
              </a:lnSpc>
              <a:spcBef>
                <a:spcPts val="0"/>
              </a:spcBef>
              <a:spcAft>
                <a:spcPts val="0"/>
              </a:spcAft>
              <a:buFont typeface="Wingdings" charset="2"/>
              <a:buChar char="Ø"/>
            </a:pPr>
            <a:endParaRPr lang="tr-TR" sz="2200" kern="0" dirty="0">
              <a:solidFill>
                <a:schemeClr val="tx1"/>
              </a:solidFill>
            </a:endParaRPr>
          </a:p>
          <a:p>
            <a:pPr algn="just" fontAlgn="base">
              <a:lnSpc>
                <a:spcPct val="100000"/>
              </a:lnSpc>
              <a:spcBef>
                <a:spcPts val="0"/>
              </a:spcBef>
              <a:spcAft>
                <a:spcPts val="0"/>
              </a:spcAft>
              <a:buFont typeface="Wingdings" charset="2"/>
              <a:buChar char="Ø"/>
            </a:pPr>
            <a:r>
              <a:rPr lang="tr-TR" sz="2200" b="1" u="sng" kern="0" dirty="0">
                <a:solidFill>
                  <a:schemeClr val="tx1"/>
                </a:solidFill>
              </a:rPr>
              <a:t>Değişkenin ölçme düzeyi</a:t>
            </a:r>
            <a:r>
              <a:rPr lang="tr-TR" sz="2200" kern="0" dirty="0">
                <a:solidFill>
                  <a:schemeClr val="tx1"/>
                </a:solidFill>
              </a:rPr>
              <a:t>: Kategorik (</a:t>
            </a:r>
            <a:r>
              <a:rPr lang="tr-TR" sz="2200" kern="0" dirty="0" err="1">
                <a:solidFill>
                  <a:schemeClr val="tx1"/>
                </a:solidFill>
              </a:rPr>
              <a:t>isimsel</a:t>
            </a:r>
            <a:r>
              <a:rPr lang="tr-TR" sz="2200" kern="0" dirty="0">
                <a:solidFill>
                  <a:schemeClr val="tx1"/>
                </a:solidFill>
              </a:rPr>
              <a:t> veya sınıflamalı, sıralı) ve sayısal (aralıklı ve oranlı) veriler için farklı analizler yapılır. Veriler kategorik ise parametrik olmayan testler, sayısal verilere ise parametrik testler yapılır.</a:t>
            </a:r>
          </a:p>
          <a:p>
            <a:pPr algn="just" fontAlgn="base">
              <a:lnSpc>
                <a:spcPct val="100000"/>
              </a:lnSpc>
              <a:spcBef>
                <a:spcPts val="0"/>
              </a:spcBef>
              <a:spcAft>
                <a:spcPts val="0"/>
              </a:spcAft>
              <a:buFont typeface="Wingdings" charset="2"/>
              <a:buChar char="Ø"/>
            </a:pPr>
            <a:r>
              <a:rPr lang="tr-TR" sz="2200" b="1" u="sng" kern="0" dirty="0">
                <a:solidFill>
                  <a:schemeClr val="tx1"/>
                </a:solidFill>
              </a:rPr>
              <a:t>Grup sayısı:</a:t>
            </a:r>
            <a:r>
              <a:rPr lang="tr-TR" sz="2200" b="1" kern="0" dirty="0">
                <a:solidFill>
                  <a:schemeClr val="tx1"/>
                </a:solidFill>
              </a:rPr>
              <a:t> </a:t>
            </a:r>
            <a:r>
              <a:rPr lang="tr-TR" sz="2200" kern="0" dirty="0">
                <a:solidFill>
                  <a:schemeClr val="tx1"/>
                </a:solidFill>
              </a:rPr>
              <a:t>Test edilecek veriler; bir, iki veya ikiden fazla gruba ayrılmış olabilir. Grup sayısı uygulanacak testin seçimini etkiler.</a:t>
            </a:r>
          </a:p>
          <a:p>
            <a:pPr lvl="0" algn="just" fontAlgn="base">
              <a:lnSpc>
                <a:spcPct val="100000"/>
              </a:lnSpc>
              <a:spcBef>
                <a:spcPts val="0"/>
              </a:spcBef>
              <a:spcAft>
                <a:spcPts val="0"/>
              </a:spcAft>
              <a:buFont typeface="Wingdings" charset="2"/>
              <a:buChar char="Ø"/>
            </a:pPr>
            <a:r>
              <a:rPr lang="tr-TR" sz="2200" b="1" u="sng" kern="0" dirty="0">
                <a:solidFill>
                  <a:schemeClr val="tx1"/>
                </a:solidFill>
              </a:rPr>
              <a:t>Örneklem büyüklüğü:</a:t>
            </a:r>
            <a:r>
              <a:rPr lang="tr-TR" sz="2200" b="1" kern="0" dirty="0">
                <a:solidFill>
                  <a:schemeClr val="tx1"/>
                </a:solidFill>
              </a:rPr>
              <a:t> </a:t>
            </a:r>
            <a:r>
              <a:rPr lang="tr-TR" sz="2200" kern="0" dirty="0">
                <a:solidFill>
                  <a:schemeClr val="tx1"/>
                </a:solidFill>
              </a:rPr>
              <a:t>Gruplardaki gözlem sayısı hem uygulanacak testin seçimini hem de elde edilen test sonucunun güvenirliğini etkiler. Bazı testlerin uygulanabilmesi için gruplarda belli sayıda veri bulunması gerekir. </a:t>
            </a:r>
          </a:p>
          <a:p>
            <a:pPr lvl="0" algn="just" fontAlgn="base">
              <a:lnSpc>
                <a:spcPct val="100000"/>
              </a:lnSpc>
              <a:spcBef>
                <a:spcPts val="0"/>
              </a:spcBef>
              <a:spcAft>
                <a:spcPts val="0"/>
              </a:spcAft>
              <a:buFont typeface="Wingdings" charset="2"/>
              <a:buChar char="Ø"/>
            </a:pPr>
            <a:endParaRPr lang="tr-TR" sz="2200" kern="0" dirty="0">
              <a:solidFill>
                <a:schemeClr val="tx1"/>
              </a:solidFill>
              <a:cs typeface="Times New Roman" panose="02020603050405020304" pitchFamily="18" charset="0"/>
            </a:endParaRPr>
          </a:p>
          <a:p>
            <a:pPr lvl="0" algn="just" fontAlgn="base">
              <a:lnSpc>
                <a:spcPct val="100000"/>
              </a:lnSpc>
              <a:spcBef>
                <a:spcPts val="0"/>
              </a:spcBef>
              <a:spcAft>
                <a:spcPts val="0"/>
              </a:spcAft>
              <a:buFont typeface="Wingdings" charset="2"/>
              <a:buChar char="Ø"/>
            </a:pPr>
            <a:endParaRPr lang="tr-TR" sz="2200" kern="0" dirty="0">
              <a:solidFill>
                <a:schemeClr val="tx1"/>
              </a:solidFill>
            </a:endParaRPr>
          </a:p>
          <a:p>
            <a:pPr lvl="0" algn="just" fontAlgn="base">
              <a:lnSpc>
                <a:spcPct val="100000"/>
              </a:lnSpc>
              <a:spcBef>
                <a:spcPts val="0"/>
              </a:spcBef>
              <a:spcAft>
                <a:spcPts val="0"/>
              </a:spcAft>
              <a:buFont typeface="Wingdings" charset="2"/>
              <a:buChar char="Ø"/>
            </a:pPr>
            <a:endParaRPr lang="tr-TR" sz="2200" kern="0" dirty="0">
              <a:solidFill>
                <a:schemeClr val="tx1"/>
              </a:solidFill>
            </a:endParaRPr>
          </a:p>
          <a:p>
            <a:pPr>
              <a:lnSpc>
                <a:spcPct val="100000"/>
              </a:lnSpc>
              <a:spcBef>
                <a:spcPts val="0"/>
              </a:spcBef>
              <a:spcAft>
                <a:spcPts val="0"/>
              </a:spcAft>
              <a:buFont typeface="Wingdings" charset="2"/>
              <a:buChar char="Ø"/>
            </a:pPr>
            <a:endParaRPr lang="tr-TR" sz="2200" dirty="0">
              <a:solidFill>
                <a:schemeClr val="tx1"/>
              </a:solidFill>
            </a:endParaRPr>
          </a:p>
        </p:txBody>
      </p:sp>
    </p:spTree>
    <p:extLst>
      <p:ext uri="{BB962C8B-B14F-4D97-AF65-F5344CB8AC3E}">
        <p14:creationId xmlns:p14="http://schemas.microsoft.com/office/powerpoint/2010/main" val="755578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fontAlgn="base">
              <a:lnSpc>
                <a:spcPct val="100000"/>
              </a:lnSpc>
              <a:spcBef>
                <a:spcPts val="0"/>
              </a:spcBef>
              <a:spcAft>
                <a:spcPts val="0"/>
              </a:spcAft>
              <a:buFont typeface="Wingdings" charset="2"/>
              <a:buChar char="Ø"/>
            </a:pPr>
            <a:r>
              <a:rPr lang="tr-TR" sz="2400" b="1" u="sng" kern="0" dirty="0">
                <a:solidFill>
                  <a:schemeClr val="tx1"/>
                </a:solidFill>
                <a:cs typeface="Times New Roman" panose="02020603050405020304" pitchFamily="18" charset="0"/>
              </a:rPr>
              <a:t>Gruplarda bağımsızlık durumu:</a:t>
            </a:r>
            <a:r>
              <a:rPr lang="tr-TR" sz="2400" b="1" kern="0" dirty="0">
                <a:solidFill>
                  <a:schemeClr val="tx1"/>
                </a:solidFill>
                <a:cs typeface="Times New Roman" panose="02020603050405020304" pitchFamily="18" charset="0"/>
              </a:rPr>
              <a:t> </a:t>
            </a:r>
            <a:r>
              <a:rPr lang="tr-TR" sz="2400" kern="0" dirty="0">
                <a:solidFill>
                  <a:schemeClr val="tx1"/>
                </a:solidFill>
                <a:cs typeface="Times New Roman" panose="02020603050405020304" pitchFamily="18" charset="0"/>
              </a:rPr>
              <a:t>Grupların ayrı ayrı bireylerden oluşması ve bir deneğin seçiminin diğeri ile bağlantılı olmaması durumunda gruplar bağımsızdır.  Aynı bireyler üzerinde gözlemlerin tekrarlanması ya da bireylerin tek tek birbirinin eşi olarak seçildiği durumlarda ise gruplar bağımlıdır.</a:t>
            </a:r>
          </a:p>
          <a:p>
            <a:pPr algn="just" fontAlgn="base">
              <a:lnSpc>
                <a:spcPct val="100000"/>
              </a:lnSpc>
              <a:spcBef>
                <a:spcPts val="0"/>
              </a:spcBef>
              <a:spcAft>
                <a:spcPts val="0"/>
              </a:spcAft>
              <a:buFont typeface="Wingdings" charset="2"/>
              <a:buChar char="Ø"/>
            </a:pPr>
            <a:endParaRPr lang="tr-TR" sz="2400" kern="0" dirty="0">
              <a:solidFill>
                <a:schemeClr val="tx1"/>
              </a:solidFill>
              <a:cs typeface="Times New Roman" panose="02020603050405020304" pitchFamily="18" charset="0"/>
            </a:endParaRPr>
          </a:p>
          <a:p>
            <a:pPr algn="just" fontAlgn="base">
              <a:lnSpc>
                <a:spcPct val="100000"/>
              </a:lnSpc>
              <a:spcBef>
                <a:spcPts val="0"/>
              </a:spcBef>
              <a:spcAft>
                <a:spcPts val="0"/>
              </a:spcAft>
              <a:buFont typeface="Wingdings" charset="2"/>
              <a:buChar char="Ø"/>
            </a:pPr>
            <a:r>
              <a:rPr lang="tr-TR" sz="2400" b="1" u="sng" kern="0" dirty="0">
                <a:solidFill>
                  <a:schemeClr val="tx1"/>
                </a:solidFill>
                <a:cs typeface="Times New Roman" panose="02020603050405020304" pitchFamily="18" charset="0"/>
              </a:rPr>
              <a:t>Örneklemin alındığı popülasyonun dağılımı:</a:t>
            </a:r>
            <a:r>
              <a:rPr lang="tr-TR" sz="2400" b="1" kern="0" dirty="0">
                <a:solidFill>
                  <a:schemeClr val="tx1"/>
                </a:solidFill>
                <a:cs typeface="Times New Roman" panose="02020603050405020304" pitchFamily="18" charset="0"/>
              </a:rPr>
              <a:t> </a:t>
            </a:r>
            <a:r>
              <a:rPr lang="tr-TR" sz="2400" dirty="0">
                <a:solidFill>
                  <a:schemeClr val="tx1"/>
                </a:solidFill>
                <a:cs typeface="Times New Roman" panose="02020603050405020304" pitchFamily="18" charset="0"/>
              </a:rPr>
              <a:t>Popülasyonun ilgilenen değişken bakımından dağılımının normal dağılıma uygunluğu kullanılacak istatistik analiz yönteminin  önemli belirleyicilerindendir. </a:t>
            </a:r>
          </a:p>
          <a:p>
            <a:pPr>
              <a:buFont typeface="Wingdings" charset="2"/>
              <a:buChar char="Ø"/>
            </a:pPr>
            <a:endParaRPr lang="en-US" sz="2400" dirty="0"/>
          </a:p>
        </p:txBody>
      </p:sp>
    </p:spTree>
    <p:extLst>
      <p:ext uri="{BB962C8B-B14F-4D97-AF65-F5344CB8AC3E}">
        <p14:creationId xmlns:p14="http://schemas.microsoft.com/office/powerpoint/2010/main" val="30850407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2065</TotalTime>
  <Words>1514</Words>
  <Application>Microsoft Macintosh PowerPoint</Application>
  <PresentationFormat>On-screen Show (4:3)</PresentationFormat>
  <Paragraphs>156</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Helvetica</vt:lpstr>
      <vt:lpstr>Times New Roman</vt:lpstr>
      <vt:lpstr>Verdana</vt:lpstr>
      <vt:lpstr>Wingdings</vt:lpstr>
      <vt:lpstr>Retrospect</vt:lpstr>
      <vt:lpstr>ÇIKARIMSAL İSTATİSTİK</vt:lpstr>
      <vt:lpstr>Çıkarımsal İstatistik</vt:lpstr>
      <vt:lpstr>Kestirim Yaparken…</vt:lpstr>
      <vt:lpstr>Çıkarımsal İstatistiksel Yöntemlerin Kullanımları</vt:lpstr>
      <vt:lpstr>Hipotez  Testi</vt:lpstr>
      <vt:lpstr>Hipotezler</vt:lpstr>
      <vt:lpstr>Sıfır ve Alternatif Hipotezlerin Belirlenmesi</vt:lpstr>
      <vt:lpstr>PowerPoint Presentation</vt:lpstr>
      <vt:lpstr>Hatalar…</vt:lpstr>
      <vt:lpstr>Örnekle Tartışalım</vt:lpstr>
      <vt:lpstr>PowerPoint Presentation</vt:lpstr>
      <vt:lpstr>Anlamlılık –Risk Düzeyi</vt:lpstr>
      <vt:lpstr>Anlamlılık-Risk Düzeyi</vt:lpstr>
      <vt:lpstr>“” Sınırı yani Tip 1 Hata: Sıfır Hipotezi Gerçekte Doğru iken onu reddetme Olasılığı</vt:lpstr>
      <vt:lpstr>Kıyaslama ve Karar</vt:lpstr>
      <vt:lpstr>Hipotez Testinin Yönünü Belirlemek</vt:lpstr>
      <vt:lpstr>PowerPoint Presentation</vt:lpstr>
      <vt:lpstr>Hipotez Testleri</vt:lpstr>
      <vt:lpstr>PowerPoint Presentation</vt:lpstr>
      <vt:lpstr>Testin Seçimini Etkileyen Faktörler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Aralık Tahmin ve Hipotez Testleri</dc:title>
  <dc:creator>istatistik-2</dc:creator>
  <cp:lastModifiedBy>Reviewer</cp:lastModifiedBy>
  <cp:revision>200</cp:revision>
  <cp:lastPrinted>2022-11-07T06:57:00Z</cp:lastPrinted>
  <dcterms:created xsi:type="dcterms:W3CDTF">2016-01-25T08:33:35Z</dcterms:created>
  <dcterms:modified xsi:type="dcterms:W3CDTF">2024-04-04T20:46:08Z</dcterms:modified>
</cp:coreProperties>
</file>