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 id="2147483687" r:id="rId3"/>
    <p:sldMasterId id="2147483688" r:id="rId4"/>
    <p:sldMasterId id="2147483923" r:id="rId5"/>
  </p:sldMasterIdLst>
  <p:notesMasterIdLst>
    <p:notesMasterId r:id="rId32"/>
  </p:notesMasterIdLst>
  <p:sldIdLst>
    <p:sldId id="256" r:id="rId6"/>
    <p:sldId id="262" r:id="rId7"/>
    <p:sldId id="303" r:id="rId8"/>
    <p:sldId id="300" r:id="rId9"/>
    <p:sldId id="257" r:id="rId10"/>
    <p:sldId id="258" r:id="rId11"/>
    <p:sldId id="275" r:id="rId12"/>
    <p:sldId id="276" r:id="rId13"/>
    <p:sldId id="277" r:id="rId14"/>
    <p:sldId id="278" r:id="rId15"/>
    <p:sldId id="279" r:id="rId16"/>
    <p:sldId id="280" r:id="rId17"/>
    <p:sldId id="281" r:id="rId18"/>
    <p:sldId id="282" r:id="rId19"/>
    <p:sldId id="302" r:id="rId20"/>
    <p:sldId id="285" r:id="rId21"/>
    <p:sldId id="286" r:id="rId22"/>
    <p:sldId id="287" r:id="rId23"/>
    <p:sldId id="288" r:id="rId24"/>
    <p:sldId id="289" r:id="rId25"/>
    <p:sldId id="304" r:id="rId26"/>
    <p:sldId id="291" r:id="rId27"/>
    <p:sldId id="292" r:id="rId28"/>
    <p:sldId id="293" r:id="rId29"/>
    <p:sldId id="295" r:id="rId30"/>
    <p:sldId id="296"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D5ECEA"/>
    <a:srgbClr val="FFC7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665"/>
    <p:restoredTop sz="93544"/>
  </p:normalViewPr>
  <p:slideViewPr>
    <p:cSldViewPr>
      <p:cViewPr varScale="1">
        <p:scale>
          <a:sx n="79" d="100"/>
          <a:sy n="79" d="100"/>
        </p:scale>
        <p:origin x="216" y="8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5:52:57.746"/>
    </inkml:context>
    <inkml:brush xml:id="br0">
      <inkml:brushProperty name="width" value="0.05" units="cm"/>
      <inkml:brushProperty name="height" value="0.05" units="cm"/>
      <inkml:brushProperty name="color" value="#FF0066"/>
    </inkml:brush>
  </inkml:definitions>
  <inkml:trace contextRef="#ctx0" brushRef="#br0">0 250 24575,'16'0'0,"6"-4"0,16-10 0,11-6 0,25-6 0,-21 15 0,7 2 0,18-5 0,6 1 0,-16 4 0,4 2 0,1-2-332,8 3 1,1-1 0,1 0 331,4 1 0,0-1 0,0 3 0,-3 4 0,0 0 0,0-3 0,-1-1 0,0 0 0,-1-3 0,-2 0 0,-1 0 0,-2 1 0,-4-1 0,-1 0 0,-2 1 0,26-5 0,-5 4 0,-11 7 0,-5 0 0,-11 0 0,-3 0 0,-7 0 0,-1 0 0,-3 0 0,0 0 0,0 0 0,0 0 497,1 0 0,0 0-497,0 0 0,0 0 0,0 0 0,-2 0 0,45 0 0,-44 0 0,0 0 0,5 0 0,1 0 0,1 0 0,1 0 0,2 4 0,2 1 0,1 2 0,1 1 0,1 1 0,0 0 0,-2-2 0,-1 2 0,-7-7 0,-2 0 0,33 7 0,-20 2 0,-17 0 0,-6-2 0,-8-9 0,-4 0 0,-5 0 0,-7 0 0,-7 0 0,-5 0 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5:52:59.096"/>
    </inkml:context>
    <inkml:brush xml:id="br0">
      <inkml:brushProperty name="width" value="0.05" units="cm"/>
      <inkml:brushProperty name="height" value="0.05" units="cm"/>
      <inkml:brushProperty name="color" value="#FF0066"/>
    </inkml:brush>
  </inkml:definitions>
  <inkml:trace contextRef="#ctx0" brushRef="#br0">0 1 24575,'13'0'0,"0"0"0,3 0 0,5 9 0,20 15 0,21 28 0,26 30 0,-36-33 0,2 0 0,0 6 0,2-3 0,0-3 0,-2-5 0,35 18 0,-29-26 0,-34-16 0,-30 0 0,-24 11 0,-18 11 0,-5 3 0,1-1 0,1 3 0,-1 4 0,-4 12 0,-1-1 0,6-2 0,8-7 0,11-8 0,6-7 0,2-7 0,6-2 0,-2-5 0,1 7 0,0 7 0,3-7 0,2-2 0,7-6 0,1-15 0,2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5B3981A4-4A4F-4EFD-9F6B-9313FB1F0154}" type="datetimeFigureOut">
              <a:rPr lang="en-US"/>
              <a:pPr>
                <a:defRPr/>
              </a:pPr>
              <a:t>5/2/24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4830CDC-BA02-407E-B33C-7AEB9B18D1BB}" type="slidenum">
              <a:rPr lang="en-US"/>
              <a:pPr/>
              <a:t>‹#›</a:t>
            </a:fld>
            <a:endParaRPr lang="en-US"/>
          </a:p>
        </p:txBody>
      </p:sp>
    </p:spTree>
    <p:extLst>
      <p:ext uri="{BB962C8B-B14F-4D97-AF65-F5344CB8AC3E}">
        <p14:creationId xmlns:p14="http://schemas.microsoft.com/office/powerpoint/2010/main" val="198332762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C328E6F5-842F-4B26-BA06-5869F649BDC6}" type="slidenum">
              <a:rPr lang="en-US"/>
              <a:pPr/>
              <a:t>7</a:t>
            </a:fld>
            <a:endParaRPr lang="en-US"/>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320604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7BB5BB88-07DB-4519-8D26-3586EF4E146B}" type="slidenum">
              <a:rPr lang="en-US"/>
              <a:pPr/>
              <a:t>8</a:t>
            </a:fld>
            <a:endParaRPr lang="en-US"/>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366025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9B1FEABC-DFAD-4BAA-990E-D48DF6A03C68}" type="slidenum">
              <a:rPr lang="en-US"/>
              <a:pPr/>
              <a:t>9</a:t>
            </a:fld>
            <a:endParaRPr lang="en-US"/>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402826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10</a:t>
            </a:fld>
            <a:endParaRPr lang="en-US"/>
          </a:p>
        </p:txBody>
      </p:sp>
    </p:spTree>
    <p:extLst>
      <p:ext uri="{BB962C8B-B14F-4D97-AF65-F5344CB8AC3E}">
        <p14:creationId xmlns:p14="http://schemas.microsoft.com/office/powerpoint/2010/main" val="2956182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316D62B1-7938-4B9B-93B9-B4359A97A401}" type="slidenum">
              <a:rPr lang="en-US"/>
              <a:pPr/>
              <a:t>11</a:t>
            </a:fld>
            <a:endParaRPr lang="en-US"/>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3816950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BF38A8FA-E114-49CC-8529-D925F4077F89}" type="slidenum">
              <a:rPr lang="en-US"/>
              <a:pPr/>
              <a:t>12</a:t>
            </a:fld>
            <a:endParaRPr lang="en-US"/>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3532684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13</a:t>
            </a:fld>
            <a:endParaRPr lang="en-US"/>
          </a:p>
        </p:txBody>
      </p:sp>
    </p:spTree>
    <p:extLst>
      <p:ext uri="{BB962C8B-B14F-4D97-AF65-F5344CB8AC3E}">
        <p14:creationId xmlns:p14="http://schemas.microsoft.com/office/powerpoint/2010/main" val="2508904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E0232FA8-AB23-4406-B046-F4D4D6F52C17}" type="slidenum">
              <a:rPr lang="en-US"/>
              <a:pPr/>
              <a:t>14</a:t>
            </a:fld>
            <a:endParaRPr lang="en-US"/>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828364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ECD79061-5AA1-4320-9537-03C6BD44983B}" type="slidenum">
              <a:rPr lang="en-US"/>
              <a:pPr/>
              <a:t>16</a:t>
            </a:fld>
            <a:endParaRPr lang="en-US"/>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2093576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06B12D44-D037-413D-940A-AC3C9B1D8680}" type="slidenum">
              <a:rPr lang="en-US"/>
              <a:pPr/>
              <a:t>17</a:t>
            </a:fld>
            <a:endParaRPr lang="en-U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866997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18</a:t>
            </a:fld>
            <a:endParaRPr lang="en-US"/>
          </a:p>
        </p:txBody>
      </p:sp>
    </p:spTree>
    <p:extLst>
      <p:ext uri="{BB962C8B-B14F-4D97-AF65-F5344CB8AC3E}">
        <p14:creationId xmlns:p14="http://schemas.microsoft.com/office/powerpoint/2010/main" val="2181145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ABE41DC5-8941-4766-842A-0560BA07077F}" type="slidenum">
              <a:rPr lang="en-US"/>
              <a:pPr/>
              <a:t>19</a:t>
            </a:fld>
            <a:endParaRPr lang="en-U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1630664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ABE41DC5-8941-4766-842A-0560BA07077F}" type="slidenum">
              <a:rPr lang="en-US"/>
              <a:pPr/>
              <a:t>20</a:t>
            </a:fld>
            <a:endParaRPr lang="en-U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3142113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DEB9D748-FC1F-4FFF-AF19-619FDD7BE882}" type="slidenum">
              <a:rPr lang="en-US"/>
              <a:pPr/>
              <a:t>22</a:t>
            </a:fld>
            <a:endParaRPr lang="en-US"/>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xfrm>
            <a:off x="685800" y="4343400"/>
            <a:ext cx="5486400" cy="4114800"/>
          </a:xfrm>
          <a:noFill/>
          <a:ln/>
        </p:spPr>
        <p:txBody>
          <a:bodyPr/>
          <a:lstStyle/>
          <a:p>
            <a:pPr eaLnBrk="1" hangingPunct="1"/>
            <a:endParaRPr lang="tr-TR"/>
          </a:p>
        </p:txBody>
      </p:sp>
    </p:spTree>
    <p:extLst>
      <p:ext uri="{BB962C8B-B14F-4D97-AF65-F5344CB8AC3E}">
        <p14:creationId xmlns:p14="http://schemas.microsoft.com/office/powerpoint/2010/main" val="14072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6C72FC17-0D94-4CA9-A4D4-B4F1BEFEA518}" type="slidenum">
              <a:rPr lang="en-US"/>
              <a:pPr/>
              <a:t>23</a:t>
            </a:fld>
            <a:endParaRPr lang="en-US"/>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p:spPr>
        <p:txBody>
          <a:bodyPr/>
          <a:lstStyle/>
          <a:p>
            <a:pPr eaLnBrk="1" hangingPunct="1"/>
            <a:endParaRPr lang="tr-TR"/>
          </a:p>
        </p:txBody>
      </p:sp>
    </p:spTree>
    <p:extLst>
      <p:ext uri="{BB962C8B-B14F-4D97-AF65-F5344CB8AC3E}">
        <p14:creationId xmlns:p14="http://schemas.microsoft.com/office/powerpoint/2010/main" val="2572557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24</a:t>
            </a:fld>
            <a:endParaRPr lang="en-US"/>
          </a:p>
        </p:txBody>
      </p:sp>
    </p:spTree>
    <p:extLst>
      <p:ext uri="{BB962C8B-B14F-4D97-AF65-F5344CB8AC3E}">
        <p14:creationId xmlns:p14="http://schemas.microsoft.com/office/powerpoint/2010/main" val="15024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25</a:t>
            </a:fld>
            <a:endParaRPr lang="en-US"/>
          </a:p>
        </p:txBody>
      </p:sp>
    </p:spTree>
    <p:extLst>
      <p:ext uri="{BB962C8B-B14F-4D97-AF65-F5344CB8AC3E}">
        <p14:creationId xmlns:p14="http://schemas.microsoft.com/office/powerpoint/2010/main" val="3747667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
        <p:nvSpPr>
          <p:cNvPr id="4" name="Slide Number Placeholder 3"/>
          <p:cNvSpPr>
            <a:spLocks noGrp="1"/>
          </p:cNvSpPr>
          <p:nvPr>
            <p:ph type="sldNum" sz="quarter" idx="10"/>
          </p:nvPr>
        </p:nvSpPr>
        <p:spPr/>
        <p:txBody>
          <a:bodyPr/>
          <a:lstStyle/>
          <a:p>
            <a:pPr>
              <a:defRPr/>
            </a:pPr>
            <a:fld id="{DB072441-5826-4DC4-B2ED-458E0A7738B7}" type="slidenum">
              <a:rPr lang="en-US" smtClean="0"/>
              <a:pPr>
                <a:defRPr/>
              </a:pPr>
              <a:t>26</a:t>
            </a:fld>
            <a:endParaRPr lang="en-US"/>
          </a:p>
        </p:txBody>
      </p:sp>
    </p:spTree>
    <p:extLst>
      <p:ext uri="{BB962C8B-B14F-4D97-AF65-F5344CB8AC3E}">
        <p14:creationId xmlns:p14="http://schemas.microsoft.com/office/powerpoint/2010/main" val="2781324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342026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564326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861346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29863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p:cNvSpPr>
          <p:nvPr>
            <p:ph type="dt" sz="half" idx="10"/>
          </p:nvPr>
        </p:nvSpPr>
        <p:spPr/>
        <p:txBody>
          <a:bodyPr/>
          <a:lstStyle>
            <a:lvl1pPr>
              <a:defRPr/>
            </a:lvl1pPr>
          </a:lstStyle>
          <a:p>
            <a:pPr>
              <a:defRPr/>
            </a:pPr>
            <a:r>
              <a:rPr lang="en-US"/>
              <a:t>10/29/2008</a:t>
            </a:r>
          </a:p>
        </p:txBody>
      </p:sp>
      <p:sp>
        <p:nvSpPr>
          <p:cNvPr id="8" name="Rectangle 7"/>
          <p:cNvSpPr>
            <a:spLocks noGrp="1"/>
          </p:cNvSpPr>
          <p:nvPr>
            <p:ph type="ftr" sz="quarter" idx="11"/>
          </p:nvPr>
        </p:nvSpPr>
        <p:spPr/>
        <p:txBody>
          <a:bodyPr/>
          <a:lstStyle>
            <a:lvl1pPr>
              <a:defRPr/>
            </a:lvl1pPr>
          </a:lstStyle>
          <a:p>
            <a:pPr>
              <a:defRPr/>
            </a:pPr>
            <a:endParaRPr lang="en-US"/>
          </a:p>
        </p:txBody>
      </p:sp>
      <p:sp>
        <p:nvSpPr>
          <p:cNvPr id="9"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32999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p:cNvSpPr>
          <p:nvPr>
            <p:ph type="dt" sz="half" idx="10"/>
          </p:nvPr>
        </p:nvSpPr>
        <p:spPr/>
        <p:txBody>
          <a:bodyPr/>
          <a:lstStyle>
            <a:lvl1pPr>
              <a:defRPr/>
            </a:lvl1pPr>
          </a:lstStyle>
          <a:p>
            <a:pPr>
              <a:defRPr/>
            </a:pPr>
            <a:r>
              <a:rPr lang="en-US"/>
              <a:t>10/29/2008</a:t>
            </a:r>
          </a:p>
        </p:txBody>
      </p:sp>
      <p:sp>
        <p:nvSpPr>
          <p:cNvPr id="4" name="Rectangle 7"/>
          <p:cNvSpPr>
            <a:spLocks noGrp="1"/>
          </p:cNvSpPr>
          <p:nvPr>
            <p:ph type="ftr" sz="quarter" idx="11"/>
          </p:nvPr>
        </p:nvSpPr>
        <p:spPr/>
        <p:txBody>
          <a:bodyPr/>
          <a:lstStyle>
            <a:lvl1pPr>
              <a:defRPr/>
            </a:lvl1pPr>
          </a:lstStyle>
          <a:p>
            <a:pPr>
              <a:defRPr/>
            </a:pPr>
            <a:endParaRPr lang="en-US"/>
          </a:p>
        </p:txBody>
      </p:sp>
      <p:sp>
        <p:nvSpPr>
          <p:cNvPr id="5"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771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p:cNvSpPr>
          <p:nvPr>
            <p:ph type="dt" sz="half" idx="10"/>
          </p:nvPr>
        </p:nvSpPr>
        <p:spPr/>
        <p:txBody>
          <a:bodyPr/>
          <a:lstStyle>
            <a:lvl1pPr>
              <a:defRPr/>
            </a:lvl1pPr>
          </a:lstStyle>
          <a:p>
            <a:pPr>
              <a:defRPr/>
            </a:pPr>
            <a:r>
              <a:rPr lang="en-US"/>
              <a:t>10/29/2008</a:t>
            </a:r>
          </a:p>
        </p:txBody>
      </p:sp>
      <p:sp>
        <p:nvSpPr>
          <p:cNvPr id="3" name="Rectangle 7"/>
          <p:cNvSpPr>
            <a:spLocks noGrp="1"/>
          </p:cNvSpPr>
          <p:nvPr>
            <p:ph type="ftr" sz="quarter" idx="11"/>
          </p:nvPr>
        </p:nvSpPr>
        <p:spPr/>
        <p:txBody>
          <a:bodyPr/>
          <a:lstStyle>
            <a:lvl1pPr>
              <a:defRPr/>
            </a:lvl1pPr>
          </a:lstStyle>
          <a:p>
            <a:pPr>
              <a:defRPr/>
            </a:pPr>
            <a:endParaRPr lang="en-US"/>
          </a:p>
        </p:txBody>
      </p:sp>
      <p:sp>
        <p:nvSpPr>
          <p:cNvPr id="4"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73229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61487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24110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033512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463934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569646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42224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751406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653559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p:cNvSpPr>
          <p:nvPr>
            <p:ph type="dt" sz="half" idx="10"/>
          </p:nvPr>
        </p:nvSpPr>
        <p:spPr/>
        <p:txBody>
          <a:bodyPr/>
          <a:lstStyle>
            <a:lvl1pPr>
              <a:defRPr/>
            </a:lvl1pPr>
          </a:lstStyle>
          <a:p>
            <a:pPr>
              <a:defRPr/>
            </a:pPr>
            <a:r>
              <a:rPr lang="en-US"/>
              <a:t>10/29/2008</a:t>
            </a:r>
          </a:p>
        </p:txBody>
      </p:sp>
      <p:sp>
        <p:nvSpPr>
          <p:cNvPr id="8" name="Rectangle 5"/>
          <p:cNvSpPr>
            <a:spLocks noGrp="1"/>
          </p:cNvSpPr>
          <p:nvPr>
            <p:ph type="ftr" sz="quarter" idx="11"/>
          </p:nvPr>
        </p:nvSpPr>
        <p:spPr/>
        <p:txBody>
          <a:bodyPr/>
          <a:lstStyle>
            <a:lvl1pPr>
              <a:defRPr/>
            </a:lvl1pPr>
          </a:lstStyle>
          <a:p>
            <a:pPr>
              <a:defRPr/>
            </a:pPr>
            <a:endParaRPr lang="en-US"/>
          </a:p>
        </p:txBody>
      </p:sp>
      <p:sp>
        <p:nvSpPr>
          <p:cNvPr id="9"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1287992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p:cNvSpPr>
          <p:nvPr>
            <p:ph type="dt" sz="half" idx="10"/>
          </p:nvPr>
        </p:nvSpPr>
        <p:spPr/>
        <p:txBody>
          <a:bodyPr/>
          <a:lstStyle>
            <a:lvl1pPr>
              <a:defRPr/>
            </a:lvl1pPr>
          </a:lstStyle>
          <a:p>
            <a:pPr>
              <a:defRPr/>
            </a:pPr>
            <a:r>
              <a:rPr lang="en-US"/>
              <a:t>10/29/2008</a:t>
            </a:r>
          </a:p>
        </p:txBody>
      </p:sp>
      <p:sp>
        <p:nvSpPr>
          <p:cNvPr id="4" name="Rectangle 5"/>
          <p:cNvSpPr>
            <a:spLocks noGrp="1"/>
          </p:cNvSpPr>
          <p:nvPr>
            <p:ph type="ftr" sz="quarter" idx="11"/>
          </p:nvPr>
        </p:nvSpPr>
        <p:spPr/>
        <p:txBody>
          <a:bodyPr/>
          <a:lstStyle>
            <a:lvl1pPr>
              <a:defRPr/>
            </a:lvl1pPr>
          </a:lstStyle>
          <a:p>
            <a:pPr>
              <a:defRPr/>
            </a:pPr>
            <a:endParaRPr lang="en-US"/>
          </a:p>
        </p:txBody>
      </p:sp>
      <p:sp>
        <p:nvSpPr>
          <p:cNvPr id="5"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93037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p:cNvSpPr>
          <p:nvPr>
            <p:ph type="dt" sz="half" idx="10"/>
          </p:nvPr>
        </p:nvSpPr>
        <p:spPr/>
        <p:txBody>
          <a:bodyPr/>
          <a:lstStyle>
            <a:lvl1pPr>
              <a:defRPr/>
            </a:lvl1pPr>
          </a:lstStyle>
          <a:p>
            <a:pPr>
              <a:defRPr/>
            </a:pPr>
            <a:r>
              <a:rPr lang="en-US"/>
              <a:t>10/29/2008</a:t>
            </a:r>
          </a:p>
        </p:txBody>
      </p:sp>
      <p:sp>
        <p:nvSpPr>
          <p:cNvPr id="3" name="Rectangle 5"/>
          <p:cNvSpPr>
            <a:spLocks noGrp="1"/>
          </p:cNvSpPr>
          <p:nvPr>
            <p:ph type="ftr" sz="quarter" idx="11"/>
          </p:nvPr>
        </p:nvSpPr>
        <p:spPr/>
        <p:txBody>
          <a:bodyPr/>
          <a:lstStyle>
            <a:lvl1pPr>
              <a:defRPr/>
            </a:lvl1pPr>
          </a:lstStyle>
          <a:p>
            <a:pPr>
              <a:defRPr/>
            </a:pPr>
            <a:endParaRPr lang="en-US"/>
          </a:p>
        </p:txBody>
      </p:sp>
      <p:sp>
        <p:nvSpPr>
          <p:cNvPr id="4"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804023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460002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4056226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47688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7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414367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8445124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09510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0774729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p:cNvSpPr>
          <p:nvPr>
            <p:ph type="dt" sz="half" idx="10"/>
          </p:nvPr>
        </p:nvSpPr>
        <p:spPr/>
        <p:txBody>
          <a:bodyPr/>
          <a:lstStyle>
            <a:lvl1pPr>
              <a:defRPr/>
            </a:lvl1pPr>
          </a:lstStyle>
          <a:p>
            <a:pPr>
              <a:defRPr/>
            </a:pPr>
            <a:r>
              <a:rPr lang="en-US"/>
              <a:t>10/29/2008</a:t>
            </a:r>
          </a:p>
        </p:txBody>
      </p:sp>
      <p:sp>
        <p:nvSpPr>
          <p:cNvPr id="8" name="Rectangle 7"/>
          <p:cNvSpPr>
            <a:spLocks noGrp="1"/>
          </p:cNvSpPr>
          <p:nvPr>
            <p:ph type="ftr" sz="quarter" idx="11"/>
          </p:nvPr>
        </p:nvSpPr>
        <p:spPr/>
        <p:txBody>
          <a:bodyPr/>
          <a:lstStyle>
            <a:lvl1pPr>
              <a:defRPr/>
            </a:lvl1pPr>
          </a:lstStyle>
          <a:p>
            <a:pPr>
              <a:defRPr/>
            </a:pPr>
            <a:endParaRPr lang="en-US"/>
          </a:p>
        </p:txBody>
      </p:sp>
      <p:sp>
        <p:nvSpPr>
          <p:cNvPr id="9"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3797613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p:cNvSpPr>
          <p:nvPr>
            <p:ph type="dt" sz="half" idx="10"/>
          </p:nvPr>
        </p:nvSpPr>
        <p:spPr/>
        <p:txBody>
          <a:bodyPr/>
          <a:lstStyle>
            <a:lvl1pPr>
              <a:defRPr/>
            </a:lvl1pPr>
          </a:lstStyle>
          <a:p>
            <a:pPr>
              <a:defRPr/>
            </a:pPr>
            <a:r>
              <a:rPr lang="en-US"/>
              <a:t>10/29/2008</a:t>
            </a:r>
          </a:p>
        </p:txBody>
      </p:sp>
      <p:sp>
        <p:nvSpPr>
          <p:cNvPr id="4" name="Rectangle 7"/>
          <p:cNvSpPr>
            <a:spLocks noGrp="1"/>
          </p:cNvSpPr>
          <p:nvPr>
            <p:ph type="ftr" sz="quarter" idx="11"/>
          </p:nvPr>
        </p:nvSpPr>
        <p:spPr/>
        <p:txBody>
          <a:bodyPr/>
          <a:lstStyle>
            <a:lvl1pPr>
              <a:defRPr/>
            </a:lvl1pPr>
          </a:lstStyle>
          <a:p>
            <a:pPr>
              <a:defRPr/>
            </a:pPr>
            <a:endParaRPr lang="en-US"/>
          </a:p>
        </p:txBody>
      </p:sp>
      <p:sp>
        <p:nvSpPr>
          <p:cNvPr id="5"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1512095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p:cNvSpPr>
          <p:nvPr>
            <p:ph type="dt" sz="half" idx="10"/>
          </p:nvPr>
        </p:nvSpPr>
        <p:spPr/>
        <p:txBody>
          <a:bodyPr/>
          <a:lstStyle>
            <a:lvl1pPr>
              <a:defRPr/>
            </a:lvl1pPr>
          </a:lstStyle>
          <a:p>
            <a:pPr>
              <a:defRPr/>
            </a:pPr>
            <a:r>
              <a:rPr lang="en-US"/>
              <a:t>10/29/2008</a:t>
            </a:r>
          </a:p>
        </p:txBody>
      </p:sp>
      <p:sp>
        <p:nvSpPr>
          <p:cNvPr id="3" name="Rectangle 7"/>
          <p:cNvSpPr>
            <a:spLocks noGrp="1"/>
          </p:cNvSpPr>
          <p:nvPr>
            <p:ph type="ftr" sz="quarter" idx="11"/>
          </p:nvPr>
        </p:nvSpPr>
        <p:spPr/>
        <p:txBody>
          <a:bodyPr/>
          <a:lstStyle>
            <a:lvl1pPr>
              <a:defRPr/>
            </a:lvl1pPr>
          </a:lstStyle>
          <a:p>
            <a:pPr>
              <a:defRPr/>
            </a:pPr>
            <a:endParaRPr lang="en-US"/>
          </a:p>
        </p:txBody>
      </p:sp>
      <p:sp>
        <p:nvSpPr>
          <p:cNvPr id="4"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6876595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782892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750621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2465175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3583349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454713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0545547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2579400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867644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p:cNvSpPr>
          <p:nvPr>
            <p:ph type="dt" sz="half" idx="10"/>
          </p:nvPr>
        </p:nvSpPr>
        <p:spPr/>
        <p:txBody>
          <a:bodyPr/>
          <a:lstStyle>
            <a:lvl1pPr>
              <a:defRPr/>
            </a:lvl1pPr>
          </a:lstStyle>
          <a:p>
            <a:pPr>
              <a:defRPr/>
            </a:pPr>
            <a:r>
              <a:rPr lang="en-US"/>
              <a:t>10/29/2008</a:t>
            </a:r>
          </a:p>
        </p:txBody>
      </p:sp>
      <p:sp>
        <p:nvSpPr>
          <p:cNvPr id="8" name="Rectangle 5"/>
          <p:cNvSpPr>
            <a:spLocks noGrp="1"/>
          </p:cNvSpPr>
          <p:nvPr>
            <p:ph type="ftr" sz="quarter" idx="11"/>
          </p:nvPr>
        </p:nvSpPr>
        <p:spPr/>
        <p:txBody>
          <a:bodyPr/>
          <a:lstStyle>
            <a:lvl1pPr>
              <a:defRPr/>
            </a:lvl1pPr>
          </a:lstStyle>
          <a:p>
            <a:pPr>
              <a:defRPr/>
            </a:pPr>
            <a:endParaRPr lang="en-US"/>
          </a:p>
        </p:txBody>
      </p:sp>
      <p:sp>
        <p:nvSpPr>
          <p:cNvPr id="9"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050575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p:cNvSpPr>
          <p:nvPr>
            <p:ph type="dt" sz="half" idx="10"/>
          </p:nvPr>
        </p:nvSpPr>
        <p:spPr/>
        <p:txBody>
          <a:bodyPr/>
          <a:lstStyle>
            <a:lvl1pPr>
              <a:defRPr/>
            </a:lvl1pPr>
          </a:lstStyle>
          <a:p>
            <a:pPr>
              <a:defRPr/>
            </a:pPr>
            <a:r>
              <a:rPr lang="en-US"/>
              <a:t>10/29/2008</a:t>
            </a:r>
          </a:p>
        </p:txBody>
      </p:sp>
      <p:sp>
        <p:nvSpPr>
          <p:cNvPr id="4" name="Rectangle 5"/>
          <p:cNvSpPr>
            <a:spLocks noGrp="1"/>
          </p:cNvSpPr>
          <p:nvPr>
            <p:ph type="ftr" sz="quarter" idx="11"/>
          </p:nvPr>
        </p:nvSpPr>
        <p:spPr/>
        <p:txBody>
          <a:bodyPr/>
          <a:lstStyle>
            <a:lvl1pPr>
              <a:defRPr/>
            </a:lvl1pPr>
          </a:lstStyle>
          <a:p>
            <a:pPr>
              <a:defRPr/>
            </a:pPr>
            <a:endParaRPr lang="en-US"/>
          </a:p>
        </p:txBody>
      </p:sp>
      <p:sp>
        <p:nvSpPr>
          <p:cNvPr id="5"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56640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p:cNvSpPr>
          <p:nvPr>
            <p:ph type="dt" sz="half" idx="10"/>
          </p:nvPr>
        </p:nvSpPr>
        <p:spPr/>
        <p:txBody>
          <a:bodyPr/>
          <a:lstStyle>
            <a:lvl1pPr>
              <a:defRPr/>
            </a:lvl1pPr>
          </a:lstStyle>
          <a:p>
            <a:pPr>
              <a:defRPr/>
            </a:pPr>
            <a:r>
              <a:rPr lang="en-US"/>
              <a:t>10/29/2008</a:t>
            </a:r>
          </a:p>
        </p:txBody>
      </p:sp>
      <p:sp>
        <p:nvSpPr>
          <p:cNvPr id="3" name="Rectangle 5"/>
          <p:cNvSpPr>
            <a:spLocks noGrp="1"/>
          </p:cNvSpPr>
          <p:nvPr>
            <p:ph type="ftr" sz="quarter" idx="11"/>
          </p:nvPr>
        </p:nvSpPr>
        <p:spPr/>
        <p:txBody>
          <a:bodyPr/>
          <a:lstStyle>
            <a:lvl1pPr>
              <a:defRPr/>
            </a:lvl1pPr>
          </a:lstStyle>
          <a:p>
            <a:pPr>
              <a:defRPr/>
            </a:pPr>
            <a:endParaRPr lang="en-US"/>
          </a:p>
        </p:txBody>
      </p:sp>
      <p:sp>
        <p:nvSpPr>
          <p:cNvPr id="4"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6648172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021896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795195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7842263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746934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1B6C-507B-7536-A092-9C88B0E799D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tr-TR"/>
          </a:p>
        </p:txBody>
      </p:sp>
      <p:sp>
        <p:nvSpPr>
          <p:cNvPr id="3" name="Subtitle 2">
            <a:extLst>
              <a:ext uri="{FF2B5EF4-FFF2-40B4-BE49-F238E27FC236}">
                <a16:creationId xmlns:a16="http://schemas.microsoft.com/office/drawing/2014/main" id="{401AD954-7403-8606-AC0C-7988E492388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AA1DAC60-E718-DEB0-F182-7DFBB0A21967}"/>
              </a:ext>
            </a:extLst>
          </p:cNvPr>
          <p:cNvSpPr>
            <a:spLocks noGrp="1"/>
          </p:cNvSpPr>
          <p:nvPr>
            <p:ph type="dt" sz="half" idx="10"/>
          </p:nvPr>
        </p:nvSpPr>
        <p:spPr/>
        <p:txBody>
          <a:bodyPr/>
          <a:lstStyle/>
          <a:p>
            <a:pPr>
              <a:defRPr/>
            </a:pPr>
            <a:r>
              <a:rPr lang="en-US"/>
              <a:t>10/29/2008</a:t>
            </a:r>
          </a:p>
        </p:txBody>
      </p:sp>
      <p:sp>
        <p:nvSpPr>
          <p:cNvPr id="5" name="Footer Placeholder 4">
            <a:extLst>
              <a:ext uri="{FF2B5EF4-FFF2-40B4-BE49-F238E27FC236}">
                <a16:creationId xmlns:a16="http://schemas.microsoft.com/office/drawing/2014/main" id="{AFEEAD18-6D48-8418-A7C2-29899894B0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98C854E-7E63-27FF-8E23-E21E6C589479}"/>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3078371667"/>
      </p:ext>
    </p:extLst>
  </p:cSld>
  <p:clrMapOvr>
    <a:masterClrMapping/>
  </p:clrMapOvr>
  <p:hf sldNum="0"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420D-D9E0-700B-00EC-561798C9713F}"/>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8985065B-AE39-1B74-D9AB-FF8681123B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B807495B-7B5B-8BE6-47F1-34813BC7A038}"/>
              </a:ext>
            </a:extLst>
          </p:cNvPr>
          <p:cNvSpPr>
            <a:spLocks noGrp="1"/>
          </p:cNvSpPr>
          <p:nvPr>
            <p:ph type="dt" sz="half" idx="10"/>
          </p:nvPr>
        </p:nvSpPr>
        <p:spPr/>
        <p:txBody>
          <a:bodyPr/>
          <a:lstStyle/>
          <a:p>
            <a:pPr>
              <a:defRPr/>
            </a:pPr>
            <a:r>
              <a:rPr lang="en-US"/>
              <a:t>10/29/2008</a:t>
            </a:r>
          </a:p>
        </p:txBody>
      </p:sp>
      <p:sp>
        <p:nvSpPr>
          <p:cNvPr id="5" name="Footer Placeholder 4">
            <a:extLst>
              <a:ext uri="{FF2B5EF4-FFF2-40B4-BE49-F238E27FC236}">
                <a16:creationId xmlns:a16="http://schemas.microsoft.com/office/drawing/2014/main" id="{3C205F4C-A16D-F5D6-66B6-EC9DDC34D0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A20E1EB-E3AB-1E31-4945-7617AB02B2AE}"/>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2327621799"/>
      </p:ext>
    </p:extLst>
  </p:cSld>
  <p:clrMapOvr>
    <a:masterClrMapping/>
  </p:clrMapOvr>
  <p:hf sldNum="0"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82A77-3564-6B60-CC2C-68F04EEA055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BD9F7317-296D-3DA3-CFF9-3CCE7C24C36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BEA741-7BAB-9683-59D5-853DC8E3781C}"/>
              </a:ext>
            </a:extLst>
          </p:cNvPr>
          <p:cNvSpPr>
            <a:spLocks noGrp="1"/>
          </p:cNvSpPr>
          <p:nvPr>
            <p:ph type="dt" sz="half" idx="10"/>
          </p:nvPr>
        </p:nvSpPr>
        <p:spPr/>
        <p:txBody>
          <a:bodyPr/>
          <a:lstStyle/>
          <a:p>
            <a:pPr>
              <a:defRPr/>
            </a:pPr>
            <a:r>
              <a:rPr lang="en-US"/>
              <a:t>10/29/2008</a:t>
            </a:r>
          </a:p>
        </p:txBody>
      </p:sp>
      <p:sp>
        <p:nvSpPr>
          <p:cNvPr id="5" name="Footer Placeholder 4">
            <a:extLst>
              <a:ext uri="{FF2B5EF4-FFF2-40B4-BE49-F238E27FC236}">
                <a16:creationId xmlns:a16="http://schemas.microsoft.com/office/drawing/2014/main" id="{7C5256CA-7432-107D-2AEE-8862DA41805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FD411A5-C9BB-C71F-6136-2474B12D01F3}"/>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3549186226"/>
      </p:ext>
    </p:extLst>
  </p:cSld>
  <p:clrMapOvr>
    <a:masterClrMapping/>
  </p:clrMapOvr>
  <p:hf sldNum="0"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E9DD-6B0A-D645-6442-BFDFF3E22982}"/>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B348A274-5C09-9085-9038-F958FB87503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7980DFF2-B9AA-A475-CE17-8709BA9031A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8741FE2A-94F6-7854-2C09-AAB98B85D030}"/>
              </a:ext>
            </a:extLst>
          </p:cNvPr>
          <p:cNvSpPr>
            <a:spLocks noGrp="1"/>
          </p:cNvSpPr>
          <p:nvPr>
            <p:ph type="dt" sz="half" idx="10"/>
          </p:nvPr>
        </p:nvSpPr>
        <p:spPr/>
        <p:txBody>
          <a:bodyPr/>
          <a:lstStyle/>
          <a:p>
            <a:pPr>
              <a:defRPr/>
            </a:pPr>
            <a:r>
              <a:rPr lang="en-US"/>
              <a:t>10/29/2008</a:t>
            </a:r>
          </a:p>
        </p:txBody>
      </p:sp>
      <p:sp>
        <p:nvSpPr>
          <p:cNvPr id="6" name="Footer Placeholder 5">
            <a:extLst>
              <a:ext uri="{FF2B5EF4-FFF2-40B4-BE49-F238E27FC236}">
                <a16:creationId xmlns:a16="http://schemas.microsoft.com/office/drawing/2014/main" id="{6F4B34D9-2090-F6AB-3726-6C70BE815EC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5C81DEB0-68CB-1107-F98D-4F3690533D03}"/>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3436594538"/>
      </p:ext>
    </p:extLst>
  </p:cSld>
  <p:clrMapOvr>
    <a:masterClrMapping/>
  </p:clrMapOvr>
  <p:hf sldNum="0"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92EB-CDAF-16EE-CB45-A2288A9414E8}"/>
              </a:ext>
            </a:extLst>
          </p:cNvPr>
          <p:cNvSpPr>
            <a:spLocks noGrp="1"/>
          </p:cNvSpPr>
          <p:nvPr>
            <p:ph type="title"/>
          </p:nvPr>
        </p:nvSpPr>
        <p:spPr>
          <a:xfrm>
            <a:off x="629841" y="365126"/>
            <a:ext cx="78867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FC5D2269-CA2F-F2D0-088D-4EF8B4281EB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8E383F4-9A92-BCD3-3C0B-D6C05E52252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663C7CF6-6665-C2D0-254E-6466C3D4DE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011323-6199-DCBB-BECF-A3B7723AACE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40B722E9-9CFC-8796-4D3B-1C5A8E710672}"/>
              </a:ext>
            </a:extLst>
          </p:cNvPr>
          <p:cNvSpPr>
            <a:spLocks noGrp="1"/>
          </p:cNvSpPr>
          <p:nvPr>
            <p:ph type="dt" sz="half" idx="10"/>
          </p:nvPr>
        </p:nvSpPr>
        <p:spPr/>
        <p:txBody>
          <a:bodyPr/>
          <a:lstStyle/>
          <a:p>
            <a:pPr>
              <a:defRPr/>
            </a:pPr>
            <a:r>
              <a:rPr lang="en-US"/>
              <a:t>10/29/2008</a:t>
            </a:r>
          </a:p>
        </p:txBody>
      </p:sp>
      <p:sp>
        <p:nvSpPr>
          <p:cNvPr id="8" name="Footer Placeholder 7">
            <a:extLst>
              <a:ext uri="{FF2B5EF4-FFF2-40B4-BE49-F238E27FC236}">
                <a16:creationId xmlns:a16="http://schemas.microsoft.com/office/drawing/2014/main" id="{B095E97F-99F3-75BA-FE7A-1FE47F42A810}"/>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731B31AD-8EA1-4377-4CC8-8A69E04268EF}"/>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1586329718"/>
      </p:ext>
    </p:extLst>
  </p:cSld>
  <p:clrMapOvr>
    <a:masterClrMapping/>
  </p:clrMapOvr>
  <p:hf sldNum="0"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0218-3FCB-6571-FB91-EA1AA9FE9408}"/>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53E3E1EA-CEFD-685B-A113-266E5CFC420A}"/>
              </a:ext>
            </a:extLst>
          </p:cNvPr>
          <p:cNvSpPr>
            <a:spLocks noGrp="1"/>
          </p:cNvSpPr>
          <p:nvPr>
            <p:ph type="dt" sz="half" idx="10"/>
          </p:nvPr>
        </p:nvSpPr>
        <p:spPr/>
        <p:txBody>
          <a:bodyPr/>
          <a:lstStyle/>
          <a:p>
            <a:pPr>
              <a:defRPr/>
            </a:pPr>
            <a:r>
              <a:rPr lang="en-US"/>
              <a:t>10/29/2008</a:t>
            </a:r>
          </a:p>
        </p:txBody>
      </p:sp>
      <p:sp>
        <p:nvSpPr>
          <p:cNvPr id="4" name="Footer Placeholder 3">
            <a:extLst>
              <a:ext uri="{FF2B5EF4-FFF2-40B4-BE49-F238E27FC236}">
                <a16:creationId xmlns:a16="http://schemas.microsoft.com/office/drawing/2014/main" id="{8C0791A6-9E04-A712-6EFC-B19B7F030AC9}"/>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D35F25E-8213-1AF2-C176-3D61EC98E668}"/>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3219392790"/>
      </p:ext>
    </p:extLst>
  </p:cSld>
  <p:clrMapOvr>
    <a:masterClrMapping/>
  </p:clrMapOvr>
  <p:hf sldNum="0" hdr="0" ftr="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9500B1-EF82-7620-CD42-05E99D7A16CE}"/>
              </a:ext>
            </a:extLst>
          </p:cNvPr>
          <p:cNvSpPr>
            <a:spLocks noGrp="1"/>
          </p:cNvSpPr>
          <p:nvPr>
            <p:ph type="dt" sz="half" idx="10"/>
          </p:nvPr>
        </p:nvSpPr>
        <p:spPr/>
        <p:txBody>
          <a:bodyPr/>
          <a:lstStyle/>
          <a:p>
            <a:pPr>
              <a:defRPr/>
            </a:pPr>
            <a:r>
              <a:rPr lang="en-US"/>
              <a:t>10/29/2008</a:t>
            </a:r>
          </a:p>
        </p:txBody>
      </p:sp>
      <p:sp>
        <p:nvSpPr>
          <p:cNvPr id="3" name="Footer Placeholder 2">
            <a:extLst>
              <a:ext uri="{FF2B5EF4-FFF2-40B4-BE49-F238E27FC236}">
                <a16:creationId xmlns:a16="http://schemas.microsoft.com/office/drawing/2014/main" id="{F9A718B3-81AF-2CE2-050E-A4EB8996223A}"/>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16A5361D-C474-66A8-54AD-8320D466F88C}"/>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1489126653"/>
      </p:ext>
    </p:extLst>
  </p:cSld>
  <p:clrMapOvr>
    <a:masterClrMapping/>
  </p:clrMapOvr>
  <p:hf sldNum="0" hdr="0" ftr="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07C5-ED39-61BD-8CB0-C84F4A326EE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5FF18095-C5D7-0869-7B6A-B9AF1C17D33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8FB9546D-C7E8-4377-8B22-E8C10A9EE19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5EC9AFD-13D1-5D2A-A5A6-B41C6D1B7A88}"/>
              </a:ext>
            </a:extLst>
          </p:cNvPr>
          <p:cNvSpPr>
            <a:spLocks noGrp="1"/>
          </p:cNvSpPr>
          <p:nvPr>
            <p:ph type="dt" sz="half" idx="10"/>
          </p:nvPr>
        </p:nvSpPr>
        <p:spPr/>
        <p:txBody>
          <a:bodyPr/>
          <a:lstStyle/>
          <a:p>
            <a:pPr>
              <a:defRPr/>
            </a:pPr>
            <a:r>
              <a:rPr lang="en-US"/>
              <a:t>10/29/2008</a:t>
            </a:r>
          </a:p>
        </p:txBody>
      </p:sp>
      <p:sp>
        <p:nvSpPr>
          <p:cNvPr id="6" name="Footer Placeholder 5">
            <a:extLst>
              <a:ext uri="{FF2B5EF4-FFF2-40B4-BE49-F238E27FC236}">
                <a16:creationId xmlns:a16="http://schemas.microsoft.com/office/drawing/2014/main" id="{0E6C9E1A-3501-DAFD-0015-6E53BCC25AB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C318668-0341-B3D4-8029-3091E64986A9}"/>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1915386133"/>
      </p:ext>
    </p:extLst>
  </p:cSld>
  <p:clrMapOvr>
    <a:masterClrMapping/>
  </p:clrMapOvr>
  <p:hf sldNum="0"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3238E-2FF6-B2A5-192D-B12FFD197D1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B9F4BAA6-683F-682F-6B7D-ADD9B999A21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tr-TR"/>
          </a:p>
        </p:txBody>
      </p:sp>
      <p:sp>
        <p:nvSpPr>
          <p:cNvPr id="4" name="Text Placeholder 3">
            <a:extLst>
              <a:ext uri="{FF2B5EF4-FFF2-40B4-BE49-F238E27FC236}">
                <a16:creationId xmlns:a16="http://schemas.microsoft.com/office/drawing/2014/main" id="{E575D0CF-5DCF-D1F5-38FE-CF0515DAA23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19AD9D3-E255-46A1-0A40-2EA5F6261C10}"/>
              </a:ext>
            </a:extLst>
          </p:cNvPr>
          <p:cNvSpPr>
            <a:spLocks noGrp="1"/>
          </p:cNvSpPr>
          <p:nvPr>
            <p:ph type="dt" sz="half" idx="10"/>
          </p:nvPr>
        </p:nvSpPr>
        <p:spPr/>
        <p:txBody>
          <a:bodyPr/>
          <a:lstStyle/>
          <a:p>
            <a:pPr>
              <a:defRPr/>
            </a:pPr>
            <a:r>
              <a:rPr lang="en-US"/>
              <a:t>10/29/2008</a:t>
            </a:r>
          </a:p>
        </p:txBody>
      </p:sp>
      <p:sp>
        <p:nvSpPr>
          <p:cNvPr id="6" name="Footer Placeholder 5">
            <a:extLst>
              <a:ext uri="{FF2B5EF4-FFF2-40B4-BE49-F238E27FC236}">
                <a16:creationId xmlns:a16="http://schemas.microsoft.com/office/drawing/2014/main" id="{A7B7A019-2CE1-AC97-EEF1-9413CCE9FC2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823A40C-A3EE-9A7F-6E51-2C0D7BEAD53E}"/>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4186488743"/>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10A9-4ED5-06B2-19B4-7A0D932CBC94}"/>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43E99287-17DF-EDC5-BBC9-BA4317D397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80A4D8F4-A7FB-AB88-B282-996867708048}"/>
              </a:ext>
            </a:extLst>
          </p:cNvPr>
          <p:cNvSpPr>
            <a:spLocks noGrp="1"/>
          </p:cNvSpPr>
          <p:nvPr>
            <p:ph type="dt" sz="half" idx="10"/>
          </p:nvPr>
        </p:nvSpPr>
        <p:spPr/>
        <p:txBody>
          <a:bodyPr/>
          <a:lstStyle/>
          <a:p>
            <a:pPr>
              <a:defRPr/>
            </a:pPr>
            <a:r>
              <a:rPr lang="en-US"/>
              <a:t>10/29/2008</a:t>
            </a:r>
          </a:p>
        </p:txBody>
      </p:sp>
      <p:sp>
        <p:nvSpPr>
          <p:cNvPr id="5" name="Footer Placeholder 4">
            <a:extLst>
              <a:ext uri="{FF2B5EF4-FFF2-40B4-BE49-F238E27FC236}">
                <a16:creationId xmlns:a16="http://schemas.microsoft.com/office/drawing/2014/main" id="{47746E39-9011-7C4E-5670-74383D672C7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B5D566F-2696-6105-A2EE-96F7A6B15C34}"/>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444593315"/>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4FD3F-150B-6561-A46A-1FC20ACA220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228BA430-CDD1-0D3C-4A24-8261F84EFDC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567FB7F0-6D37-7312-9040-77E126A4325E}"/>
              </a:ext>
            </a:extLst>
          </p:cNvPr>
          <p:cNvSpPr>
            <a:spLocks noGrp="1"/>
          </p:cNvSpPr>
          <p:nvPr>
            <p:ph type="dt" sz="half" idx="10"/>
          </p:nvPr>
        </p:nvSpPr>
        <p:spPr/>
        <p:txBody>
          <a:bodyPr/>
          <a:lstStyle/>
          <a:p>
            <a:pPr>
              <a:defRPr/>
            </a:pPr>
            <a:r>
              <a:rPr lang="en-US"/>
              <a:t>10/29/2008</a:t>
            </a:r>
          </a:p>
        </p:txBody>
      </p:sp>
      <p:sp>
        <p:nvSpPr>
          <p:cNvPr id="5" name="Footer Placeholder 4">
            <a:extLst>
              <a:ext uri="{FF2B5EF4-FFF2-40B4-BE49-F238E27FC236}">
                <a16:creationId xmlns:a16="http://schemas.microsoft.com/office/drawing/2014/main" id="{9B7CCFC9-61AD-3319-D802-4C5643FFFEB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8E0C7B8-46C0-FF41-9F84-D091FF6E01DA}"/>
              </a:ext>
            </a:extLst>
          </p:cNvPr>
          <p:cNvSpPr>
            <a:spLocks noGrp="1"/>
          </p:cNvSpPr>
          <p:nvPr>
            <p:ph type="sldNum" sz="quarter" idx="12"/>
          </p:nvPr>
        </p:nvSpPr>
        <p:spPr/>
        <p:txBody>
          <a:bodyPr/>
          <a:lstStyle/>
          <a:p>
            <a:pPr>
              <a:defRPr/>
            </a:pPr>
            <a:r>
              <a:rPr lang="en-US"/>
              <a:t></a:t>
            </a:r>
          </a:p>
        </p:txBody>
      </p:sp>
    </p:spTree>
    <p:extLst>
      <p:ext uri="{BB962C8B-B14F-4D97-AF65-F5344CB8AC3E}">
        <p14:creationId xmlns:p14="http://schemas.microsoft.com/office/powerpoint/2010/main" val="54568029"/>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000C22"/>
            </a:gs>
            <a:gs pos="30000">
              <a:srgbClr val="00122B"/>
            </a:gs>
            <a:gs pos="100000">
              <a:srgbClr val="6F747D"/>
            </a:gs>
          </a:gsLst>
          <a:lin ang="12960000"/>
        </a:gradFill>
        <a:effectLst/>
      </p:bgPr>
    </p:bg>
    <p:spTree>
      <p:nvGrpSpPr>
        <p:cNvPr id="1" name=""/>
        <p:cNvGrpSpPr/>
        <p:nvPr/>
      </p:nvGrpSpPr>
      <p:grpSpPr>
        <a:xfrm>
          <a:off x="0" y="0"/>
          <a:ext cx="0" cy="0"/>
          <a:chOff x="0" y="0"/>
          <a:chExt cx="0" cy="0"/>
        </a:xfrm>
      </p:grpSpPr>
      <p:sp>
        <p:nvSpPr>
          <p:cNvPr id="11" name="AutoShape 2"/>
          <p:cNvSpPr>
            <a:spLocks/>
          </p:cNvSpPr>
          <p:nvPr/>
        </p:nvSpPr>
        <p:spPr bwMode="auto">
          <a:xfrm>
            <a:off x="0" y="4751388"/>
            <a:ext cx="9144000" cy="2112962"/>
          </a:xfrm>
          <a:custGeom>
            <a:avLst/>
            <a:gdLst>
              <a:gd name="T0" fmla="*/ 0 w 5760"/>
              <a:gd name="T1" fmla="*/ 1066 h 1331"/>
              <a:gd name="T2" fmla="*/ 0 w 5760"/>
              <a:gd name="T3" fmla="*/ 1331 h 1331"/>
              <a:gd name="T4" fmla="*/ 5760 w 5760"/>
              <a:gd name="T5" fmla="*/ 1331 h 1331"/>
              <a:gd name="T6" fmla="*/ 5760 w 5760"/>
              <a:gd name="T7" fmla="*/ 0 h 1331"/>
              <a:gd name="T8" fmla="*/ 0 w 5760"/>
              <a:gd name="T9" fmla="*/ 1066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solidFill>
            <a:srgbClr val="7C7C7C">
              <a:alpha val="45097"/>
            </a:srgbClr>
          </a:solidFill>
          <a:ln w="9525">
            <a:noFill/>
            <a:round/>
            <a:headEnd/>
            <a:tailEnd/>
          </a:ln>
          <a:effectLst>
            <a:outerShdw dist="44450" dir="16200000" algn="ctr" rotWithShape="0">
              <a:srgbClr val="000000">
                <a:alpha val="34999"/>
              </a:srgbClr>
            </a:outerShdw>
          </a:effectLst>
        </p:spPr>
        <p:txBody>
          <a:bodyPr/>
          <a:lstStyle/>
          <a:p>
            <a:pPr fontAlgn="auto">
              <a:spcBef>
                <a:spcPts val="0"/>
              </a:spcBef>
              <a:spcAft>
                <a:spcPts val="0"/>
              </a:spcAft>
              <a:defRPr/>
            </a:pPr>
            <a:endParaRPr lang="en-US">
              <a:latin typeface="+mn-lt"/>
            </a:endParaRPr>
          </a:p>
        </p:txBody>
      </p:sp>
      <p:sp>
        <p:nvSpPr>
          <p:cNvPr id="13" name="AutoShape 3"/>
          <p:cNvSpPr>
            <a:spLocks/>
          </p:cNvSpPr>
          <p:nvPr/>
        </p:nvSpPr>
        <p:spPr bwMode="auto">
          <a:xfrm>
            <a:off x="6105525" y="0"/>
            <a:ext cx="3038475" cy="6858000"/>
          </a:xfrm>
          <a:custGeom>
            <a:avLst/>
            <a:gdLst>
              <a:gd name="T0" fmla="*/ 3038475 w 1914"/>
              <a:gd name="T1" fmla="*/ 14258 h 4329"/>
              <a:gd name="T2" fmla="*/ 3038475 w 1914"/>
              <a:gd name="T3" fmla="*/ 6858000 h 4329"/>
              <a:gd name="T4" fmla="*/ 323850 w 1914"/>
              <a:gd name="T5" fmla="*/ 6854832 h 4329"/>
              <a:gd name="T6" fmla="*/ 0 w 1914"/>
              <a:gd name="T7" fmla="*/ 0 h 4329"/>
              <a:gd name="T8" fmla="*/ 3038475 w 1914"/>
              <a:gd name="T9" fmla="*/ 14258 h 4329"/>
              <a:gd name="T10" fmla="*/ 0 60000 65536"/>
              <a:gd name="T11" fmla="*/ 0 60000 65536"/>
              <a:gd name="T12" fmla="*/ 0 60000 65536"/>
              <a:gd name="T13" fmla="*/ 0 60000 65536"/>
              <a:gd name="T14" fmla="*/ 0 60000 65536"/>
              <a:gd name="T15" fmla="*/ 0 w 1914"/>
              <a:gd name="T16" fmla="*/ 0 h 4329"/>
              <a:gd name="T17" fmla="*/ 1914 w 1914"/>
              <a:gd name="T18" fmla="*/ 4329 h 4329"/>
            </a:gdLst>
            <a:ahLst/>
            <a:cxnLst>
              <a:cxn ang="T10">
                <a:pos x="T0" y="T1"/>
              </a:cxn>
              <a:cxn ang="T11">
                <a:pos x="T2" y="T3"/>
              </a:cxn>
              <a:cxn ang="T12">
                <a:pos x="T4" y="T5"/>
              </a:cxn>
              <a:cxn ang="T13">
                <a:pos x="T6" y="T7"/>
              </a:cxn>
              <a:cxn ang="T14">
                <a:pos x="T8" y="T9"/>
              </a:cxn>
            </a:cxnLst>
            <a:rect l="T15" t="T16" r="T17" b="T18"/>
            <a:pathLst>
              <a:path w="1914" h="4329">
                <a:moveTo>
                  <a:pt x="1914" y="9"/>
                </a:moveTo>
                <a:lnTo>
                  <a:pt x="1914" y="4329"/>
                </a:lnTo>
                <a:lnTo>
                  <a:pt x="204" y="4327"/>
                </a:lnTo>
                <a:cubicBezTo>
                  <a:pt x="1288" y="3574"/>
                  <a:pt x="1608" y="1590"/>
                  <a:pt x="0" y="0"/>
                </a:cubicBezTo>
                <a:lnTo>
                  <a:pt x="1914" y="9"/>
                </a:lnTo>
                <a:close/>
              </a:path>
            </a:pathLst>
          </a:custGeom>
          <a:solidFill>
            <a:srgbClr val="595959">
              <a:alpha val="39999"/>
            </a:srgbClr>
          </a:solidFill>
          <a:ln w="9525">
            <a:noFill/>
            <a:round/>
            <a:headEnd/>
            <a:tailEnd/>
          </a:ln>
          <a:effectLst>
            <a:outerShdw dist="50800" dir="10800000" algn="ctr" rotWithShape="0">
              <a:srgbClr val="000000">
                <a:alpha val="45000"/>
              </a:srgbClr>
            </a:outerShdw>
          </a:effectLst>
        </p:spPr>
        <p:txBody>
          <a:bodyPr/>
          <a:lstStyle/>
          <a:p>
            <a:pPr fontAlgn="auto">
              <a:spcBef>
                <a:spcPts val="0"/>
              </a:spcBef>
              <a:spcAft>
                <a:spcPts val="0"/>
              </a:spcAft>
              <a:defRPr/>
            </a:pPr>
            <a:endParaRPr lang="en-US">
              <a:latin typeface="+mn-lt"/>
            </a:endParaRPr>
          </a:p>
        </p:txBody>
      </p:sp>
      <p:sp>
        <p:nvSpPr>
          <p:cNvPr id="1028" name="Rectangle 4"/>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1029" name="Rectangle 5"/>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6"/>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a:solidFill>
                  <a:schemeClr val="tx2">
                    <a:shade val="50000"/>
                  </a:schemeClr>
                </a:solidFill>
                <a:latin typeface="+mn-lt"/>
              </a:defRPr>
            </a:lvl1pPr>
          </a:lstStyle>
          <a:p>
            <a:pPr>
              <a:defRPr/>
            </a:pPr>
            <a:r>
              <a:rPr lang="en-US"/>
              <a:t>10/29/2008</a:t>
            </a:r>
          </a:p>
        </p:txBody>
      </p:sp>
      <p:sp>
        <p:nvSpPr>
          <p:cNvPr id="15" name="Rectangle 7"/>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a:solidFill>
                  <a:schemeClr val="tx2">
                    <a:shade val="50000"/>
                  </a:schemeClr>
                </a:solidFill>
                <a:latin typeface="+mn-lt"/>
              </a:defRPr>
            </a:lvl1pPr>
          </a:lstStyle>
          <a:p>
            <a:pPr>
              <a:defRPr/>
            </a:pPr>
            <a:endParaRPr lang="en-US"/>
          </a:p>
        </p:txBody>
      </p:sp>
      <p:sp>
        <p:nvSpPr>
          <p:cNvPr id="17" name="Rectangle 8"/>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2051" name="Rectangle 3"/>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4"/>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5"/>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6"/>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12" name="AutoShape 2"/>
          <p:cNvSpPr>
            <a:spLocks/>
          </p:cNvSpPr>
          <p:nvPr/>
        </p:nvSpPr>
        <p:spPr bwMode="auto">
          <a:xfrm>
            <a:off x="0" y="4751388"/>
            <a:ext cx="9144000" cy="2112962"/>
          </a:xfrm>
          <a:custGeom>
            <a:avLst/>
            <a:gdLst>
              <a:gd name="T0" fmla="*/ 0 w 5760"/>
              <a:gd name="T1" fmla="*/ 1066 h 1331"/>
              <a:gd name="T2" fmla="*/ 0 w 5760"/>
              <a:gd name="T3" fmla="*/ 1331 h 1331"/>
              <a:gd name="T4" fmla="*/ 5760 w 5760"/>
              <a:gd name="T5" fmla="*/ 1331 h 1331"/>
              <a:gd name="T6" fmla="*/ 5760 w 5760"/>
              <a:gd name="T7" fmla="*/ 0 h 1331"/>
              <a:gd name="T8" fmla="*/ 0 w 5760"/>
              <a:gd name="T9" fmla="*/ 1066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solidFill>
            <a:srgbClr val="7C7C7C">
              <a:alpha val="45097"/>
            </a:srgbClr>
          </a:solidFill>
          <a:ln w="9525">
            <a:noFill/>
            <a:round/>
            <a:headEnd/>
            <a:tailEnd/>
          </a:ln>
          <a:effectLst>
            <a:outerShdw dist="44450" dir="16200000" algn="ctr" rotWithShape="0">
              <a:srgbClr val="000000">
                <a:alpha val="34999"/>
              </a:srgbClr>
            </a:outerShdw>
          </a:effectLst>
        </p:spPr>
        <p:txBody>
          <a:bodyPr/>
          <a:lstStyle/>
          <a:p>
            <a:pPr fontAlgn="auto">
              <a:spcBef>
                <a:spcPts val="0"/>
              </a:spcBef>
              <a:spcAft>
                <a:spcPts val="0"/>
              </a:spcAft>
              <a:defRPr/>
            </a:pPr>
            <a:endParaRPr lang="en-US">
              <a:latin typeface="+mn-lt"/>
            </a:endParaRPr>
          </a:p>
        </p:txBody>
      </p:sp>
      <p:sp>
        <p:nvSpPr>
          <p:cNvPr id="16" name="AutoShape 3"/>
          <p:cNvSpPr>
            <a:spLocks/>
          </p:cNvSpPr>
          <p:nvPr/>
        </p:nvSpPr>
        <p:spPr bwMode="auto">
          <a:xfrm>
            <a:off x="7315200" y="0"/>
            <a:ext cx="1828800" cy="6858000"/>
          </a:xfrm>
          <a:custGeom>
            <a:avLst/>
            <a:gdLst>
              <a:gd name="T0" fmla="*/ 1828800 w 1914"/>
              <a:gd name="T1" fmla="*/ 14258 h 4329"/>
              <a:gd name="T2" fmla="*/ 1828800 w 1914"/>
              <a:gd name="T3" fmla="*/ 6858000 h 4329"/>
              <a:gd name="T4" fmla="*/ 194919 w 1914"/>
              <a:gd name="T5" fmla="*/ 6854832 h 4329"/>
              <a:gd name="T6" fmla="*/ 0 w 1914"/>
              <a:gd name="T7" fmla="*/ 0 h 4329"/>
              <a:gd name="T8" fmla="*/ 1828800 w 1914"/>
              <a:gd name="T9" fmla="*/ 14258 h 4329"/>
              <a:gd name="T10" fmla="*/ 0 60000 65536"/>
              <a:gd name="T11" fmla="*/ 0 60000 65536"/>
              <a:gd name="T12" fmla="*/ 0 60000 65536"/>
              <a:gd name="T13" fmla="*/ 0 60000 65536"/>
              <a:gd name="T14" fmla="*/ 0 60000 65536"/>
              <a:gd name="T15" fmla="*/ 0 w 1914"/>
              <a:gd name="T16" fmla="*/ 0 h 4329"/>
              <a:gd name="T17" fmla="*/ 1914 w 1914"/>
              <a:gd name="T18" fmla="*/ 4329 h 4329"/>
            </a:gdLst>
            <a:ahLst/>
            <a:cxnLst>
              <a:cxn ang="T10">
                <a:pos x="T0" y="T1"/>
              </a:cxn>
              <a:cxn ang="T11">
                <a:pos x="T2" y="T3"/>
              </a:cxn>
              <a:cxn ang="T12">
                <a:pos x="T4" y="T5"/>
              </a:cxn>
              <a:cxn ang="T13">
                <a:pos x="T6" y="T7"/>
              </a:cxn>
              <a:cxn ang="T14">
                <a:pos x="T8" y="T9"/>
              </a:cxn>
            </a:cxnLst>
            <a:rect l="T15" t="T16" r="T17" b="T18"/>
            <a:pathLst>
              <a:path w="1914" h="4329">
                <a:moveTo>
                  <a:pt x="1914" y="9"/>
                </a:moveTo>
                <a:lnTo>
                  <a:pt x="1914" y="4329"/>
                </a:lnTo>
                <a:lnTo>
                  <a:pt x="204" y="4327"/>
                </a:lnTo>
                <a:cubicBezTo>
                  <a:pt x="1288" y="3574"/>
                  <a:pt x="2082" y="1734"/>
                  <a:pt x="0" y="0"/>
                </a:cubicBezTo>
                <a:lnTo>
                  <a:pt x="1914" y="9"/>
                </a:lnTo>
                <a:close/>
              </a:path>
            </a:pathLst>
          </a:custGeom>
          <a:solidFill>
            <a:srgbClr val="595959">
              <a:alpha val="39999"/>
            </a:srgbClr>
          </a:solidFill>
          <a:ln w="9525">
            <a:noFill/>
            <a:round/>
            <a:headEnd/>
            <a:tailEnd/>
          </a:ln>
          <a:effectLst>
            <a:outerShdw dist="50800" dir="10800000" algn="ctr" rotWithShape="0">
              <a:srgbClr val="000000">
                <a:alpha val="45000"/>
              </a:srgbClr>
            </a:outerShdw>
          </a:effectLst>
        </p:spPr>
        <p:txBody>
          <a:bodyPr/>
          <a:lstStyle/>
          <a:p>
            <a:pPr fontAlgn="auto">
              <a:spcBef>
                <a:spcPts val="0"/>
              </a:spcBef>
              <a:spcAft>
                <a:spcPts val="0"/>
              </a:spcAft>
              <a:defRPr/>
            </a:pPr>
            <a:endParaRPr lang="en-US">
              <a:latin typeface="+mn-lt"/>
            </a:endParaRPr>
          </a:p>
        </p:txBody>
      </p:sp>
      <p:sp>
        <p:nvSpPr>
          <p:cNvPr id="3076" name="Rectangle 4"/>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3077" name="Rectangle 5"/>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6"/>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7"/>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8"/>
          <p:cNvSpPr>
            <a:spLocks noGrp="1"/>
          </p:cNvSpPr>
          <p:nvPr>
            <p:ph type="sldNum" sz="quarter" idx="4"/>
          </p:nvPr>
        </p:nvSpPr>
        <p:spPr>
          <a:xfrm>
            <a:off x="8156575" y="6421438"/>
            <a:ext cx="762000" cy="365125"/>
          </a:xfrm>
          <a:prstGeom prst="rect">
            <a:avLst/>
          </a:prstGeom>
        </p:spPr>
        <p:txBody>
          <a:bodyPr vert="horz" lIns="0" tIns="0" rIns="0" bIns="0" anchor="b"/>
          <a:lstStyle>
            <a:lvl1pPr algn="r" fontAlgn="auto">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4098" name="Rectangle 2"/>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4099" name="Rectangle 3"/>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4"/>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5"/>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6"/>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6E3622-37E9-EE03-381E-9BF995DD0DA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7EE62152-64EB-BD96-4E23-79C68946D64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A178E302-4A8B-D097-E86B-95802FDFB09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r>
              <a:rPr lang="en-US"/>
              <a:t>10/29/2008</a:t>
            </a:r>
          </a:p>
        </p:txBody>
      </p:sp>
      <p:sp>
        <p:nvSpPr>
          <p:cNvPr id="5" name="Footer Placeholder 4">
            <a:extLst>
              <a:ext uri="{FF2B5EF4-FFF2-40B4-BE49-F238E27FC236}">
                <a16:creationId xmlns:a16="http://schemas.microsoft.com/office/drawing/2014/main" id="{BCCAE431-4DF9-A018-6DA7-78CA63CDE67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E743E07-3AE6-C9A6-AA66-A42A1BA0BE9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r>
              <a:rPr lang="en-US"/>
              <a:t></a:t>
            </a:r>
          </a:p>
        </p:txBody>
      </p:sp>
    </p:spTree>
    <p:extLst>
      <p:ext uri="{BB962C8B-B14F-4D97-AF65-F5344CB8AC3E}">
        <p14:creationId xmlns:p14="http://schemas.microsoft.com/office/powerpoint/2010/main" val="4188716108"/>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T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hyperlink" Target="http://www.istatistikmerkezi.com/makale,spss-bagimsiz-orneklem-t-8211;-testi,118.html" TargetMode="External"/><Relationship Id="rId2" Type="http://schemas.openxmlformats.org/officeDocument/2006/relationships/hyperlink" Target="http://www.istatistikmerkezi.com/makale,spss-tek-orneklem-t-8211;-testi,119.html" TargetMode="External"/><Relationship Id="rId1" Type="http://schemas.openxmlformats.org/officeDocument/2006/relationships/slideLayout" Target="../slideLayouts/slideLayout51.xml"/><Relationship Id="rId4" Type="http://schemas.openxmlformats.org/officeDocument/2006/relationships/hyperlink" Target="http://www.istatistikmerkezi.com/makale,spss-eslestirilmis-orneklem-t-8211;-testi,117.htm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6.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00.png"/><Relationship Id="rId2" Type="http://schemas.openxmlformats.org/officeDocument/2006/relationships/notesSlide" Target="../notesSlides/notesSlide10.xml"/><Relationship Id="rId1" Type="http://schemas.openxmlformats.org/officeDocument/2006/relationships/slideLayout" Target="../slideLayouts/slideLayout46.xml"/><Relationship Id="rId6" Type="http://schemas.openxmlformats.org/officeDocument/2006/relationships/customXml" Target="../ink/ink2.xml"/><Relationship Id="rId5" Type="http://schemas.openxmlformats.org/officeDocument/2006/relationships/image" Target="../media/image11.png"/><Relationship Id="rId4" Type="http://schemas.openxmlformats.org/officeDocument/2006/relationships/customXml" Target="../ink/ink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6.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2"/>
          <p:cNvSpPr>
            <a:spLocks noGrp="1"/>
          </p:cNvSpPr>
          <p:nvPr>
            <p:ph type="ctrTitle" idx="4294967295"/>
          </p:nvPr>
        </p:nvSpPr>
        <p:spPr>
          <a:xfrm>
            <a:off x="2438400" y="1154834"/>
            <a:ext cx="6480175" cy="2301875"/>
          </a:xfrm>
        </p:spPr>
        <p:txBody>
          <a:bodyPr anchor="t">
            <a:normAutofit/>
          </a:bodyPr>
          <a:lstStyle/>
          <a:p>
            <a:pPr algn="ctr" fontAlgn="auto">
              <a:spcAft>
                <a:spcPts val="0"/>
              </a:spcAft>
              <a:defRPr/>
            </a:pPr>
            <a:br>
              <a:rPr lang="tr-TR" sz="4400" b="1" dirty="0">
                <a:solidFill>
                  <a:schemeClr val="accent6"/>
                </a:solidFill>
              </a:rPr>
            </a:br>
            <a:r>
              <a:rPr lang="tr-TR" sz="4400" b="1" dirty="0">
                <a:solidFill>
                  <a:schemeClr val="accent6"/>
                </a:solidFill>
              </a:rPr>
              <a:t>T Testleri</a:t>
            </a:r>
            <a:endParaRPr lang="en-US" sz="4400" b="1" dirty="0">
              <a:solidFill>
                <a:schemeClr val="accent6"/>
              </a:solidFill>
            </a:endParaRPr>
          </a:p>
        </p:txBody>
      </p:sp>
      <p:sp>
        <p:nvSpPr>
          <p:cNvPr id="11268" name="Rectangle 3"/>
          <p:cNvSpPr>
            <a:spLocks noGrp="1"/>
          </p:cNvSpPr>
          <p:nvPr>
            <p:ph type="subTitle" idx="4294967295"/>
          </p:nvPr>
        </p:nvSpPr>
        <p:spPr>
          <a:xfrm>
            <a:off x="990600" y="4572000"/>
            <a:ext cx="6480175" cy="609600"/>
          </a:xfrm>
        </p:spPr>
        <p:txBody>
          <a:bodyPr tIns="0" rIns="45720" bIns="0" anchor="b">
            <a:normAutofit fontScale="77500" lnSpcReduction="20000"/>
          </a:bodyPr>
          <a:lstStyle/>
          <a:p>
            <a:pPr marL="0" indent="0" algn="ctr">
              <a:buFont typeface="Wingdings 2" panose="05020102010507070707" pitchFamily="18" charset="2"/>
              <a:buNone/>
            </a:pPr>
            <a:endParaRPr lang="tr-TR" sz="2800" dirty="0"/>
          </a:p>
          <a:p>
            <a:pPr marL="0" indent="0" algn="ctr">
              <a:buFont typeface="Wingdings 2" panose="05020102010507070707" pitchFamily="18" charset="2"/>
              <a:buNone/>
            </a:pPr>
            <a:r>
              <a:rPr lang="tr-TR" sz="2800" dirty="0"/>
              <a:t>Dr. Evrim Genç Kumtepe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Başlık"/>
          <p:cNvSpPr txBox="1">
            <a:spLocks/>
          </p:cNvSpPr>
          <p:nvPr/>
        </p:nvSpPr>
        <p:spPr>
          <a:xfrm>
            <a:off x="175320" y="228600"/>
            <a:ext cx="8892480" cy="914400"/>
          </a:xfrm>
          <a:prstGeom prst="rect">
            <a:avLst/>
          </a:prstGeom>
        </p:spPr>
        <p:txBody>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tr-TR" sz="3600" dirty="0"/>
              <a:t>t Test için Varsayımlar</a:t>
            </a:r>
          </a:p>
        </p:txBody>
      </p:sp>
      <p:sp>
        <p:nvSpPr>
          <p:cNvPr id="6" name="2 İçerik Yer Tutucusu"/>
          <p:cNvSpPr txBox="1">
            <a:spLocks/>
          </p:cNvSpPr>
          <p:nvPr/>
        </p:nvSpPr>
        <p:spPr>
          <a:xfrm>
            <a:off x="175320" y="1143000"/>
            <a:ext cx="8740080" cy="5538264"/>
          </a:xfrm>
          <a:prstGeom prst="rect">
            <a:avLst/>
          </a:prstGeom>
        </p:spPr>
        <p:txBody>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fontAlgn="auto">
              <a:buClr>
                <a:schemeClr val="accent6"/>
              </a:buClr>
              <a:buNone/>
            </a:pPr>
            <a:r>
              <a:rPr lang="tr-TR" dirty="0"/>
              <a:t>Verilerinizin aşağıdaki  varsayımları sağlaması gerekir</a:t>
            </a:r>
          </a:p>
          <a:p>
            <a:pPr fontAlgn="auto">
              <a:buClr>
                <a:schemeClr val="accent6"/>
              </a:buClr>
            </a:pPr>
            <a:r>
              <a:rPr lang="tr-TR" dirty="0"/>
              <a:t>Test edilen değişkenin sürekli değişken olması (eşit aralıklı ya da oranlı)</a:t>
            </a:r>
          </a:p>
          <a:p>
            <a:pPr>
              <a:buClr>
                <a:schemeClr val="accent6"/>
              </a:buClr>
            </a:pPr>
            <a:r>
              <a:rPr lang="tr-TR" dirty="0"/>
              <a:t>Test değişkenindeki puanlar bağımsızdır (yani, gözlemlerin bağımsızlığı)</a:t>
            </a:r>
          </a:p>
          <a:p>
            <a:pPr lvl="1">
              <a:buClr>
                <a:schemeClr val="accent6"/>
              </a:buClr>
            </a:pPr>
            <a:r>
              <a:rPr lang="tr-TR" dirty="0"/>
              <a:t>Test değişkenindeki puanlar arasında herhangi bir ilişki yoktur</a:t>
            </a:r>
          </a:p>
          <a:p>
            <a:pPr lvl="1">
              <a:buClr>
                <a:schemeClr val="accent6"/>
              </a:buClr>
            </a:pPr>
            <a:r>
              <a:rPr lang="tr-TR" dirty="0"/>
              <a:t> Bu varsayımı ihlal etmek hatalı bir p değeri verir</a:t>
            </a:r>
          </a:p>
          <a:p>
            <a:pPr>
              <a:buClr>
                <a:schemeClr val="accent6"/>
              </a:buClr>
            </a:pPr>
            <a:r>
              <a:rPr lang="tr-TR" dirty="0"/>
              <a:t>Popülasyondan rasgele seçilmiş örnekleme ait veriler olması</a:t>
            </a:r>
          </a:p>
          <a:p>
            <a:pPr>
              <a:buClr>
                <a:schemeClr val="accent6"/>
              </a:buClr>
            </a:pPr>
            <a:r>
              <a:rPr lang="tr-TR" dirty="0"/>
              <a:t>Test değişkeni için örneklemin ve popülasyonun yaklaşık olarak normal dağılım göstermesi</a:t>
            </a:r>
          </a:p>
          <a:p>
            <a:pPr lvl="1">
              <a:buClr>
                <a:schemeClr val="accent6"/>
              </a:buClr>
            </a:pPr>
            <a:r>
              <a:rPr lang="tr-TR" dirty="0"/>
              <a:t>Özellikle aşırı çarpık  dağılımlar, testin gücünü önemli ölçüde azaltır</a:t>
            </a:r>
          </a:p>
          <a:p>
            <a:pPr fontAlgn="auto">
              <a:buClr>
                <a:schemeClr val="accent6"/>
              </a:buClr>
            </a:pPr>
            <a:endParaRPr lang="tr-TR" dirty="0"/>
          </a:p>
          <a:p>
            <a:pPr fontAlgn="auto">
              <a:buClr>
                <a:schemeClr val="accent6"/>
              </a:buClr>
            </a:pPr>
            <a:endParaRPr lang="tr-T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369" y="2290112"/>
            <a:ext cx="8796068" cy="3477875"/>
          </a:xfrm>
          <a:prstGeom prst="rect">
            <a:avLst/>
          </a:prstGeom>
        </p:spPr>
        <p:txBody>
          <a:bodyPr wrap="square">
            <a:spAutoFit/>
          </a:bodyPr>
          <a:lstStyle/>
          <a:p>
            <a:pPr marL="914400" lvl="1" indent="-457200">
              <a:buFont typeface="+mj-lt"/>
              <a:buAutoNum type="arabicPeriod"/>
            </a:pPr>
            <a:r>
              <a:rPr lang="tr-TR" sz="2000" dirty="0"/>
              <a:t>Küçük örneklemler için (n &lt;50), eğer çarpıklık veya basıklık için mutlak z-skorları 1.96'dan daha büyükse –ki bu da alfa seviyesi 0.05'e karşılık gelir, örneklemin dağılımı normal değildir sonucuna ulaşılır</a:t>
            </a:r>
          </a:p>
          <a:p>
            <a:pPr marL="914400" lvl="1" indent="-457200">
              <a:buFont typeface="+mj-lt"/>
              <a:buAutoNum type="arabicPeriod"/>
            </a:pPr>
            <a:r>
              <a:rPr lang="tr-TR" sz="2000" dirty="0"/>
              <a:t>Orta büyüklükteki örneklemler için (50 &lt; n &lt;300), çarpıklık ve basıklık için mutlak z değeri 3.29 üzerinde ise örneklemin dağılımı normal değildir. </a:t>
            </a:r>
          </a:p>
          <a:p>
            <a:pPr marL="914400" lvl="1" indent="-457200">
              <a:buFont typeface="+mj-lt"/>
              <a:buAutoNum type="arabicPeriod"/>
            </a:pPr>
            <a:r>
              <a:rPr lang="en-US" sz="2000" dirty="0"/>
              <a:t>300'den </a:t>
            </a:r>
            <a:r>
              <a:rPr lang="en-US" sz="2000" dirty="0" err="1"/>
              <a:t>büyük</a:t>
            </a:r>
            <a:r>
              <a:rPr lang="en-US" sz="2000" dirty="0"/>
              <a:t> </a:t>
            </a:r>
            <a:r>
              <a:rPr lang="en-US" sz="2000" dirty="0" err="1"/>
              <a:t>örneklemler</a:t>
            </a:r>
            <a:r>
              <a:rPr lang="en-US" sz="2000" dirty="0"/>
              <a:t> </a:t>
            </a:r>
            <a:r>
              <a:rPr lang="en-US" sz="2000" dirty="0" err="1"/>
              <a:t>için</a:t>
            </a:r>
            <a:r>
              <a:rPr lang="en-US" sz="2000" dirty="0"/>
              <a:t>, </a:t>
            </a:r>
            <a:r>
              <a:rPr lang="en-US" sz="2000" b="1" dirty="0"/>
              <a:t>z-</a:t>
            </a:r>
            <a:r>
              <a:rPr lang="en-US" sz="2000" b="1" dirty="0" err="1"/>
              <a:t>değerlerini</a:t>
            </a:r>
            <a:r>
              <a:rPr lang="en-US" sz="2000" b="1" dirty="0"/>
              <a:t> </a:t>
            </a:r>
            <a:r>
              <a:rPr lang="en-US" sz="2000" b="1" dirty="0" err="1"/>
              <a:t>dikkate</a:t>
            </a:r>
            <a:r>
              <a:rPr lang="en-US" sz="2000" b="1" dirty="0"/>
              <a:t> </a:t>
            </a:r>
            <a:r>
              <a:rPr lang="en-US" sz="2000" b="1" dirty="0" err="1"/>
              <a:t>almadan</a:t>
            </a:r>
            <a:r>
              <a:rPr lang="en-US" sz="2000" dirty="0"/>
              <a:t> histogramlara </a:t>
            </a:r>
            <a:r>
              <a:rPr lang="en-US" sz="2000" dirty="0" err="1"/>
              <a:t>bakarak</a:t>
            </a:r>
            <a:r>
              <a:rPr lang="en-US" sz="2000" dirty="0"/>
              <a:t> </a:t>
            </a:r>
            <a:r>
              <a:rPr lang="en-US" sz="2000" dirty="0" err="1"/>
              <a:t>veya</a:t>
            </a:r>
            <a:r>
              <a:rPr lang="en-US" sz="2000" dirty="0"/>
              <a:t> </a:t>
            </a:r>
            <a:r>
              <a:rPr lang="tr-TR" sz="2000" dirty="0"/>
              <a:t>çarpıklık için mutlak </a:t>
            </a:r>
            <a:r>
              <a:rPr lang="tr-TR" sz="2000" dirty="0" err="1"/>
              <a:t>skewness</a:t>
            </a:r>
            <a:r>
              <a:rPr lang="tr-TR" sz="2000" dirty="0"/>
              <a:t> değeri 2’yi geçmiyorsa basıklık için de mutlak </a:t>
            </a:r>
            <a:r>
              <a:rPr lang="tr-TR" sz="2000" dirty="0" err="1"/>
              <a:t>kurtosis</a:t>
            </a:r>
            <a:r>
              <a:rPr lang="tr-TR" sz="2000" dirty="0"/>
              <a:t> 7’yi geçmiyorsa dağılım normal kabul edilir.</a:t>
            </a:r>
          </a:p>
        </p:txBody>
      </p:sp>
      <p:sp>
        <p:nvSpPr>
          <p:cNvPr id="4" name="1 Başlık"/>
          <p:cNvSpPr txBox="1">
            <a:spLocks/>
          </p:cNvSpPr>
          <p:nvPr/>
        </p:nvSpPr>
        <p:spPr>
          <a:xfrm>
            <a:off x="175320" y="228600"/>
            <a:ext cx="8892480" cy="914400"/>
          </a:xfrm>
          <a:prstGeom prst="rect">
            <a:avLst/>
          </a:prstGeom>
        </p:spPr>
        <p:txBody>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tr-TR" sz="3600" dirty="0"/>
              <a:t>Normal Dağılım</a:t>
            </a:r>
          </a:p>
        </p:txBody>
      </p:sp>
      <p:sp>
        <p:nvSpPr>
          <p:cNvPr id="5" name="TextBox 4"/>
          <p:cNvSpPr txBox="1"/>
          <p:nvPr/>
        </p:nvSpPr>
        <p:spPr>
          <a:xfrm>
            <a:off x="2216227" y="952666"/>
            <a:ext cx="4058547" cy="369332"/>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none" rtlCol="0">
            <a:spAutoFit/>
          </a:bodyPr>
          <a:lstStyle/>
          <a:p>
            <a:r>
              <a:rPr lang="tr-TR">
                <a:solidFill>
                  <a:schemeClr val="tx1"/>
                </a:solidFill>
              </a:rPr>
              <a:t>Z</a:t>
            </a:r>
            <a:r>
              <a:rPr lang="tr-TR" baseline="-25000">
                <a:solidFill>
                  <a:schemeClr val="tx1"/>
                </a:solidFill>
              </a:rPr>
              <a:t>çarpıklık</a:t>
            </a:r>
            <a:r>
              <a:rPr lang="tr-TR">
                <a:solidFill>
                  <a:schemeClr val="tx1"/>
                </a:solidFill>
              </a:rPr>
              <a:t>= Çarpıklık istatistiği/ standart hata</a:t>
            </a:r>
          </a:p>
        </p:txBody>
      </p:sp>
      <p:sp>
        <p:nvSpPr>
          <p:cNvPr id="6" name="TextBox 5"/>
          <p:cNvSpPr txBox="1"/>
          <p:nvPr/>
        </p:nvSpPr>
        <p:spPr>
          <a:xfrm>
            <a:off x="2209038" y="1553004"/>
            <a:ext cx="3892861" cy="369332"/>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none" rtlCol="0">
            <a:spAutoFit/>
          </a:bodyPr>
          <a:lstStyle/>
          <a:p>
            <a:r>
              <a:rPr lang="tr-TR" dirty="0" err="1">
                <a:solidFill>
                  <a:schemeClr val="tx1"/>
                </a:solidFill>
              </a:rPr>
              <a:t>Z</a:t>
            </a:r>
            <a:r>
              <a:rPr lang="tr-TR" baseline="-25000" dirty="0" err="1">
                <a:solidFill>
                  <a:schemeClr val="tx1"/>
                </a:solidFill>
              </a:rPr>
              <a:t>basıklık</a:t>
            </a:r>
            <a:r>
              <a:rPr lang="tr-TR" dirty="0">
                <a:solidFill>
                  <a:schemeClr val="tx1"/>
                </a:solidFill>
              </a:rPr>
              <a:t>= Basıklık istatistiği/ standart hata</a:t>
            </a:r>
          </a:p>
        </p:txBody>
      </p:sp>
      <p:sp>
        <p:nvSpPr>
          <p:cNvPr id="7" name="TextBox 6">
            <a:extLst>
              <a:ext uri="{FF2B5EF4-FFF2-40B4-BE49-F238E27FC236}">
                <a16:creationId xmlns:a16="http://schemas.microsoft.com/office/drawing/2014/main" id="{6346DA10-879D-AE78-31AD-C20C4E62FBC8}"/>
              </a:ext>
            </a:extLst>
          </p:cNvPr>
          <p:cNvSpPr txBox="1"/>
          <p:nvPr/>
        </p:nvSpPr>
        <p:spPr>
          <a:xfrm>
            <a:off x="382487" y="6162482"/>
            <a:ext cx="8315831" cy="523220"/>
          </a:xfrm>
          <a:prstGeom prst="rect">
            <a:avLst/>
          </a:prstGeom>
          <a:noFill/>
        </p:spPr>
        <p:txBody>
          <a:bodyPr wrap="square">
            <a:spAutoFit/>
          </a:bodyPr>
          <a:lstStyle/>
          <a:p>
            <a:pPr lvl="1"/>
            <a:r>
              <a:rPr lang="en-US" sz="1400" dirty="0"/>
              <a:t>Kim, H.Y. (2013). Statistical notes for clinical researchers: assessing normal distribution (2) using skewness and kurtosis. </a:t>
            </a:r>
            <a:r>
              <a:rPr lang="en-US" sz="1400" dirty="0" err="1"/>
              <a:t>Restor</a:t>
            </a:r>
            <a:r>
              <a:rPr lang="en-US" sz="1400" dirty="0"/>
              <a:t> Dent </a:t>
            </a:r>
            <a:r>
              <a:rPr lang="en-US" sz="1400" dirty="0" err="1"/>
              <a:t>Endod</a:t>
            </a:r>
            <a:r>
              <a:rPr lang="en-US" sz="1400" dirty="0"/>
              <a:t>, 38(1), 52 4. https://</a:t>
            </a:r>
            <a:r>
              <a:rPr lang="en-US" sz="1400" dirty="0" err="1"/>
              <a:t>doi.org</a:t>
            </a:r>
            <a:r>
              <a:rPr lang="en-US" sz="1400" dirty="0"/>
              <a:t>/10.5395/rde.2013.38.1.52</a:t>
            </a:r>
          </a:p>
        </p:txBody>
      </p:sp>
    </p:spTree>
    <p:extLst>
      <p:ext uri="{BB962C8B-B14F-4D97-AF65-F5344CB8AC3E}">
        <p14:creationId xmlns:p14="http://schemas.microsoft.com/office/powerpoint/2010/main" val="65328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Başlık"/>
          <p:cNvSpPr txBox="1">
            <a:spLocks/>
          </p:cNvSpPr>
          <p:nvPr/>
        </p:nvSpPr>
        <p:spPr>
          <a:xfrm>
            <a:off x="175320" y="228600"/>
            <a:ext cx="8892480" cy="914400"/>
          </a:xfrm>
          <a:prstGeom prst="rect">
            <a:avLst/>
          </a:prstGeom>
        </p:spPr>
        <p:txBody>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tr-TR" sz="3600" dirty="0"/>
              <a:t>t Test için Varsayımlar</a:t>
            </a:r>
          </a:p>
        </p:txBody>
      </p:sp>
      <p:sp>
        <p:nvSpPr>
          <p:cNvPr id="6" name="2 İçerik Yer Tutucusu"/>
          <p:cNvSpPr txBox="1">
            <a:spLocks/>
          </p:cNvSpPr>
          <p:nvPr/>
        </p:nvSpPr>
        <p:spPr>
          <a:xfrm>
            <a:off x="175320" y="1143000"/>
            <a:ext cx="8740080" cy="4724400"/>
          </a:xfrm>
          <a:prstGeom prst="rect">
            <a:avLst/>
          </a:prstGeom>
        </p:spPr>
        <p:txBody>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
                <a:schemeClr val="accent6"/>
              </a:buClr>
            </a:pPr>
            <a:r>
              <a:rPr lang="tr-TR" sz="2800" dirty="0"/>
              <a:t>Varyansların homojenliği</a:t>
            </a:r>
          </a:p>
          <a:p>
            <a:pPr lvl="1">
              <a:buClr>
                <a:schemeClr val="accent6"/>
              </a:buClr>
            </a:pPr>
            <a:r>
              <a:rPr lang="tr-TR" sz="2000" dirty="0"/>
              <a:t>Bu varsayımı ihlal edildiğinde ve her grup için örneklem büyüklükleri farklı olduğunda, p değeri güvenilir değildir. </a:t>
            </a:r>
          </a:p>
          <a:p>
            <a:pPr lvl="1">
              <a:buClr>
                <a:schemeClr val="accent6"/>
              </a:buClr>
            </a:pPr>
            <a:r>
              <a:rPr lang="tr-TR" sz="2000" dirty="0"/>
              <a:t>Bununla birlikte, Bağımsız Örnekler t Testi sonucu, eşit popülasyon </a:t>
            </a:r>
            <a:r>
              <a:rPr lang="tr-TR" sz="2000" dirty="0" err="1"/>
              <a:t>varyanslarını</a:t>
            </a:r>
            <a:r>
              <a:rPr lang="tr-TR" sz="2000" dirty="0"/>
              <a:t> esas alınmayan yaklaşık bir t istatistiği de üretir. Popülasyonlar arasında eşit varyans </a:t>
            </a:r>
            <a:r>
              <a:rPr lang="tr-TR" sz="2000" b="1" u="sng" dirty="0"/>
              <a:t>olmadığı </a:t>
            </a:r>
            <a:r>
              <a:rPr lang="tr-TR" sz="2000" dirty="0"/>
              <a:t>düşünüldüğünde t istatistiği yerine  </a:t>
            </a:r>
            <a:r>
              <a:rPr lang="tr-TR" sz="2000" dirty="0" err="1"/>
              <a:t>Welch</a:t>
            </a:r>
            <a:r>
              <a:rPr lang="tr-TR" sz="2000" dirty="0"/>
              <a:t>  Testi kullanılır.</a:t>
            </a:r>
          </a:p>
          <a:p>
            <a:pPr lvl="1">
              <a:buClr>
                <a:schemeClr val="accent6"/>
              </a:buClr>
            </a:pPr>
            <a:r>
              <a:rPr lang="tr-TR" sz="2000" dirty="0" err="1"/>
              <a:t>Welch</a:t>
            </a:r>
            <a:r>
              <a:rPr lang="tr-TR" sz="2000" dirty="0"/>
              <a:t> t Testi ayrıca Eşitsiz Varyans t Testi veya Ayrı Varyans t Testi olarak bilinir.</a:t>
            </a:r>
          </a:p>
          <a:p>
            <a:pPr>
              <a:buClr>
                <a:schemeClr val="accent6"/>
              </a:buClr>
            </a:pPr>
            <a:r>
              <a:rPr lang="tr-TR" sz="2800" dirty="0"/>
              <a:t>Uç değerlerin (çıkıntı puan)  olmaması</a:t>
            </a:r>
          </a:p>
          <a:p>
            <a:pPr marL="0" indent="0" fontAlgn="auto">
              <a:buClr>
                <a:schemeClr val="accent6"/>
              </a:buClr>
              <a:buFont typeface="Wingdings 3" charset="2"/>
              <a:buNone/>
            </a:pPr>
            <a:r>
              <a:rPr lang="tr-TR" i="1" dirty="0"/>
              <a:t>Not</a:t>
            </a:r>
            <a:r>
              <a:rPr lang="tr-TR" dirty="0"/>
              <a:t>: Veriler </a:t>
            </a:r>
            <a:r>
              <a:rPr lang="tr-TR" b="1" dirty="0"/>
              <a:t>normal dağılıma uygunsa</a:t>
            </a:r>
            <a:r>
              <a:rPr lang="tr-TR" dirty="0"/>
              <a:t> bazen sıralama düzeyinde toplanmış veriler üzerinde de parametrik testler uygulandığı görülmektedir</a:t>
            </a:r>
          </a:p>
          <a:p>
            <a:pPr fontAlgn="auto">
              <a:buClr>
                <a:schemeClr val="accent6"/>
              </a:buClr>
            </a:pPr>
            <a:endParaRPr lang="tr-TR" sz="2400" dirty="0"/>
          </a:p>
          <a:p>
            <a:pPr fontAlgn="auto">
              <a:buClr>
                <a:schemeClr val="accent6"/>
              </a:buClr>
            </a:pPr>
            <a:endParaRPr lang="tr-TR" sz="2400" dirty="0"/>
          </a:p>
        </p:txBody>
      </p:sp>
    </p:spTree>
    <p:extLst>
      <p:ext uri="{BB962C8B-B14F-4D97-AF65-F5344CB8AC3E}">
        <p14:creationId xmlns:p14="http://schemas.microsoft.com/office/powerpoint/2010/main" val="195434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p:cNvSpPr>
          <p:nvPr>
            <p:ph type="title" idx="4294967295"/>
          </p:nvPr>
        </p:nvSpPr>
        <p:spPr>
          <a:xfrm>
            <a:off x="0" y="274638"/>
            <a:ext cx="7467600" cy="1143000"/>
          </a:xfrm>
        </p:spPr>
        <p:txBody>
          <a:bodyPr/>
          <a:lstStyle/>
          <a:p>
            <a:r>
              <a:rPr lang="en-US" i="1"/>
              <a:t>   </a:t>
            </a:r>
            <a:r>
              <a:rPr lang="tr-TR" i="1"/>
              <a:t>t</a:t>
            </a:r>
            <a:r>
              <a:rPr lang="tr-TR"/>
              <a:t> Testi</a:t>
            </a:r>
            <a:endParaRPr lang="en-US"/>
          </a:p>
        </p:txBody>
      </p:sp>
      <p:sp>
        <p:nvSpPr>
          <p:cNvPr id="13316" name="Rectangle 3"/>
          <p:cNvSpPr>
            <a:spLocks noGrp="1"/>
          </p:cNvSpPr>
          <p:nvPr>
            <p:ph idx="4294967295"/>
          </p:nvPr>
        </p:nvSpPr>
        <p:spPr>
          <a:xfrm>
            <a:off x="685800" y="1143000"/>
            <a:ext cx="7848600" cy="4800600"/>
          </a:xfrm>
        </p:spPr>
        <p:txBody>
          <a:bodyPr>
            <a:normAutofit/>
          </a:bodyPr>
          <a:lstStyle/>
          <a:p>
            <a:pPr marL="0" indent="0">
              <a:buClr>
                <a:schemeClr val="accent6"/>
              </a:buClr>
              <a:buNone/>
            </a:pPr>
            <a:r>
              <a:rPr lang="tr-TR" sz="2800" i="1" dirty="0"/>
              <a:t>t</a:t>
            </a:r>
            <a:r>
              <a:rPr lang="tr-TR" sz="2800" dirty="0"/>
              <a:t>-testleri iki grup arasında fark olup olmadığını karşılaştırmak için kullanılır</a:t>
            </a:r>
          </a:p>
          <a:p>
            <a:pPr lvl="1">
              <a:buClr>
                <a:schemeClr val="accent6"/>
              </a:buClr>
              <a:buFont typeface="Arial" charset="0"/>
              <a:buChar char="•"/>
            </a:pPr>
            <a:r>
              <a:rPr lang="tr-TR" sz="2000" dirty="0">
                <a:solidFill>
                  <a:schemeClr val="accent6">
                    <a:lumMod val="50000"/>
                  </a:schemeClr>
                </a:solidFill>
                <a:hlinkClick r:id="rId2">
                  <a:extLst>
                    <a:ext uri="{A12FA001-AC4F-418D-AE19-62706E023703}">
                      <ahyp:hlinkClr xmlns:ahyp="http://schemas.microsoft.com/office/drawing/2018/hyperlinkcolor" val="tx"/>
                    </a:ext>
                  </a:extLst>
                </a:hlinkClick>
              </a:rPr>
              <a:t>Tek Örneklem t – Testi </a:t>
            </a:r>
            <a:r>
              <a:rPr lang="tr-TR" sz="2000" dirty="0"/>
              <a:t>Tek Örneklem t – Testinde, aynı örneklemin ölçülen ortalaması ile tahmin edilen ya da bilinen ortalaması karşılaştırılır.</a:t>
            </a:r>
          </a:p>
          <a:p>
            <a:pPr lvl="1">
              <a:buClr>
                <a:schemeClr val="accent6"/>
              </a:buClr>
              <a:buFont typeface="Arial" charset="0"/>
              <a:buChar char="•"/>
            </a:pPr>
            <a:r>
              <a:rPr lang="tr-TR" sz="2000" dirty="0">
                <a:solidFill>
                  <a:schemeClr val="accent6">
                    <a:lumMod val="50000"/>
                  </a:schemeClr>
                </a:solidFill>
                <a:hlinkClick r:id="rId3">
                  <a:extLst>
                    <a:ext uri="{A12FA001-AC4F-418D-AE19-62706E023703}">
                      <ahyp:hlinkClr xmlns:ahyp="http://schemas.microsoft.com/office/drawing/2018/hyperlinkcolor" val="tx"/>
                    </a:ext>
                  </a:extLst>
                </a:hlinkClick>
              </a:rPr>
              <a:t>Bağımsız Örneklemler t – Testi </a:t>
            </a:r>
            <a:r>
              <a:rPr lang="tr-TR" sz="2000" dirty="0"/>
              <a:t>Bağımsız örneklemler t-testinde ise tek örneklem t-testinden farklı olarak iki ayrı grubun ortalamaları karşılaştırılır. Örneğin feminizm konusunda erkek ve kadınların görüşleri arasında fark olup olmadığını test etmek isterseniz bağımsız örneklem t-testini kullanabilirsiniz. </a:t>
            </a:r>
          </a:p>
          <a:p>
            <a:pPr lvl="1">
              <a:buClr>
                <a:schemeClr val="accent6"/>
              </a:buClr>
              <a:buFont typeface="Arial" charset="0"/>
              <a:buChar char="•"/>
            </a:pPr>
            <a:r>
              <a:rPr lang="tr-TR" sz="2000" dirty="0">
                <a:solidFill>
                  <a:schemeClr val="accent6">
                    <a:lumMod val="50000"/>
                  </a:schemeClr>
                </a:solidFill>
                <a:hlinkClick r:id="rId4">
                  <a:extLst>
                    <a:ext uri="{A12FA001-AC4F-418D-AE19-62706E023703}">
                      <ahyp:hlinkClr xmlns:ahyp="http://schemas.microsoft.com/office/drawing/2018/hyperlinkcolor" val="tx"/>
                    </a:ext>
                  </a:extLst>
                </a:hlinkClick>
              </a:rPr>
              <a:t>Eşleştirilmiş Örneklemler t – Testi </a:t>
            </a:r>
            <a:r>
              <a:rPr lang="tr-TR" sz="2000" dirty="0"/>
              <a:t>Özellikle deneme modelli araştırmalarda deney öncesi ve sonrası değerlerin karşılaştırılmasına ihtiyaç duyulabilir. Bunun dışında belli bir grubun ilişkili fakat farklı iki konu ya da uygulamaya ilişkin görüşlerini karşılaştırmak isteyebilirsiniz. </a:t>
            </a:r>
          </a:p>
          <a:p>
            <a:pPr>
              <a:buClr>
                <a:schemeClr val="accent6"/>
              </a:buClr>
              <a:buFont typeface="Wingdings 2" panose="05020102010507070707" pitchFamily="18" charset="2"/>
              <a:buChar char="ž"/>
            </a:pPr>
            <a:endParaRPr lang="tr-T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p:cNvSpPr>
          <p:nvPr>
            <p:ph type="title" idx="4294967295"/>
          </p:nvPr>
        </p:nvSpPr>
        <p:spPr>
          <a:xfrm>
            <a:off x="381000" y="274638"/>
            <a:ext cx="7086600" cy="1143000"/>
          </a:xfrm>
        </p:spPr>
        <p:txBody>
          <a:bodyPr/>
          <a:lstStyle/>
          <a:p>
            <a:r>
              <a:rPr lang="tr-TR" dirty="0"/>
              <a:t>Tek Örneklem t – Testi</a:t>
            </a:r>
          </a:p>
        </p:txBody>
      </p:sp>
      <p:sp>
        <p:nvSpPr>
          <p:cNvPr id="14340" name="Rectangle 3"/>
          <p:cNvSpPr>
            <a:spLocks noGrp="1"/>
          </p:cNvSpPr>
          <p:nvPr>
            <p:ph idx="4294967295"/>
          </p:nvPr>
        </p:nvSpPr>
        <p:spPr>
          <a:xfrm>
            <a:off x="304800" y="3992562"/>
            <a:ext cx="8534400" cy="2590800"/>
          </a:xfrm>
        </p:spPr>
        <p:txBody>
          <a:bodyPr>
            <a:normAutofit lnSpcReduction="10000"/>
          </a:bodyPr>
          <a:lstStyle/>
          <a:p>
            <a:pPr>
              <a:buClr>
                <a:schemeClr val="accent6"/>
              </a:buClr>
            </a:pPr>
            <a:r>
              <a:rPr lang="tr-TR" sz="2800" dirty="0"/>
              <a:t>Bu test belirli bir sabitten örneklem ortalamanızın anlamlı düzeyde farklı olup olmadığını gösterir. </a:t>
            </a:r>
          </a:p>
          <a:p>
            <a:pPr lvl="1">
              <a:buClr>
                <a:schemeClr val="accent6"/>
              </a:buClr>
            </a:pPr>
            <a:r>
              <a:rPr lang="tr-TR" sz="2400" dirty="0"/>
              <a:t>“Anlamlılık düzeyi” diyoruz çünkü ana kitledeki tüm bireyler hesaba katılmadığından ulaşılan sonuçta bir yanılma ihtimali her zaman olacaktır. </a:t>
            </a:r>
          </a:p>
          <a:p>
            <a:pPr lvl="1">
              <a:buClr>
                <a:schemeClr val="accent6"/>
              </a:buClr>
            </a:pPr>
            <a:r>
              <a:rPr lang="tr-TR" sz="2400" dirty="0"/>
              <a:t>Bu yanılma olasılığı; “0,05” anlamlılık düzeyi için % 5, “0,01” anlamlılık düzeyi içinse % 1 düzeyindedir. </a:t>
            </a:r>
          </a:p>
        </p:txBody>
      </p:sp>
      <p:pic>
        <p:nvPicPr>
          <p:cNvPr id="3" name="Picture 2">
            <a:extLst>
              <a:ext uri="{FF2B5EF4-FFF2-40B4-BE49-F238E27FC236}">
                <a16:creationId xmlns:a16="http://schemas.microsoft.com/office/drawing/2014/main" id="{B6B1CE7B-EC34-8913-8BB0-056E522F468A}"/>
              </a:ext>
            </a:extLst>
          </p:cNvPr>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76400" y="1219200"/>
            <a:ext cx="5791200" cy="2469303"/>
          </a:xfrm>
          <a:prstGeom prst="rect">
            <a:avLst/>
          </a:prstGeom>
        </p:spPr>
      </p:pic>
      <p:sp>
        <p:nvSpPr>
          <p:cNvPr id="4" name="TextBox 3">
            <a:extLst>
              <a:ext uri="{FF2B5EF4-FFF2-40B4-BE49-F238E27FC236}">
                <a16:creationId xmlns:a16="http://schemas.microsoft.com/office/drawing/2014/main" id="{833E0A06-869C-AD05-F7FD-B33A6648F00B}"/>
              </a:ext>
            </a:extLst>
          </p:cNvPr>
          <p:cNvSpPr txBox="1"/>
          <p:nvPr/>
        </p:nvSpPr>
        <p:spPr>
          <a:xfrm>
            <a:off x="5715000" y="2039034"/>
            <a:ext cx="1556836" cy="646331"/>
          </a:xfrm>
          <a:prstGeom prst="rect">
            <a:avLst/>
          </a:prstGeom>
          <a:noFill/>
        </p:spPr>
        <p:txBody>
          <a:bodyPr wrap="none" rtlCol="0">
            <a:spAutoFit/>
          </a:bodyPr>
          <a:lstStyle/>
          <a:p>
            <a:pPr algn="ctr"/>
            <a:r>
              <a:rPr lang="tr-TR" b="1">
                <a:solidFill>
                  <a:schemeClr val="accent6">
                    <a:lumMod val="50000"/>
                  </a:schemeClr>
                </a:solidFill>
              </a:rPr>
              <a:t>Popülasyon </a:t>
            </a:r>
          </a:p>
          <a:p>
            <a:pPr algn="ctr"/>
            <a:r>
              <a:rPr lang="tr-TR" b="1">
                <a:solidFill>
                  <a:schemeClr val="accent6">
                    <a:lumMod val="50000"/>
                  </a:schemeClr>
                </a:solidFill>
              </a:rPr>
              <a:t>Değeri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tr-TR" dirty="0"/>
              <a:t>Veriler</a:t>
            </a:r>
            <a:endParaRPr lang="en-US" dirty="0"/>
          </a:p>
        </p:txBody>
      </p:sp>
      <p:sp>
        <p:nvSpPr>
          <p:cNvPr id="34819" name="Rectangle 3"/>
          <p:cNvSpPr>
            <a:spLocks noGrp="1" noChangeArrowheads="1"/>
          </p:cNvSpPr>
          <p:nvPr>
            <p:ph idx="1"/>
          </p:nvPr>
        </p:nvSpPr>
        <p:spPr>
          <a:xfrm>
            <a:off x="680550" y="2286000"/>
            <a:ext cx="7782900" cy="3267598"/>
          </a:xfrm>
        </p:spPr>
        <p:txBody>
          <a:bodyPr>
            <a:normAutofit/>
          </a:bodyPr>
          <a:lstStyle/>
          <a:p>
            <a:pPr>
              <a:buClr>
                <a:schemeClr val="accent6"/>
              </a:buClr>
            </a:pPr>
            <a:endParaRPr lang="tr-TR" sz="2400" dirty="0"/>
          </a:p>
          <a:p>
            <a:pPr>
              <a:buClr>
                <a:schemeClr val="accent6"/>
              </a:buClr>
            </a:pPr>
            <a:endParaRPr lang="tr-TR" sz="2400" dirty="0"/>
          </a:p>
          <a:p>
            <a:pPr>
              <a:buClr>
                <a:schemeClr val="accent6"/>
              </a:buClr>
            </a:pPr>
            <a:r>
              <a:rPr lang="tr-TR" sz="2400" dirty="0"/>
              <a:t>Veri dosyası 200 lise öğrencisine ait cinsiyet, etnik köken, </a:t>
            </a:r>
            <a:r>
              <a:rPr lang="tr-TR" sz="2400" dirty="0" err="1"/>
              <a:t>sosyo</a:t>
            </a:r>
            <a:r>
              <a:rPr lang="tr-TR" sz="2400" dirty="0"/>
              <a:t>-ekonomik statü, okul türü gibi demografik bilgileri ve öğrencilerin okuma, yazma, matematik, fen ve sosyal bilimler derslerinden aldıkları standart puanları içermektedir</a:t>
            </a:r>
          </a:p>
          <a:p>
            <a:pPr>
              <a:buClr>
                <a:schemeClr val="accent6"/>
              </a:buClr>
            </a:pPr>
            <a:r>
              <a:rPr lang="tr-TR" sz="2400" dirty="0"/>
              <a:t>Veriler normal dağılıma uygundur</a:t>
            </a:r>
          </a:p>
        </p:txBody>
      </p:sp>
      <p:graphicFrame>
        <p:nvGraphicFramePr>
          <p:cNvPr id="2" name="Nesne 1"/>
          <p:cNvGraphicFramePr>
            <a:graphicFrameLocks noChangeAspect="1"/>
          </p:cNvGraphicFramePr>
          <p:nvPr>
            <p:extLst>
              <p:ext uri="{D42A27DB-BD31-4B8C-83A1-F6EECF244321}">
                <p14:modId xmlns:p14="http://schemas.microsoft.com/office/powerpoint/2010/main" val="2868071848"/>
              </p:ext>
            </p:extLst>
          </p:nvPr>
        </p:nvGraphicFramePr>
        <p:xfrm>
          <a:off x="1295400" y="1711470"/>
          <a:ext cx="1454452" cy="1031729"/>
        </p:xfrm>
        <a:graphic>
          <a:graphicData uri="http://schemas.openxmlformats.org/presentationml/2006/ole">
            <mc:AlternateContent xmlns:mc="http://schemas.openxmlformats.org/markup-compatibility/2006">
              <mc:Choice xmlns:v="urn:schemas-microsoft-com:vml" Requires="v">
                <p:oleObj name="Paketleyici Kabuk Nesnesi" showAsIcon="1" r:id="rId3" imgW="966240" imgH="685800" progId="Package">
                  <p:embed/>
                </p:oleObj>
              </mc:Choice>
              <mc:Fallback>
                <p:oleObj name="Paketleyici Kabuk Nesnesi" showAsIcon="1" r:id="rId3" imgW="966240" imgH="685800" progId="Package">
                  <p:embed/>
                  <p:pic>
                    <p:nvPicPr>
                      <p:cNvPr id="0" name=""/>
                      <p:cNvPicPr/>
                      <p:nvPr/>
                    </p:nvPicPr>
                    <p:blipFill>
                      <a:blip r:embed="rId4"/>
                      <a:stretch>
                        <a:fillRect/>
                      </a:stretch>
                    </p:blipFill>
                    <p:spPr>
                      <a:xfrm>
                        <a:off x="1295400" y="1711470"/>
                        <a:ext cx="1454452" cy="1031729"/>
                      </a:xfrm>
                      <a:prstGeom prst="rect">
                        <a:avLst/>
                      </a:prstGeom>
                      <a:solidFill>
                        <a:schemeClr val="bg2">
                          <a:lumMod val="40000"/>
                          <a:lumOff val="60000"/>
                        </a:schemeClr>
                      </a:solidFill>
                    </p:spPr>
                  </p:pic>
                </p:oleObj>
              </mc:Fallback>
            </mc:AlternateContent>
          </a:graphicData>
        </a:graphic>
      </p:graphicFrame>
    </p:spTree>
    <p:extLst>
      <p:ext uri="{BB962C8B-B14F-4D97-AF65-F5344CB8AC3E}">
        <p14:creationId xmlns:p14="http://schemas.microsoft.com/office/powerpoint/2010/main" val="1551217277"/>
      </p:ext>
    </p:extLst>
  </p:cSld>
  <p:clrMapOvr>
    <a:masterClrMapping/>
  </p:clrMapOvr>
  <p:transition>
    <p:cover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79388" y="0"/>
            <a:ext cx="8785100" cy="914400"/>
          </a:xfrm>
        </p:spPr>
        <p:txBody>
          <a:bodyPr/>
          <a:lstStyle/>
          <a:p>
            <a:pPr eaLnBrk="1" hangingPunct="1"/>
            <a:r>
              <a:rPr lang="tr-TR" sz="3600" dirty="0"/>
              <a:t>Veri Dosyasındaki Değişkenlerin Tanımları</a:t>
            </a:r>
            <a:endParaRPr lang="en-US" sz="3600" dirty="0"/>
          </a:p>
        </p:txBody>
      </p:sp>
      <p:sp>
        <p:nvSpPr>
          <p:cNvPr id="35843" name="Rectangle 3"/>
          <p:cNvSpPr>
            <a:spLocks noGrp="1" noChangeArrowheads="1"/>
          </p:cNvSpPr>
          <p:nvPr>
            <p:ph idx="1"/>
          </p:nvPr>
        </p:nvSpPr>
        <p:spPr>
          <a:xfrm>
            <a:off x="457200" y="1219200"/>
            <a:ext cx="8507288" cy="4953000"/>
          </a:xfrm>
        </p:spPr>
        <p:txBody>
          <a:bodyPr>
            <a:normAutofit/>
          </a:bodyPr>
          <a:lstStyle/>
          <a:p>
            <a:pPr eaLnBrk="1" hangingPunct="1">
              <a:lnSpc>
                <a:spcPct val="90000"/>
              </a:lnSpc>
              <a:buNone/>
            </a:pPr>
            <a:r>
              <a:rPr lang="tr-TR" b="1" dirty="0"/>
              <a:t>No</a:t>
            </a:r>
            <a:r>
              <a:rPr lang="tr-TR" dirty="0"/>
              <a:t>: Denek numarası</a:t>
            </a:r>
          </a:p>
          <a:p>
            <a:pPr eaLnBrk="1" hangingPunct="1">
              <a:lnSpc>
                <a:spcPct val="90000"/>
              </a:lnSpc>
              <a:buNone/>
            </a:pPr>
            <a:r>
              <a:rPr lang="tr-TR" b="1" dirty="0"/>
              <a:t>Cinsiyet</a:t>
            </a:r>
            <a:r>
              <a:rPr lang="en-US" dirty="0"/>
              <a:t>: 0=</a:t>
            </a:r>
            <a:r>
              <a:rPr lang="tr-TR" dirty="0"/>
              <a:t>erkek</a:t>
            </a:r>
            <a:r>
              <a:rPr lang="en-US" dirty="0"/>
              <a:t>, 1=</a:t>
            </a:r>
            <a:r>
              <a:rPr lang="tr-TR" dirty="0"/>
              <a:t>kadın (sınıflama)</a:t>
            </a:r>
          </a:p>
          <a:p>
            <a:pPr eaLnBrk="1" hangingPunct="1">
              <a:lnSpc>
                <a:spcPct val="90000"/>
              </a:lnSpc>
              <a:buNone/>
            </a:pPr>
            <a:r>
              <a:rPr lang="tr-TR" b="1" dirty="0"/>
              <a:t>Irk</a:t>
            </a:r>
            <a:r>
              <a:rPr lang="en-US" dirty="0"/>
              <a:t>:</a:t>
            </a:r>
            <a:r>
              <a:rPr lang="tr-TR" dirty="0"/>
              <a:t> </a:t>
            </a:r>
            <a:r>
              <a:rPr lang="en-US" dirty="0"/>
              <a:t>1</a:t>
            </a:r>
            <a:r>
              <a:rPr lang="tr-TR" dirty="0"/>
              <a:t>=Latin</a:t>
            </a:r>
            <a:r>
              <a:rPr lang="en-US" dirty="0"/>
              <a:t>, 2=As</a:t>
            </a:r>
            <a:r>
              <a:rPr lang="tr-TR" dirty="0"/>
              <a:t>yalı</a:t>
            </a:r>
            <a:r>
              <a:rPr lang="en-US" dirty="0"/>
              <a:t>,</a:t>
            </a:r>
            <a:r>
              <a:rPr lang="tr-TR" dirty="0"/>
              <a:t> </a:t>
            </a:r>
            <a:r>
              <a:rPr lang="en-US" dirty="0"/>
              <a:t>3=</a:t>
            </a:r>
            <a:r>
              <a:rPr lang="tr-TR" dirty="0"/>
              <a:t>Siyah</a:t>
            </a:r>
            <a:r>
              <a:rPr lang="en-US" dirty="0"/>
              <a:t>,</a:t>
            </a:r>
            <a:r>
              <a:rPr lang="tr-TR" dirty="0"/>
              <a:t> </a:t>
            </a:r>
            <a:r>
              <a:rPr lang="en-US" dirty="0"/>
              <a:t>4=</a:t>
            </a:r>
            <a:r>
              <a:rPr lang="tr-TR" dirty="0"/>
              <a:t>Beyaz</a:t>
            </a:r>
            <a:r>
              <a:rPr lang="en-US" dirty="0"/>
              <a:t> </a:t>
            </a:r>
            <a:r>
              <a:rPr lang="tr-TR" dirty="0"/>
              <a:t>(</a:t>
            </a:r>
            <a:r>
              <a:rPr lang="tr-TR" dirty="0" err="1"/>
              <a:t>isimsel</a:t>
            </a:r>
            <a:r>
              <a:rPr lang="tr-TR" dirty="0"/>
              <a:t>/sınıflama)</a:t>
            </a:r>
          </a:p>
          <a:p>
            <a:pPr eaLnBrk="1" hangingPunct="1">
              <a:lnSpc>
                <a:spcPct val="90000"/>
              </a:lnSpc>
              <a:buNone/>
            </a:pPr>
            <a:r>
              <a:rPr lang="en-US" b="1" dirty="0"/>
              <a:t>So</a:t>
            </a:r>
            <a:r>
              <a:rPr lang="tr-TR" b="1" dirty="0" err="1"/>
              <a:t>syo</a:t>
            </a:r>
            <a:r>
              <a:rPr lang="tr-TR" b="1" dirty="0"/>
              <a:t>-ekonomik durumu (</a:t>
            </a:r>
            <a:r>
              <a:rPr lang="tr-TR" b="1" dirty="0" err="1"/>
              <a:t>sed</a:t>
            </a:r>
            <a:r>
              <a:rPr lang="tr-TR" b="1" dirty="0"/>
              <a:t>):</a:t>
            </a:r>
            <a:r>
              <a:rPr lang="tr-TR" dirty="0"/>
              <a:t>  </a:t>
            </a:r>
            <a:r>
              <a:rPr lang="en-US" dirty="0"/>
              <a:t>1=</a:t>
            </a:r>
            <a:r>
              <a:rPr lang="tr-TR" dirty="0"/>
              <a:t>düşük</a:t>
            </a:r>
            <a:r>
              <a:rPr lang="en-US" dirty="0"/>
              <a:t>,</a:t>
            </a:r>
            <a:r>
              <a:rPr lang="tr-TR" dirty="0"/>
              <a:t> </a:t>
            </a:r>
            <a:r>
              <a:rPr lang="en-US" dirty="0"/>
              <a:t>2=</a:t>
            </a:r>
            <a:r>
              <a:rPr lang="tr-TR" dirty="0"/>
              <a:t>orta</a:t>
            </a:r>
            <a:r>
              <a:rPr lang="en-US" dirty="0"/>
              <a:t>,</a:t>
            </a:r>
            <a:r>
              <a:rPr lang="tr-TR" dirty="0"/>
              <a:t> </a:t>
            </a:r>
            <a:r>
              <a:rPr lang="en-US" dirty="0"/>
              <a:t>3=</a:t>
            </a:r>
            <a:r>
              <a:rPr lang="tr-TR" dirty="0"/>
              <a:t>yüksek (sıralama)</a:t>
            </a:r>
            <a:r>
              <a:rPr lang="en-US" dirty="0"/>
              <a:t>  </a:t>
            </a:r>
            <a:endParaRPr lang="tr-TR" dirty="0"/>
          </a:p>
          <a:p>
            <a:pPr eaLnBrk="1" hangingPunct="1">
              <a:lnSpc>
                <a:spcPct val="90000"/>
              </a:lnSpc>
              <a:buNone/>
            </a:pPr>
            <a:r>
              <a:rPr lang="tr-TR" b="1" dirty="0"/>
              <a:t>Okul türü</a:t>
            </a:r>
            <a:r>
              <a:rPr lang="en-US" b="1" dirty="0"/>
              <a:t>:</a:t>
            </a:r>
            <a:r>
              <a:rPr lang="tr-TR" b="1" dirty="0"/>
              <a:t> </a:t>
            </a:r>
            <a:r>
              <a:rPr lang="en-US" dirty="0"/>
              <a:t>1=</a:t>
            </a:r>
            <a:r>
              <a:rPr lang="tr-TR" dirty="0"/>
              <a:t>devlet</a:t>
            </a:r>
            <a:r>
              <a:rPr lang="en-US" dirty="0"/>
              <a:t>,</a:t>
            </a:r>
            <a:r>
              <a:rPr lang="tr-TR" dirty="0"/>
              <a:t> </a:t>
            </a:r>
            <a:r>
              <a:rPr lang="en-US" dirty="0"/>
              <a:t>2=</a:t>
            </a:r>
            <a:r>
              <a:rPr lang="tr-TR" dirty="0"/>
              <a:t>özel (</a:t>
            </a:r>
            <a:r>
              <a:rPr lang="tr-TR" dirty="0" err="1"/>
              <a:t>isimsel</a:t>
            </a:r>
            <a:r>
              <a:rPr lang="tr-TR" dirty="0"/>
              <a:t>/sınıflama)</a:t>
            </a:r>
          </a:p>
          <a:p>
            <a:pPr eaLnBrk="1" hangingPunct="1">
              <a:lnSpc>
                <a:spcPct val="90000"/>
              </a:lnSpc>
              <a:buNone/>
            </a:pPr>
            <a:r>
              <a:rPr lang="en-US" b="1" dirty="0"/>
              <a:t>Program</a:t>
            </a:r>
            <a:r>
              <a:rPr lang="tr-TR" b="1" dirty="0"/>
              <a:t> türü</a:t>
            </a:r>
            <a:r>
              <a:rPr lang="en-US" b="1" dirty="0"/>
              <a:t>:</a:t>
            </a:r>
            <a:r>
              <a:rPr lang="tr-TR" b="1" dirty="0"/>
              <a:t> </a:t>
            </a:r>
            <a:r>
              <a:rPr lang="en-US" dirty="0"/>
              <a:t>1=</a:t>
            </a:r>
            <a:r>
              <a:rPr lang="en-US" dirty="0" err="1"/>
              <a:t>genel</a:t>
            </a:r>
            <a:r>
              <a:rPr lang="en-US" dirty="0"/>
              <a:t>,</a:t>
            </a:r>
            <a:r>
              <a:rPr lang="tr-TR" dirty="0"/>
              <a:t> </a:t>
            </a:r>
            <a:r>
              <a:rPr lang="en-US" dirty="0"/>
              <a:t>2=a</a:t>
            </a:r>
            <a:r>
              <a:rPr lang="tr-TR" dirty="0"/>
              <a:t>k</a:t>
            </a:r>
            <a:r>
              <a:rPr lang="en-US" dirty="0" err="1"/>
              <a:t>ademi</a:t>
            </a:r>
            <a:r>
              <a:rPr lang="tr-TR" dirty="0"/>
              <a:t>k</a:t>
            </a:r>
            <a:r>
              <a:rPr lang="en-US" dirty="0"/>
              <a:t>,</a:t>
            </a:r>
            <a:r>
              <a:rPr lang="tr-TR" dirty="0"/>
              <a:t> </a:t>
            </a:r>
            <a:r>
              <a:rPr lang="en-US" dirty="0"/>
              <a:t>3=</a:t>
            </a:r>
            <a:r>
              <a:rPr lang="tr-TR" dirty="0"/>
              <a:t>mesleki (</a:t>
            </a:r>
            <a:r>
              <a:rPr lang="tr-TR" dirty="0" err="1"/>
              <a:t>isimsel</a:t>
            </a:r>
            <a:r>
              <a:rPr lang="tr-TR" dirty="0"/>
              <a:t>/sınıflama)</a:t>
            </a:r>
          </a:p>
          <a:p>
            <a:pPr eaLnBrk="1" hangingPunct="1">
              <a:lnSpc>
                <a:spcPct val="90000"/>
              </a:lnSpc>
              <a:buNone/>
            </a:pPr>
            <a:r>
              <a:rPr lang="tr-TR" b="1" dirty="0"/>
              <a:t>Okuma puanı </a:t>
            </a:r>
            <a:r>
              <a:rPr lang="tr-TR" i="1" dirty="0"/>
              <a:t>(</a:t>
            </a:r>
            <a:r>
              <a:rPr lang="tr-TR" i="1" dirty="0" err="1"/>
              <a:t>okumanot</a:t>
            </a:r>
            <a:r>
              <a:rPr lang="tr-TR" i="1" dirty="0"/>
              <a:t>)</a:t>
            </a:r>
            <a:r>
              <a:rPr lang="tr-TR" b="1" dirty="0"/>
              <a:t>: </a:t>
            </a:r>
            <a:r>
              <a:rPr lang="tr-TR" dirty="0"/>
              <a:t>Bu dersten aldığı not (aralıklı)</a:t>
            </a:r>
            <a:endParaRPr lang="tr-TR" b="1" dirty="0"/>
          </a:p>
          <a:p>
            <a:pPr>
              <a:lnSpc>
                <a:spcPct val="90000"/>
              </a:lnSpc>
              <a:buNone/>
            </a:pPr>
            <a:r>
              <a:rPr lang="tr-TR" b="1" dirty="0"/>
              <a:t>Yazma</a:t>
            </a:r>
            <a:r>
              <a:rPr lang="en-US" b="1" dirty="0"/>
              <a:t> </a:t>
            </a:r>
            <a:r>
              <a:rPr lang="tr-TR" b="1" dirty="0"/>
              <a:t>puanı </a:t>
            </a:r>
            <a:r>
              <a:rPr lang="tr-TR" i="1" dirty="0"/>
              <a:t>(</a:t>
            </a:r>
            <a:r>
              <a:rPr lang="tr-TR" i="1" dirty="0" err="1"/>
              <a:t>yazmanot</a:t>
            </a:r>
            <a:r>
              <a:rPr lang="tr-TR" i="1" dirty="0"/>
              <a:t>)</a:t>
            </a:r>
            <a:r>
              <a:rPr lang="tr-TR" b="1" dirty="0"/>
              <a:t>:</a:t>
            </a:r>
            <a:r>
              <a:rPr lang="tr-TR" dirty="0"/>
              <a:t> Bu dersten aldığı not (aralıklı)</a:t>
            </a:r>
            <a:endParaRPr lang="tr-TR" b="1" dirty="0"/>
          </a:p>
          <a:p>
            <a:pPr>
              <a:lnSpc>
                <a:spcPct val="90000"/>
              </a:lnSpc>
              <a:buNone/>
            </a:pPr>
            <a:r>
              <a:rPr lang="en-US" b="1" dirty="0"/>
              <a:t>Mat</a:t>
            </a:r>
            <a:r>
              <a:rPr lang="tr-TR" b="1" dirty="0" err="1"/>
              <a:t>ematik</a:t>
            </a:r>
            <a:r>
              <a:rPr lang="tr-TR" b="1" dirty="0"/>
              <a:t> puanı </a:t>
            </a:r>
            <a:r>
              <a:rPr lang="tr-TR" i="1" dirty="0"/>
              <a:t>(</a:t>
            </a:r>
            <a:r>
              <a:rPr lang="tr-TR" i="1" dirty="0" err="1"/>
              <a:t>matnot</a:t>
            </a:r>
            <a:r>
              <a:rPr lang="tr-TR" i="1" dirty="0"/>
              <a:t>)</a:t>
            </a:r>
            <a:r>
              <a:rPr lang="tr-TR" b="1" dirty="0"/>
              <a:t>:</a:t>
            </a:r>
            <a:r>
              <a:rPr lang="en-US" b="1" dirty="0"/>
              <a:t> </a:t>
            </a:r>
            <a:r>
              <a:rPr lang="tr-TR" dirty="0"/>
              <a:t>Bu dersten aldığı not (aralıklı)</a:t>
            </a:r>
            <a:endParaRPr lang="tr-TR" b="1" dirty="0"/>
          </a:p>
          <a:p>
            <a:pPr>
              <a:lnSpc>
                <a:spcPct val="90000"/>
              </a:lnSpc>
              <a:buNone/>
            </a:pPr>
            <a:r>
              <a:rPr lang="tr-TR" b="1" dirty="0"/>
              <a:t>Fen puanı </a:t>
            </a:r>
            <a:r>
              <a:rPr lang="tr-TR" i="1" dirty="0"/>
              <a:t>(</a:t>
            </a:r>
            <a:r>
              <a:rPr lang="tr-TR" i="1" dirty="0" err="1"/>
              <a:t>fennot</a:t>
            </a:r>
            <a:r>
              <a:rPr lang="tr-TR" i="1" dirty="0"/>
              <a:t>)</a:t>
            </a:r>
            <a:r>
              <a:rPr lang="tr-TR" b="1" dirty="0"/>
              <a:t>:</a:t>
            </a:r>
            <a:r>
              <a:rPr lang="tr-TR" dirty="0"/>
              <a:t> Bu dersten aldığı not (aralıklı)</a:t>
            </a:r>
            <a:endParaRPr lang="tr-TR" b="1" dirty="0"/>
          </a:p>
          <a:p>
            <a:pPr eaLnBrk="1" hangingPunct="1">
              <a:lnSpc>
                <a:spcPct val="90000"/>
              </a:lnSpc>
              <a:buNone/>
            </a:pPr>
            <a:r>
              <a:rPr lang="en-US" b="1" dirty="0"/>
              <a:t>So</a:t>
            </a:r>
            <a:r>
              <a:rPr lang="tr-TR" b="1" dirty="0" err="1"/>
              <a:t>syal</a:t>
            </a:r>
            <a:r>
              <a:rPr lang="tr-TR" b="1" dirty="0"/>
              <a:t> bilimler puanı </a:t>
            </a:r>
            <a:r>
              <a:rPr lang="tr-TR" i="1" dirty="0"/>
              <a:t>(</a:t>
            </a:r>
            <a:r>
              <a:rPr lang="tr-TR" i="1" dirty="0" err="1"/>
              <a:t>sosnot</a:t>
            </a:r>
            <a:r>
              <a:rPr lang="tr-TR" i="1" dirty="0"/>
              <a:t>)</a:t>
            </a:r>
            <a:r>
              <a:rPr lang="tr-TR" b="1" dirty="0"/>
              <a:t>:</a:t>
            </a:r>
            <a:r>
              <a:rPr lang="tr-TR" dirty="0"/>
              <a:t> Bu dersten aldığı not (aralıklı)</a:t>
            </a:r>
            <a:endParaRPr lang="en-US" b="1" dirty="0"/>
          </a:p>
          <a:p>
            <a:pPr eaLnBrk="1" hangingPunct="1">
              <a:lnSpc>
                <a:spcPct val="90000"/>
              </a:lnSpc>
            </a:pPr>
            <a:endParaRPr lang="en-US" dirty="0"/>
          </a:p>
        </p:txBody>
      </p:sp>
    </p:spTree>
    <p:extLst>
      <p:ext uri="{BB962C8B-B14F-4D97-AF65-F5344CB8AC3E}">
        <p14:creationId xmlns:p14="http://schemas.microsoft.com/office/powerpoint/2010/main" val="2436245321"/>
      </p:ext>
    </p:extLst>
  </p:cSld>
  <p:clrMapOvr>
    <a:masterClrMapping/>
  </p:clrMapOvr>
  <p:transition>
    <p:cover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tr-TR" dirty="0"/>
              <a:t>Tek Örneklemli </a:t>
            </a:r>
            <a:r>
              <a:rPr lang="tr-TR" i="1" dirty="0"/>
              <a:t>t</a:t>
            </a:r>
            <a:r>
              <a:rPr lang="tr-TR" dirty="0"/>
              <a:t>-testi Örneği</a:t>
            </a:r>
            <a:endParaRPr lang="en-US" dirty="0"/>
          </a:p>
        </p:txBody>
      </p:sp>
      <p:sp>
        <p:nvSpPr>
          <p:cNvPr id="47107" name="Rectangle 3"/>
          <p:cNvSpPr>
            <a:spLocks noGrp="1" noChangeArrowheads="1"/>
          </p:cNvSpPr>
          <p:nvPr>
            <p:ph idx="1"/>
          </p:nvPr>
        </p:nvSpPr>
        <p:spPr>
          <a:xfrm>
            <a:off x="827700" y="2052925"/>
            <a:ext cx="7782900" cy="4195481"/>
          </a:xfrm>
        </p:spPr>
        <p:txBody>
          <a:bodyPr/>
          <a:lstStyle/>
          <a:p>
            <a:pPr eaLnBrk="1" hangingPunct="1">
              <a:buClr>
                <a:schemeClr val="accent6"/>
              </a:buClr>
            </a:pPr>
            <a:r>
              <a:rPr lang="tr-TR" dirty="0"/>
              <a:t>Öğrencilerin yazma puanlarının ortalaması geçme notu 50’den farklı mıdır? </a:t>
            </a:r>
          </a:p>
          <a:p>
            <a:pPr eaLnBrk="1" hangingPunct="1">
              <a:lnSpc>
                <a:spcPct val="80000"/>
              </a:lnSpc>
              <a:buClr>
                <a:schemeClr val="accent6"/>
              </a:buClr>
            </a:pPr>
            <a:r>
              <a:rPr lang="tr-TR" sz="2400" dirty="0"/>
              <a:t>Araştırma hipotezi (H</a:t>
            </a:r>
            <a:r>
              <a:rPr lang="tr-TR" sz="2400" baseline="-25000" dirty="0"/>
              <a:t>1</a:t>
            </a:r>
            <a:r>
              <a:rPr lang="tr-TR" sz="2400" dirty="0"/>
              <a:t>): “200 öğrencinin yazma puanlarının ortalaması 50’den farklıdır.” </a:t>
            </a:r>
            <a:r>
              <a:rPr lang="tr-TR" sz="2400" b="1" dirty="0"/>
              <a:t>(çift kuyruk testi)</a:t>
            </a:r>
            <a:r>
              <a:rPr lang="tr-TR" sz="2400" dirty="0"/>
              <a:t>.</a:t>
            </a:r>
          </a:p>
          <a:p>
            <a:pPr eaLnBrk="1" hangingPunct="1">
              <a:lnSpc>
                <a:spcPct val="80000"/>
              </a:lnSpc>
              <a:buClr>
                <a:schemeClr val="accent6"/>
              </a:buClr>
            </a:pPr>
            <a:r>
              <a:rPr lang="tr-TR" sz="2400" dirty="0"/>
              <a:t>Boş hipotez (</a:t>
            </a:r>
            <a:r>
              <a:rPr lang="en-US" sz="2000" dirty="0"/>
              <a:t>H</a:t>
            </a:r>
            <a:r>
              <a:rPr lang="tr-TR" sz="2000" baseline="-25000" dirty="0"/>
              <a:t>0</a:t>
            </a:r>
            <a:r>
              <a:rPr lang="tr-TR" sz="2400" dirty="0"/>
              <a:t>): “200 öğrencinin yazma puanlarının ortalaması 50’ye eşittir” (50’den farklı değildir)</a:t>
            </a:r>
          </a:p>
          <a:p>
            <a:pPr eaLnBrk="1" hangingPunct="1">
              <a:lnSpc>
                <a:spcPct val="80000"/>
              </a:lnSpc>
              <a:buClr>
                <a:schemeClr val="accent6"/>
              </a:buClr>
            </a:pPr>
            <a:r>
              <a:rPr lang="en-US" sz="2200" b="1" dirty="0"/>
              <a:t>H</a:t>
            </a:r>
            <a:r>
              <a:rPr lang="tr-TR" sz="2200" b="1" baseline="-25000" dirty="0"/>
              <a:t>0</a:t>
            </a:r>
            <a:r>
              <a:rPr lang="en-US" sz="2400" dirty="0"/>
              <a:t> : µ = µ </a:t>
            </a:r>
            <a:r>
              <a:rPr lang="tr-TR" sz="2200" baseline="-25000" dirty="0"/>
              <a:t>0</a:t>
            </a:r>
            <a:endParaRPr lang="en-US" sz="2400" dirty="0"/>
          </a:p>
          <a:p>
            <a:pPr eaLnBrk="1" hangingPunct="1">
              <a:lnSpc>
                <a:spcPct val="80000"/>
              </a:lnSpc>
              <a:buClr>
                <a:schemeClr val="accent6"/>
              </a:buClr>
            </a:pPr>
            <a:r>
              <a:rPr lang="en-US" sz="2400" dirty="0"/>
              <a:t>H</a:t>
            </a:r>
            <a:r>
              <a:rPr lang="tr-TR" sz="2400" baseline="-25000" dirty="0"/>
              <a:t>1</a:t>
            </a:r>
            <a:r>
              <a:rPr lang="en-US" sz="2400" dirty="0"/>
              <a:t>: µ</a:t>
            </a:r>
            <a:r>
              <a:rPr lang="tr-TR" sz="2400" dirty="0"/>
              <a:t> </a:t>
            </a:r>
            <a:r>
              <a:rPr lang="en-US" sz="2400" dirty="0">
                <a:sym typeface="Symbol" pitchFamily="18" charset="2"/>
              </a:rPr>
              <a:t></a:t>
            </a:r>
            <a:r>
              <a:rPr lang="tr-TR" sz="2400" dirty="0"/>
              <a:t> </a:t>
            </a:r>
            <a:r>
              <a:rPr lang="en-US" sz="2400" dirty="0"/>
              <a:t>µ </a:t>
            </a:r>
            <a:r>
              <a:rPr lang="tr-TR" sz="2200" baseline="-25000" dirty="0"/>
              <a:t>0</a:t>
            </a:r>
            <a:r>
              <a:rPr lang="tr-TR" sz="2400" dirty="0"/>
              <a:t> (çift kuyruk testi)</a:t>
            </a:r>
          </a:p>
          <a:p>
            <a:pPr lvl="1" eaLnBrk="1" hangingPunct="1">
              <a:lnSpc>
                <a:spcPct val="80000"/>
              </a:lnSpc>
              <a:buClr>
                <a:schemeClr val="accent6"/>
              </a:buClr>
            </a:pPr>
            <a:endParaRPr lang="tr-TR" sz="2000" dirty="0"/>
          </a:p>
          <a:p>
            <a:pPr lvl="1" eaLnBrk="1" hangingPunct="1">
              <a:lnSpc>
                <a:spcPct val="80000"/>
              </a:lnSpc>
              <a:buClr>
                <a:schemeClr val="accent6"/>
              </a:buClr>
            </a:pPr>
            <a:endParaRPr lang="en-US" sz="2000" dirty="0"/>
          </a:p>
          <a:p>
            <a:pPr eaLnBrk="1" hangingPunct="1">
              <a:buClr>
                <a:schemeClr val="accent6"/>
              </a:buClr>
            </a:pPr>
            <a:endParaRPr lang="en-US" dirty="0"/>
          </a:p>
        </p:txBody>
      </p:sp>
    </p:spTree>
    <p:extLst>
      <p:ext uri="{BB962C8B-B14F-4D97-AF65-F5344CB8AC3E}">
        <p14:creationId xmlns:p14="http://schemas.microsoft.com/office/powerpoint/2010/main" val="4109743321"/>
      </p:ext>
    </p:extLst>
  </p:cSld>
  <p:clrMapOvr>
    <a:masterClrMapping/>
  </p:clrMapOvr>
  <p:transition>
    <p:cover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Diğer hipotezler</a:t>
            </a:r>
          </a:p>
        </p:txBody>
      </p:sp>
      <p:sp>
        <p:nvSpPr>
          <p:cNvPr id="3" name="2 İçerik Yer Tutucusu"/>
          <p:cNvSpPr>
            <a:spLocks noGrp="1"/>
          </p:cNvSpPr>
          <p:nvPr>
            <p:ph idx="1"/>
          </p:nvPr>
        </p:nvSpPr>
        <p:spPr>
          <a:xfrm>
            <a:off x="460897" y="1600200"/>
            <a:ext cx="8507288" cy="4953000"/>
          </a:xfrm>
        </p:spPr>
        <p:txBody>
          <a:bodyPr>
            <a:normAutofit/>
          </a:bodyPr>
          <a:lstStyle/>
          <a:p>
            <a:pPr marL="0" indent="0" eaLnBrk="1" hangingPunct="1">
              <a:lnSpc>
                <a:spcPct val="80000"/>
              </a:lnSpc>
              <a:buClr>
                <a:schemeClr val="accent6"/>
              </a:buClr>
              <a:buNone/>
            </a:pPr>
            <a:r>
              <a:rPr lang="tr-TR" sz="2400" dirty="0"/>
              <a:t>Araştırma sorusu “Öğrencilerin yazma puanlarının ortalaması geçme notundan yüksek ya da düşük müdür?” şeklinde de sorulabilir</a:t>
            </a:r>
          </a:p>
          <a:p>
            <a:pPr eaLnBrk="1" hangingPunct="1">
              <a:lnSpc>
                <a:spcPct val="80000"/>
              </a:lnSpc>
              <a:buClr>
                <a:schemeClr val="accent6"/>
              </a:buClr>
            </a:pPr>
            <a:r>
              <a:rPr lang="tr-TR" sz="2400" dirty="0"/>
              <a:t>O zaman araştırma hipotezinin “büyüktür”/ “küçüktür” şeklinde kurulması gerekir. </a:t>
            </a:r>
          </a:p>
          <a:p>
            <a:pPr lvl="1">
              <a:lnSpc>
                <a:spcPct val="80000"/>
              </a:lnSpc>
              <a:buClr>
                <a:schemeClr val="accent6"/>
              </a:buClr>
            </a:pPr>
            <a:r>
              <a:rPr lang="tr-TR" sz="2100" dirty="0"/>
              <a:t>Ör., araştırma hipotezi (H</a:t>
            </a:r>
            <a:r>
              <a:rPr lang="tr-TR" sz="2100" baseline="-25000" dirty="0"/>
              <a:t>1</a:t>
            </a:r>
            <a:r>
              <a:rPr lang="tr-TR" sz="2100" dirty="0"/>
              <a:t>): “200 öğrencinin yazma puanlarının ortalaması 50’den küçüktür.”</a:t>
            </a:r>
          </a:p>
          <a:p>
            <a:pPr lvl="1">
              <a:lnSpc>
                <a:spcPct val="80000"/>
              </a:lnSpc>
              <a:buClr>
                <a:schemeClr val="accent6"/>
              </a:buClr>
            </a:pPr>
            <a:r>
              <a:rPr lang="tr-TR" sz="2100" dirty="0"/>
              <a:t>Boş hipotez (</a:t>
            </a:r>
            <a:r>
              <a:rPr lang="en-US" sz="2100" dirty="0"/>
              <a:t>H</a:t>
            </a:r>
            <a:r>
              <a:rPr lang="tr-TR" sz="2100" baseline="-25000" dirty="0"/>
              <a:t>0</a:t>
            </a:r>
            <a:r>
              <a:rPr lang="tr-TR" sz="2100" dirty="0"/>
              <a:t>) “200 öğrencinin yazma puanlarının ortalaması 50’ye eşit ve büyüktür”</a:t>
            </a:r>
          </a:p>
          <a:p>
            <a:pPr lvl="1" eaLnBrk="1" hangingPunct="1">
              <a:lnSpc>
                <a:spcPct val="80000"/>
              </a:lnSpc>
              <a:buClr>
                <a:schemeClr val="accent6"/>
              </a:buClr>
              <a:buNone/>
            </a:pP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399" y="4724400"/>
            <a:ext cx="1899313" cy="1060450"/>
          </a:xfrm>
          <a:prstGeom prst="rect">
            <a:avLst/>
          </a:prstGeom>
          <a:solidFill>
            <a:schemeClr val="accent6">
              <a:lumMod val="20000"/>
              <a:lumOff val="80000"/>
            </a:schemeClr>
          </a:solidFill>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1348" y="4876800"/>
            <a:ext cx="1728384" cy="1009650"/>
          </a:xfrm>
          <a:prstGeom prst="rect">
            <a:avLst/>
          </a:prstGeom>
        </p:spPr>
      </p:pic>
    </p:spTree>
    <p:extLst>
      <p:ext uri="{BB962C8B-B14F-4D97-AF65-F5344CB8AC3E}">
        <p14:creationId xmlns:p14="http://schemas.microsoft.com/office/powerpoint/2010/main" val="3518539421"/>
      </p:ext>
    </p:extLst>
  </p:cSld>
  <p:clrMapOvr>
    <a:masterClrMapping/>
  </p:clrMapOvr>
  <p:transition>
    <p:cover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tr-TR" dirty="0"/>
              <a:t>Tek Örneklem </a:t>
            </a:r>
            <a:r>
              <a:rPr lang="tr-TR" i="1" dirty="0"/>
              <a:t>t</a:t>
            </a:r>
            <a:r>
              <a:rPr lang="tr-TR" dirty="0"/>
              <a:t>-testi - </a:t>
            </a:r>
            <a:r>
              <a:rPr lang="tr-TR" b="1" dirty="0">
                <a:solidFill>
                  <a:schemeClr val="accent6">
                    <a:lumMod val="75000"/>
                  </a:schemeClr>
                </a:solidFill>
              </a:rPr>
              <a:t>JASP</a:t>
            </a:r>
            <a:br>
              <a:rPr lang="tr-TR" dirty="0"/>
            </a:br>
            <a:endParaRPr lang="en-US" dirty="0"/>
          </a:p>
        </p:txBody>
      </p:sp>
      <p:sp>
        <p:nvSpPr>
          <p:cNvPr id="49155" name="Rectangle 3"/>
          <p:cNvSpPr>
            <a:spLocks noGrp="1" noChangeArrowheads="1"/>
          </p:cNvSpPr>
          <p:nvPr>
            <p:ph idx="1"/>
          </p:nvPr>
        </p:nvSpPr>
        <p:spPr>
          <a:xfrm>
            <a:off x="827700" y="1219200"/>
            <a:ext cx="7935300" cy="5029207"/>
          </a:xfrm>
        </p:spPr>
        <p:txBody>
          <a:bodyPr/>
          <a:lstStyle/>
          <a:p>
            <a:pPr eaLnBrk="1" hangingPunct="1"/>
            <a:r>
              <a:rPr lang="en-US" dirty="0"/>
              <a:t>Analyze -&gt; Compare means-&gt; one sample </a:t>
            </a:r>
            <a:r>
              <a:rPr lang="tr-TR" dirty="0"/>
              <a:t>t-</a:t>
            </a:r>
            <a:r>
              <a:rPr lang="en-US" dirty="0"/>
              <a:t>test</a:t>
            </a:r>
            <a:r>
              <a:rPr lang="tr-TR" dirty="0"/>
              <a:t>’i seçin</a:t>
            </a:r>
            <a:r>
              <a:rPr lang="en-US" dirty="0"/>
              <a:t> </a:t>
            </a:r>
          </a:p>
          <a:p>
            <a:pPr eaLnBrk="1" hangingPunct="1"/>
            <a:r>
              <a:rPr lang="tr-TR" dirty="0"/>
              <a:t>Değişken listesinden “yazma puanı”nı seçin ve test değeri olarak “50” girin</a:t>
            </a:r>
          </a:p>
          <a:p>
            <a:pPr eaLnBrk="1" hangingPunct="1"/>
            <a:endParaRPr lang="tr-TR" dirty="0"/>
          </a:p>
          <a:p>
            <a:pPr eaLnBrk="1" hangingPunct="1"/>
            <a:endParaRPr lang="tr-TR" dirty="0"/>
          </a:p>
          <a:p>
            <a:pPr marL="0" indent="0" eaLnBrk="1" hangingPunct="1">
              <a:buNone/>
            </a:pPr>
            <a:endParaRPr lang="tr-TR" dirty="0"/>
          </a:p>
          <a:p>
            <a:pPr marL="0" indent="0" eaLnBrk="1" hangingPunct="1">
              <a:buNone/>
            </a:pPr>
            <a:endParaRPr lang="tr-TR" dirty="0"/>
          </a:p>
          <a:p>
            <a:pPr marL="0" indent="0" eaLnBrk="1" hangingPunct="1">
              <a:buNone/>
            </a:pPr>
            <a:endParaRPr lang="tr-TR" dirty="0"/>
          </a:p>
          <a:p>
            <a:pPr marL="0" indent="0" eaLnBrk="1" hangingPunct="1">
              <a:buNone/>
            </a:pPr>
            <a:endParaRPr lang="tr-TR" dirty="0"/>
          </a:p>
        </p:txBody>
      </p:sp>
      <p:pic>
        <p:nvPicPr>
          <p:cNvPr id="5" name="Picture 4">
            <a:extLst>
              <a:ext uri="{FF2B5EF4-FFF2-40B4-BE49-F238E27FC236}">
                <a16:creationId xmlns:a16="http://schemas.microsoft.com/office/drawing/2014/main" id="{B83F6D61-7A7E-BB3B-9861-EA1814FF9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049867"/>
            <a:ext cx="5064638" cy="4422412"/>
          </a:xfrm>
          <a:prstGeom prst="rect">
            <a:avLst/>
          </a:prstGeom>
        </p:spPr>
      </p:pic>
      <p:sp>
        <p:nvSpPr>
          <p:cNvPr id="3" name="Oval 2"/>
          <p:cNvSpPr/>
          <p:nvPr/>
        </p:nvSpPr>
        <p:spPr>
          <a:xfrm>
            <a:off x="1828800" y="4953000"/>
            <a:ext cx="12954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2455753701"/>
      </p:ext>
    </p:extLst>
  </p:cSld>
  <p:clrMapOvr>
    <a:masterClrMapping/>
  </p:clrMapOvr>
  <p:transition>
    <p:cover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8600" y="280810"/>
            <a:ext cx="8007350" cy="709790"/>
          </a:xfrm>
        </p:spPr>
        <p:txBody>
          <a:bodyPr/>
          <a:lstStyle/>
          <a:p>
            <a:pPr eaLnBrk="1" hangingPunct="1"/>
            <a:r>
              <a:rPr lang="tr-TR" dirty="0"/>
              <a:t>Tek Örneklem </a:t>
            </a:r>
            <a:r>
              <a:rPr lang="tr-TR" i="1" dirty="0"/>
              <a:t>t</a:t>
            </a:r>
            <a:r>
              <a:rPr lang="tr-TR" dirty="0"/>
              <a:t>-testi </a:t>
            </a:r>
            <a:r>
              <a:rPr lang="tr-TR" dirty="0">
                <a:solidFill>
                  <a:srgbClr val="00B050"/>
                </a:solidFill>
              </a:rPr>
              <a:t>JASP</a:t>
            </a:r>
            <a:endParaRPr lang="en-US" dirty="0">
              <a:solidFill>
                <a:srgbClr val="00B050"/>
              </a:solidFill>
            </a:endParaRPr>
          </a:p>
        </p:txBody>
      </p:sp>
      <p:sp>
        <p:nvSpPr>
          <p:cNvPr id="8" name="Text Box 3"/>
          <p:cNvSpPr txBox="1">
            <a:spLocks noChangeArrowheads="1"/>
          </p:cNvSpPr>
          <p:nvPr/>
        </p:nvSpPr>
        <p:spPr bwMode="auto">
          <a:xfrm>
            <a:off x="395535" y="3733800"/>
            <a:ext cx="8229600" cy="2643336"/>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kumimoji="0" lang="tr-TR" sz="2400" b="0" i="0" u="none" strike="noStrike" kern="0" cap="none" spc="0" normalizeH="0" baseline="0" noProof="0" dirty="0">
                <a:ln>
                  <a:noFill/>
                </a:ln>
                <a:solidFill>
                  <a:schemeClr val="tx1"/>
                </a:solidFill>
                <a:effectLst/>
                <a:uLnTx/>
                <a:uFillTx/>
                <a:latin typeface="+mn-lt"/>
                <a:ea typeface="+mn-ea"/>
                <a:cs typeface="+mn-cs"/>
              </a:rPr>
              <a:t>JASP çıktısında önce tanımlayıcı (</a:t>
            </a:r>
            <a:r>
              <a:rPr kumimoji="0" lang="tr-TR" sz="2400" b="0" i="0" u="none" strike="noStrike" kern="0" cap="none" spc="0" normalizeH="0" baseline="0" noProof="0" dirty="0" err="1">
                <a:ln>
                  <a:noFill/>
                </a:ln>
                <a:solidFill>
                  <a:schemeClr val="tx1"/>
                </a:solidFill>
                <a:effectLst/>
                <a:uLnTx/>
                <a:uFillTx/>
                <a:latin typeface="+mn-lt"/>
                <a:ea typeface="+mn-ea"/>
                <a:cs typeface="+mn-cs"/>
              </a:rPr>
              <a:t>descriptive</a:t>
            </a:r>
            <a:r>
              <a:rPr kumimoji="0" lang="tr-TR" sz="2400" b="0" i="0" u="none" strike="noStrike" kern="0" cap="none" spc="0" normalizeH="0" baseline="0" noProof="0" dirty="0">
                <a:ln>
                  <a:noFill/>
                </a:ln>
                <a:solidFill>
                  <a:schemeClr val="tx1"/>
                </a:solidFill>
                <a:effectLst/>
                <a:uLnTx/>
                <a:uFillTx/>
                <a:latin typeface="+mn-lt"/>
                <a:ea typeface="+mn-ea"/>
                <a:cs typeface="+mn-cs"/>
              </a:rPr>
              <a:t>) istatistikler verilmiş: 200 öğrencinin yazma puanı ortalaması 52,775</a:t>
            </a:r>
            <a:r>
              <a:rPr lang="tr-TR" sz="2400" kern="0" dirty="0">
                <a:latin typeface="+mn-lt"/>
              </a:rPr>
              <a:t>;</a:t>
            </a:r>
            <a:r>
              <a:rPr kumimoji="0" lang="tr-TR" sz="2400" b="0" i="0" u="none" strike="noStrike" kern="0" cap="none" spc="0" normalizeH="0" baseline="0" noProof="0" dirty="0">
                <a:ln>
                  <a:noFill/>
                </a:ln>
                <a:solidFill>
                  <a:schemeClr val="tx1"/>
                </a:solidFill>
                <a:effectLst/>
                <a:uLnTx/>
                <a:uFillTx/>
                <a:latin typeface="+mn-lt"/>
                <a:ea typeface="+mn-ea"/>
                <a:cs typeface="+mn-cs"/>
              </a:rPr>
              <a:t> standart sapması 9,479 ve ortalamanın standart hatası 0,670</a:t>
            </a:r>
          </a:p>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kumimoji="0" lang="tr-TR" sz="2400" b="0" i="0" u="none" strike="noStrike" kern="0" cap="none" spc="0" normalizeH="0" baseline="0" noProof="0" dirty="0">
                <a:ln>
                  <a:noFill/>
                </a:ln>
                <a:solidFill>
                  <a:schemeClr val="tx1"/>
                </a:solidFill>
                <a:effectLst/>
                <a:uLnTx/>
                <a:uFillTx/>
                <a:latin typeface="+mn-lt"/>
                <a:ea typeface="+mn-ea"/>
                <a:cs typeface="+mn-cs"/>
              </a:rPr>
              <a:t>Öğrencilerin not ortalama (52,775) test değerinden (50) 2,775 puan daha yüksek</a:t>
            </a:r>
          </a:p>
        </p:txBody>
      </p:sp>
      <p:sp>
        <p:nvSpPr>
          <p:cNvPr id="9" name="Text Box 9"/>
          <p:cNvSpPr txBox="1">
            <a:spLocks noChangeArrowheads="1"/>
          </p:cNvSpPr>
          <p:nvPr/>
        </p:nvSpPr>
        <p:spPr bwMode="auto">
          <a:xfrm>
            <a:off x="3293913" y="1209674"/>
            <a:ext cx="2115772" cy="338554"/>
          </a:xfrm>
          <a:prstGeom prst="rect">
            <a:avLst/>
          </a:prstGeom>
          <a:solidFill>
            <a:schemeClr val="accent6">
              <a:lumMod val="40000"/>
              <a:lumOff val="60000"/>
            </a:schemeClr>
          </a:solidFill>
          <a:ln>
            <a:noFill/>
            <a:headEnd/>
            <a:tailEnd/>
          </a:ln>
        </p:spPr>
        <p:style>
          <a:lnRef idx="2">
            <a:schemeClr val="accent2"/>
          </a:lnRef>
          <a:fillRef idx="1">
            <a:schemeClr val="lt1"/>
          </a:fillRef>
          <a:effectRef idx="0">
            <a:schemeClr val="accent2"/>
          </a:effectRef>
          <a:fontRef idx="minor">
            <a:schemeClr val="dk1"/>
          </a:fontRef>
        </p:style>
        <p:txBody>
          <a:bodyPr wrap="none">
            <a:spAutoFit/>
          </a:bodyPr>
          <a:lstStyle/>
          <a:p>
            <a:r>
              <a:rPr lang="tr-TR" sz="1600" b="1" dirty="0">
                <a:solidFill>
                  <a:schemeClr val="tx1"/>
                </a:solidFill>
              </a:rPr>
              <a:t>Tanımlayıcı istatistikler</a:t>
            </a:r>
            <a:endParaRPr lang="en-US" sz="1600" b="1" dirty="0">
              <a:solidFill>
                <a:schemeClr val="tx1"/>
              </a:solidFill>
            </a:endParaRPr>
          </a:p>
        </p:txBody>
      </p:sp>
      <p:pic>
        <p:nvPicPr>
          <p:cNvPr id="5" name="Picture 4">
            <a:extLst>
              <a:ext uri="{FF2B5EF4-FFF2-40B4-BE49-F238E27FC236}">
                <a16:creationId xmlns:a16="http://schemas.microsoft.com/office/drawing/2014/main" id="{098E21E3-10AB-4A35-5D08-0CC37644A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30300"/>
            <a:ext cx="7543800" cy="2103499"/>
          </a:xfrm>
          <a:prstGeom prst="rect">
            <a:avLst/>
          </a:prstGeom>
        </p:spPr>
      </p:pic>
    </p:spTree>
    <p:extLst>
      <p:ext uri="{BB962C8B-B14F-4D97-AF65-F5344CB8AC3E}">
        <p14:creationId xmlns:p14="http://schemas.microsoft.com/office/powerpoint/2010/main" val="2470055105"/>
      </p:ext>
    </p:extLst>
  </p:cSld>
  <p:clrMapOvr>
    <a:masterClrMapping/>
  </p:clrMapOvr>
  <p:transition>
    <p:cover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33400" y="151766"/>
            <a:ext cx="7978080" cy="914400"/>
          </a:xfrm>
        </p:spPr>
        <p:txBody>
          <a:bodyPr/>
          <a:lstStyle/>
          <a:p>
            <a:r>
              <a:rPr lang="tr-TR" dirty="0"/>
              <a:t>Tek Örneklem </a:t>
            </a:r>
            <a:r>
              <a:rPr lang="tr-TR" i="1" dirty="0"/>
              <a:t>t</a:t>
            </a:r>
            <a:r>
              <a:rPr lang="tr-TR" dirty="0"/>
              <a:t>-testi Sonucu II</a:t>
            </a:r>
          </a:p>
        </p:txBody>
      </p:sp>
      <p:sp>
        <p:nvSpPr>
          <p:cNvPr id="3" name="2 İçerik Yer Tutucusu"/>
          <p:cNvSpPr>
            <a:spLocks noGrp="1"/>
          </p:cNvSpPr>
          <p:nvPr>
            <p:ph sz="half" idx="1"/>
          </p:nvPr>
        </p:nvSpPr>
        <p:spPr>
          <a:xfrm>
            <a:off x="228600" y="3048000"/>
            <a:ext cx="8763000" cy="3657600"/>
          </a:xfrm>
        </p:spPr>
        <p:txBody>
          <a:bodyPr>
            <a:noAutofit/>
          </a:bodyPr>
          <a:lstStyle/>
          <a:p>
            <a:pPr eaLnBrk="1" hangingPunct="1">
              <a:buClr>
                <a:schemeClr val="accent6"/>
              </a:buClr>
            </a:pPr>
            <a:r>
              <a:rPr lang="tr-TR" sz="1800" dirty="0"/>
              <a:t>İkinci tabloda t-testi sonucu var: </a:t>
            </a:r>
            <a:r>
              <a:rPr lang="tr-TR" sz="1800" i="1" dirty="0"/>
              <a:t>t</a:t>
            </a:r>
            <a:r>
              <a:rPr lang="tr-TR" sz="1800" dirty="0"/>
              <a:t> değeri (</a:t>
            </a:r>
            <a:r>
              <a:rPr lang="tr-TR" sz="1800" i="1" dirty="0"/>
              <a:t>t</a:t>
            </a:r>
            <a:r>
              <a:rPr lang="tr-TR" sz="1800" dirty="0"/>
              <a:t>) </a:t>
            </a:r>
            <a:r>
              <a:rPr lang="tr-TR" sz="1800" b="1" dirty="0"/>
              <a:t>4,140</a:t>
            </a:r>
            <a:r>
              <a:rPr lang="tr-TR" sz="1800" dirty="0"/>
              <a:t>, serbestlik derecesi (</a:t>
            </a:r>
            <a:r>
              <a:rPr lang="tr-TR" sz="1800" i="1" dirty="0" err="1"/>
              <a:t>df</a:t>
            </a:r>
            <a:r>
              <a:rPr lang="tr-TR" sz="1800" dirty="0"/>
              <a:t>) 199, çift kuyruklu test sonucu (</a:t>
            </a:r>
            <a:r>
              <a:rPr lang="tr-TR" sz="1800" i="1" dirty="0" err="1"/>
              <a:t>Sig</a:t>
            </a:r>
            <a:r>
              <a:rPr lang="tr-TR" sz="1800" i="1" dirty="0"/>
              <a:t>. (2-tailed)</a:t>
            </a:r>
            <a:r>
              <a:rPr lang="tr-TR" sz="1800" dirty="0"/>
              <a:t>): &lt;</a:t>
            </a:r>
            <a:r>
              <a:rPr lang="tr-TR" sz="1800" b="1" dirty="0"/>
              <a:t>0,001</a:t>
            </a:r>
            <a:r>
              <a:rPr lang="tr-TR" sz="1800" dirty="0"/>
              <a:t>, ortalamalar arasındaki fark (</a:t>
            </a:r>
            <a:r>
              <a:rPr lang="tr-TR" sz="1800" i="1" dirty="0" err="1"/>
              <a:t>Mean</a:t>
            </a:r>
            <a:r>
              <a:rPr lang="tr-TR" sz="1800" i="1" dirty="0"/>
              <a:t> </a:t>
            </a:r>
            <a:r>
              <a:rPr lang="tr-TR" sz="1800" i="1" dirty="0" err="1"/>
              <a:t>difference</a:t>
            </a:r>
            <a:r>
              <a:rPr lang="tr-TR" sz="1800" dirty="0"/>
              <a:t>) 2,78</a:t>
            </a:r>
          </a:p>
          <a:p>
            <a:pPr>
              <a:buClr>
                <a:schemeClr val="accent6"/>
              </a:buClr>
            </a:pPr>
            <a:r>
              <a:rPr lang="tr-TR" sz="1800" dirty="0"/>
              <a:t>Farkın %95 güven aralığı: </a:t>
            </a:r>
            <a:r>
              <a:rPr lang="tr-TR" sz="1800" dirty="0" err="1"/>
              <a:t>mean</a:t>
            </a:r>
            <a:r>
              <a:rPr lang="tr-TR" sz="1800" dirty="0"/>
              <a:t> </a:t>
            </a:r>
            <a:r>
              <a:rPr lang="tr-TR" sz="1800" dirty="0" err="1"/>
              <a:t>diff</a:t>
            </a:r>
            <a:r>
              <a:rPr lang="tr-TR" sz="1800" dirty="0"/>
              <a:t> ± (1.96* </a:t>
            </a:r>
            <a:r>
              <a:rPr lang="tr-TR" sz="1800" dirty="0" err="1"/>
              <a:t>sh</a:t>
            </a:r>
            <a:r>
              <a:rPr lang="tr-TR" sz="1800" dirty="0"/>
              <a:t>)= 2,78 ± (1.96*0,67)= (1,45 – 4,10)</a:t>
            </a:r>
          </a:p>
          <a:p>
            <a:pPr lvl="1">
              <a:buClr>
                <a:schemeClr val="accent6"/>
              </a:buClr>
            </a:pPr>
            <a:r>
              <a:rPr lang="tr-TR" sz="2000" dirty="0"/>
              <a:t>Fark testinde yukarıdaki güven aralığı (CI) 0 değerini  içeriyorsa, sonuçlar seçilen anlamlılık (önem veya alfa) düzeyinde anlamlı değildir.</a:t>
            </a:r>
          </a:p>
          <a:p>
            <a:pPr lvl="1">
              <a:buClr>
                <a:schemeClr val="accent6"/>
              </a:buClr>
            </a:pPr>
            <a:r>
              <a:rPr lang="tr-TR" sz="2000" dirty="0"/>
              <a:t>Alt sınır (</a:t>
            </a:r>
            <a:r>
              <a:rPr lang="tr-TR" sz="2000" i="1" dirty="0" err="1"/>
              <a:t>lower</a:t>
            </a:r>
            <a:r>
              <a:rPr lang="tr-TR" sz="2000" dirty="0"/>
              <a:t>): </a:t>
            </a:r>
            <a:r>
              <a:rPr lang="tr-TR" sz="2000" b="1" dirty="0"/>
              <a:t>51,45</a:t>
            </a:r>
            <a:r>
              <a:rPr lang="tr-TR" sz="2000" dirty="0"/>
              <a:t> (50+1,45), üst sınır (</a:t>
            </a:r>
            <a:r>
              <a:rPr lang="tr-TR" sz="2000" i="1" dirty="0" err="1"/>
              <a:t>Upper</a:t>
            </a:r>
            <a:r>
              <a:rPr lang="tr-TR" sz="2000" dirty="0"/>
              <a:t>): </a:t>
            </a:r>
            <a:r>
              <a:rPr lang="tr-TR" sz="2000" b="1" dirty="0"/>
              <a:t>54,10 </a:t>
            </a:r>
            <a:r>
              <a:rPr lang="tr-TR" sz="2000" dirty="0"/>
              <a:t>(50+4,10)</a:t>
            </a:r>
          </a:p>
          <a:p>
            <a:pPr eaLnBrk="1" hangingPunct="1">
              <a:buClr>
                <a:schemeClr val="accent6"/>
              </a:buClr>
            </a:pPr>
            <a:r>
              <a:rPr lang="tr-TR" sz="1800" i="1" dirty="0"/>
              <a:t>t</a:t>
            </a:r>
            <a:r>
              <a:rPr lang="tr-TR" sz="1800" dirty="0"/>
              <a:t> değeri ortalama farkın standart hataya bölünmesiyle elde edilir (2,775 / 0,670)</a:t>
            </a:r>
          </a:p>
          <a:p>
            <a:pPr eaLnBrk="1" hangingPunct="1">
              <a:buClr>
                <a:schemeClr val="accent6"/>
              </a:buClr>
            </a:pPr>
            <a:r>
              <a:rPr lang="tr-TR" sz="1800" i="1" dirty="0"/>
              <a:t>p</a:t>
            </a:r>
            <a:r>
              <a:rPr lang="tr-TR" sz="1800" dirty="0"/>
              <a:t> değeri (0,05) Tür 1 hatası yapma olasılığını gösterir.</a:t>
            </a:r>
          </a:p>
          <a:p>
            <a:pPr eaLnBrk="1" hangingPunct="1">
              <a:lnSpc>
                <a:spcPct val="90000"/>
              </a:lnSpc>
              <a:buClr>
                <a:schemeClr val="accent6"/>
              </a:buClr>
            </a:pPr>
            <a:r>
              <a:rPr lang="tr-TR" sz="1800" dirty="0"/>
              <a:t>Serbestlik derecesi (</a:t>
            </a:r>
            <a:r>
              <a:rPr lang="tr-TR" sz="1800" i="1" dirty="0"/>
              <a:t>SD</a:t>
            </a:r>
            <a:r>
              <a:rPr lang="tr-TR" sz="1800" dirty="0"/>
              <a:t>): İstatistiksel bir modeldeki değişim olasılıkları demektir. Bir değişkendeki değerlerin değişiklik gösterebilme serbestliği.</a:t>
            </a:r>
          </a:p>
          <a:p>
            <a:pPr eaLnBrk="1" hangingPunct="1">
              <a:lnSpc>
                <a:spcPct val="90000"/>
              </a:lnSpc>
              <a:buClr>
                <a:schemeClr val="accent6"/>
              </a:buClr>
            </a:pPr>
            <a:endParaRPr lang="tr-TR" sz="1800" dirty="0"/>
          </a:p>
        </p:txBody>
      </p:sp>
      <p:pic>
        <p:nvPicPr>
          <p:cNvPr id="8" name="Picture 7">
            <a:extLst>
              <a:ext uri="{FF2B5EF4-FFF2-40B4-BE49-F238E27FC236}">
                <a16:creationId xmlns:a16="http://schemas.microsoft.com/office/drawing/2014/main" id="{0FA85114-83D1-5B95-5DE9-E5B1B51D30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786679"/>
            <a:ext cx="7772400" cy="2226687"/>
          </a:xfrm>
          <a:prstGeom prst="rect">
            <a:avLst/>
          </a:prstGeom>
        </p:spPr>
      </p:pic>
    </p:spTree>
    <p:extLst>
      <p:ext uri="{BB962C8B-B14F-4D97-AF65-F5344CB8AC3E}">
        <p14:creationId xmlns:p14="http://schemas.microsoft.com/office/powerpoint/2010/main" val="854120729"/>
      </p:ext>
    </p:extLst>
  </p:cSld>
  <p:clrMapOvr>
    <a:masterClrMapping/>
  </p:clrMapOvr>
  <p:transition>
    <p:cover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18D181F-DE44-65C1-714A-60B1854C5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218816"/>
            <a:ext cx="7772400" cy="2226687"/>
          </a:xfrm>
          <a:prstGeom prst="rect">
            <a:avLst/>
          </a:prstGeom>
        </p:spPr>
      </p:pic>
      <p:sp>
        <p:nvSpPr>
          <p:cNvPr id="51202" name="Rectangle 2"/>
          <p:cNvSpPr>
            <a:spLocks noGrp="1" noChangeArrowheads="1"/>
          </p:cNvSpPr>
          <p:nvPr>
            <p:ph type="title"/>
          </p:nvPr>
        </p:nvSpPr>
        <p:spPr>
          <a:xfrm>
            <a:off x="628650" y="365127"/>
            <a:ext cx="7886700" cy="627002"/>
          </a:xfrm>
        </p:spPr>
        <p:txBody>
          <a:bodyPr/>
          <a:lstStyle/>
          <a:p>
            <a:pPr eaLnBrk="1" hangingPunct="1"/>
            <a:r>
              <a:rPr lang="tr-TR" dirty="0"/>
              <a:t>Yorum</a:t>
            </a:r>
            <a:endParaRPr lang="en-US" dirty="0"/>
          </a:p>
        </p:txBody>
      </p:sp>
      <p:sp>
        <p:nvSpPr>
          <p:cNvPr id="51203" name="Text Box 3"/>
          <p:cNvSpPr>
            <a:spLocks noGrp="1" noChangeArrowheads="1"/>
          </p:cNvSpPr>
          <p:nvPr>
            <p:ph idx="1"/>
          </p:nvPr>
        </p:nvSpPr>
        <p:spPr>
          <a:xfrm>
            <a:off x="609600" y="1152984"/>
            <a:ext cx="7935300" cy="2276016"/>
          </a:xfrm>
          <a:noFill/>
        </p:spPr>
        <p:txBody>
          <a:bodyPr>
            <a:normAutofit fontScale="85000" lnSpcReduction="20000"/>
          </a:bodyPr>
          <a:lstStyle/>
          <a:p>
            <a:pPr eaLnBrk="1" hangingPunct="1"/>
            <a:r>
              <a:rPr lang="tr-TR" sz="2400" i="1" dirty="0"/>
              <a:t>t</a:t>
            </a:r>
            <a:r>
              <a:rPr lang="tr-TR" sz="2400" dirty="0"/>
              <a:t> değeri (4,140) ve anlamlılık düzeyi (</a:t>
            </a:r>
            <a:r>
              <a:rPr lang="tr-TR" sz="2400" dirty="0">
                <a:sym typeface="Symbol" pitchFamily="18" charset="2"/>
              </a:rPr>
              <a:t>= &lt;0,001) bize yaklaşık </a:t>
            </a:r>
            <a:r>
              <a:rPr lang="tr-TR" sz="2400" dirty="0"/>
              <a:t>2,78lik ortalama puan farkının istatistiksel açıdan anlamlı olduğunu, bu farkın şans eseri oluşma olasılığının binde birden az olduğunu gösterir. Yani öğrencilerin ortalaması 50’den daha yüksektir. Bu aslında küçük bir etki olup, etki büyüklüğü sonucuna göre yazma puanlarının ortalaması belirlenen geçme notundan 0,3 standart sapma daha yukarıdadır.</a:t>
            </a:r>
          </a:p>
          <a:p>
            <a:pPr marL="0" indent="0" eaLnBrk="1" hangingPunct="1">
              <a:buNone/>
            </a:pPr>
            <a:endParaRPr lang="tr-TR" sz="2400" dirty="0"/>
          </a:p>
          <a:p>
            <a:pPr eaLnBrk="1" hangingPunct="1"/>
            <a:r>
              <a:rPr lang="tr-TR" sz="2400" b="1" dirty="0"/>
              <a:t>Boş hipotez</a:t>
            </a:r>
            <a:r>
              <a:rPr lang="tr-TR" sz="2400" dirty="0"/>
              <a:t> (“200 öğrencinin yazma puanlarının ortalaması 50’ye eşittir”) </a:t>
            </a:r>
            <a:r>
              <a:rPr lang="tr-TR" sz="2400" b="1" dirty="0"/>
              <a:t>reddedilir</a:t>
            </a:r>
            <a:r>
              <a:rPr lang="tr-TR" sz="2400" dirty="0"/>
              <a:t> </a:t>
            </a:r>
          </a:p>
          <a:p>
            <a:pPr eaLnBrk="1" hangingPunct="1">
              <a:spcBef>
                <a:spcPct val="0"/>
              </a:spcBef>
              <a:buFontTx/>
              <a:buNone/>
            </a:pPr>
            <a:endParaRPr lang="en-US" sz="1600" dirty="0"/>
          </a:p>
        </p:txBody>
      </p:sp>
      <p:cxnSp>
        <p:nvCxnSpPr>
          <p:cNvPr id="4" name="Düz Ok Bağlayıcısı 3"/>
          <p:cNvCxnSpPr>
            <a:cxnSpLocks/>
          </p:cNvCxnSpPr>
          <p:nvPr/>
        </p:nvCxnSpPr>
        <p:spPr>
          <a:xfrm flipH="1">
            <a:off x="4343400" y="1412497"/>
            <a:ext cx="3048000" cy="285470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D9655D-2529-C755-570E-21ED1DFB8338}"/>
              </a:ext>
            </a:extLst>
          </p:cNvPr>
          <p:cNvSpPr txBox="1"/>
          <p:nvPr/>
        </p:nvSpPr>
        <p:spPr>
          <a:xfrm>
            <a:off x="459259" y="5655687"/>
            <a:ext cx="7935300" cy="861774"/>
          </a:xfrm>
          <a:prstGeom prst="rect">
            <a:avLst/>
          </a:prstGeom>
          <a:solidFill>
            <a:schemeClr val="accent6">
              <a:lumMod val="20000"/>
              <a:lumOff val="80000"/>
            </a:schemeClr>
          </a:solidFill>
        </p:spPr>
        <p:txBody>
          <a:bodyPr wrap="square">
            <a:spAutoFit/>
          </a:bodyPr>
          <a:lstStyle/>
          <a:p>
            <a:r>
              <a:rPr lang="tr-TR" dirty="0"/>
              <a:t>APA stiline göre bu bulgu şöyle rapor edilir:</a:t>
            </a:r>
          </a:p>
          <a:p>
            <a:pPr lvl="1"/>
            <a:r>
              <a:rPr lang="tr-TR" sz="1600" i="1" dirty="0"/>
              <a:t>Öğrencilerin yazma puanları ortalaması (52,78) geçme notu olan 50’den farklıdır ve bu fark istatistiksel açıdan anlamlıdır (t(199)=4,140, p &lt; 0,001, d = 0,29). </a:t>
            </a:r>
          </a:p>
        </p:txBody>
      </p:sp>
    </p:spTree>
    <p:extLst>
      <p:ext uri="{BB962C8B-B14F-4D97-AF65-F5344CB8AC3E}">
        <p14:creationId xmlns:p14="http://schemas.microsoft.com/office/powerpoint/2010/main" val="1557807655"/>
      </p:ext>
    </p:extLst>
  </p:cSld>
  <p:clrMapOvr>
    <a:masterClrMapping/>
  </p:clrMapOvr>
  <p:transition>
    <p:cover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055380" cy="766482"/>
          </a:xfrm>
        </p:spPr>
        <p:txBody>
          <a:bodyPr/>
          <a:lstStyle/>
          <a:p>
            <a:r>
              <a:rPr lang="en-US" dirty="0" err="1"/>
              <a:t>Etki</a:t>
            </a:r>
            <a:r>
              <a:rPr lang="en-US" dirty="0"/>
              <a:t> </a:t>
            </a:r>
            <a:r>
              <a:rPr lang="en-US" dirty="0" err="1"/>
              <a:t>Büyüklüğü</a:t>
            </a:r>
            <a:endParaRPr lang="en-US"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600200" y="2667000"/>
            <a:ext cx="5815924" cy="3722191"/>
          </a:xfrm>
          <a:prstGeom prst="rect">
            <a:avLst/>
          </a:prstGeom>
        </p:spPr>
      </p:pic>
      <p:sp>
        <p:nvSpPr>
          <p:cNvPr id="4" name="TextBox 3">
            <a:extLst>
              <a:ext uri="{FF2B5EF4-FFF2-40B4-BE49-F238E27FC236}">
                <a16:creationId xmlns:a16="http://schemas.microsoft.com/office/drawing/2014/main" id="{132CB283-5D54-F2F7-F2AF-44EBF8EA8969}"/>
              </a:ext>
            </a:extLst>
          </p:cNvPr>
          <p:cNvSpPr txBox="1"/>
          <p:nvPr/>
        </p:nvSpPr>
        <p:spPr>
          <a:xfrm>
            <a:off x="-228600" y="908585"/>
            <a:ext cx="9144000" cy="1569660"/>
          </a:xfrm>
          <a:prstGeom prst="rect">
            <a:avLst/>
          </a:prstGeom>
          <a:noFill/>
        </p:spPr>
        <p:txBody>
          <a:bodyPr wrap="square">
            <a:spAutoFit/>
          </a:bodyPr>
          <a:lstStyle/>
          <a:p>
            <a:pPr lvl="1"/>
            <a:r>
              <a:rPr lang="tr-TR" sz="2400" dirty="0"/>
              <a:t>Peki pratik (klinik) olarak söz konusu fark anlamlı mıdır?</a:t>
            </a:r>
          </a:p>
          <a:p>
            <a:pPr lvl="1"/>
            <a:r>
              <a:rPr lang="tr-TR" dirty="0"/>
              <a:t>Görülen farklılığın tesadüfi olup olmadığını bilmemiz gerekir öte yandan istatistiksel anlamlılık tek başına bize etkinin gerçekte ne kadar büyük olduğu hakkında hiçbir şey söylemez. Bunun için etki büyüklüğü hesaplamamız ve bağlam içinde sonuçları yorumlamamız gerekir.</a:t>
            </a:r>
            <a:endParaRPr lang="en-GB" dirty="0"/>
          </a:p>
        </p:txBody>
      </p:sp>
    </p:spTree>
    <p:extLst>
      <p:ext uri="{BB962C8B-B14F-4D97-AF65-F5344CB8AC3E}">
        <p14:creationId xmlns:p14="http://schemas.microsoft.com/office/powerpoint/2010/main" val="187631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40724" y="381000"/>
            <a:ext cx="7330008" cy="914400"/>
          </a:xfrm>
        </p:spPr>
        <p:txBody>
          <a:bodyPr/>
          <a:lstStyle/>
          <a:p>
            <a:pPr eaLnBrk="1" hangingPunct="1"/>
            <a:r>
              <a:rPr lang="tr-TR" dirty="0"/>
              <a:t>Bağımsız Örneklemler </a:t>
            </a:r>
            <a:r>
              <a:rPr lang="tr-TR" i="1" dirty="0"/>
              <a:t>t</a:t>
            </a:r>
            <a:r>
              <a:rPr lang="tr-TR" dirty="0"/>
              <a:t>-testi</a:t>
            </a:r>
            <a:endParaRPr lang="en-US" dirty="0"/>
          </a:p>
        </p:txBody>
      </p:sp>
      <p:sp>
        <p:nvSpPr>
          <p:cNvPr id="52227" name="Rectangle 3"/>
          <p:cNvSpPr>
            <a:spLocks noGrp="1" noChangeArrowheads="1"/>
          </p:cNvSpPr>
          <p:nvPr>
            <p:ph idx="1"/>
          </p:nvPr>
        </p:nvSpPr>
        <p:spPr>
          <a:xfrm>
            <a:off x="440724" y="1295400"/>
            <a:ext cx="4724400" cy="4953000"/>
          </a:xfrm>
        </p:spPr>
        <p:txBody>
          <a:bodyPr>
            <a:normAutofit/>
          </a:bodyPr>
          <a:lstStyle/>
          <a:p>
            <a:pPr marL="0" indent="0" eaLnBrk="1" hangingPunct="1">
              <a:buClr>
                <a:schemeClr val="accent6"/>
              </a:buClr>
              <a:buNone/>
            </a:pPr>
            <a:r>
              <a:rPr lang="tr-TR" sz="2400" dirty="0"/>
              <a:t>“Bağımsız” ifadesi bir denekten sadece bir veri toplanması anlamındadır.</a:t>
            </a:r>
          </a:p>
          <a:p>
            <a:pPr lvl="1">
              <a:buClr>
                <a:schemeClr val="accent6"/>
              </a:buClr>
            </a:pPr>
            <a:r>
              <a:rPr lang="tr-TR" sz="2000" dirty="0"/>
              <a:t>“Erkek ve kız öğrencilerin yazma puanlarının ortalaması birbirinden farklıdır.” </a:t>
            </a:r>
          </a:p>
          <a:p>
            <a:pPr marL="0" indent="0" eaLnBrk="1" hangingPunct="1">
              <a:buClr>
                <a:schemeClr val="accent6"/>
              </a:buClr>
              <a:buNone/>
            </a:pPr>
            <a:endParaRPr lang="tr-TR" sz="2400" dirty="0"/>
          </a:p>
          <a:p>
            <a:pPr eaLnBrk="1" hangingPunct="1">
              <a:lnSpc>
                <a:spcPct val="80000"/>
              </a:lnSpc>
              <a:buClr>
                <a:schemeClr val="accent6"/>
              </a:buClr>
            </a:pPr>
            <a:r>
              <a:rPr lang="tr-TR" sz="2400" dirty="0">
                <a:solidFill>
                  <a:schemeClr val="accent6">
                    <a:lumMod val="75000"/>
                  </a:schemeClr>
                </a:solidFill>
              </a:rPr>
              <a:t>Araştırma hipotezi (H</a:t>
            </a:r>
            <a:r>
              <a:rPr lang="tr-TR" sz="2400" baseline="-25000" dirty="0">
                <a:solidFill>
                  <a:schemeClr val="accent6">
                    <a:lumMod val="75000"/>
                  </a:schemeClr>
                </a:solidFill>
              </a:rPr>
              <a:t>1</a:t>
            </a:r>
            <a:r>
              <a:rPr lang="tr-TR" sz="2400" dirty="0">
                <a:solidFill>
                  <a:schemeClr val="accent6">
                    <a:lumMod val="75000"/>
                  </a:schemeClr>
                </a:solidFill>
              </a:rPr>
              <a:t>): </a:t>
            </a:r>
            <a:r>
              <a:rPr lang="tr-TR" sz="2400" dirty="0"/>
              <a:t>“Erkek ve kız öğrencilerin yazma puanlarının ortalaması birbirinden farklıdır.” </a:t>
            </a:r>
          </a:p>
          <a:p>
            <a:pPr marL="0" indent="0" eaLnBrk="1" hangingPunct="1">
              <a:lnSpc>
                <a:spcPct val="80000"/>
              </a:lnSpc>
              <a:buClr>
                <a:schemeClr val="accent6"/>
              </a:buClr>
              <a:buNone/>
            </a:pPr>
            <a:r>
              <a:rPr lang="tr-TR" sz="2400" dirty="0"/>
              <a:t>    </a:t>
            </a:r>
            <a:r>
              <a:rPr lang="en-US" sz="2400" dirty="0"/>
              <a:t>H</a:t>
            </a:r>
            <a:r>
              <a:rPr lang="tr-TR" sz="2400" baseline="-25000" dirty="0"/>
              <a:t>1</a:t>
            </a:r>
            <a:r>
              <a:rPr lang="en-US" sz="2400" dirty="0"/>
              <a:t>: µ</a:t>
            </a:r>
            <a:r>
              <a:rPr lang="tr-TR" sz="2400" dirty="0"/>
              <a:t> </a:t>
            </a:r>
            <a:r>
              <a:rPr lang="en-US" sz="2400" dirty="0">
                <a:sym typeface="Symbol" pitchFamily="18" charset="2"/>
              </a:rPr>
              <a:t></a:t>
            </a:r>
            <a:r>
              <a:rPr lang="tr-TR" sz="2400" dirty="0"/>
              <a:t> </a:t>
            </a:r>
            <a:r>
              <a:rPr lang="en-US" sz="2400" dirty="0"/>
              <a:t>µ </a:t>
            </a:r>
            <a:r>
              <a:rPr lang="tr-TR" sz="2400" baseline="-25000" dirty="0"/>
              <a:t>0</a:t>
            </a:r>
            <a:r>
              <a:rPr lang="tr-TR" sz="2400" dirty="0"/>
              <a:t> (çift kuyruk testi).</a:t>
            </a:r>
          </a:p>
          <a:p>
            <a:pPr eaLnBrk="1" hangingPunct="1">
              <a:lnSpc>
                <a:spcPct val="80000"/>
              </a:lnSpc>
              <a:buClr>
                <a:schemeClr val="accent6"/>
              </a:buClr>
            </a:pPr>
            <a:r>
              <a:rPr lang="tr-TR" sz="2000" dirty="0"/>
              <a:t>Hipotez “Erkeklerin notu kızlarınkinden yüksektir/düşüktür şeklinde” yönlü (tek yönlü) olarak da kurulabilir. </a:t>
            </a:r>
            <a:endParaRPr lang="en-US" sz="2000" dirty="0"/>
          </a:p>
        </p:txBody>
      </p:sp>
      <p:pic>
        <p:nvPicPr>
          <p:cNvPr id="9" name="Picture 8">
            <a:extLst>
              <a:ext uri="{FF2B5EF4-FFF2-40B4-BE49-F238E27FC236}">
                <a16:creationId xmlns:a16="http://schemas.microsoft.com/office/drawing/2014/main" id="{D220879F-54A0-FBC4-22CD-CD067BDB4C7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536587" y="2209800"/>
            <a:ext cx="3134032" cy="2857500"/>
          </a:xfrm>
          <a:prstGeom prst="rect">
            <a:avLst/>
          </a:prstGeom>
        </p:spPr>
      </p:pic>
    </p:spTree>
    <p:extLst>
      <p:ext uri="{BB962C8B-B14F-4D97-AF65-F5344CB8AC3E}">
        <p14:creationId xmlns:p14="http://schemas.microsoft.com/office/powerpoint/2010/main" val="165806440"/>
      </p:ext>
    </p:extLst>
  </p:cSld>
  <p:clrMapOvr>
    <a:masterClrMapping/>
  </p:clrMapOvr>
  <p:transition>
    <p:cover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52400" y="228600"/>
            <a:ext cx="8064896" cy="914400"/>
          </a:xfrm>
        </p:spPr>
        <p:txBody>
          <a:bodyPr/>
          <a:lstStyle/>
          <a:p>
            <a:pPr eaLnBrk="1" hangingPunct="1"/>
            <a:r>
              <a:rPr lang="tr-TR" dirty="0"/>
              <a:t>Bağımsız Örneklemler </a:t>
            </a:r>
            <a:r>
              <a:rPr lang="tr-TR" i="1" dirty="0"/>
              <a:t>t</a:t>
            </a:r>
            <a:r>
              <a:rPr lang="tr-TR" dirty="0"/>
              <a:t>-testi - </a:t>
            </a:r>
            <a:r>
              <a:rPr lang="tr-TR" b="1" dirty="0">
                <a:solidFill>
                  <a:schemeClr val="accent6">
                    <a:lumMod val="75000"/>
                  </a:schemeClr>
                </a:solidFill>
              </a:rPr>
              <a:t>JASP</a:t>
            </a:r>
            <a:endParaRPr lang="en-US" b="1" dirty="0">
              <a:solidFill>
                <a:schemeClr val="accent6">
                  <a:lumMod val="75000"/>
                </a:schemeClr>
              </a:solidFill>
            </a:endParaRPr>
          </a:p>
        </p:txBody>
      </p:sp>
      <p:pic>
        <p:nvPicPr>
          <p:cNvPr id="5" name="Picture 4">
            <a:extLst>
              <a:ext uri="{FF2B5EF4-FFF2-40B4-BE49-F238E27FC236}">
                <a16:creationId xmlns:a16="http://schemas.microsoft.com/office/drawing/2014/main" id="{430CB14D-2BB2-AFF4-1594-69D7CAA37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699" y="1151238"/>
            <a:ext cx="4828298" cy="4789610"/>
          </a:xfrm>
          <a:prstGeom prst="rect">
            <a:avLst/>
          </a:prstGeom>
        </p:spPr>
      </p:pic>
      <p:sp>
        <p:nvSpPr>
          <p:cNvPr id="7" name="TextBox 6">
            <a:extLst>
              <a:ext uri="{FF2B5EF4-FFF2-40B4-BE49-F238E27FC236}">
                <a16:creationId xmlns:a16="http://schemas.microsoft.com/office/drawing/2014/main" id="{0E54E156-88DF-A482-98BC-D75200460D55}"/>
              </a:ext>
            </a:extLst>
          </p:cNvPr>
          <p:cNvSpPr txBox="1"/>
          <p:nvPr/>
        </p:nvSpPr>
        <p:spPr>
          <a:xfrm>
            <a:off x="6934200" y="4192700"/>
            <a:ext cx="1978110" cy="1754326"/>
          </a:xfrm>
          <a:prstGeom prst="rect">
            <a:avLst/>
          </a:prstGeom>
          <a:noFill/>
        </p:spPr>
        <p:txBody>
          <a:bodyPr wrap="square">
            <a:spAutoFit/>
          </a:bodyPr>
          <a:lstStyle/>
          <a:p>
            <a:pPr marR="0" lvl="0" algn="l" defTabSz="914400" rtl="0" eaLnBrk="1" fontAlgn="base" latinLnBrk="0" hangingPunct="1">
              <a:lnSpc>
                <a:spcPct val="100000"/>
              </a:lnSpc>
              <a:spcBef>
                <a:spcPct val="20000"/>
              </a:spcBef>
              <a:spcAft>
                <a:spcPct val="0"/>
              </a:spcAft>
              <a:buClrTx/>
              <a:buSzTx/>
              <a:tabLst/>
              <a:defRPr/>
            </a:pPr>
            <a:r>
              <a:rPr kumimoji="0" lang="tr-TR" sz="1800" b="0" i="0" u="none" strike="noStrike" kern="0" cap="none" spc="0" normalizeH="0" noProof="0" dirty="0">
                <a:ln>
                  <a:noFill/>
                </a:ln>
                <a:solidFill>
                  <a:schemeClr val="tx1"/>
                </a:solidFill>
                <a:effectLst/>
                <a:uLnTx/>
                <a:uFillTx/>
                <a:latin typeface="+mn-lt"/>
                <a:ea typeface="+mn-ea"/>
                <a:cs typeface="+mn-cs"/>
              </a:rPr>
              <a:t>Dikkat bu grafik size %95 </a:t>
            </a:r>
            <a:r>
              <a:rPr kumimoji="0" lang="tr-TR" sz="1800" b="0" i="0" u="none" strike="noStrike" kern="0" cap="none" spc="0" normalizeH="0" noProof="0" dirty="0" err="1">
                <a:ln>
                  <a:noFill/>
                </a:ln>
                <a:solidFill>
                  <a:schemeClr val="tx1"/>
                </a:solidFill>
                <a:effectLst/>
                <a:uLnTx/>
                <a:uFillTx/>
                <a:latin typeface="+mn-lt"/>
                <a:ea typeface="+mn-ea"/>
                <a:cs typeface="+mn-cs"/>
              </a:rPr>
              <a:t>lik</a:t>
            </a:r>
            <a:r>
              <a:rPr kumimoji="0" lang="tr-TR" sz="1800" b="0" i="0" u="none" strike="noStrike" kern="0" cap="none" spc="0" normalizeH="0" noProof="0" dirty="0">
                <a:ln>
                  <a:noFill/>
                </a:ln>
                <a:solidFill>
                  <a:schemeClr val="tx1"/>
                </a:solidFill>
                <a:effectLst/>
                <a:uLnTx/>
                <a:uFillTx/>
                <a:latin typeface="+mn-lt"/>
                <a:ea typeface="+mn-ea"/>
                <a:cs typeface="+mn-cs"/>
              </a:rPr>
              <a:t> kadın ve erkeklerin yazma notlarının güven aralıklarını verecektir.</a:t>
            </a:r>
          </a:p>
        </p:txBody>
      </p:sp>
      <p:grpSp>
        <p:nvGrpSpPr>
          <p:cNvPr id="10" name="Group 9">
            <a:extLst>
              <a:ext uri="{FF2B5EF4-FFF2-40B4-BE49-F238E27FC236}">
                <a16:creationId xmlns:a16="http://schemas.microsoft.com/office/drawing/2014/main" id="{DF0875EB-C768-0F3F-8122-2711727AB8BD}"/>
              </a:ext>
            </a:extLst>
          </p:cNvPr>
          <p:cNvGrpSpPr/>
          <p:nvPr/>
        </p:nvGrpSpPr>
        <p:grpSpPr>
          <a:xfrm>
            <a:off x="5111241" y="4648200"/>
            <a:ext cx="1822959" cy="518238"/>
            <a:chOff x="5111241" y="4933518"/>
            <a:chExt cx="1900080" cy="232920"/>
          </a:xfrm>
        </p:grpSpPr>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388686E5-87F3-3AF9-7D38-2FB4305BDE61}"/>
                    </a:ext>
                  </a:extLst>
                </p14:cNvPr>
                <p14:cNvContentPartPr/>
                <p14:nvPr/>
              </p14:nvContentPartPr>
              <p14:xfrm>
                <a:off x="5111241" y="5010198"/>
                <a:ext cx="1738440" cy="40680"/>
              </p14:xfrm>
            </p:contentPart>
          </mc:Choice>
          <mc:Fallback>
            <p:pic>
              <p:nvPicPr>
                <p:cNvPr id="8" name="Ink 7">
                  <a:extLst>
                    <a:ext uri="{FF2B5EF4-FFF2-40B4-BE49-F238E27FC236}">
                      <a16:creationId xmlns:a16="http://schemas.microsoft.com/office/drawing/2014/main" id="{388686E5-87F3-3AF9-7D38-2FB4305BDE61}"/>
                    </a:ext>
                  </a:extLst>
                </p:cNvPr>
                <p:cNvPicPr/>
                <p:nvPr/>
              </p:nvPicPr>
              <p:blipFill>
                <a:blip r:embed="rId5"/>
                <a:stretch>
                  <a:fillRect/>
                </a:stretch>
              </p:blipFill>
              <p:spPr>
                <a:xfrm>
                  <a:off x="5101862" y="5006130"/>
                  <a:ext cx="1756822" cy="4865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7199B34-F0BF-079F-F2FD-C5DF7B8CF4B8}"/>
                    </a:ext>
                  </a:extLst>
                </p14:cNvPr>
                <p14:cNvContentPartPr/>
                <p14:nvPr/>
              </p14:nvContentPartPr>
              <p14:xfrm>
                <a:off x="6727641" y="4933518"/>
                <a:ext cx="283680" cy="232920"/>
              </p14:xfrm>
            </p:contentPart>
          </mc:Choice>
          <mc:Fallback xmlns="">
            <p:pic>
              <p:nvPicPr>
                <p:cNvPr id="9" name="Ink 8">
                  <a:extLst>
                    <a:ext uri="{FF2B5EF4-FFF2-40B4-BE49-F238E27FC236}">
                      <a16:creationId xmlns:a16="http://schemas.microsoft.com/office/drawing/2014/main" id="{F7199B34-F0BF-079F-F2FD-C5DF7B8CF4B8}"/>
                    </a:ext>
                  </a:extLst>
                </p:cNvPr>
                <p:cNvPicPr/>
                <p:nvPr/>
              </p:nvPicPr>
              <p:blipFill>
                <a:blip r:embed="rId7"/>
                <a:stretch>
                  <a:fillRect/>
                </a:stretch>
              </p:blipFill>
              <p:spPr>
                <a:xfrm>
                  <a:off x="6718641" y="4924878"/>
                  <a:ext cx="301320" cy="250560"/>
                </a:xfrm>
                <a:prstGeom prst="rect">
                  <a:avLst/>
                </a:prstGeom>
              </p:spPr>
            </p:pic>
          </mc:Fallback>
        </mc:AlternateContent>
      </p:grpSp>
    </p:spTree>
    <p:extLst>
      <p:ext uri="{BB962C8B-B14F-4D97-AF65-F5344CB8AC3E}">
        <p14:creationId xmlns:p14="http://schemas.microsoft.com/office/powerpoint/2010/main" val="4072855361"/>
      </p:ext>
    </p:extLst>
  </p:cSld>
  <p:clrMapOvr>
    <a:masterClrMapping/>
  </p:clrMapOvr>
  <p:transition>
    <p:cover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755576" y="0"/>
            <a:ext cx="8244408" cy="914400"/>
          </a:xfrm>
        </p:spPr>
        <p:txBody>
          <a:bodyPr/>
          <a:lstStyle/>
          <a:p>
            <a:r>
              <a:rPr lang="tr-TR" dirty="0"/>
              <a:t>Bağımsız Örneklemler </a:t>
            </a:r>
            <a:r>
              <a:rPr lang="tr-TR" i="1" dirty="0"/>
              <a:t>t</a:t>
            </a:r>
            <a:r>
              <a:rPr lang="tr-TR" dirty="0"/>
              <a:t>-testi Sonucu I</a:t>
            </a:r>
          </a:p>
        </p:txBody>
      </p:sp>
      <p:sp>
        <p:nvSpPr>
          <p:cNvPr id="4" name="Text Box 3"/>
          <p:cNvSpPr txBox="1">
            <a:spLocks noChangeArrowheads="1"/>
          </p:cNvSpPr>
          <p:nvPr/>
        </p:nvSpPr>
        <p:spPr bwMode="auto">
          <a:xfrm>
            <a:off x="385465" y="4086722"/>
            <a:ext cx="8229600" cy="2527176"/>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kumimoji="0" lang="tr-TR" sz="2400" b="0" i="0" u="none" strike="noStrike" kern="0" cap="none" spc="0" normalizeH="0" baseline="0" noProof="0" dirty="0">
                <a:ln>
                  <a:noFill/>
                </a:ln>
                <a:solidFill>
                  <a:schemeClr val="tx1"/>
                </a:solidFill>
                <a:effectLst/>
                <a:uLnTx/>
                <a:uFillTx/>
                <a:latin typeface="+mn-lt"/>
                <a:ea typeface="+mn-ea"/>
                <a:cs typeface="+mn-cs"/>
              </a:rPr>
              <a:t>Erkek</a:t>
            </a:r>
            <a:r>
              <a:rPr kumimoji="0" lang="tr-TR" sz="2400" b="0" i="0" u="none" strike="noStrike" kern="0" cap="none" spc="0" normalizeH="0" noProof="0" dirty="0">
                <a:ln>
                  <a:noFill/>
                </a:ln>
                <a:solidFill>
                  <a:schemeClr val="tx1"/>
                </a:solidFill>
                <a:effectLst/>
                <a:uLnTx/>
                <a:uFillTx/>
                <a:latin typeface="+mn-lt"/>
                <a:ea typeface="+mn-ea"/>
                <a:cs typeface="+mn-cs"/>
              </a:rPr>
              <a:t> (91)</a:t>
            </a:r>
            <a:r>
              <a:rPr kumimoji="0" lang="tr-TR" sz="2400" b="0" i="0" u="none" strike="noStrike" kern="0" cap="none" spc="0" normalizeH="0" baseline="0" noProof="0" dirty="0">
                <a:ln>
                  <a:noFill/>
                </a:ln>
                <a:solidFill>
                  <a:schemeClr val="tx1"/>
                </a:solidFill>
                <a:effectLst/>
                <a:uLnTx/>
                <a:uFillTx/>
                <a:latin typeface="+mn-lt"/>
                <a:ea typeface="+mn-ea"/>
                <a:cs typeface="+mn-cs"/>
              </a:rPr>
              <a:t> öğrencilerin yazma puanı ortalaması 50,12</a:t>
            </a:r>
            <a:r>
              <a:rPr kumimoji="0" lang="tr-TR" sz="2400" b="0" i="0" u="none" strike="noStrike" kern="0" cap="none" spc="0" normalizeH="0" noProof="0" dirty="0">
                <a:ln>
                  <a:noFill/>
                </a:ln>
                <a:solidFill>
                  <a:schemeClr val="tx1"/>
                </a:solidFill>
                <a:effectLst/>
                <a:uLnTx/>
                <a:uFillTx/>
                <a:latin typeface="+mn-lt"/>
                <a:ea typeface="+mn-ea"/>
                <a:cs typeface="+mn-cs"/>
              </a:rPr>
              <a:t> ve</a:t>
            </a:r>
            <a:r>
              <a:rPr kumimoji="0" lang="tr-TR" sz="2400" b="0" i="0" u="none" strike="noStrike" kern="0" cap="none" spc="0" normalizeH="0" baseline="0" noProof="0" dirty="0">
                <a:ln>
                  <a:noFill/>
                </a:ln>
                <a:solidFill>
                  <a:schemeClr val="tx1"/>
                </a:solidFill>
                <a:effectLst/>
                <a:uLnTx/>
                <a:uFillTx/>
                <a:latin typeface="+mn-lt"/>
                <a:ea typeface="+mn-ea"/>
                <a:cs typeface="+mn-cs"/>
              </a:rPr>
              <a:t> standart sapması 10,305.</a:t>
            </a:r>
            <a:endParaRPr lang="tr-TR" sz="2400" kern="0" baseline="0" dirty="0">
              <a:latin typeface="+mn-lt"/>
            </a:endParaRPr>
          </a:p>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lang="tr-TR" sz="2400" kern="0" dirty="0">
                <a:latin typeface="+mn-lt"/>
              </a:rPr>
              <a:t>Kız (109) öğrencilerin yazma puanı ortalaması 54,99 ve standart sapması 8,134. </a:t>
            </a:r>
            <a:r>
              <a:rPr kumimoji="0" lang="tr-TR" sz="2400" b="0" i="0" u="none" strike="noStrike" kern="0" cap="none" spc="0" normalizeH="0" baseline="0" noProof="0" dirty="0">
                <a:ln>
                  <a:noFill/>
                </a:ln>
                <a:solidFill>
                  <a:schemeClr val="tx1"/>
                </a:solidFill>
                <a:effectLst/>
                <a:uLnTx/>
                <a:uFillTx/>
                <a:latin typeface="+mn-lt"/>
                <a:ea typeface="+mn-ea"/>
                <a:cs typeface="+mn-cs"/>
              </a:rPr>
              <a:t>İki ortalama arasında yaklaşık 5 puan fark var</a:t>
            </a:r>
            <a:r>
              <a:rPr kumimoji="0" lang="tr-TR" sz="2400" b="0" i="0" u="none" strike="noStrike" kern="0" cap="none" spc="0" normalizeH="0" noProof="0" dirty="0">
                <a:ln>
                  <a:noFill/>
                </a:ln>
                <a:solidFill>
                  <a:schemeClr val="tx1"/>
                </a:solidFill>
                <a:effectLst/>
                <a:uLnTx/>
                <a:uFillTx/>
                <a:latin typeface="+mn-lt"/>
                <a:ea typeface="+mn-ea"/>
                <a:cs typeface="+mn-cs"/>
              </a:rPr>
              <a:t> ve standart sapmalar (s) arasındaki fark yaklaşık 2 puan</a:t>
            </a:r>
            <a:endParaRPr kumimoji="0" lang="tr-TR" sz="2400" b="0" i="0" u="none" strike="noStrike" kern="0" cap="none" spc="0" normalizeH="0" baseline="0" noProof="0" dirty="0">
              <a:ln>
                <a:noFill/>
              </a:ln>
              <a:solidFill>
                <a:schemeClr val="tx1"/>
              </a:solidFill>
              <a:effectLst/>
              <a:uLnTx/>
              <a:uFillTx/>
              <a:latin typeface="+mn-lt"/>
              <a:ea typeface="+mn-ea"/>
              <a:cs typeface="+mn-cs"/>
            </a:endParaRPr>
          </a:p>
        </p:txBody>
      </p:sp>
      <p:sp>
        <p:nvSpPr>
          <p:cNvPr id="9" name="Text Box 9"/>
          <p:cNvSpPr txBox="1">
            <a:spLocks noChangeArrowheads="1"/>
          </p:cNvSpPr>
          <p:nvPr/>
        </p:nvSpPr>
        <p:spPr bwMode="auto">
          <a:xfrm>
            <a:off x="2939183" y="1375611"/>
            <a:ext cx="2432845" cy="338554"/>
          </a:xfrm>
          <a:prstGeom prst="rect">
            <a:avLst/>
          </a:prstGeom>
          <a:solidFill>
            <a:schemeClr val="accent6">
              <a:lumMod val="40000"/>
              <a:lumOff val="60000"/>
            </a:schemeClr>
          </a:solidFill>
          <a:ln w="9525">
            <a:noFill/>
            <a:miter lim="800000"/>
            <a:headEnd/>
            <a:tailEnd/>
          </a:ln>
        </p:spPr>
        <p:txBody>
          <a:bodyPr wrap="none">
            <a:spAutoFit/>
          </a:bodyPr>
          <a:lstStyle/>
          <a:p>
            <a:r>
              <a:rPr lang="tr-TR" sz="1600" b="1" dirty="0"/>
              <a:t>Tanımlayıcı istatistikler</a:t>
            </a:r>
            <a:endParaRPr lang="en-US" sz="1600" b="1" dirty="0"/>
          </a:p>
        </p:txBody>
      </p:sp>
      <p:pic>
        <p:nvPicPr>
          <p:cNvPr id="13" name="Picture 12">
            <a:extLst>
              <a:ext uri="{FF2B5EF4-FFF2-40B4-BE49-F238E27FC236}">
                <a16:creationId xmlns:a16="http://schemas.microsoft.com/office/drawing/2014/main" id="{426A87E6-81D2-B073-E984-96B32C5C4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479" y="1862555"/>
            <a:ext cx="7363041" cy="1899012"/>
          </a:xfrm>
          <a:prstGeom prst="rect">
            <a:avLst/>
          </a:prstGeom>
        </p:spPr>
      </p:pic>
    </p:spTree>
    <p:extLst>
      <p:ext uri="{BB962C8B-B14F-4D97-AF65-F5344CB8AC3E}">
        <p14:creationId xmlns:p14="http://schemas.microsoft.com/office/powerpoint/2010/main" val="4071735889"/>
      </p:ext>
    </p:extLst>
  </p:cSld>
  <p:clrMapOvr>
    <a:masterClrMapping/>
  </p:clrMapOvr>
  <p:transition>
    <p:cover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48680" y="155690"/>
            <a:ext cx="8280920" cy="914400"/>
          </a:xfrm>
        </p:spPr>
        <p:txBody>
          <a:bodyPr/>
          <a:lstStyle/>
          <a:p>
            <a:pPr eaLnBrk="1" hangingPunct="1"/>
            <a:r>
              <a:rPr lang="tr-TR" sz="4000" dirty="0"/>
              <a:t>Bağımsız Örneklemler </a:t>
            </a:r>
            <a:r>
              <a:rPr lang="tr-TR" sz="4000" i="1" dirty="0"/>
              <a:t>t</a:t>
            </a:r>
            <a:r>
              <a:rPr lang="tr-TR" sz="4000" dirty="0"/>
              <a:t>-testi Sonucu- II</a:t>
            </a:r>
            <a:endParaRPr lang="en-US" sz="4000" dirty="0"/>
          </a:p>
        </p:txBody>
      </p:sp>
      <p:sp>
        <p:nvSpPr>
          <p:cNvPr id="16" name="2 İçerik Yer Tutucusu"/>
          <p:cNvSpPr>
            <a:spLocks noGrp="1"/>
          </p:cNvSpPr>
          <p:nvPr>
            <p:ph sz="half" idx="1"/>
          </p:nvPr>
        </p:nvSpPr>
        <p:spPr>
          <a:xfrm>
            <a:off x="457200" y="4191000"/>
            <a:ext cx="8085584" cy="1701800"/>
          </a:xfrm>
        </p:spPr>
        <p:txBody>
          <a:bodyPr>
            <a:normAutofit/>
          </a:bodyPr>
          <a:lstStyle/>
          <a:p>
            <a:pPr eaLnBrk="1" hangingPunct="1">
              <a:buClr>
                <a:schemeClr val="accent6"/>
              </a:buClr>
            </a:pPr>
            <a:r>
              <a:rPr lang="tr-TR" sz="2000" b="1" dirty="0"/>
              <a:t>Levene</a:t>
            </a:r>
            <a:r>
              <a:rPr lang="tr-TR" sz="2000" dirty="0"/>
              <a:t> testi erkeklerle kızların not ortalamalarının varyanslarının eşit olup olmadığı varsayımını test eder. F testi sonucu anlamlı değilse (yani p&gt;0,05) varyansların eşit olduğu varsayımı ihlal edilmiyor demektir: </a:t>
            </a:r>
          </a:p>
          <a:p>
            <a:pPr lvl="1">
              <a:buClr>
                <a:schemeClr val="accent6"/>
              </a:buClr>
            </a:pPr>
            <a:r>
              <a:rPr lang="tr-TR" dirty="0"/>
              <a:t>Örnekte F testi anlamlı (yani p&lt; 0,05 hatta &lt;0,001, yani iki grubun varyansı (10,315 ve 8,134) eş değil. O zaman </a:t>
            </a:r>
            <a:r>
              <a:rPr lang="tr-TR" b="1" dirty="0" err="1"/>
              <a:t>Welch</a:t>
            </a:r>
            <a:r>
              <a:rPr lang="tr-TR" b="1" dirty="0"/>
              <a:t> testinin </a:t>
            </a:r>
            <a:r>
              <a:rPr lang="tr-TR" dirty="0"/>
              <a:t>sonucunu rapor etmeliyiz. </a:t>
            </a:r>
          </a:p>
          <a:p>
            <a:pPr eaLnBrk="1" hangingPunct="1">
              <a:buClr>
                <a:schemeClr val="accent6"/>
              </a:buClr>
              <a:buNone/>
            </a:pPr>
            <a:endParaRPr lang="tr-TR" sz="2000" dirty="0"/>
          </a:p>
        </p:txBody>
      </p:sp>
      <p:sp>
        <p:nvSpPr>
          <p:cNvPr id="55310" name="Text Box 14"/>
          <p:cNvSpPr txBox="1">
            <a:spLocks noChangeArrowheads="1"/>
          </p:cNvSpPr>
          <p:nvPr/>
        </p:nvSpPr>
        <p:spPr bwMode="auto">
          <a:xfrm>
            <a:off x="3274963" y="1157965"/>
            <a:ext cx="2952328" cy="338554"/>
          </a:xfrm>
          <a:prstGeom prst="rect">
            <a:avLst/>
          </a:prstGeom>
          <a:solidFill>
            <a:schemeClr val="accent6">
              <a:lumMod val="60000"/>
              <a:lumOff val="40000"/>
            </a:schemeClr>
          </a:solidFill>
          <a:ln w="9525">
            <a:noFill/>
            <a:miter lim="800000"/>
            <a:headEnd/>
            <a:tailEnd/>
          </a:ln>
        </p:spPr>
        <p:txBody>
          <a:bodyPr wrap="square">
            <a:spAutoFit/>
          </a:bodyPr>
          <a:lstStyle/>
          <a:p>
            <a:r>
              <a:rPr lang="tr-TR" sz="1600" b="1" dirty="0"/>
              <a:t>Varyansların Homojenliği</a:t>
            </a:r>
            <a:endParaRPr lang="en-US" sz="1600" b="1" dirty="0"/>
          </a:p>
        </p:txBody>
      </p:sp>
      <p:pic>
        <p:nvPicPr>
          <p:cNvPr id="5" name="Picture 4">
            <a:extLst>
              <a:ext uri="{FF2B5EF4-FFF2-40B4-BE49-F238E27FC236}">
                <a16:creationId xmlns:a16="http://schemas.microsoft.com/office/drawing/2014/main" id="{EFB6C679-4B19-C03E-9F2F-304F3A615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00" y="2043683"/>
            <a:ext cx="5080000" cy="1701800"/>
          </a:xfrm>
          <a:prstGeom prst="rect">
            <a:avLst/>
          </a:prstGeom>
        </p:spPr>
      </p:pic>
    </p:spTree>
    <p:extLst>
      <p:ext uri="{BB962C8B-B14F-4D97-AF65-F5344CB8AC3E}">
        <p14:creationId xmlns:p14="http://schemas.microsoft.com/office/powerpoint/2010/main" val="2090665285"/>
      </p:ext>
    </p:extLst>
  </p:cSld>
  <p:clrMapOvr>
    <a:masterClrMapping/>
  </p:clrMapOvr>
  <p:transition>
    <p:cover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DCBBB7-965D-7FA7-0F5F-FB7CFA088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487" y="1728539"/>
            <a:ext cx="8125815" cy="1245562"/>
          </a:xfrm>
          <a:prstGeom prst="rect">
            <a:avLst/>
          </a:prstGeom>
        </p:spPr>
      </p:pic>
      <p:sp>
        <p:nvSpPr>
          <p:cNvPr id="55298" name="Rectangle 2"/>
          <p:cNvSpPr>
            <a:spLocks noGrp="1" noChangeArrowheads="1"/>
          </p:cNvSpPr>
          <p:nvPr>
            <p:ph type="title"/>
          </p:nvPr>
        </p:nvSpPr>
        <p:spPr>
          <a:xfrm>
            <a:off x="467544" y="0"/>
            <a:ext cx="8604448" cy="914400"/>
          </a:xfrm>
        </p:spPr>
        <p:txBody>
          <a:bodyPr/>
          <a:lstStyle/>
          <a:p>
            <a:pPr eaLnBrk="1" hangingPunct="1"/>
            <a:r>
              <a:rPr lang="tr-TR" sz="3600" dirty="0"/>
              <a:t>Bağımsız Örneklemler </a:t>
            </a:r>
            <a:r>
              <a:rPr lang="tr-TR" sz="3600" i="1" dirty="0"/>
              <a:t>t</a:t>
            </a:r>
            <a:r>
              <a:rPr lang="tr-TR" sz="3600" dirty="0"/>
              <a:t>-testi Sonucu- III</a:t>
            </a:r>
            <a:endParaRPr lang="en-US" sz="3600" dirty="0"/>
          </a:p>
        </p:txBody>
      </p:sp>
      <p:sp>
        <p:nvSpPr>
          <p:cNvPr id="16" name="2 İçerik Yer Tutucusu"/>
          <p:cNvSpPr>
            <a:spLocks noGrp="1"/>
          </p:cNvSpPr>
          <p:nvPr>
            <p:ph sz="half" idx="1"/>
          </p:nvPr>
        </p:nvSpPr>
        <p:spPr>
          <a:xfrm>
            <a:off x="215516" y="3333773"/>
            <a:ext cx="8712968" cy="2599184"/>
          </a:xfrm>
          <a:solidFill>
            <a:schemeClr val="bg1"/>
          </a:solidFill>
        </p:spPr>
        <p:txBody>
          <a:bodyPr>
            <a:normAutofit/>
          </a:bodyPr>
          <a:lstStyle/>
          <a:p>
            <a:pPr marL="0" indent="0" eaLnBrk="1" hangingPunct="1">
              <a:lnSpc>
                <a:spcPct val="80000"/>
              </a:lnSpc>
              <a:buClr>
                <a:schemeClr val="accent6"/>
              </a:buClr>
              <a:buNone/>
            </a:pPr>
            <a:r>
              <a:rPr lang="tr-TR" sz="2000" b="1" i="1" dirty="0">
                <a:solidFill>
                  <a:schemeClr val="accent6">
                    <a:lumMod val="50000"/>
                  </a:schemeClr>
                </a:solidFill>
              </a:rPr>
              <a:t>t</a:t>
            </a:r>
            <a:r>
              <a:rPr lang="tr-TR" sz="2000" b="1" dirty="0">
                <a:solidFill>
                  <a:schemeClr val="accent6">
                    <a:lumMod val="50000"/>
                  </a:schemeClr>
                </a:solidFill>
              </a:rPr>
              <a:t> = -3,66, </a:t>
            </a:r>
            <a:r>
              <a:rPr lang="tr-TR" sz="2000" b="1" i="1" dirty="0">
                <a:solidFill>
                  <a:schemeClr val="accent6">
                    <a:lumMod val="50000"/>
                  </a:schemeClr>
                </a:solidFill>
              </a:rPr>
              <a:t>SD</a:t>
            </a:r>
            <a:r>
              <a:rPr lang="tr-TR" sz="2000" b="1" dirty="0">
                <a:solidFill>
                  <a:schemeClr val="accent6">
                    <a:lumMod val="50000"/>
                  </a:schemeClr>
                </a:solidFill>
              </a:rPr>
              <a:t> = 169,7, </a:t>
            </a:r>
            <a:r>
              <a:rPr lang="tr-TR" sz="2000" b="1" i="1" dirty="0">
                <a:solidFill>
                  <a:schemeClr val="accent6">
                    <a:lumMod val="50000"/>
                  </a:schemeClr>
                </a:solidFill>
              </a:rPr>
              <a:t>p</a:t>
            </a:r>
            <a:r>
              <a:rPr lang="tr-TR" sz="2000" b="1" dirty="0">
                <a:solidFill>
                  <a:schemeClr val="accent6">
                    <a:lumMod val="50000"/>
                  </a:schemeClr>
                </a:solidFill>
              </a:rPr>
              <a:t> &lt; 0,001</a:t>
            </a:r>
          </a:p>
          <a:p>
            <a:pPr eaLnBrk="1" hangingPunct="1">
              <a:lnSpc>
                <a:spcPct val="80000"/>
              </a:lnSpc>
              <a:buClr>
                <a:schemeClr val="accent6"/>
              </a:buClr>
            </a:pPr>
            <a:r>
              <a:rPr lang="tr-TR" sz="2000" dirty="0"/>
              <a:t>Ortalamalar arasındaki fark (</a:t>
            </a:r>
            <a:r>
              <a:rPr lang="tr-TR" sz="2000" i="1" dirty="0" err="1"/>
              <a:t>Mean</a:t>
            </a:r>
            <a:r>
              <a:rPr lang="tr-TR" sz="2000" i="1" dirty="0"/>
              <a:t> </a:t>
            </a:r>
            <a:r>
              <a:rPr lang="tr-TR" sz="2000" i="1" dirty="0" err="1"/>
              <a:t>diff</a:t>
            </a:r>
            <a:r>
              <a:rPr lang="tr-TR" sz="2000" i="1" dirty="0"/>
              <a:t>.</a:t>
            </a:r>
            <a:r>
              <a:rPr lang="tr-TR" sz="2000" dirty="0"/>
              <a:t>) 4,87; standart hatalar arasındaki fark (</a:t>
            </a:r>
            <a:r>
              <a:rPr lang="tr-TR" sz="2000" i="1" dirty="0" err="1"/>
              <a:t>Std</a:t>
            </a:r>
            <a:r>
              <a:rPr lang="tr-TR" sz="2000" i="1" dirty="0"/>
              <a:t> </a:t>
            </a:r>
            <a:r>
              <a:rPr lang="tr-TR" sz="2000" i="1" dirty="0" err="1"/>
              <a:t>Error</a:t>
            </a:r>
            <a:r>
              <a:rPr lang="tr-TR" sz="2000" i="1" dirty="0"/>
              <a:t> </a:t>
            </a:r>
            <a:r>
              <a:rPr lang="tr-TR" sz="2000" i="1" dirty="0" err="1"/>
              <a:t>Diff</a:t>
            </a:r>
            <a:r>
              <a:rPr lang="tr-TR" sz="2000" i="1" dirty="0"/>
              <a:t>.)</a:t>
            </a:r>
            <a:r>
              <a:rPr lang="tr-TR" sz="2000" dirty="0"/>
              <a:t>1,332</a:t>
            </a:r>
          </a:p>
          <a:p>
            <a:pPr eaLnBrk="1" hangingPunct="1">
              <a:lnSpc>
                <a:spcPct val="80000"/>
              </a:lnSpc>
              <a:buClr>
                <a:schemeClr val="accent6"/>
              </a:buClr>
            </a:pPr>
            <a:r>
              <a:rPr lang="tr-TR" sz="2000" dirty="0"/>
              <a:t>Farkın %95 güven aralığı: Alt sınır (</a:t>
            </a:r>
            <a:r>
              <a:rPr lang="tr-TR" sz="2000" i="1" dirty="0" err="1"/>
              <a:t>lower</a:t>
            </a:r>
            <a:r>
              <a:rPr lang="tr-TR" sz="2000" dirty="0"/>
              <a:t>): -7,50, üst sınır (</a:t>
            </a:r>
            <a:r>
              <a:rPr lang="tr-TR" sz="2000" i="1" dirty="0" err="1"/>
              <a:t>Upper</a:t>
            </a:r>
            <a:r>
              <a:rPr lang="tr-TR" sz="2000" dirty="0"/>
              <a:t>): -2,24</a:t>
            </a:r>
          </a:p>
          <a:p>
            <a:pPr eaLnBrk="1" hangingPunct="1">
              <a:lnSpc>
                <a:spcPct val="80000"/>
              </a:lnSpc>
              <a:buClr>
                <a:schemeClr val="accent6"/>
              </a:buClr>
            </a:pPr>
            <a:r>
              <a:rPr lang="tr-TR" sz="2000" dirty="0"/>
              <a:t>Erkeklerin notuyla kızların notu arasındaki fark (yaklaşık 5 puan) istatistiksel açıdan anlamlı (</a:t>
            </a:r>
            <a:r>
              <a:rPr lang="tr-TR" sz="2000" i="1" dirty="0"/>
              <a:t>p</a:t>
            </a:r>
            <a:r>
              <a:rPr lang="tr-TR" sz="2000" dirty="0"/>
              <a:t>&lt;0,001). Bu farkın şans eseri oluşma olasılığı binde birden az. Yani kızların notu erkeklerinkinden anlamlı düzeyde yüksek. </a:t>
            </a:r>
          </a:p>
          <a:p>
            <a:pPr eaLnBrk="1" hangingPunct="1">
              <a:lnSpc>
                <a:spcPct val="80000"/>
              </a:lnSpc>
              <a:buClr>
                <a:schemeClr val="accent6"/>
              </a:buClr>
            </a:pPr>
            <a:r>
              <a:rPr lang="tr-TR" sz="2000" b="1" dirty="0"/>
              <a:t>Boş hipotez </a:t>
            </a:r>
            <a:r>
              <a:rPr lang="tr-TR" sz="2000" dirty="0"/>
              <a:t>(“Erkek ve kızların yazma puanları birbirine eşittir”)</a:t>
            </a:r>
            <a:r>
              <a:rPr lang="tr-TR" sz="2000" b="1" dirty="0"/>
              <a:t> reddedilir.</a:t>
            </a:r>
          </a:p>
        </p:txBody>
      </p:sp>
      <p:sp>
        <p:nvSpPr>
          <p:cNvPr id="55307" name="Oval 11"/>
          <p:cNvSpPr>
            <a:spLocks noChangeArrowheads="1"/>
          </p:cNvSpPr>
          <p:nvPr/>
        </p:nvSpPr>
        <p:spPr bwMode="auto">
          <a:xfrm>
            <a:off x="5715001" y="2557789"/>
            <a:ext cx="1447800" cy="261611"/>
          </a:xfrm>
          <a:prstGeom prst="ellipse">
            <a:avLst/>
          </a:prstGeom>
          <a:noFill/>
          <a:ln w="28575">
            <a:solidFill>
              <a:srgbClr val="00B050"/>
            </a:solidFill>
            <a:round/>
            <a:headEnd/>
            <a:tailEnd/>
          </a:ln>
        </p:spPr>
        <p:txBody>
          <a:bodyPr wrap="none" anchor="ctr"/>
          <a:lstStyle/>
          <a:p>
            <a:endParaRPr lang="tr-TR"/>
          </a:p>
        </p:txBody>
      </p:sp>
      <p:sp>
        <p:nvSpPr>
          <p:cNvPr id="55309" name="Text Box 13"/>
          <p:cNvSpPr txBox="1">
            <a:spLocks noChangeArrowheads="1"/>
          </p:cNvSpPr>
          <p:nvPr/>
        </p:nvSpPr>
        <p:spPr bwMode="auto">
          <a:xfrm>
            <a:off x="5715000" y="1642387"/>
            <a:ext cx="1319592" cy="261610"/>
          </a:xfrm>
          <a:prstGeom prst="rect">
            <a:avLst/>
          </a:prstGeom>
          <a:solidFill>
            <a:srgbClr val="92D050"/>
          </a:solidFill>
          <a:ln w="28575">
            <a:noFill/>
            <a:miter lim="800000"/>
            <a:headEnd/>
            <a:tailEnd/>
          </a:ln>
        </p:spPr>
        <p:txBody>
          <a:bodyPr wrap="none">
            <a:spAutoFit/>
          </a:bodyPr>
          <a:lstStyle/>
          <a:p>
            <a:pPr algn="l"/>
            <a:r>
              <a:rPr lang="tr-TR" sz="1100" dirty="0"/>
              <a:t>%95 güven aralığı</a:t>
            </a:r>
          </a:p>
        </p:txBody>
      </p:sp>
      <p:sp>
        <p:nvSpPr>
          <p:cNvPr id="55310" name="Text Box 14"/>
          <p:cNvSpPr txBox="1">
            <a:spLocks noChangeArrowheads="1"/>
          </p:cNvSpPr>
          <p:nvPr/>
        </p:nvSpPr>
        <p:spPr bwMode="auto">
          <a:xfrm>
            <a:off x="3050307" y="925043"/>
            <a:ext cx="2952328" cy="338554"/>
          </a:xfrm>
          <a:prstGeom prst="rect">
            <a:avLst/>
          </a:prstGeom>
          <a:solidFill>
            <a:schemeClr val="accent6">
              <a:lumMod val="20000"/>
              <a:lumOff val="80000"/>
            </a:schemeClr>
          </a:solidFill>
          <a:ln w="9525">
            <a:noFill/>
            <a:miter lim="800000"/>
            <a:headEnd/>
            <a:tailEnd/>
          </a:ln>
        </p:spPr>
        <p:txBody>
          <a:bodyPr wrap="square">
            <a:spAutoFit/>
          </a:bodyPr>
          <a:lstStyle/>
          <a:p>
            <a:r>
              <a:rPr lang="tr-TR" sz="1600" b="1" dirty="0"/>
              <a:t>Bağımsız örneklem t testi</a:t>
            </a:r>
            <a:endParaRPr lang="en-US" sz="1600" b="1" dirty="0"/>
          </a:p>
        </p:txBody>
      </p:sp>
    </p:spTree>
    <p:extLst>
      <p:ext uri="{BB962C8B-B14F-4D97-AF65-F5344CB8AC3E}">
        <p14:creationId xmlns:p14="http://schemas.microsoft.com/office/powerpoint/2010/main" val="2620996752"/>
      </p:ext>
    </p:extLst>
  </p:cSld>
  <p:clrMapOvr>
    <a:masterClrMapping/>
  </p:clrMapOvr>
  <p:transition>
    <p:cover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474C88-BF5A-2C44-6F32-E4212CD1A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1066800"/>
            <a:ext cx="5041900" cy="4213515"/>
          </a:xfrm>
          <a:prstGeom prst="rect">
            <a:avLst/>
          </a:prstGeom>
        </p:spPr>
      </p:pic>
      <p:sp>
        <p:nvSpPr>
          <p:cNvPr id="2" name="Title 1"/>
          <p:cNvSpPr>
            <a:spLocks noGrp="1"/>
          </p:cNvSpPr>
          <p:nvPr>
            <p:ph type="title"/>
          </p:nvPr>
        </p:nvSpPr>
        <p:spPr>
          <a:xfrm>
            <a:off x="628650" y="365127"/>
            <a:ext cx="7886700" cy="473074"/>
          </a:xfrm>
        </p:spPr>
        <p:txBody>
          <a:bodyPr>
            <a:normAutofit fontScale="90000"/>
          </a:bodyPr>
          <a:lstStyle/>
          <a:p>
            <a:r>
              <a:rPr lang="tr-TR"/>
              <a:t>Hata çubuk grafiği</a:t>
            </a:r>
          </a:p>
        </p:txBody>
      </p:sp>
      <p:sp>
        <p:nvSpPr>
          <p:cNvPr id="6" name="Text Box 3"/>
          <p:cNvSpPr txBox="1">
            <a:spLocks noChangeArrowheads="1"/>
          </p:cNvSpPr>
          <p:nvPr/>
        </p:nvSpPr>
        <p:spPr bwMode="auto">
          <a:xfrm>
            <a:off x="5270501" y="533401"/>
            <a:ext cx="3790949" cy="3962400"/>
          </a:xfrm>
          <a:prstGeom prst="rect">
            <a:avLst/>
          </a:prstGeom>
          <a:solidFill>
            <a:schemeClr val="accent6">
              <a:lumMod val="20000"/>
              <a:lumOff val="80000"/>
            </a:schemeClr>
          </a:solidFill>
          <a:ln w="9525">
            <a:noFill/>
            <a:miter lim="800000"/>
            <a:headEnd/>
            <a:tailEnd/>
          </a:ln>
        </p:spPr>
        <p:txBody>
          <a:bodyPr vert="horz" wrap="square" lIns="91440" tIns="45720" rIns="91440" bIns="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lang="tr-TR" kern="0" dirty="0">
                <a:latin typeface="+mn-lt"/>
              </a:rPr>
              <a:t>Hata çubuk grafiklerinin ortalarındaki siyah nokta gruplarının ortalamalarını göstermektedir</a:t>
            </a:r>
          </a:p>
          <a:p>
            <a:pPr marL="800100" lvl="1" indent="-342900">
              <a:spcBef>
                <a:spcPct val="20000"/>
              </a:spcBef>
              <a:buFontTx/>
              <a:buChar char="•"/>
              <a:defRPr/>
            </a:pPr>
            <a:r>
              <a:rPr lang="tr-TR" kern="0" dirty="0">
                <a:latin typeface="+mn-lt"/>
              </a:rPr>
              <a:t>Grafiklerden dağılımların varyansı hakkında bir yorum da yapabilirsiniz</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lang="tr-TR" kern="0" dirty="0">
                <a:latin typeface="+mn-lt"/>
              </a:rPr>
              <a:t>Eğer bu iki çubuk grafiği birbiriyle kesişirse Ho kabul </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lang="tr-TR" kern="0" dirty="0">
                <a:latin typeface="+mn-lt"/>
              </a:rPr>
              <a:t>Eğer buradaki gibi kesişmezse  Ho ret diyoruz</a:t>
            </a:r>
          </a:p>
          <a:p>
            <a:pPr marL="800100" lvl="1" indent="-342900">
              <a:spcBef>
                <a:spcPct val="20000"/>
              </a:spcBef>
              <a:buFontTx/>
              <a:buChar char="•"/>
              <a:defRPr/>
            </a:pPr>
            <a:r>
              <a:rPr lang="tr-TR" kern="0" dirty="0">
                <a:latin typeface="+mn-lt"/>
              </a:rPr>
              <a:t>çünkü ortak değerleri olmadığını görebiliyoruz</a:t>
            </a:r>
            <a:endParaRPr kumimoji="0" lang="tr-TR" b="0" i="0" u="none" strike="noStrike" kern="0" cap="none" spc="0" normalizeH="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tr-TR" b="0" i="0" u="none" strike="noStrike" kern="0" cap="none" spc="0" normalizeH="0" baseline="0" noProof="0" dirty="0">
              <a:ln>
                <a:noFill/>
              </a:ln>
              <a:solidFill>
                <a:schemeClr val="tx1"/>
              </a:solidFill>
              <a:effectLst/>
              <a:uLnTx/>
              <a:uFillTx/>
              <a:latin typeface="+mn-lt"/>
              <a:ea typeface="+mn-ea"/>
              <a:cs typeface="+mn-cs"/>
            </a:endParaRPr>
          </a:p>
        </p:txBody>
      </p:sp>
      <p:cxnSp>
        <p:nvCxnSpPr>
          <p:cNvPr id="8" name="Straight Connector 7"/>
          <p:cNvCxnSpPr/>
          <p:nvPr/>
        </p:nvCxnSpPr>
        <p:spPr>
          <a:xfrm>
            <a:off x="1828800" y="2971800"/>
            <a:ext cx="3124200" cy="0"/>
          </a:xfrm>
          <a:prstGeom prst="line">
            <a:avLst/>
          </a:prstGeom>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A2F16DC-90FA-2117-ED7B-C3A9EC71B4E5}"/>
              </a:ext>
            </a:extLst>
          </p:cNvPr>
          <p:cNvSpPr txBox="1"/>
          <p:nvPr/>
        </p:nvSpPr>
        <p:spPr>
          <a:xfrm>
            <a:off x="457200" y="5282393"/>
            <a:ext cx="8604250" cy="1034129"/>
          </a:xfrm>
          <a:prstGeom prst="rect">
            <a:avLst/>
          </a:prstGeom>
          <a:solidFill>
            <a:schemeClr val="accent4">
              <a:lumMod val="40000"/>
              <a:lumOff val="60000"/>
            </a:schemeClr>
          </a:solidFill>
        </p:spPr>
        <p:txBody>
          <a:bodyPr wrap="square">
            <a:spAutoFit/>
          </a:bodyPr>
          <a:lstStyle/>
          <a:p>
            <a:r>
              <a:rPr lang="tr-TR" dirty="0"/>
              <a:t>APA stiline göre bulgu şöyle rapor edilir:</a:t>
            </a:r>
          </a:p>
          <a:p>
            <a:pPr eaLnBrk="1" hangingPunct="1">
              <a:lnSpc>
                <a:spcPct val="80000"/>
              </a:lnSpc>
            </a:pPr>
            <a:r>
              <a:rPr lang="tr-TR" dirty="0"/>
              <a:t>Kızların yazma puanları ortalaması (</a:t>
            </a:r>
            <a:r>
              <a:rPr lang="tr-TR" dirty="0" err="1"/>
              <a:t>Ort</a:t>
            </a:r>
            <a:r>
              <a:rPr lang="tr-TR" baseline="-25000" dirty="0" err="1"/>
              <a:t>k</a:t>
            </a:r>
            <a:r>
              <a:rPr lang="tr-TR" dirty="0"/>
              <a:t> =  54,99, SH=0,779) erkeklerinkinden (</a:t>
            </a:r>
            <a:r>
              <a:rPr lang="tr-TR" dirty="0" err="1"/>
              <a:t>Ort</a:t>
            </a:r>
            <a:r>
              <a:rPr lang="tr-TR" baseline="-25000" dirty="0" err="1"/>
              <a:t>e</a:t>
            </a:r>
            <a:r>
              <a:rPr lang="tr-TR" dirty="0"/>
              <a:t> = 50,12, SH=1,080) 4,87 puan daha yüksektir ve bu fark istatistiksel açıdan anlamlıdır  (</a:t>
            </a:r>
            <a:r>
              <a:rPr lang="tr-TR" i="1" dirty="0"/>
              <a:t>t </a:t>
            </a:r>
            <a:r>
              <a:rPr lang="tr-TR" dirty="0"/>
              <a:t>(169,7) =-3,66, </a:t>
            </a:r>
            <a:r>
              <a:rPr lang="tr-TR" i="1" dirty="0"/>
              <a:t>p</a:t>
            </a:r>
            <a:r>
              <a:rPr lang="tr-TR" dirty="0"/>
              <a:t>&lt;0,001, </a:t>
            </a:r>
            <a:r>
              <a:rPr lang="tr-TR" i="1" dirty="0"/>
              <a:t>d=0,525</a:t>
            </a:r>
            <a:r>
              <a:rPr lang="tr-TR" dirty="0"/>
              <a:t>). </a:t>
            </a:r>
          </a:p>
        </p:txBody>
      </p:sp>
      <p:cxnSp>
        <p:nvCxnSpPr>
          <p:cNvPr id="11" name="Straight Connector 10">
            <a:extLst>
              <a:ext uri="{FF2B5EF4-FFF2-40B4-BE49-F238E27FC236}">
                <a16:creationId xmlns:a16="http://schemas.microsoft.com/office/drawing/2014/main" id="{7C80CEB0-6932-5987-8F86-CCE84B149560}"/>
              </a:ext>
            </a:extLst>
          </p:cNvPr>
          <p:cNvCxnSpPr/>
          <p:nvPr/>
        </p:nvCxnSpPr>
        <p:spPr>
          <a:xfrm>
            <a:off x="1828800" y="2819400"/>
            <a:ext cx="3124200" cy="0"/>
          </a:xfrm>
          <a:prstGeom prst="line">
            <a:avLst/>
          </a:prstGeom>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85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116340"/>
            <a:ext cx="7886700" cy="1325563"/>
          </a:xfrm>
        </p:spPr>
        <p:txBody>
          <a:bodyPr/>
          <a:lstStyle/>
          <a:p>
            <a:pPr eaLnBrk="1" hangingPunct="1"/>
            <a:r>
              <a:rPr lang="tr-TR" dirty="0"/>
              <a:t>Bağımlı/Eşleştirilmiş Örneklemler </a:t>
            </a:r>
            <a:r>
              <a:rPr lang="tr-TR" i="1" dirty="0"/>
              <a:t>t</a:t>
            </a:r>
            <a:r>
              <a:rPr lang="tr-TR" dirty="0"/>
              <a:t>-testi</a:t>
            </a:r>
            <a:endParaRPr lang="tr-TR" b="1" dirty="0">
              <a:solidFill>
                <a:schemeClr val="accent6">
                  <a:lumMod val="75000"/>
                </a:schemeClr>
              </a:solidFill>
            </a:endParaRPr>
          </a:p>
        </p:txBody>
      </p:sp>
      <p:sp>
        <p:nvSpPr>
          <p:cNvPr id="57347" name="Rectangle 3"/>
          <p:cNvSpPr>
            <a:spLocks noGrp="1" noChangeArrowheads="1"/>
          </p:cNvSpPr>
          <p:nvPr>
            <p:ph idx="1"/>
          </p:nvPr>
        </p:nvSpPr>
        <p:spPr>
          <a:xfrm>
            <a:off x="591045" y="1539874"/>
            <a:ext cx="5657355" cy="5089526"/>
          </a:xfrm>
        </p:spPr>
        <p:txBody>
          <a:bodyPr>
            <a:normAutofit lnSpcReduction="10000"/>
          </a:bodyPr>
          <a:lstStyle/>
          <a:p>
            <a:pPr marL="0" indent="0" eaLnBrk="1" hangingPunct="1">
              <a:buClr>
                <a:schemeClr val="accent6"/>
              </a:buClr>
              <a:buNone/>
            </a:pPr>
            <a:r>
              <a:rPr lang="tr-TR" sz="2400" dirty="0"/>
              <a:t>“Bağımlı” ibaresi bir denekten iki veri toplanması anlamına gelir </a:t>
            </a:r>
          </a:p>
          <a:p>
            <a:pPr eaLnBrk="1" hangingPunct="1">
              <a:buClr>
                <a:schemeClr val="accent6"/>
              </a:buClr>
            </a:pPr>
            <a:r>
              <a:rPr lang="tr-TR" sz="2400" dirty="0"/>
              <a:t>Eşleştirilmiş ya da bağımlı örneklem </a:t>
            </a:r>
            <a:r>
              <a:rPr lang="tr-TR" sz="2400" i="1" dirty="0"/>
              <a:t>t</a:t>
            </a:r>
            <a:r>
              <a:rPr lang="tr-TR" sz="2400" dirty="0"/>
              <a:t>-testi olarak da bilinir</a:t>
            </a:r>
          </a:p>
          <a:p>
            <a:pPr eaLnBrk="1" hangingPunct="1">
              <a:buClr>
                <a:schemeClr val="accent6"/>
              </a:buClr>
            </a:pPr>
            <a:r>
              <a:rPr lang="tr-TR" sz="2400" dirty="0"/>
              <a:t>Öğrencilerin okuma ve yazma puanlarının ortalamaları birbirinden farklı mıdır? </a:t>
            </a:r>
          </a:p>
          <a:p>
            <a:pPr eaLnBrk="1" hangingPunct="1">
              <a:lnSpc>
                <a:spcPct val="80000"/>
              </a:lnSpc>
              <a:buClr>
                <a:schemeClr val="accent6"/>
              </a:buClr>
            </a:pPr>
            <a:r>
              <a:rPr lang="tr-TR" sz="2400" b="1" dirty="0">
                <a:solidFill>
                  <a:schemeClr val="accent6">
                    <a:lumMod val="75000"/>
                  </a:schemeClr>
                </a:solidFill>
              </a:rPr>
              <a:t>Araştırma hipotezi (H</a:t>
            </a:r>
            <a:r>
              <a:rPr lang="tr-TR" sz="2400" b="1" baseline="-25000" dirty="0">
                <a:solidFill>
                  <a:schemeClr val="accent6">
                    <a:lumMod val="75000"/>
                  </a:schemeClr>
                </a:solidFill>
              </a:rPr>
              <a:t>1</a:t>
            </a:r>
            <a:r>
              <a:rPr lang="tr-TR" sz="2400" b="1" dirty="0">
                <a:solidFill>
                  <a:schemeClr val="accent6">
                    <a:lumMod val="75000"/>
                  </a:schemeClr>
                </a:solidFill>
              </a:rPr>
              <a:t>):</a:t>
            </a:r>
            <a:r>
              <a:rPr lang="tr-TR" sz="2400" dirty="0">
                <a:solidFill>
                  <a:schemeClr val="accent6">
                    <a:lumMod val="75000"/>
                  </a:schemeClr>
                </a:solidFill>
              </a:rPr>
              <a:t> </a:t>
            </a:r>
            <a:r>
              <a:rPr lang="tr-TR" sz="2400" dirty="0"/>
              <a:t>“Öğrencilerin okuma ve yazma puanlarının ortalamaları birbirinden farklıdır.” </a:t>
            </a:r>
            <a:r>
              <a:rPr lang="en-US" sz="2400" dirty="0"/>
              <a:t>H</a:t>
            </a:r>
            <a:r>
              <a:rPr lang="tr-TR" sz="2000" baseline="-25000" dirty="0"/>
              <a:t>1</a:t>
            </a:r>
            <a:r>
              <a:rPr lang="en-US" sz="2400" dirty="0"/>
              <a:t>: µ</a:t>
            </a:r>
            <a:r>
              <a:rPr lang="tr-TR" sz="2400" dirty="0"/>
              <a:t> </a:t>
            </a:r>
            <a:r>
              <a:rPr lang="en-US" sz="2400" dirty="0">
                <a:sym typeface="Symbol" pitchFamily="18" charset="2"/>
              </a:rPr>
              <a:t></a:t>
            </a:r>
            <a:r>
              <a:rPr lang="tr-TR" sz="2400" dirty="0"/>
              <a:t> </a:t>
            </a:r>
            <a:r>
              <a:rPr lang="en-US" sz="2400" dirty="0"/>
              <a:t>µ </a:t>
            </a:r>
            <a:r>
              <a:rPr lang="tr-TR" sz="2000" baseline="-25000" dirty="0"/>
              <a:t>0</a:t>
            </a:r>
            <a:r>
              <a:rPr lang="tr-TR" sz="2400" dirty="0"/>
              <a:t> (çift kuyruk testi).</a:t>
            </a:r>
          </a:p>
          <a:p>
            <a:pPr lvl="1">
              <a:buClr>
                <a:schemeClr val="accent6"/>
              </a:buClr>
            </a:pPr>
            <a:r>
              <a:rPr lang="tr-TR" sz="2000" dirty="0"/>
              <a:t>Bu testte “bağımsız örneklem”den söz edilemez. </a:t>
            </a:r>
          </a:p>
          <a:p>
            <a:pPr lvl="1">
              <a:buClr>
                <a:schemeClr val="accent6"/>
              </a:buClr>
            </a:pPr>
            <a:r>
              <a:rPr lang="tr-TR" sz="2000" dirty="0"/>
              <a:t>Muhtemelen okumadan iyi puan alanlar yazmadan da alıyorlardır. Bu nedenle aynı öğrencinin okuma ve yazma puanlarını karşılaştırmak gerekir. Bu nedenle “bağımlı”, “eşli” ya da “eşleştirilmiş örneklemler” diyoruz. </a:t>
            </a:r>
          </a:p>
        </p:txBody>
      </p:sp>
      <p:pic>
        <p:nvPicPr>
          <p:cNvPr id="7" name="Picture 6">
            <a:extLst>
              <a:ext uri="{FF2B5EF4-FFF2-40B4-BE49-F238E27FC236}">
                <a16:creationId xmlns:a16="http://schemas.microsoft.com/office/drawing/2014/main" id="{51F722CC-24D5-F2A6-E969-6615265F3AB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6019800" y="1690689"/>
            <a:ext cx="2886075" cy="2696824"/>
          </a:xfrm>
          <a:prstGeom prst="rect">
            <a:avLst/>
          </a:prstGeom>
        </p:spPr>
      </p:pic>
    </p:spTree>
    <p:extLst>
      <p:ext uri="{BB962C8B-B14F-4D97-AF65-F5344CB8AC3E}">
        <p14:creationId xmlns:p14="http://schemas.microsoft.com/office/powerpoint/2010/main" val="3549184326"/>
      </p:ext>
    </p:extLst>
  </p:cSld>
  <p:clrMapOvr>
    <a:masterClrMapping/>
  </p:clrMapOvr>
  <p:transition>
    <p:cover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39552" y="0"/>
            <a:ext cx="8208912" cy="914400"/>
          </a:xfrm>
        </p:spPr>
        <p:txBody>
          <a:bodyPr/>
          <a:lstStyle/>
          <a:p>
            <a:pPr eaLnBrk="1" hangingPunct="1"/>
            <a:r>
              <a:rPr lang="tr-TR" dirty="0"/>
              <a:t>Bağımlı Örneklemler </a:t>
            </a:r>
            <a:r>
              <a:rPr lang="tr-TR" i="1" dirty="0"/>
              <a:t>t</a:t>
            </a:r>
            <a:r>
              <a:rPr lang="tr-TR" dirty="0"/>
              <a:t>-testi - </a:t>
            </a:r>
            <a:r>
              <a:rPr lang="tr-TR" b="1" dirty="0">
                <a:solidFill>
                  <a:schemeClr val="accent6">
                    <a:lumMod val="75000"/>
                  </a:schemeClr>
                </a:solidFill>
              </a:rPr>
              <a:t>JASP</a:t>
            </a:r>
            <a:endParaRPr lang="en-US" b="1" dirty="0">
              <a:solidFill>
                <a:schemeClr val="accent6">
                  <a:lumMod val="75000"/>
                </a:schemeClr>
              </a:solidFill>
            </a:endParaRPr>
          </a:p>
        </p:txBody>
      </p:sp>
      <p:pic>
        <p:nvPicPr>
          <p:cNvPr id="5" name="Picture 4">
            <a:extLst>
              <a:ext uri="{FF2B5EF4-FFF2-40B4-BE49-F238E27FC236}">
                <a16:creationId xmlns:a16="http://schemas.microsoft.com/office/drawing/2014/main" id="{882C3D2C-8C12-290F-8649-F31378E49B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742374"/>
            <a:ext cx="4667229" cy="5758460"/>
          </a:xfrm>
          <a:prstGeom prst="rect">
            <a:avLst/>
          </a:prstGeom>
        </p:spPr>
      </p:pic>
    </p:spTree>
    <p:extLst>
      <p:ext uri="{BB962C8B-B14F-4D97-AF65-F5344CB8AC3E}">
        <p14:creationId xmlns:p14="http://schemas.microsoft.com/office/powerpoint/2010/main" val="2267959813"/>
      </p:ext>
    </p:extLst>
  </p:cSld>
  <p:clrMapOvr>
    <a:masterClrMapping/>
  </p:clrMapOvr>
  <p:transition>
    <p:cover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57761" y="254169"/>
            <a:ext cx="8244408" cy="914400"/>
          </a:xfrm>
        </p:spPr>
        <p:txBody>
          <a:bodyPr/>
          <a:lstStyle/>
          <a:p>
            <a:r>
              <a:rPr lang="tr-TR" sz="4000" dirty="0"/>
              <a:t>Bağımlı Örneklem </a:t>
            </a:r>
            <a:r>
              <a:rPr lang="tr-TR" sz="4000" i="1" dirty="0"/>
              <a:t>t</a:t>
            </a:r>
            <a:r>
              <a:rPr lang="tr-TR" sz="4000" dirty="0"/>
              <a:t>-testi Sonucu </a:t>
            </a:r>
          </a:p>
        </p:txBody>
      </p:sp>
      <p:sp>
        <p:nvSpPr>
          <p:cNvPr id="4" name="Text Box 3"/>
          <p:cNvSpPr txBox="1">
            <a:spLocks noChangeArrowheads="1"/>
          </p:cNvSpPr>
          <p:nvPr/>
        </p:nvSpPr>
        <p:spPr bwMode="auto">
          <a:xfrm>
            <a:off x="381000" y="3332038"/>
            <a:ext cx="8229600" cy="1697162"/>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kumimoji="0" lang="tr-TR" sz="1600" b="0" i="0" u="none" strike="noStrike" kern="0" cap="none" spc="0" normalizeH="0" baseline="0" noProof="0" dirty="0">
                <a:ln>
                  <a:noFill/>
                </a:ln>
                <a:solidFill>
                  <a:schemeClr val="tx1"/>
                </a:solidFill>
                <a:effectLst/>
                <a:uLnTx/>
                <a:uFillTx/>
                <a:latin typeface="+mn-lt"/>
                <a:ea typeface="+mn-ea"/>
                <a:cs typeface="+mn-cs"/>
              </a:rPr>
              <a:t>Öğrencilerin okuma puanı ortalaması 52,23, standart sapması 10,253 ve ortalamanın standart hatası 0,725</a:t>
            </a:r>
          </a:p>
          <a:p>
            <a:pPr marL="342900" indent="-342900" algn="l">
              <a:spcBef>
                <a:spcPct val="20000"/>
              </a:spcBef>
              <a:buClr>
                <a:schemeClr val="accent6"/>
              </a:buClr>
              <a:buFontTx/>
              <a:buChar char="•"/>
            </a:pPr>
            <a:r>
              <a:rPr lang="tr-TR" sz="1600" kern="0" dirty="0">
                <a:latin typeface="+mn-lt"/>
              </a:rPr>
              <a:t>Öğrencilerin yazma puanı ortalaması 52,78, standart sapması 9,479 ve ortalamanın standart hatası 0,670</a:t>
            </a:r>
          </a:p>
          <a:p>
            <a:pPr marL="342900" marR="0" lvl="0" indent="-342900" algn="l" defTabSz="914400" rtl="0" eaLnBrk="1" fontAlgn="base" latinLnBrk="0" hangingPunct="1">
              <a:lnSpc>
                <a:spcPct val="100000"/>
              </a:lnSpc>
              <a:spcBef>
                <a:spcPct val="20000"/>
              </a:spcBef>
              <a:spcAft>
                <a:spcPct val="0"/>
              </a:spcAft>
              <a:buClr>
                <a:schemeClr val="accent6"/>
              </a:buClr>
              <a:buSzTx/>
              <a:buFontTx/>
              <a:buChar char="•"/>
              <a:tabLst/>
              <a:defRPr/>
            </a:pPr>
            <a:r>
              <a:rPr kumimoji="0" lang="tr-TR" sz="1600" b="0" i="0" u="none" strike="noStrike" kern="0" cap="none" spc="0" normalizeH="0" baseline="0" noProof="0" dirty="0">
                <a:ln>
                  <a:noFill/>
                </a:ln>
                <a:solidFill>
                  <a:schemeClr val="tx1"/>
                </a:solidFill>
                <a:effectLst/>
                <a:uLnTx/>
                <a:uFillTx/>
                <a:latin typeface="+mn-lt"/>
                <a:ea typeface="+mn-ea"/>
                <a:cs typeface="+mn-cs"/>
              </a:rPr>
              <a:t>İki ortalama arasında yaklaşık yarım puan fark var</a:t>
            </a:r>
            <a:r>
              <a:rPr kumimoji="0" lang="tr-TR" sz="1600" b="0" i="0" u="none" strike="noStrike" kern="0" cap="none" spc="0" normalizeH="0" noProof="0" dirty="0">
                <a:ln>
                  <a:noFill/>
                </a:ln>
                <a:solidFill>
                  <a:schemeClr val="tx1"/>
                </a:solidFill>
                <a:effectLst/>
                <a:uLnTx/>
                <a:uFillTx/>
                <a:latin typeface="+mn-lt"/>
                <a:ea typeface="+mn-ea"/>
                <a:cs typeface="+mn-cs"/>
              </a:rPr>
              <a:t> ve </a:t>
            </a:r>
            <a:r>
              <a:rPr lang="tr-TR" sz="1600" kern="0" dirty="0">
                <a:latin typeface="+mn-lt"/>
              </a:rPr>
              <a:t>standart sapma</a:t>
            </a:r>
            <a:r>
              <a:rPr kumimoji="0" lang="tr-TR" sz="1600" b="0" i="0" u="none" strike="noStrike" kern="0" cap="none" spc="0" normalizeH="0" noProof="0" dirty="0" err="1">
                <a:ln>
                  <a:noFill/>
                </a:ln>
                <a:solidFill>
                  <a:schemeClr val="tx1"/>
                </a:solidFill>
                <a:effectLst/>
                <a:uLnTx/>
                <a:uFillTx/>
                <a:latin typeface="+mn-lt"/>
                <a:ea typeface="+mn-ea"/>
                <a:cs typeface="+mn-cs"/>
              </a:rPr>
              <a:t>lar</a:t>
            </a:r>
            <a:r>
              <a:rPr kumimoji="0" lang="tr-TR" sz="1600" b="0" i="0" u="none" strike="noStrike" kern="0" cap="none" spc="0" normalizeH="0" noProof="0" dirty="0">
                <a:ln>
                  <a:noFill/>
                </a:ln>
                <a:solidFill>
                  <a:schemeClr val="tx1"/>
                </a:solidFill>
                <a:effectLst/>
                <a:uLnTx/>
                <a:uFillTx/>
                <a:latin typeface="+mn-lt"/>
                <a:ea typeface="+mn-ea"/>
                <a:cs typeface="+mn-cs"/>
              </a:rPr>
              <a:t> arasındaki fark 1 puandan az</a:t>
            </a:r>
            <a:endParaRPr kumimoji="0" lang="tr-TR" sz="1600" b="0" i="0" u="none" strike="noStrike" kern="0" cap="none" spc="0" normalizeH="0" baseline="0" noProof="0" dirty="0">
              <a:ln>
                <a:noFill/>
              </a:ln>
              <a:solidFill>
                <a:schemeClr val="tx1"/>
              </a:solidFill>
              <a:effectLst/>
              <a:uLnTx/>
              <a:uFillTx/>
              <a:latin typeface="+mn-lt"/>
              <a:ea typeface="+mn-ea"/>
              <a:cs typeface="+mn-cs"/>
            </a:endParaRPr>
          </a:p>
        </p:txBody>
      </p:sp>
      <p:sp>
        <p:nvSpPr>
          <p:cNvPr id="9" name="Text Box 9"/>
          <p:cNvSpPr txBox="1">
            <a:spLocks noChangeArrowheads="1"/>
          </p:cNvSpPr>
          <p:nvPr/>
        </p:nvSpPr>
        <p:spPr bwMode="auto">
          <a:xfrm>
            <a:off x="2819400" y="1191964"/>
            <a:ext cx="2432845" cy="338554"/>
          </a:xfrm>
          <a:prstGeom prst="rect">
            <a:avLst/>
          </a:prstGeom>
          <a:solidFill>
            <a:schemeClr val="accent6">
              <a:lumMod val="60000"/>
              <a:lumOff val="40000"/>
            </a:schemeClr>
          </a:solidFill>
          <a:ln w="9525">
            <a:noFill/>
            <a:miter lim="800000"/>
            <a:headEnd/>
            <a:tailEnd/>
          </a:ln>
        </p:spPr>
        <p:txBody>
          <a:bodyPr wrap="none">
            <a:spAutoFit/>
          </a:bodyPr>
          <a:lstStyle/>
          <a:p>
            <a:r>
              <a:rPr lang="tr-TR" sz="1600" b="1" dirty="0"/>
              <a:t>Tanımlayıcı istatistikler</a:t>
            </a:r>
            <a:endParaRPr lang="en-US" sz="1600" b="1" dirty="0"/>
          </a:p>
        </p:txBody>
      </p:sp>
      <p:pic>
        <p:nvPicPr>
          <p:cNvPr id="5" name="Picture 4">
            <a:extLst>
              <a:ext uri="{FF2B5EF4-FFF2-40B4-BE49-F238E27FC236}">
                <a16:creationId xmlns:a16="http://schemas.microsoft.com/office/drawing/2014/main" id="{0332C3FB-B9AA-8F94-3749-C7ADEE3CE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300" y="1473200"/>
            <a:ext cx="7239000" cy="1955800"/>
          </a:xfrm>
          <a:prstGeom prst="rect">
            <a:avLst/>
          </a:prstGeom>
        </p:spPr>
      </p:pic>
      <p:pic>
        <p:nvPicPr>
          <p:cNvPr id="7" name="Picture 6">
            <a:extLst>
              <a:ext uri="{FF2B5EF4-FFF2-40B4-BE49-F238E27FC236}">
                <a16:creationId xmlns:a16="http://schemas.microsoft.com/office/drawing/2014/main" id="{2872310E-A404-DBE3-5D34-0B9A14E3EE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4941509"/>
            <a:ext cx="3670300" cy="1449054"/>
          </a:xfrm>
          <a:prstGeom prst="rect">
            <a:avLst/>
          </a:prstGeom>
        </p:spPr>
      </p:pic>
      <p:sp>
        <p:nvSpPr>
          <p:cNvPr id="10" name="Oval Callout 9">
            <a:extLst>
              <a:ext uri="{FF2B5EF4-FFF2-40B4-BE49-F238E27FC236}">
                <a16:creationId xmlns:a16="http://schemas.microsoft.com/office/drawing/2014/main" id="{4B3C5406-7BD9-2152-8599-EDC4919AC7D7}"/>
              </a:ext>
            </a:extLst>
          </p:cNvPr>
          <p:cNvSpPr/>
          <p:nvPr/>
        </p:nvSpPr>
        <p:spPr>
          <a:xfrm>
            <a:off x="5791200" y="4855120"/>
            <a:ext cx="2057400" cy="865436"/>
          </a:xfrm>
          <a:prstGeom prst="wedgeEllipseCallout">
            <a:avLst>
              <a:gd name="adj1" fmla="val -47259"/>
              <a:gd name="adj2" fmla="val 73923"/>
            </a:avLst>
          </a:prstGeom>
          <a:solidFill>
            <a:schemeClr val="accent6">
              <a:lumMod val="20000"/>
              <a:lumOff val="8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400" dirty="0">
                <a:solidFill>
                  <a:schemeClr val="tx1"/>
                </a:solidFill>
              </a:rPr>
              <a:t>Fark puanları normal dağılmış</a:t>
            </a:r>
          </a:p>
        </p:txBody>
      </p:sp>
    </p:spTree>
    <p:extLst>
      <p:ext uri="{BB962C8B-B14F-4D97-AF65-F5344CB8AC3E}">
        <p14:creationId xmlns:p14="http://schemas.microsoft.com/office/powerpoint/2010/main" val="4032120799"/>
      </p:ext>
    </p:extLst>
  </p:cSld>
  <p:clrMapOvr>
    <a:masterClrMapping/>
  </p:clrMapOvr>
  <p:transition>
    <p:cover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982C6BC-A392-6502-26A1-20B677D82E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99" y="1922405"/>
            <a:ext cx="8501909" cy="1492624"/>
          </a:xfrm>
          <a:prstGeom prst="rect">
            <a:avLst/>
          </a:prstGeom>
        </p:spPr>
      </p:pic>
      <p:sp>
        <p:nvSpPr>
          <p:cNvPr id="2" name="1 Başlık"/>
          <p:cNvSpPr>
            <a:spLocks noGrp="1"/>
          </p:cNvSpPr>
          <p:nvPr>
            <p:ph type="title"/>
          </p:nvPr>
        </p:nvSpPr>
        <p:spPr>
          <a:xfrm>
            <a:off x="288032" y="204287"/>
            <a:ext cx="8244408" cy="914400"/>
          </a:xfrm>
        </p:spPr>
        <p:txBody>
          <a:bodyPr/>
          <a:lstStyle/>
          <a:p>
            <a:r>
              <a:rPr lang="tr-TR" sz="3600" dirty="0"/>
              <a:t>Bağımlı Örneklemler </a:t>
            </a:r>
            <a:r>
              <a:rPr lang="tr-TR" sz="3600" i="1" dirty="0"/>
              <a:t>t</a:t>
            </a:r>
            <a:r>
              <a:rPr lang="tr-TR" sz="3600" dirty="0"/>
              <a:t>-testi Sonucu</a:t>
            </a:r>
          </a:p>
        </p:txBody>
      </p:sp>
      <p:sp>
        <p:nvSpPr>
          <p:cNvPr id="9" name="Text Box 9"/>
          <p:cNvSpPr txBox="1">
            <a:spLocks noChangeArrowheads="1"/>
          </p:cNvSpPr>
          <p:nvPr/>
        </p:nvSpPr>
        <p:spPr bwMode="auto">
          <a:xfrm>
            <a:off x="2795703" y="1236624"/>
            <a:ext cx="3049233" cy="338554"/>
          </a:xfrm>
          <a:prstGeom prst="rect">
            <a:avLst/>
          </a:prstGeom>
          <a:solidFill>
            <a:schemeClr val="accent6">
              <a:lumMod val="60000"/>
              <a:lumOff val="40000"/>
            </a:schemeClr>
          </a:solidFill>
          <a:ln w="9525">
            <a:noFill/>
            <a:miter lim="800000"/>
            <a:headEnd/>
            <a:tailEnd/>
          </a:ln>
        </p:spPr>
        <p:txBody>
          <a:bodyPr wrap="none">
            <a:spAutoFit/>
          </a:bodyPr>
          <a:lstStyle/>
          <a:p>
            <a:r>
              <a:rPr lang="tr-TR" sz="1600" dirty="0"/>
              <a:t>Bağımlı örneklem t testi sonucu</a:t>
            </a:r>
            <a:endParaRPr lang="en-US" sz="1600" dirty="0"/>
          </a:p>
        </p:txBody>
      </p:sp>
      <p:sp>
        <p:nvSpPr>
          <p:cNvPr id="15" name="Text Box 3"/>
          <p:cNvSpPr txBox="1">
            <a:spLocks noChangeArrowheads="1"/>
          </p:cNvSpPr>
          <p:nvPr/>
        </p:nvSpPr>
        <p:spPr bwMode="auto">
          <a:xfrm>
            <a:off x="156069" y="4038600"/>
            <a:ext cx="8568952" cy="2438400"/>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p>
            <a:pPr marL="342900" lvl="0" indent="-342900" algn="l">
              <a:spcBef>
                <a:spcPct val="20000"/>
              </a:spcBef>
              <a:buClr>
                <a:schemeClr val="accent6"/>
              </a:buClr>
              <a:buFontTx/>
              <a:buChar char="•"/>
            </a:pPr>
            <a:r>
              <a:rPr kumimoji="0" lang="tr-TR" b="0" i="0" u="none" strike="noStrike" kern="0" cap="none" spc="0" normalizeH="0" baseline="0" noProof="0" dirty="0">
                <a:ln>
                  <a:noFill/>
                </a:ln>
                <a:solidFill>
                  <a:schemeClr val="tx1"/>
                </a:solidFill>
                <a:effectLst/>
                <a:uLnTx/>
                <a:uFillTx/>
                <a:latin typeface="+mn-lt"/>
                <a:ea typeface="+mn-ea"/>
                <a:cs typeface="+mn-cs"/>
              </a:rPr>
              <a:t>Öğrencilerin okuma ve yazma puanları ortalamaları arasındaki fark 0,545 puan, standart</a:t>
            </a:r>
            <a:r>
              <a:rPr kumimoji="0" lang="tr-TR" b="0" i="0" u="none" strike="noStrike" kern="0" cap="none" spc="0" normalizeH="0" noProof="0" dirty="0">
                <a:ln>
                  <a:noFill/>
                </a:ln>
                <a:solidFill>
                  <a:schemeClr val="tx1"/>
                </a:solidFill>
                <a:effectLst/>
                <a:uLnTx/>
                <a:uFillTx/>
                <a:latin typeface="+mn-lt"/>
                <a:ea typeface="+mn-ea"/>
                <a:cs typeface="+mn-cs"/>
              </a:rPr>
              <a:t> sapma 8,887 </a:t>
            </a:r>
            <a:r>
              <a:rPr lang="tr-TR" kern="0" dirty="0">
                <a:latin typeface="+mn-lt"/>
              </a:rPr>
              <a:t>ve ortalamanın standart hatası 0,628</a:t>
            </a:r>
          </a:p>
          <a:p>
            <a:pPr marL="342900" lvl="0" indent="-342900" algn="l">
              <a:spcBef>
                <a:spcPct val="20000"/>
              </a:spcBef>
              <a:buClr>
                <a:schemeClr val="accent6"/>
              </a:buClr>
              <a:buFontTx/>
              <a:buChar char="•"/>
            </a:pPr>
            <a:r>
              <a:rPr lang="tr-TR" i="1" dirty="0">
                <a:latin typeface="+mn-lt"/>
              </a:rPr>
              <a:t>t </a:t>
            </a:r>
            <a:r>
              <a:rPr lang="tr-TR" dirty="0">
                <a:latin typeface="+mn-lt"/>
              </a:rPr>
              <a:t>testi sonucu </a:t>
            </a:r>
            <a:r>
              <a:rPr lang="tr-TR" i="1" dirty="0">
                <a:latin typeface="+mn-lt"/>
              </a:rPr>
              <a:t>t</a:t>
            </a:r>
            <a:r>
              <a:rPr lang="tr-TR" dirty="0">
                <a:latin typeface="+mn-lt"/>
              </a:rPr>
              <a:t>= -0,867, </a:t>
            </a:r>
            <a:r>
              <a:rPr lang="tr-TR" i="1" dirty="0">
                <a:latin typeface="+mn-lt"/>
              </a:rPr>
              <a:t>SD</a:t>
            </a:r>
            <a:r>
              <a:rPr lang="tr-TR" dirty="0">
                <a:latin typeface="+mn-lt"/>
              </a:rPr>
              <a:t> = 199, </a:t>
            </a:r>
            <a:r>
              <a:rPr lang="tr-TR" i="1" dirty="0">
                <a:latin typeface="+mn-lt"/>
              </a:rPr>
              <a:t>p</a:t>
            </a:r>
            <a:r>
              <a:rPr lang="tr-TR" dirty="0">
                <a:latin typeface="+mn-lt"/>
              </a:rPr>
              <a:t> = 0,387 (çift kuyruk)</a:t>
            </a:r>
          </a:p>
          <a:p>
            <a:pPr marL="342900" lvl="0" indent="-342900" algn="l">
              <a:spcBef>
                <a:spcPct val="20000"/>
              </a:spcBef>
              <a:buClr>
                <a:schemeClr val="accent6"/>
              </a:buClr>
              <a:buFontTx/>
              <a:buChar char="•"/>
            </a:pPr>
            <a:r>
              <a:rPr lang="tr-TR" dirty="0">
                <a:latin typeface="+mn-lt"/>
              </a:rPr>
              <a:t>Okuma ve yazma puanları arasındaki yarım puanlık fark istatistiksel açıdan anlamlı değil (</a:t>
            </a:r>
            <a:r>
              <a:rPr lang="tr-TR" i="1" dirty="0">
                <a:latin typeface="+mn-lt"/>
              </a:rPr>
              <a:t>p</a:t>
            </a:r>
            <a:r>
              <a:rPr lang="tr-TR" dirty="0">
                <a:latin typeface="+mn-lt"/>
              </a:rPr>
              <a:t>=0,387- çünkü bu olasılık değeri </a:t>
            </a:r>
            <a:r>
              <a:rPr lang="tr-TR" dirty="0">
                <a:latin typeface="+mn-lt"/>
                <a:sym typeface="Symbol" panose="05050102010706020507" pitchFamily="18" charset="2"/>
              </a:rPr>
              <a:t>=0.05’ten büyük)</a:t>
            </a:r>
            <a:endParaRPr lang="tr-TR" dirty="0">
              <a:latin typeface="+mn-lt"/>
            </a:endParaRPr>
          </a:p>
          <a:p>
            <a:pPr marL="342900" lvl="0" indent="-342900" algn="l">
              <a:spcBef>
                <a:spcPct val="20000"/>
              </a:spcBef>
              <a:buClr>
                <a:schemeClr val="accent6"/>
              </a:buClr>
              <a:buFontTx/>
              <a:buChar char="•"/>
            </a:pPr>
            <a:r>
              <a:rPr lang="tr-TR" b="1" dirty="0">
                <a:latin typeface="+mn-lt"/>
              </a:rPr>
              <a:t>Boş hipotez </a:t>
            </a:r>
            <a:r>
              <a:rPr lang="tr-TR" dirty="0">
                <a:latin typeface="+mn-lt"/>
              </a:rPr>
              <a:t>(“Okuma ve yazma puanlarının ortalamaları arasında fark yoktur”)</a:t>
            </a:r>
            <a:r>
              <a:rPr lang="tr-TR" b="1" dirty="0">
                <a:latin typeface="+mn-lt"/>
              </a:rPr>
              <a:t> kabul edilir.</a:t>
            </a:r>
            <a:endParaRPr lang="tr-TR" kern="0" dirty="0">
              <a:latin typeface="+mn-lt"/>
            </a:endParaRPr>
          </a:p>
        </p:txBody>
      </p:sp>
      <p:sp>
        <p:nvSpPr>
          <p:cNvPr id="12" name="Oval 13"/>
          <p:cNvSpPr>
            <a:spLocks noChangeArrowheads="1"/>
          </p:cNvSpPr>
          <p:nvPr/>
        </p:nvSpPr>
        <p:spPr bwMode="auto">
          <a:xfrm>
            <a:off x="2362200" y="2801584"/>
            <a:ext cx="667243" cy="401638"/>
          </a:xfrm>
          <a:prstGeom prst="ellipse">
            <a:avLst/>
          </a:prstGeom>
          <a:noFill/>
          <a:ln w="28575">
            <a:solidFill>
              <a:srgbClr val="00B050"/>
            </a:solidFill>
            <a:round/>
            <a:headEnd/>
            <a:tailEnd/>
          </a:ln>
        </p:spPr>
        <p:txBody>
          <a:bodyPr wrap="none" anchor="ctr"/>
          <a:lstStyle/>
          <a:p>
            <a:endParaRPr lang="tr-TR"/>
          </a:p>
        </p:txBody>
      </p:sp>
      <p:sp>
        <p:nvSpPr>
          <p:cNvPr id="13" name="Oval 14"/>
          <p:cNvSpPr>
            <a:spLocks noChangeArrowheads="1"/>
          </p:cNvSpPr>
          <p:nvPr/>
        </p:nvSpPr>
        <p:spPr bwMode="auto">
          <a:xfrm>
            <a:off x="6119261" y="2801584"/>
            <a:ext cx="1833922" cy="459952"/>
          </a:xfrm>
          <a:prstGeom prst="ellipse">
            <a:avLst/>
          </a:prstGeom>
          <a:noFill/>
          <a:ln w="28575">
            <a:solidFill>
              <a:srgbClr val="00B050"/>
            </a:solidFill>
            <a:round/>
            <a:headEnd/>
            <a:tailEnd/>
          </a:ln>
        </p:spPr>
        <p:txBody>
          <a:bodyPr wrap="none" anchor="ctr"/>
          <a:lstStyle/>
          <a:p>
            <a:endParaRPr lang="tr-TR"/>
          </a:p>
        </p:txBody>
      </p:sp>
    </p:spTree>
    <p:extLst>
      <p:ext uri="{BB962C8B-B14F-4D97-AF65-F5344CB8AC3E}">
        <p14:creationId xmlns:p14="http://schemas.microsoft.com/office/powerpoint/2010/main" val="4098674699"/>
      </p:ext>
    </p:extLst>
  </p:cSld>
  <p:clrMapOvr>
    <a:masterClrMapping/>
  </p:clrMapOvr>
  <p:transition>
    <p:cover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81000" y="1284514"/>
            <a:ext cx="7848600" cy="5257800"/>
          </a:xfrm>
        </p:spPr>
        <p:txBody>
          <a:bodyPr>
            <a:normAutofit/>
          </a:bodyPr>
          <a:lstStyle/>
          <a:p>
            <a:pPr marL="0" indent="0">
              <a:buClr>
                <a:schemeClr val="accent6"/>
              </a:buClr>
              <a:buNone/>
            </a:pPr>
            <a:r>
              <a:rPr lang="tr-TR" sz="2800" dirty="0"/>
              <a:t>APA stiline göre bulgular şöyle rapor edilir:</a:t>
            </a:r>
          </a:p>
          <a:p>
            <a:pPr eaLnBrk="1" hangingPunct="1">
              <a:lnSpc>
                <a:spcPct val="80000"/>
              </a:lnSpc>
              <a:buClr>
                <a:schemeClr val="accent6"/>
              </a:buClr>
            </a:pPr>
            <a:r>
              <a:rPr lang="tr-TR" sz="2800" i="1" dirty="0"/>
              <a:t>“Okuma puanları ortalaması (</a:t>
            </a:r>
            <a:r>
              <a:rPr lang="tr-TR" sz="2800" i="1" dirty="0" err="1"/>
              <a:t>Ort</a:t>
            </a:r>
            <a:r>
              <a:rPr lang="tr-TR" sz="2800" i="1" baseline="-25000" dirty="0" err="1"/>
              <a:t>o</a:t>
            </a:r>
            <a:r>
              <a:rPr lang="tr-TR" sz="2800" i="1" dirty="0"/>
              <a:t> =  52,23, SH=0,725) ile yazma puanları (</a:t>
            </a:r>
            <a:r>
              <a:rPr lang="tr-TR" sz="2800" i="1" dirty="0" err="1"/>
              <a:t>Ort</a:t>
            </a:r>
            <a:r>
              <a:rPr lang="tr-TR" sz="2800" i="1" baseline="-25000" dirty="0" err="1"/>
              <a:t>y</a:t>
            </a:r>
            <a:r>
              <a:rPr lang="tr-TR" sz="2800" i="1" dirty="0"/>
              <a:t> = 52,78, SH=0,670) arasında yaklaşık yarım puan fark vardır ve bu fark istatistiksel açıdan anlamlı değildir   (t(199) =-0,867, p=0,387). Bir başka deyişle öğrencilerin okuma ve yazma puanları arasında istatistiksel açıdan anlamlı bir fark yoktur.</a:t>
            </a:r>
          </a:p>
          <a:p>
            <a:pPr lvl="1">
              <a:lnSpc>
                <a:spcPct val="80000"/>
              </a:lnSpc>
              <a:buClr>
                <a:schemeClr val="accent6"/>
              </a:buClr>
            </a:pPr>
            <a:endParaRPr lang="tr-TR" sz="2500" b="1" dirty="0"/>
          </a:p>
          <a:p>
            <a:pPr lvl="1">
              <a:lnSpc>
                <a:spcPct val="80000"/>
              </a:lnSpc>
              <a:buClr>
                <a:schemeClr val="accent6"/>
              </a:buClr>
            </a:pPr>
            <a:r>
              <a:rPr lang="tr-TR" sz="2500" b="1" dirty="0"/>
              <a:t>Boş hipotez kabul edilir.</a:t>
            </a:r>
          </a:p>
          <a:p>
            <a:pPr lvl="1">
              <a:lnSpc>
                <a:spcPct val="80000"/>
              </a:lnSpc>
              <a:buClr>
                <a:schemeClr val="accent6"/>
              </a:buClr>
            </a:pPr>
            <a:r>
              <a:rPr lang="tr-TR" sz="2500" dirty="0"/>
              <a:t>Tanımlayıcı istatistikler tablo olarak verilebilir…  </a:t>
            </a:r>
          </a:p>
          <a:p>
            <a:pPr lvl="1">
              <a:lnSpc>
                <a:spcPct val="80000"/>
              </a:lnSpc>
              <a:buClr>
                <a:schemeClr val="accent6"/>
              </a:buClr>
            </a:pPr>
            <a:endParaRPr lang="tr-TR" sz="3300" dirty="0"/>
          </a:p>
          <a:p>
            <a:pPr eaLnBrk="1" hangingPunct="1">
              <a:lnSpc>
                <a:spcPct val="80000"/>
              </a:lnSpc>
              <a:buClr>
                <a:schemeClr val="accent6"/>
              </a:buClr>
            </a:pPr>
            <a:endParaRPr lang="tr-TR" sz="3600" dirty="0"/>
          </a:p>
          <a:p>
            <a:pPr>
              <a:buClr>
                <a:schemeClr val="accent6"/>
              </a:buClr>
            </a:pPr>
            <a:endParaRPr lang="tr-TR" sz="3600" dirty="0"/>
          </a:p>
        </p:txBody>
      </p:sp>
      <p:sp>
        <p:nvSpPr>
          <p:cNvPr id="4" name="TextBox 3">
            <a:extLst>
              <a:ext uri="{FF2B5EF4-FFF2-40B4-BE49-F238E27FC236}">
                <a16:creationId xmlns:a16="http://schemas.microsoft.com/office/drawing/2014/main" id="{D8929875-8AA8-9CCA-FB2B-E0387C55BB1D}"/>
              </a:ext>
            </a:extLst>
          </p:cNvPr>
          <p:cNvSpPr txBox="1"/>
          <p:nvPr/>
        </p:nvSpPr>
        <p:spPr>
          <a:xfrm>
            <a:off x="212271" y="304800"/>
            <a:ext cx="8534400" cy="646331"/>
          </a:xfrm>
          <a:prstGeom prst="rect">
            <a:avLst/>
          </a:prstGeom>
          <a:noFill/>
        </p:spPr>
        <p:txBody>
          <a:bodyPr wrap="square">
            <a:spAutoFit/>
          </a:bodyPr>
          <a:lstStyle/>
          <a:p>
            <a:r>
              <a:rPr lang="en-US" sz="3600" dirty="0" err="1">
                <a:latin typeface="Calibri" panose="020F0502020204030204" pitchFamily="34" charset="0"/>
                <a:cs typeface="Calibri" panose="020F0502020204030204" pitchFamily="34" charset="0"/>
              </a:rPr>
              <a:t>Bağımlı</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Örneklemler</a:t>
            </a:r>
            <a:r>
              <a:rPr lang="en-US" sz="3600" dirty="0">
                <a:latin typeface="Calibri" panose="020F0502020204030204" pitchFamily="34" charset="0"/>
                <a:cs typeface="Calibri" panose="020F0502020204030204" pitchFamily="34" charset="0"/>
              </a:rPr>
              <a:t> t-</a:t>
            </a:r>
            <a:r>
              <a:rPr lang="en-US" sz="3600" dirty="0" err="1">
                <a:latin typeface="Calibri" panose="020F0502020204030204" pitchFamily="34" charset="0"/>
                <a:cs typeface="Calibri" panose="020F0502020204030204" pitchFamily="34" charset="0"/>
              </a:rPr>
              <a:t>testi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Sonucu</a:t>
            </a:r>
            <a:r>
              <a:rPr lang="en-US" sz="36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8980429"/>
      </p:ext>
    </p:extLst>
  </p:cSld>
  <p:clrMapOvr>
    <a:masterClrMapping/>
  </p:clrMapOvr>
  <p:transition>
    <p:cover dir="r"/>
  </p:transition>
</p:sld>
</file>

<file path=ppt/theme/theme1.xml><?xml version="1.0" encoding="utf-8"?>
<a:theme xmlns:a="http://schemas.openxmlformats.org/drawingml/2006/main" name="2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1761</TotalTime>
  <Words>2061</Words>
  <Application>Microsoft Macintosh PowerPoint</Application>
  <PresentationFormat>On-screen Show (4:3)</PresentationFormat>
  <Paragraphs>172</Paragraphs>
  <Slides>26</Slides>
  <Notes>18</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26</vt:i4>
      </vt:variant>
    </vt:vector>
  </HeadingPairs>
  <TitlesOfParts>
    <vt:vector size="38" baseType="lpstr">
      <vt:lpstr>Arial</vt:lpstr>
      <vt:lpstr>Calibri</vt:lpstr>
      <vt:lpstr>Calibri Light</vt:lpstr>
      <vt:lpstr>Franklin Gothic Book</vt:lpstr>
      <vt:lpstr>Wingdings 2</vt:lpstr>
      <vt:lpstr>Wingdings 3</vt:lpstr>
      <vt:lpstr>2_Technic</vt:lpstr>
      <vt:lpstr>3_Technic</vt:lpstr>
      <vt:lpstr>4_Technic</vt:lpstr>
      <vt:lpstr>5_Technic</vt:lpstr>
      <vt:lpstr>Office Theme</vt:lpstr>
      <vt:lpstr>Paketleyici Kabuk Nesnesi</vt:lpstr>
      <vt:lpstr> T Testleri</vt:lpstr>
      <vt:lpstr>PowerPoint Presentation</vt:lpstr>
      <vt:lpstr>PowerPoint Presentation</vt:lpstr>
      <vt:lpstr>PowerPoint Presentation</vt:lpstr>
      <vt:lpstr>   t Testi</vt:lpstr>
      <vt:lpstr>Tek Örneklem t – Testi</vt:lpstr>
      <vt:lpstr>Veriler</vt:lpstr>
      <vt:lpstr>Veri Dosyasındaki Değişkenlerin Tanımları</vt:lpstr>
      <vt:lpstr>Tek Örneklemli t-testi Örneği</vt:lpstr>
      <vt:lpstr>Diğer hipotezler</vt:lpstr>
      <vt:lpstr>Tek Örneklem t-testi - JASP </vt:lpstr>
      <vt:lpstr>Tek Örneklem t-testi JASP</vt:lpstr>
      <vt:lpstr>Tek Örneklem t-testi Sonucu II</vt:lpstr>
      <vt:lpstr>Yorum</vt:lpstr>
      <vt:lpstr>Etki Büyüklüğü</vt:lpstr>
      <vt:lpstr>Bağımsız Örneklemler t-testi</vt:lpstr>
      <vt:lpstr>Bağımsız Örneklemler t-testi - JASP</vt:lpstr>
      <vt:lpstr>Bağımsız Örneklemler t-testi Sonucu I</vt:lpstr>
      <vt:lpstr>Bağımsız Örneklemler t-testi Sonucu- II</vt:lpstr>
      <vt:lpstr>Bağımsız Örneklemler t-testi Sonucu- III</vt:lpstr>
      <vt:lpstr>Hata çubuk grafiği</vt:lpstr>
      <vt:lpstr>Bağımlı/Eşleştirilmiş Örneklemler t-testi</vt:lpstr>
      <vt:lpstr>Bağımlı Örneklemler t-testi - JASP</vt:lpstr>
      <vt:lpstr>Bağımlı Örneklem t-testi Sonucu </vt:lpstr>
      <vt:lpstr>Bağımlı Örneklemler t-testi Sonucu</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İSTATİSTİK</dc:title>
  <dc:creator>Evrim</dc:creator>
  <cp:lastModifiedBy>Reviewer</cp:lastModifiedBy>
  <cp:revision>73</cp:revision>
  <dcterms:created xsi:type="dcterms:W3CDTF">2008-10-29T14:37:37Z</dcterms:created>
  <dcterms:modified xsi:type="dcterms:W3CDTF">2024-05-02T08:30:06Z</dcterms:modified>
</cp:coreProperties>
</file>