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2"/>
  </p:notesMasterIdLst>
  <p:sldIdLst>
    <p:sldId id="256" r:id="rId2"/>
    <p:sldId id="275" r:id="rId3"/>
    <p:sldId id="294" r:id="rId4"/>
    <p:sldId id="295" r:id="rId5"/>
    <p:sldId id="276" r:id="rId6"/>
    <p:sldId id="274" r:id="rId7"/>
    <p:sldId id="257" r:id="rId8"/>
    <p:sldId id="273" r:id="rId9"/>
    <p:sldId id="277" r:id="rId10"/>
    <p:sldId id="278" r:id="rId11"/>
    <p:sldId id="281" r:id="rId12"/>
    <p:sldId id="282" r:id="rId13"/>
    <p:sldId id="283" r:id="rId14"/>
    <p:sldId id="285" r:id="rId15"/>
    <p:sldId id="290" r:id="rId16"/>
    <p:sldId id="291" r:id="rId17"/>
    <p:sldId id="292" r:id="rId18"/>
    <p:sldId id="296" r:id="rId19"/>
    <p:sldId id="286" r:id="rId20"/>
    <p:sldId id="28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16" autoAdjust="0"/>
    <p:restoredTop sz="92138"/>
  </p:normalViewPr>
  <p:slideViewPr>
    <p:cSldViewPr snapToGrid="0" snapToObjects="1">
      <p:cViewPr varScale="1">
        <p:scale>
          <a:sx n="89" d="100"/>
          <a:sy n="89" d="100"/>
        </p:scale>
        <p:origin x="4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25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6T14:37:24.104"/>
    </inkml:context>
    <inkml:brush xml:id="br0">
      <inkml:brushProperty name="width" value="0.3" units="cm"/>
      <inkml:brushProperty name="height" value="0.6" units="cm"/>
      <inkml:brushProperty name="color" value="#FFB821"/>
      <inkml:brushProperty name="tip" value="rectangle"/>
      <inkml:brushProperty name="rasterOp" value="maskPen"/>
    </inkml:brush>
  </inkml:definitions>
  <inkml:trace contextRef="#ctx0" brushRef="#br0">2 14,'40'4,"-1"0,0 1,-1-1,1 1,2 0,1-1,-1 1,1 0,2 0,1 0,-1 0,-3-1,0 0,0 0,1 1,-1-1,0-1,-1 1,0-1,0 1,-1-1,-1 0,0-1,2 1,0-1,-1 0,-2 0,-1-1,13 1,-3 0,-3-1,-9-1,-1 0,-1 0,10 1,-1 1,1 0,1 0,-10 0,0-1,1 1,6-1,0 0,2 0,-7-1,1 0,1 0,1 0,3 0,1 0,0 0,0 0,3 1,-1-1,1 0,0 1,-1 0,0 0,0 0,-1 0,-3 0,0 0,-1 0,-1 0,5 1,-2-1,-2 0,7 0,-5 0,-13-1,-4 0,8 0,-6 0,5 0,14 0,-14 0,3 0,8 0,4 0,-10 0,1 0,1 0,5 0,1 0,1 0,-7 0,0 0,1 0,0 0,3 0,0 0,1 0,-1 0,3 0,1 0,-1 0,1 0,-1 0,1 0,0 0,-2 0,-2 0,-2 0,1 0,-2 0,9 0,-2 0,-1 0,-7 0,0 0,-2 0,-2 0,-2 0,1 0,0-1,1 1,-1-1,1 0,0 0,0-1,3 1,1 0,-1-1,3 0,0 0,0 0,1 0,1 0,-1 0,2 0,1 1,-1 0,-3-2,0 1,-1 0,0 0,0 1,0-1,-1 0,1 0,0-1,2 1,1-1,0 1,-7 0,0 0,1 0,0 0,2-1,-1 1,1 0,0 0,0 1,0-1,-1 1,0 0,9 0,0-1,-3 1,-3 1,-2 0,0 0,-5 0,-1 0,-1 0,11 0,-2 0,-4 0,-2 0,-3 1,-2 1,-5-1,-1 1,19 1,-1-1,1-2,3 1,0 2,-1 0,-5-1,-9 0,-10-2,-8 0,-4 0,-3-2,-21-1,-21-2,-5 2,-8 2,14 1,-2 1,-3 0,-2 0,3 0,-2 1,-2-1,-1 1,-1 0,-1-1,6 1,0 0,-2 0,0 1,-1-1,0 0,0 1,0-1,2 0,0 1,0-1,-1 1,0-1,0 1,0-1,1 0,0 1,-4-1,-1 0,1 0,0 0,0 0,1 0,1 0,0 0,0 0,0 0,2 0,-1 0,1-1,1 1,0-1,-3 0,1 0,0 0,1 0,0 0,-1-1,2 0,0 1,0-1,0 0,0-1,-1 1,-3-1,0 1,0-1,-1 0,-1 0,-1-1,8 2,0-1,-1 0,-1 0,0 1,0-1,0 0,0 0,-3-1,0 1,-1-1,1 1,-1-1,0 0,0 1,1-1,-1 0,1 1,-1-1,0 1,1-1,-1 1,1-1,1 1,2-1,0 1,0-1,1 1,-1 0,2-1,-1 1,1-1,-8 0,1-1,0 1,0-1,2 0,0 1,3 0,2 0,0 0,0 0,1-1,0 1,-5-1,0 1,1-1,1 0,0 0,-6 0,1 0,1 0,0 0,5 0,1 1,1 0,0 0,-6-1,0 0,2 0,4 1,1-1,1 1,4 0,1 0,1 0,-13-1,3 0,4 1,0 1,3 0,0 0,-3-1,-2 1,-3-1,0 0,-2 0,0 1,-2-1,-2 1,15 0,-1 0,0 0,-3 0,0-1,-1 1,-3-1,0 1,-1-1,1 1,0 0,1 0,2 0,0 1,2 0,3 0,2 0,0 0,-6 0,1 0,8 0,1 0,-16 0,5 0,2 0,0 0,5 0,8 0,10 0,9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6T14:36:11.034"/>
    </inkml:context>
    <inkml:brush xml:id="br0">
      <inkml:brushProperty name="width" value="0.3" units="cm"/>
      <inkml:brushProperty name="height" value="0.6" units="cm"/>
      <inkml:brushProperty name="color" value="#FFB821"/>
      <inkml:brushProperty name="tip" value="rectangle"/>
      <inkml:brushProperty name="rasterOp" value="maskPen"/>
    </inkml:brush>
  </inkml:definitions>
  <inkml:trace contextRef="#ctx0" brushRef="#br0">217 193,'45'0,"1"0,-1 0,2 0,4 0,1 0,3 0,0 0,3 0,1 0,1 0,0 0,4 0,0 0,0 0,0 0,-1 0,-3 0,0 0,-2 0,-1 0,-3 0,1 0,-3 0,-2 0,-5 0,17-1,-8 2,-18 3,-5 2,12 8,6-1,-14 0,4 1,15-3,5-2,-13-1,1-1,2-1,6 0,1 0,0-2,2-3,0-2,1 1,-1 5,1 2,0 1,-1-1,1 2,-1-1,1-1,-1 1,1 1,-2 4,1 0,-2 0,-3-4,0-2,-2 1,-7 0,0 0,-3 0,13 3,-2-2,-8-8,-1-2,-2 1,0 0,2 0,-1 0,-2 0,0 0,0 0,-1 0,0 0,1 0,0 0,2 0,3 0,1 0,0 0,0 0,0-1,-1 2,0 2,-1 3,-1 1,-1 2,1-1,0 1,0-1,-1-2,1-3,0-1,0-2,0 0,0 0,0 0,3 0,1 0,2 0,0 0,-1 0,1 0,-1 0,0 0,-3 0,-1 0,-2 0,0 0,-2 0,0 0,1 0,1 0,0 0,1 0,4 0,0 0,8 0,1 0,1 0,0 0,3 0,0 0,-1 0,-1 0,-5 0,-1 0,-3 0,-2 0,-2 0,-1 0,-2 0,0 0,-2 0,1 0,2 0,-1 0,1 0,0 0,0 0,0 0,1 0,0 0,5 0,1 0,3 0,2 0,2 0,1 0,1 1,0-2,-3-6,0-3,-1 0,1 0,0-1,0 1,-3 1,1 2,-1 0,1 1,2-2,1 0,1 0,0-1,2-6,0-1,-3 5,-2 1,-3-1,-1 1,-1 1,-1 2,0 6,0 2,0-1,-2 0,-3 0,-2 0,-4 0,-3 0,20 0,-16 0,-10 0,-1 0,10-14,10-3,15-5,-28 8,0 0,2 5,0 1,0 1,-1-1,27-12,-10 7,-16 0,-12 2,-6 11,0 0,7 0,7 0,5 0,-1 0,-5 0,-5-7,-3-5,-3-1,-5 1,-6-2,-34-3,-15 0,4 1,-3 2,-8 0,-5 3,0 1,6 3,0 3,1 3,-2 3,1 4,1 2,-16 6,3 3,7 0,2 3,5 3,3 1,5-8,0-1,-1 2,0-1,3 0,-1-1,-2-7,-1 1,-4 5,-1 2,-5-5,-2-2,-5 2,-1-1,-2-2,0 0,0 0,2 1,7 0,3 2,7-2,2 3,-16 15,14-14,4 0,0-2,-4-11,-1 0,-5 0,-3 0,-4 6,-12 10,25-8,-1 1,-4-1,-1-1,-4-3,-2-1,1-3,1 0,1-1,1 2,2 4,2 3,6 0,2 1,-27 8,2-3,24-14,-1 0,-6 2,-2 3,-2 2,0 1,-2 0,1 1,7-1,0-1,3-3,1-1,-27-3,7 0,3 0,3 0,-10 13,23-4,-2-1,-9 1,-1-1,-4 0,-1-3,1-4,-1-2,3 1,-1 0,-4 0,-3 0,11 0,-1 0,-1 0,-8 0,-1 0,-2 0,11 0,-1 0,0 0,-1 0,-1 0,0 0,0 0,0 0,0 0,0 0,0 0,0 0,-1 0,0 0,0 0,0 0,0 0,0 0,0 0,0 0,1 0,0-1,-1 1,1 1,0 3,0 2,0 0,0 1,1-1,0 1,0 0,0 1,1-1,2 0,-1 0,0 0,-1-1,1 0,-1 0,1-2,2-3,-1-2,1 0,1 2,-13 3,1 2,0 1,3-1,1 1,1 0,7 0,1 0,2 0,-17 2,3-2,5-6,2-2,7 1,2 0,3 0,1 0,4 0,2 0,0 0,-1 0,-8 0,-2 0,-12 0,-4 0,13 0,-3 0,0 0,-3 1,-1-1,0-1,-1-4,1-2,1-1,6 1,0-1,1-1,-15-2,0-2,6-3,2-1,3 5,2 0,-3-3,1-2,0-6,0-1,-4-1,0-2,1-3,0-1,5-1,-1 1,2 3,-1 3,-1-1,-2 0,-7-3,-2 2,17 9,-1 1,0-1,-17-9,2 1,12 7,5 2,-8-13,28 5,17 12,4 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6T14:45:25.4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232 489 24575,'-9'37'0,"-10"20"0,-9 32 0,11-38 0,0 2 0,1-3 0,2-2 0,-8 39 0,5-21 0,7-10 0,-2-5 0,-1 1 0,1-6 0,-1-1 0,6-1 0,2-4 0,5 14 0,0 1 0,0 3 0,0 2 0,0-11 0,4-3 0,8-1 0,8 0 0,5 3 0,6 4 0,3-1 0,5 1 0,2-4 0,0-6 0,2-7 0,-7-8 0,-4-2 0,-2-6 0,-7-1 0,8-4 0,0 0 0,6 4 0,4-1 0,-1 2 0,3-2 0,-3-1 0,3-1 0,-4 3 0,0-2 0,-1-1 0,-4-3 0,1 0 0,1-2 0,3-3 0,9 4 0,7-4 0,1 0 0,-3-2 0,-8-5 0,-2 0 0,-3 0 0,1 0 0,4 0 0,1 0 0,2 0 0,-6 0 0,-4 0 0,1 0 0,13 0 0,13 0 0,7 0 0,7 0 0,-7 0 0,-12 0 0,-9-8 0,-13-5 0,-4-8 0,4-4 0,4 0 0,-1-5 0,3-2 0,-6 2 0,-4 2 0,4-1 0,-7 0 0,1-3 0,1 2 0,-5-2 0,9-7 0,2-7 0,7-6 0,6 0 0,-9 5 0,-8 2 0,-8 6 0,-10 6 0,-2 5 0,-3 2 0,-6-1 0,1-2 0,-4-6 0,-3-4 0,0-4 0,0-2 0,0 0 0,0 0 0,0-5 0,0 3 0,0 2 0,0 1 0,0 3 0,-1-3 0,-4 5 0,-2 4 0,0-2 0,2 8 0,0 2 0,-6 1 0,-2-3 0,-7-7 0,1-3 0,3 1 0,-7 5 0,0-1 0,-9 0 0,-7-5 0,-1-1 0,-5 1 0,-3 0 0,-4 5 0,1 0 0,-1 2 0,6-2 0,1 1 0,-1 1 0,-8 4 0,-8 1 0,-4 1 0,-2 3 0,1 6 0,-4-1 0,-5 5 0,-4-4 0,-6 3 0,5 0 0,16 0 0,12 1 0,14 1 0,-1 3 0,-4-2 0,-7 4 0,-12 1 0,-3-4 0,1 3 0,5 1 0,8 0 0,8 6 0,11 0 0,10 0 0,3 1 0,-5 5 0,-3 6 0,-3 6 0,3 0 0,6 0 0,2-1 0,1 3 0,4 5 0,-3 0 0,4 0 0,2 1 0,-1-3 0,3 0 0,-5-2 0,2-2 0,0 0 0,0-2 0,-2-1 0,-3 2 0,-13 1 0,-1-2 0,-3 2 0,4-7 0,-2 2 0,19-8 0,-4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B6289E-DF31-3A43-932A-38C7F5230EC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FD607D-0764-2A48-B48C-40D9BA8A0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71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FD607D-0764-2A48-B48C-40D9BA8A08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06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FD607D-0764-2A48-B48C-40D9BA8A08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3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FD607D-0764-2A48-B48C-40D9BA8A08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3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8144E9D-B7C6-B94B-985B-681B3EBC441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6F213D9-5576-4A4B-B9EC-3DA43558FFC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9691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cap="none" dirty="0"/>
              <a:t>Normal </a:t>
            </a:r>
            <a:r>
              <a:rPr lang="en-US" sz="6600" cap="none" dirty="0" err="1"/>
              <a:t>Dağılım</a:t>
            </a:r>
            <a:r>
              <a:rPr lang="en-US" sz="6600" cap="none" dirty="0"/>
              <a:t> </a:t>
            </a:r>
            <a:r>
              <a:rPr lang="en-US" sz="6600" cap="none" dirty="0" err="1"/>
              <a:t>ve</a:t>
            </a:r>
            <a:r>
              <a:rPr lang="en-US" sz="6600" cap="none" dirty="0"/>
              <a:t> </a:t>
            </a:r>
            <a:r>
              <a:rPr lang="en-US" sz="6600" cap="none" dirty="0" err="1"/>
              <a:t>Standart</a:t>
            </a:r>
            <a:r>
              <a:rPr lang="en-US" sz="6600" cap="none" dirty="0"/>
              <a:t> </a:t>
            </a:r>
            <a:r>
              <a:rPr lang="tr-TR" sz="6600" cap="none" dirty="0"/>
              <a:t>Skorlar</a:t>
            </a:r>
            <a:r>
              <a:rPr lang="en-US" sz="6600" cap="none" dirty="0"/>
              <a:t> (z)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PROF.Dr</a:t>
            </a:r>
            <a:r>
              <a:rPr lang="en-US" dirty="0"/>
              <a:t>. </a:t>
            </a:r>
            <a:r>
              <a:rPr lang="en-US" dirty="0" err="1"/>
              <a:t>EvRİm</a:t>
            </a:r>
            <a:r>
              <a:rPr lang="tr-TR" dirty="0"/>
              <a:t> genç</a:t>
            </a:r>
            <a:r>
              <a:rPr lang="en-US" dirty="0"/>
              <a:t> Kumtepe</a:t>
            </a:r>
          </a:p>
        </p:txBody>
      </p:sp>
    </p:spTree>
    <p:extLst>
      <p:ext uri="{BB962C8B-B14F-4D97-AF65-F5344CB8AC3E}">
        <p14:creationId xmlns:p14="http://schemas.microsoft.com/office/powerpoint/2010/main" val="508893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622564" y="652020"/>
            <a:ext cx="3753357" cy="510952"/>
          </a:xfrm>
        </p:spPr>
        <p:txBody>
          <a:bodyPr>
            <a:noAutofit/>
          </a:bodyPr>
          <a:lstStyle/>
          <a:p>
            <a:r>
              <a:rPr lang="tr-TR" sz="4000" b="1" dirty="0">
                <a:solidFill>
                  <a:schemeClr val="tx1"/>
                </a:solidFill>
              </a:rPr>
              <a:t>Normal Dağılım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10653" y="2470484"/>
            <a:ext cx="4820804" cy="2450212"/>
          </a:xfrm>
        </p:spPr>
        <p:txBody>
          <a:bodyPr>
            <a:normAutofit/>
          </a:bodyPr>
          <a:lstStyle/>
          <a:p>
            <a:pPr fontAlgn="base">
              <a:lnSpc>
                <a:spcPct val="100000"/>
              </a:lnSpc>
              <a:spcBef>
                <a:spcPts val="0"/>
              </a:spcBef>
              <a:buClr>
                <a:srgbClr val="660000"/>
              </a:buClr>
              <a:buSzPct val="70000"/>
            </a:pPr>
            <a:r>
              <a:rPr lang="en-US" sz="28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Gaussian </a:t>
            </a:r>
            <a:r>
              <a:rPr lang="tr-TR" sz="28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Dağılımı</a:t>
            </a:r>
            <a:endParaRPr lang="en-US" sz="28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>
                <a:srgbClr val="660000"/>
              </a:buClr>
              <a:buSzPct val="70000"/>
            </a:pPr>
            <a:r>
              <a:rPr lang="tr-TR" sz="28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Simetrik bir dağılımdır.</a:t>
            </a:r>
          </a:p>
          <a:p>
            <a:pPr fontAlgn="base">
              <a:lnSpc>
                <a:spcPct val="100000"/>
              </a:lnSpc>
              <a:spcBef>
                <a:spcPts val="0"/>
              </a:spcBef>
              <a:buClr>
                <a:srgbClr val="660000"/>
              </a:buClr>
              <a:buSzPct val="70000"/>
            </a:pPr>
            <a:r>
              <a:rPr lang="tr-TR" sz="28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Normal Dağılımın Parametreleri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28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∑(x)=</a:t>
            </a:r>
            <a:r>
              <a:rPr lang="el-GR" sz="28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μ</a:t>
            </a:r>
            <a:r>
              <a:rPr lang="tr-TR" sz="28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    Var(x)=</a:t>
            </a:r>
            <a:r>
              <a:rPr lang="tr-TR" sz="2800" dirty="0">
                <a:solidFill>
                  <a:schemeClr val="tx1"/>
                </a:solidFill>
                <a:ea typeface="Calibri"/>
                <a:cs typeface="Times New Roman" panose="02020603050405020304" pitchFamily="18" charset="0"/>
              </a:rPr>
              <a:t>σ</a:t>
            </a:r>
            <a:r>
              <a:rPr lang="tr-TR" sz="2800" baseline="30000" dirty="0">
                <a:solidFill>
                  <a:schemeClr val="tx1"/>
                </a:solidFill>
                <a:ea typeface="Calibri"/>
                <a:cs typeface="Times New Roman" panose="02020603050405020304" pitchFamily="18" charset="0"/>
              </a:rPr>
              <a:t>2</a:t>
            </a:r>
            <a:endParaRPr lang="tr-TR" sz="2800" dirty="0">
              <a:solidFill>
                <a:schemeClr val="tx1"/>
              </a:solidFill>
              <a:ea typeface="Calibri"/>
              <a:cs typeface="Times New Roman" panose="02020603050405020304" pitchFamily="18" charset="0"/>
            </a:endParaRPr>
          </a:p>
          <a:p>
            <a:pPr fontAlgn="base">
              <a:lnSpc>
                <a:spcPct val="100000"/>
              </a:lnSpc>
              <a:spcBef>
                <a:spcPts val="0"/>
              </a:spcBef>
              <a:buClr>
                <a:srgbClr val="660000"/>
              </a:buClr>
              <a:buSzPct val="70000"/>
            </a:pPr>
            <a:endParaRPr lang="tr-TR" sz="2400" kern="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047" y="907496"/>
            <a:ext cx="50546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24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Kuramsal </a:t>
            </a:r>
            <a:r>
              <a:rPr lang="tr-TR" dirty="0" err="1"/>
              <a:t>DağıLIMlar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257300" y="1524008"/>
            <a:ext cx="4800600" cy="541755"/>
          </a:xfrm>
        </p:spPr>
        <p:txBody>
          <a:bodyPr>
            <a:noAutofit/>
          </a:bodyPr>
          <a:lstStyle/>
          <a:p>
            <a:r>
              <a:rPr lang="tr-TR" sz="3200" dirty="0"/>
              <a:t>X sürekli ise</a:t>
            </a:r>
          </a:p>
          <a:p>
            <a:endParaRPr lang="tr-TR" sz="3200" dirty="0"/>
          </a:p>
          <a:p>
            <a:endParaRPr lang="tr-TR" sz="3200" dirty="0"/>
          </a:p>
        </p:txBody>
      </p:sp>
      <p:sp>
        <p:nvSpPr>
          <p:cNvPr id="7" name="İçerik Yer Tutucusu 6"/>
          <p:cNvSpPr>
            <a:spLocks noGrp="1"/>
          </p:cNvSpPr>
          <p:nvPr>
            <p:ph sz="half" idx="2"/>
          </p:nvPr>
        </p:nvSpPr>
        <p:spPr>
          <a:xfrm>
            <a:off x="6057900" y="1496441"/>
            <a:ext cx="4800600" cy="633663"/>
          </a:xfrm>
        </p:spPr>
        <p:txBody>
          <a:bodyPr>
            <a:normAutofit/>
          </a:bodyPr>
          <a:lstStyle/>
          <a:p>
            <a:r>
              <a:rPr lang="tr-TR" sz="3200" dirty="0"/>
              <a:t>X kesikli ise</a:t>
            </a:r>
          </a:p>
        </p:txBody>
      </p:sp>
      <p:graphicFrame>
        <p:nvGraphicFramePr>
          <p:cNvPr id="4" name="Nesne 3"/>
          <p:cNvGraphicFramePr>
            <a:graphicFrameLocks noChangeAspect="1"/>
          </p:cNvGraphicFramePr>
          <p:nvPr/>
        </p:nvGraphicFramePr>
        <p:xfrm>
          <a:off x="2276476" y="2535238"/>
          <a:ext cx="2473325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203040" progId="Equation.DSMT4">
                  <p:embed/>
                </p:oleObj>
              </mc:Choice>
              <mc:Fallback>
                <p:oleObj name="Equation" r:id="rId2" imgW="761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contrast="-2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6" y="2535238"/>
                        <a:ext cx="2473325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Nesne 4"/>
          <p:cNvGraphicFramePr>
            <a:graphicFrameLocks noChangeAspect="1"/>
          </p:cNvGraphicFramePr>
          <p:nvPr/>
        </p:nvGraphicFramePr>
        <p:xfrm>
          <a:off x="2228851" y="3589338"/>
          <a:ext cx="25638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560" imgH="164880" progId="Equation.DSMT4">
                  <p:embed/>
                </p:oleObj>
              </mc:Choice>
              <mc:Fallback>
                <p:oleObj name="Equation" r:id="rId4" imgW="7365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contrast="-2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1" y="3589338"/>
                        <a:ext cx="2563813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Nesne 5"/>
          <p:cNvGraphicFramePr>
            <a:graphicFrameLocks noChangeAspect="1"/>
          </p:cNvGraphicFramePr>
          <p:nvPr/>
        </p:nvGraphicFramePr>
        <p:xfrm>
          <a:off x="2143125" y="4376739"/>
          <a:ext cx="2719388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80" imgH="457200" progId="Equation.DSMT4">
                  <p:embed/>
                </p:oleObj>
              </mc:Choice>
              <mc:Fallback>
                <p:oleObj name="Equation" r:id="rId6" imgW="8632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contrast="-2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4376739"/>
                        <a:ext cx="2719388" cy="160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Nesne 7"/>
          <p:cNvGraphicFramePr>
            <a:graphicFrameLocks noChangeAspect="1"/>
          </p:cNvGraphicFramePr>
          <p:nvPr/>
        </p:nvGraphicFramePr>
        <p:xfrm>
          <a:off x="6329364" y="2543176"/>
          <a:ext cx="2452687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760" imgH="203040" progId="Equation.DSMT4">
                  <p:embed/>
                </p:oleObj>
              </mc:Choice>
              <mc:Fallback>
                <p:oleObj name="Equation" r:id="rId8" imgW="761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contrast="-2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364" y="2543176"/>
                        <a:ext cx="2452687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Nesne 8"/>
          <p:cNvGraphicFramePr>
            <a:graphicFrameLocks noChangeAspect="1"/>
          </p:cNvGraphicFramePr>
          <p:nvPr/>
        </p:nvGraphicFramePr>
        <p:xfrm>
          <a:off x="6221413" y="3487738"/>
          <a:ext cx="262731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83920" imgH="177480" progId="Equation.DSMT4">
                  <p:embed/>
                </p:oleObj>
              </mc:Choice>
              <mc:Fallback>
                <p:oleObj name="Equation" r:id="rId10" imgW="5839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contrast="-2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1413" y="3487738"/>
                        <a:ext cx="262731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Nesne 9"/>
          <p:cNvGraphicFramePr>
            <a:graphicFrameLocks noChangeAspect="1"/>
          </p:cNvGraphicFramePr>
          <p:nvPr/>
        </p:nvGraphicFramePr>
        <p:xfrm>
          <a:off x="6354764" y="4451350"/>
          <a:ext cx="2403475" cy="145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23600" imgH="431640" progId="Equation.DSMT4">
                  <p:embed/>
                </p:oleObj>
              </mc:Choice>
              <mc:Fallback>
                <p:oleObj name="Equation" r:id="rId12" imgW="723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contrast="-2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4" y="4451350"/>
                        <a:ext cx="2403475" cy="145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237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Normal Dağılım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idx="1"/>
          </p:nvPr>
        </p:nvSpPr>
        <p:spPr>
          <a:xfrm>
            <a:off x="1528193" y="3984413"/>
            <a:ext cx="7886700" cy="2311402"/>
          </a:xfrm>
        </p:spPr>
        <p:txBody>
          <a:bodyPr>
            <a:normAutofit/>
          </a:bodyPr>
          <a:lstStyle/>
          <a:p>
            <a:r>
              <a:rPr lang="tr-TR" sz="2400" dirty="0"/>
              <a:t>Tek tepeli ve simetriktir.</a:t>
            </a:r>
          </a:p>
          <a:p>
            <a:r>
              <a:rPr lang="tr-TR" sz="2400" dirty="0"/>
              <a:t>Verilerin yarısı ortalamadan küçük yarısı büyüktür.</a:t>
            </a:r>
          </a:p>
          <a:p>
            <a:r>
              <a:rPr lang="tr-TR" sz="2400" dirty="0"/>
              <a:t>Eğri altındaki toplam alan 1 birim karedir.</a:t>
            </a:r>
          </a:p>
          <a:p>
            <a:r>
              <a:rPr lang="tr-TR" sz="2400" dirty="0"/>
              <a:t>Aritmetik ortalama, ortanca ve tepe değeri eşittir</a:t>
            </a:r>
          </a:p>
          <a:p>
            <a:endParaRPr lang="tr-TR" sz="2400" dirty="0"/>
          </a:p>
        </p:txBody>
      </p:sp>
      <p:graphicFrame>
        <p:nvGraphicFramePr>
          <p:cNvPr id="7" name="Nesne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52022"/>
              </p:ext>
            </p:extLst>
          </p:nvPr>
        </p:nvGraphicFramePr>
        <p:xfrm>
          <a:off x="7134581" y="2241049"/>
          <a:ext cx="4560625" cy="165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482400" progId="Equation.DSMT4">
                  <p:embed/>
                </p:oleObj>
              </mc:Choice>
              <mc:Fallback>
                <p:oleObj name="Equation" r:id="rId2" imgW="13334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34581" y="2241049"/>
                        <a:ext cx="4560625" cy="1650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İçerik Yer Tutucusu 5"/>
          <p:cNvSpPr>
            <a:spLocks noGrp="1"/>
          </p:cNvSpPr>
          <p:nvPr>
            <p:ph idx="1"/>
          </p:nvPr>
        </p:nvSpPr>
        <p:spPr>
          <a:xfrm>
            <a:off x="6157266" y="1417736"/>
            <a:ext cx="5688531" cy="665598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tr-TR" sz="2400" dirty="0"/>
              <a:t>µ kitle ortalaması </a:t>
            </a:r>
            <a:br>
              <a:rPr lang="tr-TR" sz="2400" dirty="0"/>
            </a:br>
            <a:r>
              <a:rPr lang="el-GR" sz="2400" dirty="0"/>
              <a:t>σ</a:t>
            </a:r>
            <a:r>
              <a:rPr lang="tr-TR" sz="2400" dirty="0"/>
              <a:t> kitle standart sapması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2764" y="908088"/>
            <a:ext cx="35859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Olasılık</a:t>
            </a:r>
            <a:r>
              <a:rPr lang="en-US" sz="2000" b="1" dirty="0"/>
              <a:t> </a:t>
            </a:r>
            <a:r>
              <a:rPr lang="en-US" sz="2000" b="1" dirty="0" err="1"/>
              <a:t>Yoğunluk</a:t>
            </a:r>
            <a:r>
              <a:rPr lang="en-US" sz="2000" b="1" dirty="0"/>
              <a:t> </a:t>
            </a:r>
            <a:r>
              <a:rPr lang="en-US" sz="2000" b="1" dirty="0" err="1"/>
              <a:t>Fonksiyonu</a:t>
            </a:r>
            <a:endParaRPr lang="en-US" sz="2000" b="1" dirty="0"/>
          </a:p>
        </p:txBody>
      </p:sp>
      <p:grpSp>
        <p:nvGrpSpPr>
          <p:cNvPr id="15" name="Group 14"/>
          <p:cNvGrpSpPr/>
          <p:nvPr/>
        </p:nvGrpSpPr>
        <p:grpSpPr>
          <a:xfrm>
            <a:off x="1667475" y="1442531"/>
            <a:ext cx="4621937" cy="2314666"/>
            <a:chOff x="1667475" y="1442531"/>
            <a:chExt cx="4621937" cy="2314666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7475" y="1442531"/>
              <a:ext cx="4621937" cy="2314666"/>
            </a:xfrm>
            <a:prstGeom prst="rect">
              <a:avLst/>
            </a:prstGeom>
          </p:spPr>
        </p:pic>
        <p:sp>
          <p:nvSpPr>
            <p:cNvPr id="3" name="Metin kutusu 2"/>
            <p:cNvSpPr txBox="1"/>
            <p:nvPr/>
          </p:nvSpPr>
          <p:spPr>
            <a:xfrm>
              <a:off x="3978443" y="3389158"/>
              <a:ext cx="30534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tr-TR" sz="1400" dirty="0">
                  <a:solidFill>
                    <a:schemeClr val="bg2">
                      <a:lumMod val="10000"/>
                    </a:schemeClr>
                  </a:solidFill>
                </a:rPr>
                <a:t>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265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03512" y="233499"/>
            <a:ext cx="7200900" cy="510952"/>
          </a:xfrm>
        </p:spPr>
        <p:txBody>
          <a:bodyPr>
            <a:noAutofit/>
          </a:bodyPr>
          <a:lstStyle/>
          <a:p>
            <a:r>
              <a:rPr lang="tr-TR" sz="4400" b="1" dirty="0">
                <a:solidFill>
                  <a:schemeClr val="tx1"/>
                </a:solidFill>
              </a:rPr>
              <a:t>STANDART Normal Dağılım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355389" y="6156604"/>
            <a:ext cx="108366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x-none" sz="2000" dirty="0">
                <a:latin typeface="Arial" charset="0"/>
              </a:rPr>
              <a:t>Standardize edilmiş dağılımlar farklı ölçekteki dağılımları kıyaslama kolaylığı sağlar</a:t>
            </a:r>
            <a:endParaRPr lang="x-none" altLang="x-none" sz="3600" dirty="0">
              <a:latin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733" y="920860"/>
            <a:ext cx="5549900" cy="2908300"/>
          </a:xfrm>
          <a:prstGeom prst="rect">
            <a:avLst/>
          </a:prstGeom>
        </p:spPr>
      </p:pic>
      <p:sp>
        <p:nvSpPr>
          <p:cNvPr id="7" name="İçerik Yer Tutucusu 5"/>
          <p:cNvSpPr>
            <a:spLocks noGrp="1"/>
          </p:cNvSpPr>
          <p:nvPr>
            <p:ph idx="1"/>
          </p:nvPr>
        </p:nvSpPr>
        <p:spPr>
          <a:xfrm>
            <a:off x="1360612" y="3829160"/>
            <a:ext cx="9218050" cy="2311402"/>
          </a:xfrm>
        </p:spPr>
        <p:txBody>
          <a:bodyPr>
            <a:noAutofit/>
          </a:bodyPr>
          <a:lstStyle/>
          <a:p>
            <a:r>
              <a:rPr lang="tr-TR" sz="2400" dirty="0"/>
              <a:t>Normal dağılımın ortalaması 0 (sıfır), Standart sapması 1 (bir) olan özel halidir.</a:t>
            </a:r>
          </a:p>
          <a:p>
            <a:r>
              <a:rPr lang="tr-TR" sz="2400" dirty="0"/>
              <a:t>Tek tepeli ve simetriktir.</a:t>
            </a:r>
          </a:p>
          <a:p>
            <a:r>
              <a:rPr lang="tr-TR" sz="2400" dirty="0"/>
              <a:t>Verilerin yarısı 0’dan küçük yarısı büyüktür.</a:t>
            </a:r>
          </a:p>
          <a:p>
            <a:r>
              <a:rPr lang="tr-TR" sz="2400" dirty="0"/>
              <a:t>Eğri altındaki toplam alan 1 birim karedir.</a:t>
            </a:r>
          </a:p>
        </p:txBody>
      </p:sp>
      <p:graphicFrame>
        <p:nvGraphicFramePr>
          <p:cNvPr id="10" name="Nesne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233158"/>
              </p:ext>
            </p:extLst>
          </p:nvPr>
        </p:nvGraphicFramePr>
        <p:xfrm>
          <a:off x="8904412" y="721364"/>
          <a:ext cx="251142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280" imgH="469800" progId="Equation.DSMT4">
                  <p:embed/>
                </p:oleObj>
              </mc:Choice>
              <mc:Fallback>
                <p:oleObj name="Equation" r:id="rId3" imgW="10792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04412" y="721364"/>
                        <a:ext cx="2511425" cy="109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Nesne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703750"/>
              </p:ext>
            </p:extLst>
          </p:nvPr>
        </p:nvGraphicFramePr>
        <p:xfrm>
          <a:off x="9366125" y="1829606"/>
          <a:ext cx="15081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640" imgH="393480" progId="Equation.DSMT4">
                  <p:embed/>
                </p:oleObj>
              </mc:Choice>
              <mc:Fallback>
                <p:oleObj name="Equation" r:id="rId5" imgW="6476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66125" y="1829606"/>
                        <a:ext cx="1508125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06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Standart</a:t>
            </a:r>
            <a:r>
              <a:rPr lang="en-US" dirty="0"/>
              <a:t> </a:t>
            </a:r>
            <a:r>
              <a:rPr lang="tr-TR" dirty="0"/>
              <a:t>SKORLAR (</a:t>
            </a:r>
            <a:r>
              <a:rPr lang="tr-TR" dirty="0" err="1"/>
              <a:t>PUANlar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466851"/>
            <a:ext cx="10178322" cy="4412742"/>
          </a:xfrm>
        </p:spPr>
        <p:txBody>
          <a:bodyPr>
            <a:noAutofit/>
          </a:bodyPr>
          <a:lstStyle/>
          <a:p>
            <a:r>
              <a:rPr lang="tr-TR" altLang="x-none" sz="2800" dirty="0"/>
              <a:t>Veri analizi yaparken alınan verilerin hatasız biçimde karşılaştırılabilmesi için aritmetik ortalama ve standart sapmadan yararlanılır. </a:t>
            </a:r>
          </a:p>
          <a:p>
            <a:r>
              <a:rPr lang="tr-TR" altLang="x-none" sz="2800" dirty="0"/>
              <a:t>Aritmetik ortalama ve standart sapmanın aynı olduğu gruplarda karşılaştırma yapmak kolaydır ancak </a:t>
            </a:r>
          </a:p>
          <a:p>
            <a:pPr lvl="1"/>
            <a:r>
              <a:rPr lang="tr-TR" altLang="x-none" sz="2600" dirty="0"/>
              <a:t>aritmetik ortalaması ve standart sapması farklı olan dağılımların, aynı aritmetik ortalama ve standart sapmaya sahip dağılım haline dönüştürülmesi ve sağlıklı karşılaştırma yapılabilmesi için verilerin standartlaştırılması gerekir.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459971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z skorları</a:t>
            </a:r>
          </a:p>
        </p:txBody>
      </p:sp>
      <p:grpSp>
        <p:nvGrpSpPr>
          <p:cNvPr id="13" name="Grup 12"/>
          <p:cNvGrpSpPr/>
          <p:nvPr/>
        </p:nvGrpSpPr>
        <p:grpSpPr>
          <a:xfrm>
            <a:off x="7391400" y="2146853"/>
            <a:ext cx="4270243" cy="2370766"/>
            <a:chOff x="1259632" y="836711"/>
            <a:chExt cx="6787480" cy="4059577"/>
          </a:xfrm>
        </p:grpSpPr>
        <p:graphicFrame>
          <p:nvGraphicFramePr>
            <p:cNvPr id="14" name="Object 2"/>
            <p:cNvGraphicFramePr>
              <a:graphicFrameLocks noChangeAspect="1"/>
            </p:cNvGraphicFramePr>
            <p:nvPr/>
          </p:nvGraphicFramePr>
          <p:xfrm>
            <a:off x="1259632" y="836711"/>
            <a:ext cx="6787480" cy="3630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447720" imgH="2123640" progId="">
                    <p:embed/>
                  </p:oleObj>
                </mc:Choice>
                <mc:Fallback>
                  <p:oleObj r:id="rId2" imgW="3447720" imgH="212364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9632" y="836711"/>
                          <a:ext cx="6787480" cy="3630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Metin kutusu 14"/>
            <p:cNvSpPr txBox="1"/>
            <p:nvPr/>
          </p:nvSpPr>
          <p:spPr>
            <a:xfrm>
              <a:off x="4355976" y="4466941"/>
              <a:ext cx="8050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dirty="0" err="1"/>
                <a:t>ort.</a:t>
              </a:r>
              <a:r>
                <a:rPr lang="tr-TR" dirty="0"/>
                <a:t>=0</a:t>
              </a:r>
            </a:p>
          </p:txBody>
        </p:sp>
        <p:sp>
          <p:nvSpPr>
            <p:cNvPr id="16" name="Metin kutusu 15"/>
            <p:cNvSpPr txBox="1"/>
            <p:nvPr/>
          </p:nvSpPr>
          <p:spPr>
            <a:xfrm>
              <a:off x="5364088" y="4466941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dirty="0"/>
                <a:t>+1ss</a:t>
              </a:r>
            </a:p>
          </p:txBody>
        </p:sp>
        <p:sp>
          <p:nvSpPr>
            <p:cNvPr id="17" name="Metin kutusu 16"/>
            <p:cNvSpPr txBox="1"/>
            <p:nvPr/>
          </p:nvSpPr>
          <p:spPr>
            <a:xfrm>
              <a:off x="3494279" y="4496178"/>
              <a:ext cx="5966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dirty="0"/>
                <a:t>-1ss</a:t>
              </a:r>
            </a:p>
          </p:txBody>
        </p:sp>
        <p:sp>
          <p:nvSpPr>
            <p:cNvPr id="18" name="Metin kutusu 17"/>
            <p:cNvSpPr txBox="1"/>
            <p:nvPr/>
          </p:nvSpPr>
          <p:spPr>
            <a:xfrm>
              <a:off x="2498074" y="4495481"/>
              <a:ext cx="5966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dirty="0"/>
                <a:t>-2ss</a:t>
              </a: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1501869" y="4471555"/>
              <a:ext cx="5966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dirty="0"/>
                <a:t>-3ss</a:t>
              </a:r>
            </a:p>
          </p:txBody>
        </p:sp>
        <p:sp>
          <p:nvSpPr>
            <p:cNvPr id="20" name="Metin kutusu 19"/>
            <p:cNvSpPr txBox="1"/>
            <p:nvPr/>
          </p:nvSpPr>
          <p:spPr>
            <a:xfrm>
              <a:off x="6377625" y="4495481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dirty="0"/>
                <a:t>+2ss</a:t>
              </a:r>
            </a:p>
          </p:txBody>
        </p:sp>
        <p:sp>
          <p:nvSpPr>
            <p:cNvPr id="21" name="Metin kutusu 20"/>
            <p:cNvSpPr txBox="1"/>
            <p:nvPr/>
          </p:nvSpPr>
          <p:spPr>
            <a:xfrm>
              <a:off x="7383438" y="4495481"/>
              <a:ext cx="6559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dirty="0"/>
                <a:t>+3ss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1089584" y="1225689"/>
            <a:ext cx="632644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z Dağılımı (z Distribution)</a:t>
            </a:r>
            <a:endParaRPr lang="tr-TR" dirty="0">
              <a:solidFill>
                <a:srgbClr val="333333"/>
              </a:solidFill>
              <a:latin typeface="Arial" charset="0"/>
              <a:ea typeface="Arial" charset="0"/>
              <a:cs typeface="Arial" charset="0"/>
            </a:endParaRPr>
          </a:p>
          <a:p>
            <a:pPr algn="just"/>
            <a:r>
              <a:rPr lang="tr-TR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Bütün ham puanları bir dağılımda z-skorlarına dönüştürerek elde edilmiş z-skorların dağılımıdır.</a:t>
            </a:r>
          </a:p>
          <a:p>
            <a:r>
              <a:rPr lang="tr-TR" b="1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 </a:t>
            </a:r>
            <a:endParaRPr lang="tr-TR" dirty="0">
              <a:solidFill>
                <a:srgbClr val="333333"/>
              </a:solidFill>
              <a:latin typeface="Arial" charset="0"/>
              <a:ea typeface="Arial" charset="0"/>
              <a:cs typeface="Arial" charset="0"/>
            </a:endParaRPr>
          </a:p>
          <a:p>
            <a:r>
              <a:rPr lang="tr-TR" b="1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z- Skoru </a:t>
            </a:r>
            <a:endParaRPr lang="tr-TR" dirty="0">
              <a:solidFill>
                <a:srgbClr val="333333"/>
              </a:solidFill>
              <a:latin typeface="Arial" charset="0"/>
              <a:ea typeface="Arial" charset="0"/>
              <a:cs typeface="Arial" charset="0"/>
            </a:endParaRPr>
          </a:p>
          <a:p>
            <a:pPr marL="285750" indent="-285750" algn="just">
              <a:buFont typeface="Arial" charset="0"/>
              <a:buChar char="•"/>
            </a:pPr>
            <a:r>
              <a:rPr lang="tr-TR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z-skoru, ham puanları ortalaması sıfır (0) ve standart sapması bir (1) olan ve normal dağılım gösteren standart bir skora dönüştürür,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tr-TR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 z değeri ölçümlerin ortalamadan uzaklıklarının standart sapmaya oranını gösterir. </a:t>
            </a:r>
          </a:p>
          <a:p>
            <a:pPr algn="ctr"/>
            <a:r>
              <a:rPr lang="tr-TR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Z = (X-</a:t>
            </a:r>
            <a:r>
              <a:rPr lang="tr-TR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X</a:t>
            </a:r>
            <a:r>
              <a:rPr lang="tr-TR" baseline="-25000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ort</a:t>
            </a:r>
            <a:r>
              <a:rPr lang="tr-TR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) /s</a:t>
            </a:r>
          </a:p>
          <a:p>
            <a:pPr marL="285750" indent="-285750" algn="just">
              <a:buFont typeface="Arial" charset="0"/>
              <a:buChar char="•"/>
            </a:pPr>
            <a:endParaRPr lang="tr-TR" baseline="-25000" dirty="0">
              <a:solidFill>
                <a:srgbClr val="333333"/>
              </a:solidFill>
              <a:latin typeface="Arial" charset="0"/>
              <a:ea typeface="Arial" charset="0"/>
              <a:cs typeface="Arial" charset="0"/>
            </a:endParaRPr>
          </a:p>
          <a:p>
            <a:pPr marL="285750" indent="-285750" algn="just">
              <a:buFont typeface="Arial" charset="0"/>
              <a:buChar char="•"/>
            </a:pPr>
            <a:r>
              <a:rPr lang="tr-TR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Bu puan, dağılımları eşitleyerek ya da standardize ederek farklı değişkenlere ait puanların karşılaştırılmasına izin verir.</a:t>
            </a:r>
          </a:p>
          <a:p>
            <a:r>
              <a:rPr lang="tr-TR" b="1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 </a:t>
            </a:r>
          </a:p>
          <a:p>
            <a:r>
              <a:rPr lang="tr-TR" b="1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z-Tablosu (z-</a:t>
            </a:r>
            <a:r>
              <a:rPr lang="tr-TR" b="1" dirty="0" err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Table</a:t>
            </a:r>
            <a:r>
              <a:rPr lang="tr-TR" b="1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)</a:t>
            </a:r>
            <a:endParaRPr lang="tr-TR" dirty="0">
              <a:solidFill>
                <a:srgbClr val="333333"/>
              </a:solidFill>
              <a:latin typeface="Arial" charset="0"/>
              <a:ea typeface="Arial" charset="0"/>
              <a:cs typeface="Arial" charset="0"/>
            </a:endParaRPr>
          </a:p>
          <a:p>
            <a:pPr algn="just"/>
            <a:r>
              <a:rPr lang="tr-TR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z skorları için standart normal dağılım eğrisi altında kalan toplam alanın oranını veren tablodur.</a:t>
            </a:r>
            <a:endParaRPr lang="tr-TR" dirty="0">
              <a:solidFill>
                <a:srgbClr val="333333"/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625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678" y="148921"/>
            <a:ext cx="10178322" cy="74602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Örnek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304" y="750247"/>
            <a:ext cx="10178322" cy="5257800"/>
          </a:xfrm>
        </p:spPr>
        <p:txBody>
          <a:bodyPr>
            <a:noAutofit/>
          </a:bodyPr>
          <a:lstStyle/>
          <a:p>
            <a:r>
              <a:rPr lang="tr-TR" altLang="x-none" sz="2400" dirty="0"/>
              <a:t> Ayşe; ortalamanın 70 ve standart sapmanın 6 olduğu matematik sınavından 77, ortalamanın 50 ve standart sapmanın 3 olduğu kimya sınavından 56 almıştır.</a:t>
            </a:r>
            <a:br>
              <a:rPr lang="tr-TR" altLang="x-none" sz="2400" dirty="0"/>
            </a:br>
            <a:r>
              <a:rPr lang="tr-TR" altLang="x-none" sz="2400" dirty="0"/>
              <a:t>Ayşe hangi derste daha başarılıdır?</a:t>
            </a:r>
            <a:br>
              <a:rPr lang="tr-TR" altLang="x-none" sz="2400" dirty="0"/>
            </a:br>
            <a:br>
              <a:rPr lang="tr-TR" altLang="x-none" sz="2400" dirty="0"/>
            </a:br>
            <a:r>
              <a:rPr lang="tr-TR" altLang="x-none" sz="2400" dirty="0"/>
              <a:t>Görüldüğü gibi Matematik ve Kimya sınavlarında öğrencilerin durumları farklılık gösteriyor. Bu durumda Ayşe’nin içinde bulunduğu gruba göre derslerdeki başarısının karşılaştırılması için önce iki dersin de aynı standarda getirilmesi gerekir. Bunu Z skoru ile yapalım:</a:t>
            </a:r>
            <a:br>
              <a:rPr lang="tr-TR" altLang="x-none" sz="2400" dirty="0"/>
            </a:br>
            <a:br>
              <a:rPr lang="tr-TR" altLang="x-none" sz="2400" dirty="0"/>
            </a:br>
            <a:r>
              <a:rPr lang="tr-TR" altLang="x-none" sz="2400" dirty="0" err="1"/>
              <a:t>Z</a:t>
            </a:r>
            <a:r>
              <a:rPr lang="tr-TR" altLang="x-none" sz="2400" baseline="-25000" dirty="0" err="1"/>
              <a:t>mat</a:t>
            </a:r>
            <a:r>
              <a:rPr lang="tr-TR" altLang="x-none" sz="2400" baseline="-25000" dirty="0"/>
              <a:t>=</a:t>
            </a:r>
            <a:r>
              <a:rPr lang="tr-TR" altLang="x-none" sz="2400" dirty="0"/>
              <a:t>  (77-70) /6 = 1,17</a:t>
            </a:r>
            <a:br>
              <a:rPr lang="tr-TR" altLang="x-none" sz="2400" dirty="0"/>
            </a:br>
            <a:r>
              <a:rPr lang="tr-TR" altLang="x-none" sz="2400" dirty="0"/>
              <a:t> </a:t>
            </a:r>
            <a:br>
              <a:rPr lang="tr-TR" altLang="x-none" sz="2400" dirty="0"/>
            </a:br>
            <a:r>
              <a:rPr lang="tr-TR" altLang="x-none" sz="2400" dirty="0" err="1"/>
              <a:t>Z</a:t>
            </a:r>
            <a:r>
              <a:rPr lang="tr-TR" altLang="x-none" sz="2400" baseline="-25000" dirty="0" err="1"/>
              <a:t>kimya</a:t>
            </a:r>
            <a:r>
              <a:rPr lang="tr-TR" altLang="x-none" sz="2400" dirty="0"/>
              <a:t>=(56-50)/3=</a:t>
            </a:r>
            <a:r>
              <a:rPr lang="tr-TR" altLang="x-none" sz="2400" baseline="-25000" dirty="0"/>
              <a:t> </a:t>
            </a:r>
            <a:r>
              <a:rPr lang="tr-TR" altLang="x-none" sz="2400" dirty="0"/>
              <a:t>2</a:t>
            </a:r>
            <a:br>
              <a:rPr lang="tr-TR" altLang="x-none" sz="2400" dirty="0"/>
            </a:br>
            <a:br>
              <a:rPr lang="tr-TR" altLang="x-none" sz="2400" dirty="0"/>
            </a:br>
            <a:r>
              <a:rPr lang="tr-TR" altLang="x-none" sz="2400" dirty="0"/>
              <a:t>Bu sonuca göre Ayşe kimya dersinden daha düşük not almasına rağmen içinde bulunduğu gruba göre kimyada daha başarılıdır.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5032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819831" y="548681"/>
            <a:ext cx="8043232" cy="828641"/>
          </a:xfrm>
        </p:spPr>
        <p:txBody>
          <a:bodyPr>
            <a:normAutofit fontScale="90000"/>
          </a:bodyPr>
          <a:lstStyle/>
          <a:p>
            <a:r>
              <a:rPr lang="tr-TR" dirty="0"/>
              <a:t>Dağılım özelliğinin önemi nedir?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847528" y="1916832"/>
            <a:ext cx="8496944" cy="4023360"/>
          </a:xfrm>
        </p:spPr>
        <p:txBody>
          <a:bodyPr>
            <a:normAutofit lnSpcReduction="10000"/>
          </a:bodyPr>
          <a:lstStyle/>
          <a:p>
            <a:pPr algn="just" defTabSz="336947">
              <a:buFont typeface="Wingdings" charset="2"/>
              <a:buChar char="§"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en-GB" altLang="tr-TR" sz="2600" dirty="0" err="1">
                <a:solidFill>
                  <a:schemeClr val="tx1"/>
                </a:solidFill>
              </a:rPr>
              <a:t>Parametrik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testlerin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uygulanabilmesi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için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gereken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varsayımların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başında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verilerin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dağılımının</a:t>
            </a:r>
            <a:r>
              <a:rPr lang="en-GB" altLang="tr-TR" sz="2600" dirty="0">
                <a:solidFill>
                  <a:schemeClr val="tx1"/>
                </a:solidFill>
              </a:rPr>
              <a:t> normal </a:t>
            </a:r>
            <a:r>
              <a:rPr lang="en-GB" altLang="tr-TR" sz="2600" dirty="0" err="1">
                <a:solidFill>
                  <a:schemeClr val="tx1"/>
                </a:solidFill>
              </a:rPr>
              <a:t>olması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gelir</a:t>
            </a:r>
            <a:r>
              <a:rPr lang="en-GB" altLang="tr-TR" sz="2600" dirty="0">
                <a:solidFill>
                  <a:schemeClr val="tx1"/>
                </a:solidFill>
              </a:rPr>
              <a:t>. </a:t>
            </a:r>
            <a:endParaRPr lang="tr-TR" altLang="tr-TR" sz="2600" dirty="0">
              <a:solidFill>
                <a:schemeClr val="tx1"/>
              </a:solidFill>
            </a:endParaRPr>
          </a:p>
          <a:p>
            <a:pPr algn="just" defTabSz="336947">
              <a:buFont typeface="Wingdings" charset="2"/>
              <a:buChar char="§"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en-GB" altLang="tr-TR" sz="2600" dirty="0">
                <a:solidFill>
                  <a:schemeClr val="tx1"/>
                </a:solidFill>
              </a:rPr>
              <a:t>Normal </a:t>
            </a:r>
            <a:r>
              <a:rPr lang="en-GB" altLang="tr-TR" sz="2600" dirty="0" err="1">
                <a:solidFill>
                  <a:schemeClr val="tx1"/>
                </a:solidFill>
              </a:rPr>
              <a:t>dağılımdan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gelmeyen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ölçümler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kullanıldığında</a:t>
            </a:r>
            <a:r>
              <a:rPr lang="en-GB" altLang="tr-TR" sz="2600" dirty="0">
                <a:solidFill>
                  <a:schemeClr val="tx1"/>
                </a:solidFill>
              </a:rPr>
              <a:t>, </a:t>
            </a:r>
            <a:r>
              <a:rPr lang="en-GB" altLang="tr-TR" sz="2600" dirty="0" err="1">
                <a:solidFill>
                  <a:schemeClr val="tx1"/>
                </a:solidFill>
              </a:rPr>
              <a:t>gerçekte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olduğundan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daha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küçük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bir</a:t>
            </a:r>
            <a:r>
              <a:rPr lang="en-GB" altLang="tr-TR" sz="2600" dirty="0">
                <a:solidFill>
                  <a:schemeClr val="tx1"/>
                </a:solidFill>
              </a:rPr>
              <a:t> p</a:t>
            </a:r>
            <a:r>
              <a:rPr lang="tr-TR" altLang="tr-TR" sz="2600" dirty="0">
                <a:solidFill>
                  <a:schemeClr val="tx1"/>
                </a:solidFill>
              </a:rPr>
              <a:t> (olasılık)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değeri</a:t>
            </a:r>
            <a:r>
              <a:rPr lang="en-GB" altLang="tr-TR" sz="26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hesaplanır</a:t>
            </a:r>
            <a:r>
              <a:rPr lang="en-GB" altLang="tr-TR" sz="2600" dirty="0">
                <a:solidFill>
                  <a:schemeClr val="tx1"/>
                </a:solidFill>
              </a:rPr>
              <a:t>. </a:t>
            </a:r>
          </a:p>
          <a:p>
            <a:pPr lvl="1" algn="just" defTabSz="336947">
              <a:buFont typeface="Wingdings" charset="2"/>
              <a:buChar char="§"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en-GB" altLang="tr-TR" sz="2400" dirty="0">
                <a:solidFill>
                  <a:schemeClr val="tx1"/>
                </a:solidFill>
              </a:rPr>
              <a:t>Bu </a:t>
            </a:r>
            <a:r>
              <a:rPr lang="en-GB" altLang="tr-TR" sz="2400" dirty="0" err="1">
                <a:solidFill>
                  <a:schemeClr val="tx1"/>
                </a:solidFill>
              </a:rPr>
              <a:t>durumda</a:t>
            </a:r>
            <a:r>
              <a:rPr lang="en-GB" altLang="tr-TR" sz="2400" dirty="0">
                <a:solidFill>
                  <a:schemeClr val="tx1"/>
                </a:solidFill>
              </a:rPr>
              <a:t>, </a:t>
            </a:r>
            <a:r>
              <a:rPr lang="en-GB" altLang="tr-TR" sz="2400" dirty="0" err="1">
                <a:solidFill>
                  <a:schemeClr val="tx1"/>
                </a:solidFill>
              </a:rPr>
              <a:t>doğru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bir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hipotezi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reddetme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olasılığı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artar</a:t>
            </a:r>
            <a:r>
              <a:rPr lang="en-GB" altLang="tr-TR" sz="2400" dirty="0">
                <a:solidFill>
                  <a:schemeClr val="tx1"/>
                </a:solidFill>
              </a:rPr>
              <a:t>. </a:t>
            </a:r>
            <a:r>
              <a:rPr lang="en-GB" altLang="tr-TR" sz="2400" dirty="0" err="1">
                <a:solidFill>
                  <a:schemeClr val="tx1"/>
                </a:solidFill>
              </a:rPr>
              <a:t>Yani</a:t>
            </a:r>
            <a:r>
              <a:rPr lang="en-GB" altLang="tr-TR" sz="2400" dirty="0">
                <a:solidFill>
                  <a:schemeClr val="tx1"/>
                </a:solidFill>
              </a:rPr>
              <a:t>, </a:t>
            </a:r>
            <a:r>
              <a:rPr lang="en-GB" altLang="tr-TR" sz="2400" dirty="0" err="1">
                <a:solidFill>
                  <a:schemeClr val="tx1"/>
                </a:solidFill>
              </a:rPr>
              <a:t>iki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grup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arasında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fark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olmadığı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halde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fark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varmış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gibi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sonuç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400" dirty="0" err="1">
                <a:solidFill>
                  <a:schemeClr val="tx1"/>
                </a:solidFill>
              </a:rPr>
              <a:t>elde</a:t>
            </a:r>
            <a:r>
              <a:rPr lang="en-GB" altLang="tr-TR" sz="2400" dirty="0">
                <a:solidFill>
                  <a:schemeClr val="tx1"/>
                </a:solidFill>
              </a:rPr>
              <a:t> </a:t>
            </a:r>
            <a:r>
              <a:rPr lang="en-GB" altLang="tr-TR" sz="2600" dirty="0" err="1">
                <a:solidFill>
                  <a:schemeClr val="tx1"/>
                </a:solidFill>
              </a:rPr>
              <a:t>edilebilir</a:t>
            </a:r>
            <a:r>
              <a:rPr lang="tr-TR" altLang="tr-TR" sz="2600" dirty="0">
                <a:solidFill>
                  <a:schemeClr val="tx1"/>
                </a:solidFill>
              </a:rPr>
              <a:t>.</a:t>
            </a:r>
            <a:endParaRPr lang="en-GB" altLang="tr-TR" sz="2600" dirty="0">
              <a:solidFill>
                <a:schemeClr val="tx1"/>
              </a:solidFill>
            </a:endParaRPr>
          </a:p>
          <a:p>
            <a:endParaRPr lang="tr-TR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82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76984" y="148312"/>
            <a:ext cx="7200900" cy="515353"/>
          </a:xfrm>
        </p:spPr>
        <p:txBody>
          <a:bodyPr>
            <a:noAutofit/>
          </a:bodyPr>
          <a:lstStyle/>
          <a:p>
            <a:pPr algn="ctr"/>
            <a:r>
              <a:rPr lang="tr-TR" sz="3600" b="1" dirty="0">
                <a:solidFill>
                  <a:schemeClr val="tx1"/>
                </a:solidFill>
              </a:rPr>
              <a:t>Normal Dağılımı Test Etmede bazı yöntemler</a:t>
            </a:r>
            <a:endParaRPr lang="tr-TR" sz="6000" b="1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73816" y="1547843"/>
            <a:ext cx="1336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Histogram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30026" y="1500110"/>
            <a:ext cx="23918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altLang="en-US" b="1" kern="0" dirty="0" err="1">
                <a:cs typeface="Times New Roman" pitchFamily="18" charset="0"/>
              </a:rPr>
              <a:t>Betimsel</a:t>
            </a:r>
            <a:r>
              <a:rPr lang="tr-TR" altLang="en-US" kern="0" dirty="0">
                <a:cs typeface="Times New Roman" pitchFamily="18" charset="0"/>
              </a:rPr>
              <a:t> </a:t>
            </a:r>
            <a:r>
              <a:rPr lang="tr-TR" altLang="en-US" b="1" kern="0" dirty="0">
                <a:cs typeface="Times New Roman" pitchFamily="18" charset="0"/>
              </a:rPr>
              <a:t>Sonuçlar</a:t>
            </a:r>
            <a:endParaRPr lang="en-US" b="1" dirty="0"/>
          </a:p>
        </p:txBody>
      </p:sp>
      <p:pic>
        <p:nvPicPr>
          <p:cNvPr id="1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033" y="1922957"/>
            <a:ext cx="3738935" cy="37715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309" y="1869442"/>
            <a:ext cx="5303473" cy="354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Metin kutusu 2"/>
          <p:cNvSpPr txBox="1"/>
          <p:nvPr/>
        </p:nvSpPr>
        <p:spPr>
          <a:xfrm>
            <a:off x="1293033" y="5921109"/>
            <a:ext cx="34304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>
                <a:sym typeface="Wingdings" panose="05000000000000000000" pitchFamily="2" charset="2"/>
              </a:rPr>
              <a:t> </a:t>
            </a:r>
            <a:r>
              <a:rPr lang="tr-TR" sz="2000" dirty="0"/>
              <a:t>Çarpıklık ve basıklık şekilleri</a:t>
            </a:r>
            <a:endParaRPr lang="en-US" sz="2000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5851309" y="5585017"/>
            <a:ext cx="3844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>
                <a:sym typeface="Wingdings" panose="05000000000000000000" pitchFamily="2" charset="2"/>
              </a:rPr>
              <a:t> Çarpıklık ve basıklığın </a:t>
            </a:r>
            <a:r>
              <a:rPr lang="tr-TR" sz="2000" dirty="0"/>
              <a:t>Z-skorları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5257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0617" y="302722"/>
            <a:ext cx="8640960" cy="636392"/>
          </a:xfrm>
        </p:spPr>
        <p:txBody>
          <a:bodyPr>
            <a:normAutofit fontScale="90000"/>
          </a:bodyPr>
          <a:lstStyle/>
          <a:p>
            <a:r>
              <a:rPr lang="en-US" sz="4400" b="1" dirty="0" err="1">
                <a:latin typeface="+mn-lt"/>
              </a:rPr>
              <a:t>Çarpıklık</a:t>
            </a:r>
            <a:r>
              <a:rPr lang="en-US" sz="4400" b="1" dirty="0">
                <a:latin typeface="+mn-lt"/>
              </a:rPr>
              <a:t> (Skewness) </a:t>
            </a:r>
            <a:br>
              <a:rPr lang="en-US" sz="4400" b="1" dirty="0"/>
            </a:br>
            <a:r>
              <a:rPr lang="en-US" sz="2700" b="1" dirty="0">
                <a:solidFill>
                  <a:srgbClr val="FF0000"/>
                </a:solidFill>
                <a:latin typeface="+mn-lt"/>
              </a:rPr>
              <a:t>EVREN İÇİN</a:t>
            </a:r>
            <a:endParaRPr lang="en-US" sz="4400" b="1" i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429" y="1436914"/>
            <a:ext cx="10290628" cy="4575286"/>
          </a:xfrm>
        </p:spPr>
        <p:txBody>
          <a:bodyPr>
            <a:noAutofit/>
          </a:bodyPr>
          <a:lstStyle/>
          <a:p>
            <a:r>
              <a:rPr lang="en-US" sz="3200" dirty="0" err="1">
                <a:solidFill>
                  <a:schemeClr val="tx1"/>
                </a:solidFill>
              </a:rPr>
              <a:t>Dağılımın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çarpıklığı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US" sz="2200" dirty="0">
                <a:solidFill>
                  <a:schemeClr val="tx1"/>
                </a:solidFill>
              </a:rPr>
              <a:t>-1'den </a:t>
            </a:r>
            <a:r>
              <a:rPr lang="en-US" sz="2200" dirty="0" err="1">
                <a:solidFill>
                  <a:schemeClr val="tx1"/>
                </a:solidFill>
              </a:rPr>
              <a:t>az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veya</a:t>
            </a:r>
            <a:r>
              <a:rPr lang="en-US" sz="2200" dirty="0">
                <a:solidFill>
                  <a:schemeClr val="tx1"/>
                </a:solidFill>
              </a:rPr>
              <a:t> +1'den </a:t>
            </a:r>
            <a:r>
              <a:rPr lang="en-US" sz="2200" dirty="0" err="1">
                <a:solidFill>
                  <a:schemeClr val="tx1"/>
                </a:solidFill>
              </a:rPr>
              <a:t>büyükse</a:t>
            </a:r>
            <a:r>
              <a:rPr lang="en-US" sz="2200" dirty="0">
                <a:solidFill>
                  <a:schemeClr val="tx1"/>
                </a:solidFill>
              </a:rPr>
              <a:t>, </a:t>
            </a:r>
            <a:r>
              <a:rPr lang="en-US" sz="2200" dirty="0" err="1">
                <a:solidFill>
                  <a:schemeClr val="tx1"/>
                </a:solidFill>
              </a:rPr>
              <a:t>dağılım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oldukça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>
                <a:solidFill>
                  <a:schemeClr val="tx1"/>
                </a:solidFill>
              </a:rPr>
              <a:t>çarpıktır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 -1 </a:t>
            </a:r>
            <a:r>
              <a:rPr lang="en-US" sz="2400" dirty="0" err="1">
                <a:solidFill>
                  <a:schemeClr val="tx1"/>
                </a:solidFill>
              </a:rPr>
              <a:t>ile</a:t>
            </a:r>
            <a:r>
              <a:rPr lang="en-US" sz="2400" dirty="0">
                <a:solidFill>
                  <a:schemeClr val="tx1"/>
                </a:solidFill>
              </a:rPr>
              <a:t> -0.5 </a:t>
            </a:r>
            <a:r>
              <a:rPr lang="en-US" sz="2400" dirty="0" err="1">
                <a:solidFill>
                  <a:schemeClr val="tx1"/>
                </a:solidFill>
              </a:rPr>
              <a:t>arasında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veya</a:t>
            </a:r>
            <a:r>
              <a:rPr lang="en-US" sz="2400" dirty="0">
                <a:solidFill>
                  <a:schemeClr val="tx1"/>
                </a:solidFill>
              </a:rPr>
              <a:t> +0.5 </a:t>
            </a:r>
            <a:r>
              <a:rPr lang="en-US" sz="2400" dirty="0" err="1">
                <a:solidFill>
                  <a:schemeClr val="tx1"/>
                </a:solidFill>
              </a:rPr>
              <a:t>ile</a:t>
            </a:r>
            <a:r>
              <a:rPr lang="en-US" sz="2400" dirty="0">
                <a:solidFill>
                  <a:schemeClr val="tx1"/>
                </a:solidFill>
              </a:rPr>
              <a:t> +1 </a:t>
            </a:r>
            <a:r>
              <a:rPr lang="en-US" sz="2400" dirty="0" err="1">
                <a:solidFill>
                  <a:schemeClr val="tx1"/>
                </a:solidFill>
              </a:rPr>
              <a:t>arasında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ise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dağılım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orta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derecede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çarpıktır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-0.5 </a:t>
            </a:r>
            <a:r>
              <a:rPr lang="en-US" sz="2400" dirty="0" err="1">
                <a:solidFill>
                  <a:schemeClr val="tx1"/>
                </a:solidFill>
              </a:rPr>
              <a:t>ile</a:t>
            </a:r>
            <a:r>
              <a:rPr lang="en-US" sz="2400" dirty="0">
                <a:solidFill>
                  <a:schemeClr val="tx1"/>
                </a:solidFill>
              </a:rPr>
              <a:t> +0.5 </a:t>
            </a:r>
            <a:r>
              <a:rPr lang="en-US" sz="2400" dirty="0" err="1">
                <a:solidFill>
                  <a:schemeClr val="tx1"/>
                </a:solidFill>
              </a:rPr>
              <a:t>arasında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ise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dağılım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yaklaşık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olarak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simetriktir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</a:p>
          <a:p>
            <a:r>
              <a:rPr lang="en-US" sz="3200" dirty="0" err="1">
                <a:solidFill>
                  <a:schemeClr val="tx1"/>
                </a:solidFill>
              </a:rPr>
              <a:t>Çarpıklığa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ilişkin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sınır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değerleri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belirlemek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için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aşağıdaki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referansları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inceleyebilirsiniz</a:t>
            </a:r>
            <a:endParaRPr lang="en-US" sz="3200" dirty="0">
              <a:solidFill>
                <a:schemeClr val="tx1"/>
              </a:solidFill>
            </a:endParaRPr>
          </a:p>
          <a:p>
            <a:pPr lvl="1"/>
            <a:r>
              <a:rPr lang="en-US" sz="2400" dirty="0" err="1">
                <a:solidFill>
                  <a:schemeClr val="tx1"/>
                </a:solidFill>
              </a:rPr>
              <a:t>Tabachnick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ve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Fidell</a:t>
            </a:r>
            <a:r>
              <a:rPr lang="en-US" sz="2400" dirty="0">
                <a:solidFill>
                  <a:schemeClr val="tx1"/>
                </a:solidFill>
              </a:rPr>
              <a:t>, 2013: </a:t>
            </a:r>
            <a:r>
              <a:rPr lang="en-US" sz="2400" dirty="0" err="1">
                <a:solidFill>
                  <a:schemeClr val="tx1"/>
                </a:solidFill>
              </a:rPr>
              <a:t>Çok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Değişkenli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İstatistiklerin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Kullanılması</a:t>
            </a:r>
            <a:r>
              <a:rPr lang="en-US" sz="2400" dirty="0">
                <a:solidFill>
                  <a:schemeClr val="tx1"/>
                </a:solidFill>
              </a:rPr>
              <a:t> (</a:t>
            </a:r>
            <a:r>
              <a:rPr lang="en-US" sz="2400" dirty="0" err="1">
                <a:solidFill>
                  <a:schemeClr val="tx1"/>
                </a:solidFill>
              </a:rPr>
              <a:t>Altıncı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Baskı</a:t>
            </a:r>
            <a:r>
              <a:rPr lang="en-US" sz="2400" dirty="0">
                <a:solidFill>
                  <a:schemeClr val="tx1"/>
                </a:solidFill>
              </a:rPr>
              <a:t>) Pearson, Boston (2013)</a:t>
            </a:r>
          </a:p>
          <a:p>
            <a:endParaRPr 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4601FC3-1371-02C4-1118-D73BD5860B0C}"/>
                  </a:ext>
                </a:extLst>
              </p14:cNvPr>
              <p14:cNvContentPartPr/>
              <p14:nvPr/>
            </p14:nvContentPartPr>
            <p14:xfrm>
              <a:off x="1338768" y="974428"/>
              <a:ext cx="2590681" cy="62981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4601FC3-1371-02C4-1118-D73BD5860B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4773" y="867074"/>
                <a:ext cx="2698311" cy="2773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27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764705"/>
            <a:ext cx="7543800" cy="946701"/>
          </a:xfrm>
        </p:spPr>
        <p:txBody>
          <a:bodyPr/>
          <a:lstStyle/>
          <a:p>
            <a:r>
              <a:rPr lang="en-US" b="1" dirty="0" err="1"/>
              <a:t>Basıklık</a:t>
            </a:r>
            <a:r>
              <a:rPr lang="en-US" b="1" dirty="0"/>
              <a:t> (Kurtosis)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582057"/>
            <a:ext cx="9652000" cy="4572000"/>
          </a:xfrm>
        </p:spPr>
        <p:txBody>
          <a:bodyPr>
            <a:normAutofit/>
          </a:bodyPr>
          <a:lstStyle/>
          <a:p>
            <a:r>
              <a:rPr lang="tr-TR" sz="2800" dirty="0">
                <a:solidFill>
                  <a:schemeClr val="tx1"/>
                </a:solidFill>
              </a:rPr>
              <a:t>Normal dağılımın basıklık değeri “3” </a:t>
            </a:r>
          </a:p>
          <a:p>
            <a:pPr lvl="1"/>
            <a:r>
              <a:rPr lang="tr-TR" sz="2400" dirty="0" err="1">
                <a:solidFill>
                  <a:schemeClr val="tx1"/>
                </a:solidFill>
              </a:rPr>
              <a:t>Kurtosis</a:t>
            </a:r>
            <a:r>
              <a:rPr lang="tr-TR" sz="2400" dirty="0">
                <a:solidFill>
                  <a:schemeClr val="tx1"/>
                </a:solidFill>
              </a:rPr>
              <a:t> ≈3 olan herhangi bir dağıma </a:t>
            </a:r>
            <a:r>
              <a:rPr lang="tr-TR" sz="2400" dirty="0" err="1">
                <a:solidFill>
                  <a:schemeClr val="tx1"/>
                </a:solidFill>
              </a:rPr>
              <a:t>mezokürtik</a:t>
            </a:r>
            <a:r>
              <a:rPr lang="tr-TR" sz="2400" dirty="0">
                <a:solidFill>
                  <a:schemeClr val="tx1"/>
                </a:solidFill>
              </a:rPr>
              <a:t> denir.</a:t>
            </a:r>
          </a:p>
          <a:p>
            <a:r>
              <a:rPr lang="tr-TR" sz="2800" dirty="0" err="1">
                <a:solidFill>
                  <a:schemeClr val="tx1"/>
                </a:solidFill>
              </a:rPr>
              <a:t>Kurtosis</a:t>
            </a:r>
            <a:r>
              <a:rPr lang="tr-TR" sz="2800" dirty="0">
                <a:solidFill>
                  <a:schemeClr val="tx1"/>
                </a:solidFill>
              </a:rPr>
              <a:t> &lt;3 olan dağılımına </a:t>
            </a:r>
            <a:r>
              <a:rPr lang="tr-TR" sz="2800" dirty="0" err="1">
                <a:solidFill>
                  <a:schemeClr val="tx1"/>
                </a:solidFill>
              </a:rPr>
              <a:t>platykürtik</a:t>
            </a:r>
            <a:r>
              <a:rPr lang="tr-TR" sz="2800" dirty="0">
                <a:solidFill>
                  <a:schemeClr val="tx1"/>
                </a:solidFill>
              </a:rPr>
              <a:t> (basık) denir.</a:t>
            </a:r>
          </a:p>
          <a:p>
            <a:pPr lvl="1"/>
            <a:r>
              <a:rPr lang="tr-TR" sz="2400" dirty="0">
                <a:solidFill>
                  <a:schemeClr val="tx1"/>
                </a:solidFill>
              </a:rPr>
              <a:t> Normal bir dağılıma kıyasla, kuyrukları daha kısa ve daha incedir ve çoğunlukla merkez piki daha düşük ve daha geniştir.</a:t>
            </a:r>
          </a:p>
          <a:p>
            <a:r>
              <a:rPr lang="tr-TR" sz="2800" dirty="0" err="1">
                <a:solidFill>
                  <a:schemeClr val="tx1"/>
                </a:solidFill>
              </a:rPr>
              <a:t>Kurtosis</a:t>
            </a:r>
            <a:r>
              <a:rPr lang="tr-TR" sz="2800" dirty="0">
                <a:solidFill>
                  <a:schemeClr val="tx1"/>
                </a:solidFill>
              </a:rPr>
              <a:t>&gt; 3 olan bir dağılıma </a:t>
            </a:r>
            <a:r>
              <a:rPr lang="tr-TR" sz="2800" dirty="0" err="1">
                <a:solidFill>
                  <a:schemeClr val="tx1"/>
                </a:solidFill>
              </a:rPr>
              <a:t>leptokurktik</a:t>
            </a:r>
            <a:r>
              <a:rPr lang="tr-TR" sz="2800" dirty="0">
                <a:solidFill>
                  <a:schemeClr val="tx1"/>
                </a:solidFill>
              </a:rPr>
              <a:t>  (pik yapmış) denir.</a:t>
            </a:r>
          </a:p>
          <a:p>
            <a:pPr lvl="1"/>
            <a:r>
              <a:rPr lang="tr-TR" sz="2400" dirty="0">
                <a:solidFill>
                  <a:schemeClr val="tx1"/>
                </a:solidFill>
              </a:rPr>
              <a:t>Normal bir dağılımla karşılaştırıldığında, kuyrukları daha uzun ve daha sıktır ve çoğunlukla merkezi tepe noktası daha yüksek ve keskindir.</a:t>
            </a:r>
          </a:p>
          <a:p>
            <a:endParaRPr lang="tr-T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64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950" y="108858"/>
            <a:ext cx="9426099" cy="794422"/>
          </a:xfrm>
        </p:spPr>
        <p:txBody>
          <a:bodyPr>
            <a:noAutofit/>
          </a:bodyPr>
          <a:lstStyle/>
          <a:p>
            <a:r>
              <a:rPr lang="en-US" sz="3600" b="1" dirty="0" err="1">
                <a:solidFill>
                  <a:schemeClr val="tx1"/>
                </a:solidFill>
                <a:latin typeface="+mn-lt"/>
              </a:rPr>
              <a:t>Standartlaştırılmış</a:t>
            </a:r>
            <a:r>
              <a:rPr lang="en-US" sz="3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tr-TR" sz="3600" b="1" dirty="0">
                <a:solidFill>
                  <a:schemeClr val="tx1"/>
                </a:solidFill>
                <a:latin typeface="+mn-lt"/>
              </a:rPr>
              <a:t>ÇARPIKLIK VE BASIKLIK DEĞERLERİNİ YORUMLAMA</a:t>
            </a:r>
            <a:br>
              <a:rPr lang="tr-TR" sz="3600" b="1" dirty="0">
                <a:solidFill>
                  <a:schemeClr val="tx1"/>
                </a:solidFill>
                <a:latin typeface="+mn-lt"/>
              </a:rPr>
            </a:br>
            <a:r>
              <a:rPr lang="en-US" sz="2400" b="1" dirty="0" err="1">
                <a:solidFill>
                  <a:srgbClr val="FF0000"/>
                </a:solidFill>
                <a:latin typeface="+mn-lt"/>
              </a:rPr>
              <a:t>örneklem</a:t>
            </a:r>
            <a:r>
              <a:rPr lang="en-US" sz="2400" b="1" dirty="0">
                <a:solidFill>
                  <a:srgbClr val="FF0000"/>
                </a:solidFill>
                <a:latin typeface="+mn-lt"/>
              </a:rPr>
              <a:t> İÇİN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1067" y="2278507"/>
            <a:ext cx="10837104" cy="4470635"/>
          </a:xfrm>
        </p:spPr>
        <p:txBody>
          <a:bodyPr>
            <a:normAutofit/>
          </a:bodyPr>
          <a:lstStyle/>
          <a:p>
            <a:r>
              <a:rPr lang="en-US" sz="2400" b="1" dirty="0" err="1">
                <a:solidFill>
                  <a:schemeClr val="tx1"/>
                </a:solidFill>
              </a:rPr>
              <a:t>Çarpıklık</a:t>
            </a:r>
            <a:r>
              <a:rPr lang="tr-TR" sz="2400" dirty="0">
                <a:solidFill>
                  <a:schemeClr val="tx1"/>
                </a:solidFill>
              </a:rPr>
              <a:t> ve </a:t>
            </a:r>
            <a:r>
              <a:rPr lang="tr-TR" sz="2400" b="1" dirty="0">
                <a:solidFill>
                  <a:schemeClr val="tx1"/>
                </a:solidFill>
              </a:rPr>
              <a:t>basıklık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değer</a:t>
            </a:r>
            <a:r>
              <a:rPr lang="tr-TR" sz="2400" dirty="0" err="1">
                <a:solidFill>
                  <a:schemeClr val="tx1"/>
                </a:solidFill>
              </a:rPr>
              <a:t>lerini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tr-TR" sz="2400" dirty="0">
                <a:solidFill>
                  <a:schemeClr val="tx1"/>
                </a:solidFill>
              </a:rPr>
              <a:t>kendi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standart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hata</a:t>
            </a:r>
            <a:r>
              <a:rPr lang="tr-TR" sz="2400" dirty="0" err="1">
                <a:solidFill>
                  <a:schemeClr val="tx1"/>
                </a:solidFill>
              </a:rPr>
              <a:t>larına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bölerek</a:t>
            </a:r>
            <a:r>
              <a:rPr lang="en-US" sz="2400" dirty="0">
                <a:solidFill>
                  <a:schemeClr val="tx1"/>
                </a:solidFill>
              </a:rPr>
              <a:t> test </a:t>
            </a:r>
            <a:r>
              <a:rPr lang="en-US" sz="2400" dirty="0" err="1">
                <a:solidFill>
                  <a:schemeClr val="tx1"/>
                </a:solidFill>
              </a:rPr>
              <a:t>istatistiğini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elde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edebiliriz</a:t>
            </a:r>
            <a:r>
              <a:rPr lang="en-US" sz="2400" dirty="0">
                <a:solidFill>
                  <a:schemeClr val="tx1"/>
                </a:solidFill>
              </a:rPr>
              <a:t> (z</a:t>
            </a:r>
            <a:r>
              <a:rPr lang="tr-TR" sz="2400" dirty="0">
                <a:solidFill>
                  <a:schemeClr val="tx1"/>
                </a:solidFill>
              </a:rPr>
              <a:t>-skorları</a:t>
            </a:r>
            <a:r>
              <a:rPr lang="en-US" sz="2400" dirty="0">
                <a:solidFill>
                  <a:schemeClr val="tx1"/>
                </a:solidFill>
              </a:rPr>
              <a:t>). </a:t>
            </a:r>
            <a:endParaRPr lang="en-US" sz="2400" b="1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0,05 </a:t>
            </a:r>
            <a:r>
              <a:rPr lang="en-US" sz="2400" dirty="0" err="1">
                <a:solidFill>
                  <a:schemeClr val="tx1"/>
                </a:solidFill>
              </a:rPr>
              <a:t>anlamlılık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düzeyinde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tr-TR" sz="2400" dirty="0">
                <a:solidFill>
                  <a:schemeClr val="tx1"/>
                </a:solidFill>
              </a:rPr>
              <a:t>şu şartlarda normallik varsayımını karşılarız*  </a:t>
            </a:r>
            <a:br>
              <a:rPr lang="tr-TR" sz="2400" dirty="0">
                <a:solidFill>
                  <a:schemeClr val="tx1"/>
                </a:solidFill>
              </a:rPr>
            </a:br>
            <a:r>
              <a:rPr lang="tr-TR" sz="2400" dirty="0">
                <a:solidFill>
                  <a:schemeClr val="tx1"/>
                </a:solidFill>
              </a:rPr>
              <a:t>(n: örneklem sayısı):</a:t>
            </a:r>
          </a:p>
          <a:p>
            <a:r>
              <a:rPr lang="tr-TR" sz="2400" b="1" dirty="0">
                <a:solidFill>
                  <a:schemeClr val="tx1"/>
                </a:solidFill>
                <a:sym typeface="Wingdings" panose="05000000000000000000" pitchFamily="2" charset="2"/>
              </a:rPr>
              <a:t> n &lt; 50 </a:t>
            </a:r>
            <a:r>
              <a:rPr lang="tr-TR" sz="2400" dirty="0">
                <a:solidFill>
                  <a:schemeClr val="tx1"/>
                </a:solidFill>
                <a:sym typeface="Wingdings" panose="05000000000000000000" pitchFamily="2" charset="2"/>
              </a:rPr>
              <a:t>ise mutlak z-skorları </a:t>
            </a:r>
            <a:r>
              <a:rPr lang="tr-TR" sz="2400" b="1" dirty="0">
                <a:solidFill>
                  <a:schemeClr val="tx1"/>
                </a:solidFill>
                <a:sym typeface="Wingdings" panose="05000000000000000000" pitchFamily="2" charset="2"/>
              </a:rPr>
              <a:t>1.96</a:t>
            </a:r>
            <a:r>
              <a:rPr lang="tr-TR" sz="2400" dirty="0">
                <a:solidFill>
                  <a:schemeClr val="tx1"/>
                </a:solidFill>
                <a:sym typeface="Wingdings" panose="05000000000000000000" pitchFamily="2" charset="2"/>
              </a:rPr>
              <a:t>’yı geçmediğinde</a:t>
            </a:r>
          </a:p>
          <a:p>
            <a:r>
              <a:rPr lang="tr-TR" sz="2400" b="1" dirty="0">
                <a:solidFill>
                  <a:schemeClr val="tx1"/>
                </a:solidFill>
                <a:sym typeface="Wingdings" panose="05000000000000000000" pitchFamily="2" charset="2"/>
              </a:rPr>
              <a:t> 50 &lt; n &lt; 300 </a:t>
            </a:r>
            <a:r>
              <a:rPr lang="tr-TR" sz="2400" dirty="0">
                <a:solidFill>
                  <a:schemeClr val="tx1"/>
                </a:solidFill>
                <a:sym typeface="Wingdings" panose="05000000000000000000" pitchFamily="2" charset="2"/>
              </a:rPr>
              <a:t>ise mutlak z-skorları </a:t>
            </a:r>
            <a:r>
              <a:rPr lang="tr-TR" sz="2400" b="1" dirty="0">
                <a:solidFill>
                  <a:schemeClr val="tx1"/>
                </a:solidFill>
                <a:sym typeface="Wingdings" panose="05000000000000000000" pitchFamily="2" charset="2"/>
              </a:rPr>
              <a:t>3.29</a:t>
            </a:r>
            <a:r>
              <a:rPr lang="tr-TR" sz="2400" dirty="0">
                <a:solidFill>
                  <a:schemeClr val="tx1"/>
                </a:solidFill>
                <a:sym typeface="Wingdings" panose="05000000000000000000" pitchFamily="2" charset="2"/>
              </a:rPr>
              <a:t>’u geçmediğinde,</a:t>
            </a:r>
          </a:p>
          <a:p>
            <a:r>
              <a:rPr lang="tr-TR" sz="2400" b="1" dirty="0">
                <a:solidFill>
                  <a:schemeClr val="tx1"/>
                </a:solidFill>
                <a:sym typeface="Wingdings" panose="05000000000000000000" pitchFamily="2" charset="2"/>
              </a:rPr>
              <a:t> n &gt; 300 </a:t>
            </a:r>
            <a:r>
              <a:rPr lang="tr-TR" sz="2400" dirty="0">
                <a:solidFill>
                  <a:schemeClr val="tx1"/>
                </a:solidFill>
                <a:sym typeface="Wingdings" panose="05000000000000000000" pitchFamily="2" charset="2"/>
              </a:rPr>
              <a:t>ise mutlak çarpıklık değeri </a:t>
            </a:r>
            <a:r>
              <a:rPr lang="tr-TR" sz="2400" b="1" dirty="0">
                <a:solidFill>
                  <a:schemeClr val="tx1"/>
                </a:solidFill>
                <a:sym typeface="Wingdings" panose="05000000000000000000" pitchFamily="2" charset="2"/>
              </a:rPr>
              <a:t>2.00</a:t>
            </a:r>
            <a:r>
              <a:rPr lang="tr-TR" sz="2400" dirty="0">
                <a:solidFill>
                  <a:schemeClr val="tx1"/>
                </a:solidFill>
                <a:sym typeface="Wingdings" panose="05000000000000000000" pitchFamily="2" charset="2"/>
              </a:rPr>
              <a:t>’yi; mutlak basıklık değeri </a:t>
            </a:r>
            <a:r>
              <a:rPr lang="tr-TR" sz="2400" b="1" dirty="0">
                <a:solidFill>
                  <a:schemeClr val="tx1"/>
                </a:solidFill>
                <a:sym typeface="Wingdings" panose="05000000000000000000" pitchFamily="2" charset="2"/>
              </a:rPr>
              <a:t>7.00</a:t>
            </a:r>
            <a:r>
              <a:rPr lang="tr-TR" sz="2400" dirty="0">
                <a:solidFill>
                  <a:schemeClr val="tx1"/>
                </a:solidFill>
                <a:sym typeface="Wingdings" panose="05000000000000000000" pitchFamily="2" charset="2"/>
              </a:rPr>
              <a:t>’yi geçmediğinde güvendesiniz</a:t>
            </a:r>
            <a:endParaRPr lang="en-US" sz="2400" b="1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1131268" y="6102811"/>
            <a:ext cx="10494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*</a:t>
            </a:r>
            <a:r>
              <a:rPr lang="en-US" dirty="0"/>
              <a:t>Kim H. Y. (2013). Statistical notes for clinical researchers: assessing normal distribution (2) using skewness and kurtosis.</a:t>
            </a:r>
            <a:r>
              <a:rPr lang="tr-TR" dirty="0"/>
              <a:t> </a:t>
            </a:r>
            <a:r>
              <a:rPr lang="en-US" i="1" dirty="0"/>
              <a:t>Restorative dentistry &amp; endodontics</a:t>
            </a:r>
            <a:r>
              <a:rPr lang="en-US" dirty="0"/>
              <a:t>, </a:t>
            </a:r>
            <a:r>
              <a:rPr lang="en-US" i="1" dirty="0"/>
              <a:t>38</a:t>
            </a:r>
            <a:r>
              <a:rPr lang="en-US" dirty="0"/>
              <a:t>(1)</a:t>
            </a:r>
            <a:r>
              <a:rPr lang="tr-TR" dirty="0"/>
              <a:t>.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51052E-3F40-13FB-F02E-E3508260438E}"/>
                  </a:ext>
                </a:extLst>
              </p14:cNvPr>
              <p14:cNvContentPartPr/>
              <p14:nvPr/>
            </p14:nvContentPartPr>
            <p14:xfrm>
              <a:off x="1021067" y="1586529"/>
              <a:ext cx="3711571" cy="314523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51052E-3F40-13FB-F02E-E350826043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7427" y="1478806"/>
                <a:ext cx="3819210" cy="5303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0791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886910" y="538084"/>
            <a:ext cx="7543800" cy="1450757"/>
          </a:xfrm>
        </p:spPr>
        <p:txBody>
          <a:bodyPr>
            <a:normAutofit fontScale="90000"/>
          </a:bodyPr>
          <a:lstStyle/>
          <a:p>
            <a:r>
              <a:rPr lang="tr-TR" b="1" dirty="0"/>
              <a:t>Normal Dağılımı Test Etme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886910" y="1988841"/>
            <a:ext cx="9085890" cy="3480365"/>
          </a:xfrm>
        </p:spPr>
        <p:txBody>
          <a:bodyPr>
            <a:noAutofit/>
          </a:bodyPr>
          <a:lstStyle/>
          <a:p>
            <a:pPr marL="254794" indent="-254794" algn="just" defTabSz="336947">
              <a:spcBef>
                <a:spcPts val="375"/>
              </a:spcBef>
              <a:spcAft>
                <a:spcPts val="450"/>
              </a:spcAft>
              <a:buFontTx/>
              <a:buChar char="•"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sz="2800" dirty="0" err="1">
                <a:solidFill>
                  <a:schemeClr val="tx1"/>
                </a:solidFill>
              </a:rPr>
              <a:t>sınavlar.sav</a:t>
            </a:r>
            <a:r>
              <a:rPr lang="tr-TR" altLang="tr-TR" sz="2800" dirty="0">
                <a:solidFill>
                  <a:schemeClr val="tx1"/>
                </a:solidFill>
              </a:rPr>
              <a:t> </a:t>
            </a:r>
            <a:r>
              <a:rPr lang="tr-TR" altLang="tr-TR" sz="2800" dirty="0" err="1">
                <a:solidFill>
                  <a:schemeClr val="tx1"/>
                </a:solidFill>
              </a:rPr>
              <a:t>verisetinde</a:t>
            </a:r>
            <a:r>
              <a:rPr lang="tr-TR" altLang="tr-TR" sz="2800" dirty="0">
                <a:solidFill>
                  <a:schemeClr val="tx1"/>
                </a:solidFill>
              </a:rPr>
              <a:t> okuma ve yazma notlarının normal dağılıp dağılmadığına şu adımları izleyerek bakalım:</a:t>
            </a:r>
          </a:p>
          <a:p>
            <a:pPr marL="254794" indent="-254794" defTabSz="336947">
              <a:spcBef>
                <a:spcPts val="375"/>
              </a:spcBef>
              <a:spcAft>
                <a:spcPts val="450"/>
              </a:spcAft>
              <a:buFontTx/>
              <a:buChar char="•"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sz="2800" dirty="0">
                <a:solidFill>
                  <a:schemeClr val="tx1"/>
                </a:solidFill>
              </a:rPr>
              <a:t> </a:t>
            </a:r>
            <a:r>
              <a:rPr lang="tr-TR" altLang="tr-TR" sz="28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tr-TR" altLang="tr-TR" sz="2800" dirty="0" err="1">
                <a:solidFill>
                  <a:schemeClr val="tx1"/>
                </a:solidFill>
                <a:sym typeface="Wingdings" panose="05000000000000000000" pitchFamily="2" charset="2"/>
              </a:rPr>
              <a:t>Histogram</a:t>
            </a:r>
            <a:r>
              <a:rPr lang="tr-TR" altLang="tr-TR" sz="2800" dirty="0">
                <a:solidFill>
                  <a:schemeClr val="tx1"/>
                </a:solidFill>
                <a:sym typeface="Wingdings" panose="05000000000000000000" pitchFamily="2" charset="2"/>
              </a:rPr>
              <a:t> grafiğini elde edelim,</a:t>
            </a:r>
            <a:endParaRPr lang="tr-TR" altLang="tr-TR" sz="2800" dirty="0">
              <a:solidFill>
                <a:schemeClr val="tx1"/>
              </a:solidFill>
            </a:endParaRPr>
          </a:p>
          <a:p>
            <a:pPr marL="254794" indent="-254794" defTabSz="336947">
              <a:spcBef>
                <a:spcPts val="375"/>
              </a:spcBef>
              <a:spcAft>
                <a:spcPts val="450"/>
              </a:spcAft>
              <a:buFontTx/>
              <a:buChar char="•"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sz="2800" dirty="0">
                <a:solidFill>
                  <a:schemeClr val="tx1"/>
                </a:solidFill>
                <a:sym typeface="Wingdings" panose="05000000000000000000" pitchFamily="2" charset="2"/>
              </a:rPr>
              <a:t> Basıklık ve çarpıklık z-skorlarını elde edelim,</a:t>
            </a:r>
          </a:p>
          <a:p>
            <a:pPr marL="254794" indent="-254794" defTabSz="336947">
              <a:spcBef>
                <a:spcPts val="375"/>
              </a:spcBef>
              <a:spcAft>
                <a:spcPts val="450"/>
              </a:spcAft>
              <a:buFontTx/>
              <a:buChar char="•"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sz="2800" dirty="0">
                <a:solidFill>
                  <a:schemeClr val="tx1"/>
                </a:solidFill>
                <a:sym typeface="Wingdings" panose="05000000000000000000" pitchFamily="2" charset="2"/>
              </a:rPr>
              <a:t> Bu skorları örneklem sayısını göz önünde bulundurarak yorumlayalım.</a:t>
            </a:r>
          </a:p>
          <a:p>
            <a:pPr marL="0" indent="0" algn="just" defTabSz="336947">
              <a:spcBef>
                <a:spcPts val="375"/>
              </a:spcBef>
              <a:spcAft>
                <a:spcPts val="450"/>
              </a:spcAft>
              <a:buNone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endParaRPr lang="en-GB" altLang="tr-TR" sz="2400" dirty="0">
              <a:solidFill>
                <a:schemeClr val="tx1"/>
              </a:solidFill>
            </a:endParaRPr>
          </a:p>
          <a:p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1635564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24465" y="185352"/>
            <a:ext cx="9106930" cy="815545"/>
          </a:xfrm>
        </p:spPr>
        <p:txBody>
          <a:bodyPr>
            <a:normAutofit/>
          </a:bodyPr>
          <a:lstStyle/>
          <a:p>
            <a:r>
              <a:rPr lang="tr-TR" b="1" dirty="0"/>
              <a:t>Normal Dağılımı Test Etme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24465" y="1124635"/>
            <a:ext cx="9401200" cy="1878569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marL="254794" indent="-254794" algn="just" defTabSz="336947">
              <a:spcBef>
                <a:spcPts val="375"/>
              </a:spcBef>
              <a:spcAft>
                <a:spcPts val="450"/>
              </a:spcAft>
              <a:buFontTx/>
              <a:buChar char="•"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sz="2800" b="1" dirty="0" err="1">
                <a:solidFill>
                  <a:schemeClr val="tx1"/>
                </a:solidFill>
              </a:rPr>
              <a:t>SPSS’te</a:t>
            </a:r>
            <a:r>
              <a:rPr lang="tr-TR" altLang="tr-TR" dirty="0">
                <a:solidFill>
                  <a:schemeClr val="tx1"/>
                </a:solidFill>
              </a:rPr>
              <a:t> şu adımları geçerek </a:t>
            </a:r>
            <a:r>
              <a:rPr lang="tr-TR" altLang="tr-TR" b="1" dirty="0" err="1">
                <a:solidFill>
                  <a:schemeClr val="tx1"/>
                </a:solidFill>
              </a:rPr>
              <a:t>Explore</a:t>
            </a:r>
            <a:r>
              <a:rPr lang="tr-TR" altLang="tr-TR" dirty="0">
                <a:solidFill>
                  <a:schemeClr val="tx1"/>
                </a:solidFill>
              </a:rPr>
              <a:t>… ekranına ulaşalım</a:t>
            </a:r>
          </a:p>
          <a:p>
            <a:pPr marL="457200" lvl="1" indent="0" algn="just" defTabSz="336947">
              <a:spcBef>
                <a:spcPts val="375"/>
              </a:spcBef>
              <a:spcAft>
                <a:spcPts val="450"/>
              </a:spcAft>
              <a:buNone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dirty="0" err="1">
                <a:solidFill>
                  <a:schemeClr val="tx1"/>
                </a:solidFill>
              </a:rPr>
              <a:t>Analyze</a:t>
            </a:r>
            <a:r>
              <a:rPr lang="tr-TR" altLang="tr-TR" dirty="0">
                <a:solidFill>
                  <a:schemeClr val="tx1"/>
                </a:solidFill>
              </a:rPr>
              <a:t> 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Descriptive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Statistics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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Explore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…</a:t>
            </a:r>
          </a:p>
          <a:p>
            <a:pPr lvl="1" algn="just" defTabSz="336947">
              <a:spcBef>
                <a:spcPts val="375"/>
              </a:spcBef>
              <a:spcAft>
                <a:spcPts val="450"/>
              </a:spcAft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Explore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ekranında </a:t>
            </a:r>
            <a:r>
              <a:rPr lang="tr-TR" altLang="tr-TR" b="1" dirty="0">
                <a:solidFill>
                  <a:schemeClr val="tx1"/>
                </a:solidFill>
                <a:sym typeface="Wingdings" panose="05000000000000000000" pitchFamily="2" charset="2"/>
              </a:rPr>
              <a:t>okuma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ve </a:t>
            </a:r>
            <a:r>
              <a:rPr lang="tr-TR" altLang="tr-TR" b="1" dirty="0">
                <a:solidFill>
                  <a:schemeClr val="tx1"/>
                </a:solidFill>
                <a:sym typeface="Wingdings" panose="05000000000000000000" pitchFamily="2" charset="2"/>
              </a:rPr>
              <a:t>yazma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notlarını «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Dependent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List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» bölümüne atalım.</a:t>
            </a:r>
          </a:p>
          <a:p>
            <a:pPr lvl="1" algn="just" defTabSz="336947">
              <a:spcBef>
                <a:spcPts val="375"/>
              </a:spcBef>
              <a:spcAft>
                <a:spcPts val="450"/>
              </a:spcAft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Plots’tan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Histogram’ı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işaretleyelim, </a:t>
            </a:r>
            <a:r>
              <a:rPr lang="tr-TR" altLang="tr-TR" b="1" dirty="0" err="1">
                <a:solidFill>
                  <a:schemeClr val="tx1"/>
                </a:solidFill>
                <a:sym typeface="Wingdings" panose="05000000000000000000" pitchFamily="2" charset="2"/>
              </a:rPr>
              <a:t>continue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dedikten sonra </a:t>
            </a:r>
            <a:r>
              <a:rPr lang="tr-TR" altLang="tr-TR" b="1" dirty="0">
                <a:solidFill>
                  <a:schemeClr val="tx1"/>
                </a:solidFill>
                <a:sym typeface="Wingdings" panose="05000000000000000000" pitchFamily="2" charset="2"/>
              </a:rPr>
              <a:t>OK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diyelim.</a:t>
            </a:r>
          </a:p>
          <a:p>
            <a:pPr marL="0" indent="0" algn="just" defTabSz="336947">
              <a:spcBef>
                <a:spcPts val="375"/>
              </a:spcBef>
              <a:spcAft>
                <a:spcPts val="450"/>
              </a:spcAft>
              <a:buNone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endParaRPr lang="en-GB" altLang="tr-T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tr-TR" sz="3200" dirty="0"/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A6679E40-5188-B231-5790-38F3F15D0EC1}"/>
              </a:ext>
            </a:extLst>
          </p:cNvPr>
          <p:cNvSpPr txBox="1">
            <a:spLocks/>
          </p:cNvSpPr>
          <p:nvPr/>
        </p:nvSpPr>
        <p:spPr>
          <a:xfrm>
            <a:off x="1124465" y="3216364"/>
            <a:ext cx="9401200" cy="3253709"/>
          </a:xfrm>
          <a:prstGeom prst="rect">
            <a:avLst/>
          </a:prstGeom>
          <a:solidFill>
            <a:srgbClr val="92D050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794" indent="-254794" algn="just" defTabSz="336947">
              <a:spcBef>
                <a:spcPts val="375"/>
              </a:spcBef>
              <a:spcAft>
                <a:spcPts val="450"/>
              </a:spcAft>
              <a:buFontTx/>
              <a:buChar char="•"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sz="2800" b="1" dirty="0" err="1">
                <a:solidFill>
                  <a:schemeClr val="tx1"/>
                </a:solidFill>
              </a:rPr>
              <a:t>JASP’ta</a:t>
            </a:r>
            <a:r>
              <a:rPr lang="tr-TR" altLang="tr-TR" dirty="0">
                <a:solidFill>
                  <a:schemeClr val="tx1"/>
                </a:solidFill>
              </a:rPr>
              <a:t> ise</a:t>
            </a:r>
          </a:p>
          <a:p>
            <a:pPr marL="457200" lvl="1" indent="0" algn="just" defTabSz="336947">
              <a:spcBef>
                <a:spcPts val="375"/>
              </a:spcBef>
              <a:spcAft>
                <a:spcPts val="450"/>
              </a:spcAft>
              <a:buNone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Descriptive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Statistics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sekmesinden</a:t>
            </a:r>
          </a:p>
          <a:p>
            <a:pPr lvl="1" algn="just" defTabSz="336947">
              <a:spcBef>
                <a:spcPts val="375"/>
              </a:spcBef>
              <a:spcAft>
                <a:spcPts val="450"/>
              </a:spcAft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Görev Kutucuğunda ekranında </a:t>
            </a:r>
            <a:r>
              <a:rPr lang="tr-TR" altLang="tr-TR" b="1" dirty="0">
                <a:solidFill>
                  <a:schemeClr val="tx1"/>
                </a:solidFill>
                <a:sym typeface="Wingdings" panose="05000000000000000000" pitchFamily="2" charset="2"/>
              </a:rPr>
              <a:t>okuma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notlarını «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Variables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» bölümüne atalım.</a:t>
            </a:r>
          </a:p>
          <a:p>
            <a:pPr lvl="1" algn="just" defTabSz="336947">
              <a:spcBef>
                <a:spcPts val="375"/>
              </a:spcBef>
              <a:spcAft>
                <a:spcPts val="450"/>
              </a:spcAft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Split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kutucuğuna </a:t>
            </a:r>
            <a:r>
              <a:rPr lang="tr-TR" altLang="tr-TR" b="1" dirty="0" err="1">
                <a:solidFill>
                  <a:schemeClr val="tx1"/>
                </a:solidFill>
                <a:sym typeface="Wingdings" panose="05000000000000000000" pitchFamily="2" charset="2"/>
              </a:rPr>
              <a:t>cinsiyet’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i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atalım</a:t>
            </a:r>
          </a:p>
          <a:p>
            <a:pPr lvl="1" algn="just" defTabSz="336947">
              <a:spcBef>
                <a:spcPts val="375"/>
              </a:spcBef>
              <a:spcAft>
                <a:spcPts val="450"/>
              </a:spcAft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Altta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Statistics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sekmesinden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Distrbution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altından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Skewness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ve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Curtosis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kutucuklarını işaretleyin</a:t>
            </a:r>
          </a:p>
          <a:p>
            <a:pPr lvl="1" algn="just" defTabSz="336947">
              <a:spcBef>
                <a:spcPts val="375"/>
              </a:spcBef>
              <a:spcAft>
                <a:spcPts val="450"/>
              </a:spcAft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Basic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Plot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sekmesinden Distribution </a:t>
            </a:r>
            <a:r>
              <a:rPr lang="tr-TR" altLang="tr-TR" dirty="0" err="1">
                <a:solidFill>
                  <a:schemeClr val="tx1"/>
                </a:solidFill>
                <a:sym typeface="Wingdings" panose="05000000000000000000" pitchFamily="2" charset="2"/>
              </a:rPr>
              <a:t>Plots</a:t>
            </a:r>
            <a:r>
              <a:rPr lang="tr-TR" altLang="tr-TR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tr-TR" altLang="tr-TR">
                <a:solidFill>
                  <a:schemeClr val="tx1"/>
                </a:solidFill>
                <a:sym typeface="Wingdings" panose="05000000000000000000" pitchFamily="2" charset="2"/>
              </a:rPr>
              <a:t>seçeneğini işaretleyin</a:t>
            </a:r>
            <a:endParaRPr lang="tr-TR" altLang="tr-TR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 algn="just" defTabSz="336947">
              <a:spcBef>
                <a:spcPts val="375"/>
              </a:spcBef>
              <a:spcAft>
                <a:spcPts val="450"/>
              </a:spcAft>
              <a:buFont typeface="Arial" panose="020B0604020202020204" pitchFamily="34" charset="0"/>
              <a:buNone/>
              <a:tabLst>
                <a:tab pos="334566" algn="l"/>
                <a:tab pos="671513" algn="l"/>
                <a:tab pos="1008460" algn="l"/>
                <a:tab pos="1345406" algn="l"/>
                <a:tab pos="1682354" algn="l"/>
                <a:tab pos="2019300" algn="l"/>
                <a:tab pos="2356247" algn="l"/>
                <a:tab pos="2693194" algn="l"/>
                <a:tab pos="3030141" algn="l"/>
                <a:tab pos="3367088" algn="l"/>
                <a:tab pos="3704035" algn="l"/>
                <a:tab pos="4040981" algn="l"/>
                <a:tab pos="4377929" algn="l"/>
                <a:tab pos="4714875" algn="l"/>
                <a:tab pos="5051822" algn="l"/>
                <a:tab pos="5388769" algn="l"/>
                <a:tab pos="5725716" algn="l"/>
                <a:tab pos="6062663" algn="l"/>
                <a:tab pos="6399610" algn="l"/>
                <a:tab pos="6736556" algn="l"/>
              </a:tabLst>
            </a:pPr>
            <a:endParaRPr lang="en-GB" altLang="tr-TR" sz="2800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3658730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886910" y="538084"/>
            <a:ext cx="7543800" cy="1450757"/>
          </a:xfrm>
        </p:spPr>
        <p:txBody>
          <a:bodyPr>
            <a:normAutofit fontScale="90000"/>
          </a:bodyPr>
          <a:lstStyle/>
          <a:p>
            <a:r>
              <a:rPr lang="tr-TR" b="1" dirty="0"/>
              <a:t>Normal Dağılımı Test Etme</a:t>
            </a:r>
          </a:p>
        </p:txBody>
      </p:sp>
      <p:pic>
        <p:nvPicPr>
          <p:cNvPr id="5" name="Resim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85"/>
          <a:stretch/>
        </p:blipFill>
        <p:spPr bwMode="auto">
          <a:xfrm>
            <a:off x="893281" y="1173861"/>
            <a:ext cx="5095344" cy="3979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Resim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02"/>
          <a:stretch/>
        </p:blipFill>
        <p:spPr bwMode="auto">
          <a:xfrm>
            <a:off x="6576780" y="1096644"/>
            <a:ext cx="5137558" cy="400222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Metin kutusu 6"/>
          <p:cNvSpPr txBox="1"/>
          <p:nvPr/>
        </p:nvSpPr>
        <p:spPr>
          <a:xfrm>
            <a:off x="893281" y="5507553"/>
            <a:ext cx="109623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Okuma notları nispeten normal bir şekilde dağılım gösteriyorken, yazma notları biraz sola yatık gibi bir izlenim bırakıyor. Ek kanıt toplamak için </a:t>
            </a:r>
            <a:r>
              <a:rPr lang="tr-TR" sz="2400" b="1" dirty="0"/>
              <a:t>z-skorlarını</a:t>
            </a:r>
            <a:r>
              <a:rPr lang="tr-TR" sz="2400" dirty="0"/>
              <a:t> hesaplayalım.</a:t>
            </a:r>
            <a:endParaRPr lang="en-US" sz="2400" dirty="0"/>
          </a:p>
        </p:txBody>
      </p:sp>
      <p:sp>
        <p:nvSpPr>
          <p:cNvPr id="8" name="Metin kutusu 7"/>
          <p:cNvSpPr txBox="1"/>
          <p:nvPr/>
        </p:nvSpPr>
        <p:spPr>
          <a:xfrm>
            <a:off x="2327817" y="509886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OKUMA</a:t>
            </a:r>
            <a:endParaRPr lang="en-US" b="1" dirty="0"/>
          </a:p>
        </p:txBody>
      </p:sp>
      <p:sp>
        <p:nvSpPr>
          <p:cNvPr id="9" name="Metin kutusu 8"/>
          <p:cNvSpPr txBox="1"/>
          <p:nvPr/>
        </p:nvSpPr>
        <p:spPr>
          <a:xfrm>
            <a:off x="8098221" y="5152869"/>
            <a:ext cx="1047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YAZMA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2152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88" y="371474"/>
            <a:ext cx="4676775" cy="305752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66723"/>
            <a:ext cx="4791075" cy="2867025"/>
          </a:xfrm>
          <a:prstGeom prst="rect">
            <a:avLst/>
          </a:prstGeom>
        </p:spPr>
      </p:pic>
      <p:sp>
        <p:nvSpPr>
          <p:cNvPr id="9" name="Metin kutusu 8"/>
          <p:cNvSpPr txBox="1"/>
          <p:nvPr/>
        </p:nvSpPr>
        <p:spPr>
          <a:xfrm>
            <a:off x="1119352" y="3626069"/>
            <a:ext cx="10011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Okuma notu için çarpıklık z-skoru: 0.196/0.172 = </a:t>
            </a:r>
            <a:r>
              <a:rPr lang="tr-TR" b="1" dirty="0"/>
              <a:t>1.13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Okuma notu için basıklık z-skoru: -0,623/0,342 = </a:t>
            </a:r>
            <a:r>
              <a:rPr lang="tr-TR" b="1" dirty="0"/>
              <a:t>1.82</a:t>
            </a:r>
            <a:endParaRPr lang="en-US" b="1" dirty="0"/>
          </a:p>
        </p:txBody>
      </p:sp>
      <p:sp>
        <p:nvSpPr>
          <p:cNvPr id="10" name="Metin kutusu 9"/>
          <p:cNvSpPr txBox="1"/>
          <p:nvPr/>
        </p:nvSpPr>
        <p:spPr>
          <a:xfrm>
            <a:off x="1119352" y="4469470"/>
            <a:ext cx="10011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Yazma notu için çarpıklık z-skoru: 0.196/0.172 = </a:t>
            </a:r>
            <a:r>
              <a:rPr lang="tr-TR" b="1" dirty="0"/>
              <a:t>2.80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Yazma notu için basıklık z-skoru: -0,623/0,342 = </a:t>
            </a:r>
            <a:r>
              <a:rPr lang="tr-TR" b="1" dirty="0"/>
              <a:t>2.19</a:t>
            </a:r>
            <a:endParaRPr lang="en-US" b="1" dirty="0"/>
          </a:p>
        </p:txBody>
      </p:sp>
      <p:sp>
        <p:nvSpPr>
          <p:cNvPr id="11" name="Dikdörtgen 10"/>
          <p:cNvSpPr/>
          <p:nvPr/>
        </p:nvSpPr>
        <p:spPr>
          <a:xfrm>
            <a:off x="1119352" y="5312871"/>
            <a:ext cx="103737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tr-TR" sz="2000" b="1" dirty="0">
                <a:sym typeface="Wingdings" panose="05000000000000000000" pitchFamily="2" charset="2"/>
              </a:rPr>
              <a:t>50 &lt; n &lt; 300 </a:t>
            </a:r>
            <a:r>
              <a:rPr lang="tr-TR" sz="2000" dirty="0">
                <a:sym typeface="Wingdings" panose="05000000000000000000" pitchFamily="2" charset="2"/>
              </a:rPr>
              <a:t>ise mutlak z-skorları </a:t>
            </a:r>
            <a:r>
              <a:rPr lang="tr-TR" sz="2000" b="1" dirty="0">
                <a:sym typeface="Wingdings" panose="05000000000000000000" pitchFamily="2" charset="2"/>
              </a:rPr>
              <a:t>3.29</a:t>
            </a:r>
            <a:r>
              <a:rPr lang="tr-TR" sz="2000" dirty="0">
                <a:sym typeface="Wingdings" panose="05000000000000000000" pitchFamily="2" charset="2"/>
              </a:rPr>
              <a:t>’u geçmediğinde normal dağılımı sağlıyorum.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sym typeface="Wingdings" panose="05000000000000000000" pitchFamily="2" charset="2"/>
              </a:rPr>
              <a:t>Hem okuma hem de yazma notu için elde ettiğim z-skorları bu sınır değeri aşmıyor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>
                <a:sym typeface="Wingdings" panose="05000000000000000000" pitchFamily="2" charset="2"/>
              </a:rPr>
              <a:t>Değişkenlerimiz </a:t>
            </a:r>
            <a:r>
              <a:rPr lang="tr-TR" sz="2000" b="1" dirty="0">
                <a:sym typeface="Wingdings" panose="05000000000000000000" pitchFamily="2" charset="2"/>
              </a:rPr>
              <a:t>normal dağılıyor</a:t>
            </a:r>
            <a:r>
              <a:rPr lang="tr-TR" sz="2000" dirty="0">
                <a:sym typeface="Wingdings" panose="05000000000000000000" pitchFamily="2" charset="2"/>
              </a:rPr>
              <a:t>.</a:t>
            </a:r>
            <a:endParaRPr lang="en-US" sz="2000" dirty="0"/>
          </a:p>
        </p:txBody>
      </p:sp>
      <p:sp>
        <p:nvSpPr>
          <p:cNvPr id="12" name="Metin kutusu 11"/>
          <p:cNvSpPr txBox="1"/>
          <p:nvPr/>
        </p:nvSpPr>
        <p:spPr>
          <a:xfrm>
            <a:off x="2554014" y="114140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OKUMA</a:t>
            </a:r>
            <a:endParaRPr lang="en-US" b="1" dirty="0"/>
          </a:p>
        </p:txBody>
      </p:sp>
      <p:sp>
        <p:nvSpPr>
          <p:cNvPr id="13" name="Metin kutusu 12"/>
          <p:cNvSpPr txBox="1"/>
          <p:nvPr/>
        </p:nvSpPr>
        <p:spPr>
          <a:xfrm>
            <a:off x="8098221" y="113401"/>
            <a:ext cx="1047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YAZMA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C4192-8D5C-F3D7-5039-BB131D359D75}"/>
              </a:ext>
            </a:extLst>
          </p:cNvPr>
          <p:cNvSpPr txBox="1"/>
          <p:nvPr/>
        </p:nvSpPr>
        <p:spPr>
          <a:xfrm>
            <a:off x="8347596" y="3999104"/>
            <a:ext cx="2539478" cy="523220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tr-TR" sz="2800" b="1" dirty="0"/>
              <a:t>SPSS ÇIKTISI</a:t>
            </a:r>
          </a:p>
        </p:txBody>
      </p:sp>
    </p:spTree>
    <p:extLst>
      <p:ext uri="{BB962C8B-B14F-4D97-AF65-F5344CB8AC3E}">
        <p14:creationId xmlns:p14="http://schemas.microsoft.com/office/powerpoint/2010/main" val="431636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55B0C41-D0FC-B1E7-745D-A4CEB6050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105" y="3429000"/>
            <a:ext cx="3974386" cy="26495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289ED9-2908-E2AA-F5F6-924CA4F22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19" y="3442482"/>
            <a:ext cx="3954164" cy="26361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16F7DE-1114-36CF-2426-B420822F3233}"/>
              </a:ext>
            </a:extLst>
          </p:cNvPr>
          <p:cNvSpPr txBox="1"/>
          <p:nvPr/>
        </p:nvSpPr>
        <p:spPr>
          <a:xfrm>
            <a:off x="5283097" y="4522962"/>
            <a:ext cx="2173993" cy="461665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tr-TR" sz="2400" b="1" dirty="0"/>
              <a:t>JASP ÇIKTISI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E92231-221F-BF24-5492-BEAFCCACF64E}"/>
              </a:ext>
            </a:extLst>
          </p:cNvPr>
          <p:cNvSpPr txBox="1"/>
          <p:nvPr/>
        </p:nvSpPr>
        <p:spPr>
          <a:xfrm>
            <a:off x="6261998" y="1525528"/>
            <a:ext cx="1622560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tr-TR" dirty="0"/>
              <a:t>Z= 0,048/0,253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FE434047-A3A2-0960-6911-66364476A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779871"/>
              </p:ext>
            </p:extLst>
          </p:nvPr>
        </p:nvGraphicFramePr>
        <p:xfrm>
          <a:off x="1973928" y="0"/>
          <a:ext cx="8244144" cy="3295234"/>
        </p:xfrm>
        <a:graphic>
          <a:graphicData uri="http://schemas.openxmlformats.org/drawingml/2006/table">
            <a:tbl>
              <a:tblPr/>
              <a:tblGrid>
                <a:gridCol w="2531414">
                  <a:extLst>
                    <a:ext uri="{9D8B030D-6E8A-4147-A177-3AD203B41FA5}">
                      <a16:colId xmlns:a16="http://schemas.microsoft.com/office/drawing/2014/main" val="1392075901"/>
                    </a:ext>
                  </a:extLst>
                </a:gridCol>
                <a:gridCol w="216634">
                  <a:extLst>
                    <a:ext uri="{9D8B030D-6E8A-4147-A177-3AD203B41FA5}">
                      <a16:colId xmlns:a16="http://schemas.microsoft.com/office/drawing/2014/main" val="3128286191"/>
                    </a:ext>
                  </a:extLst>
                </a:gridCol>
                <a:gridCol w="1374024">
                  <a:extLst>
                    <a:ext uri="{9D8B030D-6E8A-4147-A177-3AD203B41FA5}">
                      <a16:colId xmlns:a16="http://schemas.microsoft.com/office/drawing/2014/main" val="2956166461"/>
                    </a:ext>
                  </a:extLst>
                </a:gridCol>
                <a:gridCol w="1374024">
                  <a:extLst>
                    <a:ext uri="{9D8B030D-6E8A-4147-A177-3AD203B41FA5}">
                      <a16:colId xmlns:a16="http://schemas.microsoft.com/office/drawing/2014/main" val="2520487767"/>
                    </a:ext>
                  </a:extLst>
                </a:gridCol>
                <a:gridCol w="1374024">
                  <a:extLst>
                    <a:ext uri="{9D8B030D-6E8A-4147-A177-3AD203B41FA5}">
                      <a16:colId xmlns:a16="http://schemas.microsoft.com/office/drawing/2014/main" val="2544330679"/>
                    </a:ext>
                  </a:extLst>
                </a:gridCol>
                <a:gridCol w="1374024">
                  <a:extLst>
                    <a:ext uri="{9D8B030D-6E8A-4147-A177-3AD203B41FA5}">
                      <a16:colId xmlns:a16="http://schemas.microsoft.com/office/drawing/2014/main" val="842535026"/>
                    </a:ext>
                  </a:extLst>
                </a:gridCol>
              </a:tblGrid>
              <a:tr h="311754">
                <a:tc gridSpan="6"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Descriptive Statistics 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452295"/>
                  </a:ext>
                </a:extLst>
              </a:tr>
              <a:tr h="311754">
                <a:tc gridSpan="2">
                  <a:txBody>
                    <a:bodyPr/>
                    <a:lstStyle/>
                    <a:p>
                      <a:pPr algn="ctr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700">
                          <a:effectLst/>
                        </a:rPr>
                        <a:t>okumanot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892290"/>
                  </a:ext>
                </a:extLst>
              </a:tr>
              <a:tr h="311754">
                <a:tc gridSpan="2">
                  <a:txBody>
                    <a:bodyPr/>
                    <a:lstStyle/>
                    <a:p>
                      <a:pPr algn="ctr"/>
                      <a:r>
                        <a:rPr lang="en-TR" sz="1700">
                          <a:effectLst/>
                        </a:rPr>
                        <a:t> 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>
                          <a:effectLst/>
                        </a:rPr>
                        <a:t>erkek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>
                          <a:effectLst/>
                        </a:rPr>
                        <a:t>kadin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816921"/>
                  </a:ext>
                </a:extLst>
              </a:tr>
              <a:tr h="311754"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Valid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1700">
                          <a:effectLst/>
                        </a:rPr>
                        <a:t>91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1700">
                          <a:effectLst/>
                        </a:rPr>
                        <a:t>109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567710"/>
                  </a:ext>
                </a:extLst>
              </a:tr>
              <a:tr h="311754"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Skewness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1700">
                          <a:effectLst/>
                        </a:rPr>
                        <a:t>0.048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 dirty="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1700">
                          <a:effectLst/>
                        </a:rPr>
                        <a:t>0.328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9279849"/>
                  </a:ext>
                </a:extLst>
              </a:tr>
              <a:tr h="441328"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Std. Error of Skewness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1700">
                          <a:effectLst/>
                        </a:rPr>
                        <a:t>0.253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1700">
                          <a:effectLst/>
                        </a:rPr>
                        <a:t>0.231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205167"/>
                  </a:ext>
                </a:extLst>
              </a:tr>
              <a:tr h="311754"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Kurtosis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1700">
                          <a:effectLst/>
                        </a:rPr>
                        <a:t>-0.710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1700">
                          <a:effectLst/>
                        </a:rPr>
                        <a:t>-0.467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801601"/>
                  </a:ext>
                </a:extLst>
              </a:tr>
              <a:tr h="441328">
                <a:tc>
                  <a:txBody>
                    <a:bodyPr/>
                    <a:lstStyle/>
                    <a:p>
                      <a:pPr algn="l"/>
                      <a:r>
                        <a:rPr lang="en-US" sz="1700">
                          <a:effectLst/>
                        </a:rPr>
                        <a:t>Std. Error of Kurtosis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1700">
                          <a:effectLst/>
                        </a:rPr>
                        <a:t>0.500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TR" sz="1700">
                          <a:effectLst/>
                        </a:rPr>
                        <a:t>0.459</a:t>
                      </a: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TR" sz="170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454183"/>
                  </a:ext>
                </a:extLst>
              </a:tr>
              <a:tr h="311754">
                <a:tc gridSpan="6">
                  <a:txBody>
                    <a:bodyPr/>
                    <a:lstStyle/>
                    <a:p>
                      <a:pPr algn="r"/>
                      <a:endParaRPr lang="en-TR" sz="1700" dirty="0">
                        <a:effectLst/>
                      </a:endParaRPr>
                    </a:p>
                  </a:txBody>
                  <a:tcPr marL="85574" marR="85574" marT="42787" marB="427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51009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FB68753-3160-908B-D8FD-6F76BB7FD120}"/>
                  </a:ext>
                </a:extLst>
              </p14:cNvPr>
              <p14:cNvContentPartPr/>
              <p14:nvPr/>
            </p14:nvContentPartPr>
            <p14:xfrm>
              <a:off x="5206680" y="1248267"/>
              <a:ext cx="1036080" cy="8787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FB68753-3160-908B-D8FD-6F76BB7FD1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98040" y="1239267"/>
                <a:ext cx="1053720" cy="89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706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219014" y="578086"/>
            <a:ext cx="9963807" cy="936105"/>
          </a:xfrm>
        </p:spPr>
        <p:txBody>
          <a:bodyPr>
            <a:normAutofit fontScale="90000"/>
          </a:bodyPr>
          <a:lstStyle/>
          <a:p>
            <a:r>
              <a:rPr lang="tr-TR" sz="4400" b="1" dirty="0">
                <a:solidFill>
                  <a:schemeClr val="tx1"/>
                </a:solidFill>
              </a:rPr>
              <a:t>normalliği test etmenin diğer yolları</a:t>
            </a:r>
            <a:endParaRPr lang="tr-TR" sz="4400" dirty="0">
              <a:solidFill>
                <a:schemeClr val="tx1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768166" y="1772816"/>
            <a:ext cx="8865504" cy="4680520"/>
          </a:xfrm>
        </p:spPr>
        <p:txBody>
          <a:bodyPr>
            <a:noAutofit/>
          </a:bodyPr>
          <a:lstStyle/>
          <a:p>
            <a:r>
              <a:rPr lang="tr-TR" sz="2400" dirty="0">
                <a:solidFill>
                  <a:schemeClr val="tx1"/>
                </a:solidFill>
              </a:rPr>
              <a:t>Normal dağılımı kontrol etmek için alternatif analizler de vardır.</a:t>
            </a:r>
          </a:p>
          <a:p>
            <a:r>
              <a:rPr lang="tr-TR" sz="2400" b="1" dirty="0" err="1">
                <a:solidFill>
                  <a:schemeClr val="tx1"/>
                </a:solidFill>
              </a:rPr>
              <a:t>Kolmogorov-Smirnov</a:t>
            </a:r>
            <a:r>
              <a:rPr lang="tr-TR" sz="2400" dirty="0">
                <a:solidFill>
                  <a:schemeClr val="tx1"/>
                </a:solidFill>
              </a:rPr>
              <a:t> ile </a:t>
            </a:r>
            <a:r>
              <a:rPr lang="tr-TR" sz="2400" b="1" dirty="0" err="1">
                <a:solidFill>
                  <a:schemeClr val="tx1"/>
                </a:solidFill>
              </a:rPr>
              <a:t>Shapiro-Wilk</a:t>
            </a:r>
            <a:r>
              <a:rPr lang="tr-TR" sz="2400" dirty="0">
                <a:solidFill>
                  <a:schemeClr val="tx1"/>
                </a:solidFill>
              </a:rPr>
              <a:t> testleri bunlardan bazılarıdır. </a:t>
            </a:r>
          </a:p>
          <a:p>
            <a:r>
              <a:rPr lang="tr-TR" sz="2400" dirty="0">
                <a:solidFill>
                  <a:schemeClr val="tx1"/>
                </a:solidFill>
              </a:rPr>
              <a:t>Bu testler </a:t>
            </a:r>
            <a:r>
              <a:rPr lang="tr-TR" sz="2400" b="1" dirty="0">
                <a:solidFill>
                  <a:schemeClr val="tx1"/>
                </a:solidFill>
              </a:rPr>
              <a:t>örneklem büyüklüğüne hassas testlerdir</a:t>
            </a:r>
            <a:r>
              <a:rPr lang="tr-TR" sz="2400" dirty="0">
                <a:solidFill>
                  <a:schemeClr val="tx1"/>
                </a:solidFill>
              </a:rPr>
              <a:t>, örneklem sayısı arttıkça dağılımın normal dağılmama olasılığı da artar.</a:t>
            </a:r>
          </a:p>
          <a:p>
            <a:r>
              <a:rPr lang="tr-TR" sz="2400" dirty="0">
                <a:solidFill>
                  <a:schemeClr val="tx1"/>
                </a:solidFill>
              </a:rPr>
              <a:t>Bu durumda, </a:t>
            </a:r>
            <a:r>
              <a:rPr lang="tr-TR" sz="2400" dirty="0" err="1">
                <a:solidFill>
                  <a:schemeClr val="tx1"/>
                </a:solidFill>
              </a:rPr>
              <a:t>histogram’ı</a:t>
            </a:r>
            <a:r>
              <a:rPr lang="tr-TR" sz="2400" dirty="0">
                <a:solidFill>
                  <a:schemeClr val="tx1"/>
                </a:solidFill>
              </a:rPr>
              <a:t> kontrol edip, çarpıklık ve basıklık değerlerinin z-skorlarını yorumlamak </a:t>
            </a:r>
            <a:r>
              <a:rPr lang="tr-TR" sz="2400" b="1" dirty="0">
                <a:solidFill>
                  <a:schemeClr val="tx1"/>
                </a:solidFill>
              </a:rPr>
              <a:t>daha güvenli bir yol </a:t>
            </a:r>
            <a:r>
              <a:rPr lang="tr-TR" sz="2400" dirty="0">
                <a:solidFill>
                  <a:schemeClr val="tx1"/>
                </a:solidFill>
              </a:rPr>
              <a:t>olarak görülebilir.</a:t>
            </a:r>
          </a:p>
        </p:txBody>
      </p:sp>
    </p:spTree>
    <p:extLst>
      <p:ext uri="{BB962C8B-B14F-4D97-AF65-F5344CB8AC3E}">
        <p14:creationId xmlns:p14="http://schemas.microsoft.com/office/powerpoint/2010/main" val="11425757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282034" y="188642"/>
            <a:ext cx="10692251" cy="580616"/>
          </a:xfrm>
        </p:spPr>
        <p:txBody>
          <a:bodyPr>
            <a:normAutofit fontScale="90000"/>
          </a:bodyPr>
          <a:lstStyle/>
          <a:p>
            <a:r>
              <a:rPr lang="tr-TR" sz="4000" b="1" dirty="0"/>
              <a:t>Verilerin normal dağılmadığı durumlarda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74473" y="899170"/>
            <a:ext cx="8786120" cy="1060259"/>
          </a:xfrm>
        </p:spPr>
        <p:txBody>
          <a:bodyPr>
            <a:normAutofit/>
          </a:bodyPr>
          <a:lstStyle/>
          <a:p>
            <a:pPr lvl="1" indent="-342900" defTabSz="336947">
              <a:spcBef>
                <a:spcPts val="375"/>
              </a:spcBef>
              <a:spcAft>
                <a:spcPts val="375"/>
              </a:spcAft>
              <a:buFont typeface="Wingdings" charset="2"/>
              <a:buChar char="à"/>
            </a:pPr>
            <a:r>
              <a:rPr lang="tr-TR" altLang="tr-TR" sz="2400" dirty="0">
                <a:solidFill>
                  <a:schemeClr val="tx1"/>
                </a:solidFill>
                <a:sym typeface="Wingdings" panose="05000000000000000000" pitchFamily="2" charset="2"/>
              </a:rPr>
              <a:t>Verilerin dönüşümü sağlanabilir (</a:t>
            </a:r>
            <a:r>
              <a:rPr lang="tr-TR" altLang="tr-TR" sz="2400">
                <a:solidFill>
                  <a:schemeClr val="tx1"/>
                </a:solidFill>
                <a:sym typeface="Wingdings" panose="05000000000000000000" pitchFamily="2" charset="2"/>
              </a:rPr>
              <a:t>ör., </a:t>
            </a:r>
            <a:r>
              <a:rPr lang="tr-TR" altLang="tr-TR" sz="2400" dirty="0" err="1">
                <a:solidFill>
                  <a:schemeClr val="tx1"/>
                </a:solidFill>
                <a:sym typeface="Wingdings" panose="05000000000000000000" pitchFamily="2" charset="2"/>
              </a:rPr>
              <a:t>log</a:t>
            </a:r>
            <a:r>
              <a:rPr lang="tr-TR" altLang="tr-TR" sz="2400" dirty="0">
                <a:solidFill>
                  <a:schemeClr val="tx1"/>
                </a:solidFill>
                <a:sym typeface="Wingdings" panose="05000000000000000000" pitchFamily="2" charset="2"/>
              </a:rPr>
              <a:t> transformasyonu)</a:t>
            </a:r>
          </a:p>
          <a:p>
            <a:pPr lvl="1" indent="-342900" defTabSz="336947">
              <a:spcBef>
                <a:spcPts val="375"/>
              </a:spcBef>
              <a:spcAft>
                <a:spcPts val="375"/>
              </a:spcAft>
              <a:buFont typeface="Wingdings" charset="2"/>
              <a:buChar char="à"/>
            </a:pPr>
            <a:r>
              <a:rPr lang="tr-TR" altLang="tr-TR" sz="2400" dirty="0">
                <a:solidFill>
                  <a:schemeClr val="tx1"/>
                </a:solidFill>
                <a:sym typeface="Wingdings" panose="05000000000000000000" pitchFamily="2" charset="2"/>
              </a:rPr>
              <a:t>Parametrik olmayan testler uygulanabilir</a:t>
            </a:r>
            <a:endParaRPr lang="en-GB" altLang="tr-TR" sz="2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tr-TR" sz="2100" dirty="0">
              <a:solidFill>
                <a:schemeClr val="tx1"/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407" y="2225072"/>
            <a:ext cx="7529185" cy="422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32582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</a:majorFont>
      <a:minorFont>
        <a:latin typeface="Gill Sans MT" panose="020B0502020104020203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2178</TotalTime>
  <Words>1141</Words>
  <Application>Microsoft Macintosh PowerPoint</Application>
  <PresentationFormat>Widescreen</PresentationFormat>
  <Paragraphs>143</Paragraphs>
  <Slides>20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Gill Sans MT</vt:lpstr>
      <vt:lpstr>Impact</vt:lpstr>
      <vt:lpstr>Times New Roman</vt:lpstr>
      <vt:lpstr>Wingdings</vt:lpstr>
      <vt:lpstr>Badge</vt:lpstr>
      <vt:lpstr>Equation</vt:lpstr>
      <vt:lpstr>Normal Dağılım ve Standart Skorlar (z)</vt:lpstr>
      <vt:lpstr>Normal Dağılım</vt:lpstr>
      <vt:lpstr>Kuramsal DağıLIMlar</vt:lpstr>
      <vt:lpstr>Normal Dağılım</vt:lpstr>
      <vt:lpstr>STANDART Normal Dağılım</vt:lpstr>
      <vt:lpstr>Standart SKORLAR (PUANlar)</vt:lpstr>
      <vt:lpstr>z skorları</vt:lpstr>
      <vt:lpstr>Örnek</vt:lpstr>
      <vt:lpstr>Dağılım özelliğinin önemi nedir? </vt:lpstr>
      <vt:lpstr>Normal Dağılımı Test Etmede bazı yöntemler</vt:lpstr>
      <vt:lpstr>Çarpıklık (Skewness)  EVREN İÇİN</vt:lpstr>
      <vt:lpstr>Basıklık (Kurtosis)</vt:lpstr>
      <vt:lpstr>Standartlaştırılmış ÇARPIKLIK VE BASIKLIK DEĞERLERİNİ YORUMLAMA örneklem İÇİN</vt:lpstr>
      <vt:lpstr>Normal Dağılımı Test Etme</vt:lpstr>
      <vt:lpstr>Normal Dağılımı Test Etme</vt:lpstr>
      <vt:lpstr>Normal Dağılımı Test Etme</vt:lpstr>
      <vt:lpstr>PowerPoint Presentation</vt:lpstr>
      <vt:lpstr>PowerPoint Presentation</vt:lpstr>
      <vt:lpstr>normalliği test etmenin diğer yolları</vt:lpstr>
      <vt:lpstr>Verilerin normal dağılmadığı durumlarda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 Puanları ve testler</dc:title>
  <dc:creator>Reviewer</dc:creator>
  <cp:lastModifiedBy>Reviewer</cp:lastModifiedBy>
  <cp:revision>49</cp:revision>
  <cp:lastPrinted>2019-03-25T16:37:02Z</cp:lastPrinted>
  <dcterms:created xsi:type="dcterms:W3CDTF">2017-03-06T20:44:40Z</dcterms:created>
  <dcterms:modified xsi:type="dcterms:W3CDTF">2024-04-24T17:18:21Z</dcterms:modified>
</cp:coreProperties>
</file>