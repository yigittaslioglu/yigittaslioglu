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22"/>
  </p:notesMasterIdLst>
  <p:sldIdLst>
    <p:sldId id="256" r:id="rId2"/>
    <p:sldId id="272" r:id="rId3"/>
    <p:sldId id="305" r:id="rId4"/>
    <p:sldId id="317" r:id="rId5"/>
    <p:sldId id="321" r:id="rId6"/>
    <p:sldId id="319" r:id="rId7"/>
    <p:sldId id="278" r:id="rId8"/>
    <p:sldId id="279" r:id="rId9"/>
    <p:sldId id="281" r:id="rId10"/>
    <p:sldId id="282" r:id="rId11"/>
    <p:sldId id="285" r:id="rId12"/>
    <p:sldId id="308" r:id="rId13"/>
    <p:sldId id="286" r:id="rId14"/>
    <p:sldId id="287" r:id="rId15"/>
    <p:sldId id="288" r:id="rId16"/>
    <p:sldId id="289" r:id="rId17"/>
    <p:sldId id="292" r:id="rId18"/>
    <p:sldId id="295" r:id="rId19"/>
    <p:sldId id="307" r:id="rId20"/>
    <p:sldId id="32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466"/>
    <a:srgbClr val="FFACAA"/>
    <a:srgbClr val="FFB45E"/>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Açık Stil 1 - Vurgu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1630"/>
  </p:normalViewPr>
  <p:slideViewPr>
    <p:cSldViewPr snapToGrid="0">
      <p:cViewPr varScale="1">
        <p:scale>
          <a:sx n="94" d="100"/>
          <a:sy n="94" d="100"/>
        </p:scale>
        <p:origin x="8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2-15T19:45:05.621"/>
    </inkml:context>
    <inkml:brush xml:id="br0">
      <inkml:brushProperty name="width" value="0.3" units="cm"/>
      <inkml:brushProperty name="height" value="0.6" units="cm"/>
      <inkml:brushProperty name="color" value="#72FDDF"/>
      <inkml:brushProperty name="tip" value="rectangle"/>
      <inkml:brushProperty name="rasterOp" value="maskPen"/>
    </inkml:brush>
  </inkml:definitions>
  <inkml:trace contextRef="#ctx0" brushRef="#br0">1 0,'63'0,"-1"0,3 0,-2 0,-12 0,-1 0,5 0,1 0,4 0,1 0,-4 0,0 0,9 0,1 0,-5 0,0 0,5 0,1 0,-5 0,-2 0,-9 0,-1 0,3 0,-2 0,30 0,-28 3,1 1,36 5,-1-1,-4-1,-6-7,0 0,-25 0,-3 0,10 0,-11 0,1 0,13 0,15 0,7 0,-24 0,12 0,-22 0,-1 0,-10 0,-7 0,-6 0,-7 0,-2 0,-9 0,9 0,0 0,-3 0,8 0,-9 0,11 5,-4-4,4 4,1-5,-5 5,4-4,-6 4,0-5,-5 0,-1 0,-1 4,-58 3,18-2,-24 1,-6 1,-10 0,13 1,0 0,-13 5,3-4,0-1,0 5,0-2,0 1,-12 4,21-5,-1 1,-36 3,1-1,3 1,7-1,31-6,-1-1,-1 1,1 0,-1-1,0 1,-3-1,0 2,4 2,-1 0,-4-3,-1 1,-4 6,-2 1,1-3,-2 0,-10 0,-1 1,3 2,3 0,9-7,1-1,-2 4,2 0,-34 10,36-13,1-1,-37 14,4-7,35-8,2-1,22-6,2 0,10 0,76-22,-16 4,13-4,4-1,20-7,-32 11,2 0,0 0,1 1,9 0,2 1,0-3,1 0,3 3,3 0,4-1,1 1,-5 4,-1 0,6-1,-1 3,-5 5,-1 2,1 0,-1 1,-14 2,0 2,11-1,-1 0,32 0,-40 0,1 0,42 0,-18 0,-2 6,-9 1,-15 11,3-3,-20 2,5-5,-7 5,-6-5,4 10,-4-10,0 5,4-6,-10 5,10-4,-10 4,11-5,-12 0,0 0,-2-1,-9 0,4-4,-1 2,1-7,4 3,1-4,-5 0,5 0,-4 0,0 0,3 0,-4 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2-15T19:45:07.345"/>
    </inkml:context>
    <inkml:brush xml:id="br0">
      <inkml:brushProperty name="width" value="0.3" units="cm"/>
      <inkml:brushProperty name="height" value="0.6" units="cm"/>
      <inkml:brushProperty name="color" value="#72FDDF"/>
      <inkml:brushProperty name="tip" value="rectangle"/>
      <inkml:brushProperty name="rasterOp" value="maskPen"/>
    </inkml:brush>
  </inkml:definitions>
  <inkml:trace contextRef="#ctx0" brushRef="#br0">41 1,'86'0,"0"0,2 0,5 0,-13 0,4 0,2 0,9 0,2 0,3 0,-19 0,3 0,-1 0,-2 0,15 0,-2 0,2 0,-15 0,3 0,-1 0,-4 0,7 0,-4 0,-2 0,-8 0,-1 0,1 0,9 0,0 0,-7 0,-11 0,-3 0,17 0,-2 0,17 0,-24 0,-36 0,1 0,-22 0,-58 0,-13 0,4 2,-7 3,-2 2,-3 3,-6 7,-4 3,12-7,-3 1,-1 0,-4 1,-1 2,-1-1,-7 2,-2-1,0 0,1-2,-1-1,1 1,-1 2,1 1,0-2,4-1,0-1,1-2,4 0,0-2,4 0,-10 4,3-2,-7-5,4-3,27-1,2 0,-15-2,0-2,15 1,3 0,-33 0,15 0,23 0,13 0,4 0,16 0,60 0,21 0,5 1,8-2,-2-3,3 0,-14 1,4-1,0-1,0-3,0-3,2 0,12 1,3-1,-1-1,-4-2,-1-1,0 1,6 2,1 1,-6 0,11-3,-4 0,7 0,-4 1,-30 4,-4 0,2-1,-2 2,30-6,-24 13,-31-5,-7 6,-16 0,-4 0,0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2-15T20:03:21.348"/>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066C4-0799-4045-B6C3-CE4717E81647}" type="datetimeFigureOut">
              <a:rPr lang="tr-TR" smtClean="0"/>
              <a:t>7.01.2025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48923-161A-49CD-AA22-FCB3A7410D82}" type="slidenum">
              <a:rPr lang="tr-TR" smtClean="0"/>
              <a:t>‹#›</a:t>
            </a:fld>
            <a:endParaRPr lang="tr-TR"/>
          </a:p>
        </p:txBody>
      </p:sp>
    </p:spTree>
    <p:extLst>
      <p:ext uri="{BB962C8B-B14F-4D97-AF65-F5344CB8AC3E}">
        <p14:creationId xmlns:p14="http://schemas.microsoft.com/office/powerpoint/2010/main" val="78313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48923-161A-49CD-AA22-FCB3A7410D82}" type="slidenum">
              <a:rPr lang="tr-TR" smtClean="0"/>
              <a:t>9</a:t>
            </a:fld>
            <a:endParaRPr lang="tr-TR"/>
          </a:p>
        </p:txBody>
      </p:sp>
    </p:spTree>
    <p:extLst>
      <p:ext uri="{BB962C8B-B14F-4D97-AF65-F5344CB8AC3E}">
        <p14:creationId xmlns:p14="http://schemas.microsoft.com/office/powerpoint/2010/main" val="3194686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48923-161A-49CD-AA22-FCB3A7410D82}" type="slidenum">
              <a:rPr lang="tr-TR" smtClean="0"/>
              <a:t>11</a:t>
            </a:fld>
            <a:endParaRPr lang="tr-TR"/>
          </a:p>
        </p:txBody>
      </p:sp>
    </p:spTree>
    <p:extLst>
      <p:ext uri="{BB962C8B-B14F-4D97-AF65-F5344CB8AC3E}">
        <p14:creationId xmlns:p14="http://schemas.microsoft.com/office/powerpoint/2010/main" val="1793366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DW ≈ 2.0</a:t>
            </a:r>
            <a:r>
              <a:rPr lang="en-US" dirty="0"/>
              <a:t>: </a:t>
            </a:r>
            <a:r>
              <a:rPr lang="en-US" dirty="0" err="1"/>
              <a:t>Rezidüller</a:t>
            </a:r>
            <a:r>
              <a:rPr lang="en-US" dirty="0"/>
              <a:t> </a:t>
            </a:r>
            <a:r>
              <a:rPr lang="en-US" dirty="0" err="1"/>
              <a:t>arasında</a:t>
            </a:r>
            <a:r>
              <a:rPr lang="en-US" dirty="0"/>
              <a:t> </a:t>
            </a:r>
            <a:r>
              <a:rPr lang="en-US" dirty="0" err="1"/>
              <a:t>otokorelasyon</a:t>
            </a:r>
            <a:r>
              <a:rPr lang="en-US" dirty="0"/>
              <a:t> </a:t>
            </a:r>
            <a:r>
              <a:rPr lang="en-US" dirty="0" err="1"/>
              <a:t>olmadığına</a:t>
            </a:r>
            <a:r>
              <a:rPr lang="en-US" dirty="0"/>
              <a:t> </a:t>
            </a:r>
            <a:r>
              <a:rPr lang="en-US" dirty="0" err="1"/>
              <a:t>işaret</a:t>
            </a:r>
            <a:r>
              <a:rPr lang="en-US" dirty="0"/>
              <a:t> </a:t>
            </a:r>
            <a:r>
              <a:rPr lang="en-US" dirty="0" err="1"/>
              <a:t>eder</a:t>
            </a:r>
            <a:r>
              <a:rPr lang="en-US" dirty="0"/>
              <a:t>.</a:t>
            </a:r>
          </a:p>
          <a:p>
            <a:r>
              <a:rPr lang="en-US" b="1" dirty="0"/>
              <a:t>DW &lt; 2.0</a:t>
            </a:r>
            <a:r>
              <a:rPr lang="en-US" dirty="0"/>
              <a:t>: </a:t>
            </a:r>
            <a:r>
              <a:rPr lang="en-US" dirty="0" err="1"/>
              <a:t>Pozitif</a:t>
            </a:r>
            <a:r>
              <a:rPr lang="en-US" dirty="0"/>
              <a:t> </a:t>
            </a:r>
            <a:r>
              <a:rPr lang="en-US" dirty="0" err="1"/>
              <a:t>otokorelasyon</a:t>
            </a:r>
            <a:r>
              <a:rPr lang="en-US" dirty="0"/>
              <a:t> </a:t>
            </a:r>
            <a:r>
              <a:rPr lang="en-US" dirty="0" err="1"/>
              <a:t>olduğunu</a:t>
            </a:r>
            <a:r>
              <a:rPr lang="en-US" dirty="0"/>
              <a:t> </a:t>
            </a:r>
            <a:r>
              <a:rPr lang="en-US" dirty="0" err="1"/>
              <a:t>gösterir</a:t>
            </a:r>
            <a:r>
              <a:rPr lang="en-US" dirty="0"/>
              <a:t>, </a:t>
            </a:r>
            <a:r>
              <a:rPr lang="en-US" dirty="0" err="1"/>
              <a:t>yani</a:t>
            </a:r>
            <a:r>
              <a:rPr lang="en-US" dirty="0"/>
              <a:t> </a:t>
            </a:r>
            <a:r>
              <a:rPr lang="en-US" dirty="0" err="1"/>
              <a:t>bir</a:t>
            </a:r>
            <a:r>
              <a:rPr lang="en-US" dirty="0"/>
              <a:t> </a:t>
            </a:r>
            <a:r>
              <a:rPr lang="en-US" dirty="0" err="1"/>
              <a:t>hata</a:t>
            </a:r>
            <a:r>
              <a:rPr lang="en-US" dirty="0"/>
              <a:t> </a:t>
            </a:r>
            <a:r>
              <a:rPr lang="en-US" dirty="0" err="1"/>
              <a:t>terimi</a:t>
            </a:r>
            <a:r>
              <a:rPr lang="en-US" dirty="0"/>
              <a:t> </a:t>
            </a:r>
            <a:r>
              <a:rPr lang="en-US" dirty="0" err="1"/>
              <a:t>ile</a:t>
            </a:r>
            <a:r>
              <a:rPr lang="en-US" dirty="0"/>
              <a:t> </a:t>
            </a:r>
            <a:r>
              <a:rPr lang="en-US" dirty="0" err="1"/>
              <a:t>bir</a:t>
            </a:r>
            <a:r>
              <a:rPr lang="en-US" dirty="0"/>
              <a:t> </a:t>
            </a:r>
            <a:r>
              <a:rPr lang="en-US" dirty="0" err="1"/>
              <a:t>sonraki</a:t>
            </a:r>
            <a:r>
              <a:rPr lang="en-US" dirty="0"/>
              <a:t> </a:t>
            </a:r>
            <a:r>
              <a:rPr lang="en-US" dirty="0" err="1"/>
              <a:t>hata</a:t>
            </a:r>
            <a:r>
              <a:rPr lang="en-US" dirty="0"/>
              <a:t> </a:t>
            </a:r>
            <a:r>
              <a:rPr lang="en-US" dirty="0" err="1"/>
              <a:t>terimi</a:t>
            </a:r>
            <a:r>
              <a:rPr lang="en-US" dirty="0"/>
              <a:t> </a:t>
            </a:r>
            <a:r>
              <a:rPr lang="en-US" dirty="0" err="1"/>
              <a:t>arasında</a:t>
            </a:r>
            <a:r>
              <a:rPr lang="en-US" dirty="0"/>
              <a:t> </a:t>
            </a:r>
            <a:r>
              <a:rPr lang="en-US" dirty="0" err="1"/>
              <a:t>pozitif</a:t>
            </a:r>
            <a:r>
              <a:rPr lang="en-US" dirty="0"/>
              <a:t> </a:t>
            </a:r>
            <a:r>
              <a:rPr lang="en-US" dirty="0" err="1"/>
              <a:t>bir</a:t>
            </a:r>
            <a:r>
              <a:rPr lang="en-US" dirty="0"/>
              <a:t> </a:t>
            </a:r>
            <a:r>
              <a:rPr lang="en-US" dirty="0" err="1"/>
              <a:t>ilişki</a:t>
            </a:r>
            <a:r>
              <a:rPr lang="en-US" dirty="0"/>
              <a:t> var </a:t>
            </a:r>
            <a:r>
              <a:rPr lang="en-US" dirty="0" err="1"/>
              <a:t>demektir</a:t>
            </a:r>
            <a:r>
              <a:rPr lang="en-US"/>
              <a:t>.</a:t>
            </a:r>
          </a:p>
          <a:p>
            <a:r>
              <a:rPr lang="en-US" b="1"/>
              <a:t>DW </a:t>
            </a:r>
            <a:r>
              <a:rPr lang="en-US" b="1" dirty="0"/>
              <a:t>&gt; 2.0</a:t>
            </a:r>
            <a:r>
              <a:rPr lang="en-US" dirty="0"/>
              <a:t>: </a:t>
            </a:r>
            <a:r>
              <a:rPr lang="en-US" dirty="0" err="1"/>
              <a:t>Negatif</a:t>
            </a:r>
            <a:r>
              <a:rPr lang="en-US" dirty="0"/>
              <a:t> </a:t>
            </a:r>
            <a:r>
              <a:rPr lang="en-US" dirty="0" err="1"/>
              <a:t>otokorelasyon</a:t>
            </a:r>
            <a:r>
              <a:rPr lang="en-US" dirty="0"/>
              <a:t> </a:t>
            </a:r>
            <a:r>
              <a:rPr lang="en-US" dirty="0" err="1"/>
              <a:t>olduğunu</a:t>
            </a:r>
            <a:r>
              <a:rPr lang="en-US" dirty="0"/>
              <a:t> </a:t>
            </a:r>
            <a:r>
              <a:rPr lang="en-US" dirty="0" err="1"/>
              <a:t>gösterir</a:t>
            </a:r>
            <a:r>
              <a:rPr lang="en-US" dirty="0"/>
              <a:t>, </a:t>
            </a:r>
            <a:r>
              <a:rPr lang="en-US" dirty="0" err="1"/>
              <a:t>yani</a:t>
            </a:r>
            <a:r>
              <a:rPr lang="en-US" dirty="0"/>
              <a:t> </a:t>
            </a:r>
            <a:r>
              <a:rPr lang="en-US" dirty="0" err="1"/>
              <a:t>bir</a:t>
            </a:r>
            <a:r>
              <a:rPr lang="en-US" dirty="0"/>
              <a:t> </a:t>
            </a:r>
            <a:r>
              <a:rPr lang="en-US" dirty="0" err="1"/>
              <a:t>hata</a:t>
            </a:r>
            <a:r>
              <a:rPr lang="en-US" dirty="0"/>
              <a:t> </a:t>
            </a:r>
            <a:r>
              <a:rPr lang="en-US" dirty="0" err="1"/>
              <a:t>terimi</a:t>
            </a:r>
            <a:r>
              <a:rPr lang="en-US" dirty="0"/>
              <a:t> </a:t>
            </a:r>
            <a:r>
              <a:rPr lang="en-US" dirty="0" err="1"/>
              <a:t>ile</a:t>
            </a:r>
            <a:r>
              <a:rPr lang="en-US" dirty="0"/>
              <a:t> </a:t>
            </a:r>
            <a:r>
              <a:rPr lang="en-US" dirty="0" err="1"/>
              <a:t>bir</a:t>
            </a:r>
            <a:r>
              <a:rPr lang="en-US" dirty="0"/>
              <a:t> </a:t>
            </a:r>
            <a:r>
              <a:rPr lang="en-US" dirty="0" err="1"/>
              <a:t>sonraki</a:t>
            </a:r>
            <a:r>
              <a:rPr lang="en-US" dirty="0"/>
              <a:t> </a:t>
            </a:r>
            <a:r>
              <a:rPr lang="en-US" dirty="0" err="1"/>
              <a:t>hata</a:t>
            </a:r>
            <a:r>
              <a:rPr lang="en-US" dirty="0"/>
              <a:t> </a:t>
            </a:r>
            <a:r>
              <a:rPr lang="en-US" dirty="0" err="1"/>
              <a:t>terimi</a:t>
            </a:r>
            <a:r>
              <a:rPr lang="en-US" dirty="0"/>
              <a:t> </a:t>
            </a:r>
            <a:r>
              <a:rPr lang="en-US" dirty="0" err="1"/>
              <a:t>arasında</a:t>
            </a:r>
            <a:r>
              <a:rPr lang="en-US" dirty="0"/>
              <a:t> </a:t>
            </a:r>
            <a:r>
              <a:rPr lang="en-US" dirty="0" err="1"/>
              <a:t>negatif</a:t>
            </a:r>
            <a:r>
              <a:rPr lang="en-US" dirty="0"/>
              <a:t> </a:t>
            </a:r>
            <a:r>
              <a:rPr lang="en-US" dirty="0" err="1"/>
              <a:t>bir</a:t>
            </a:r>
            <a:r>
              <a:rPr lang="en-US" dirty="0"/>
              <a:t> </a:t>
            </a:r>
            <a:r>
              <a:rPr lang="en-US" dirty="0" err="1"/>
              <a:t>ilişki</a:t>
            </a:r>
            <a:r>
              <a:rPr lang="en-US" dirty="0"/>
              <a:t> var </a:t>
            </a:r>
            <a:r>
              <a:rPr lang="en-US" dirty="0" err="1"/>
              <a:t>demektir</a:t>
            </a:r>
            <a:r>
              <a:rPr lang="en-US" dirty="0"/>
              <a:t>.</a:t>
            </a:r>
          </a:p>
        </p:txBody>
      </p:sp>
      <p:sp>
        <p:nvSpPr>
          <p:cNvPr id="4" name="Slide Number Placeholder 3"/>
          <p:cNvSpPr>
            <a:spLocks noGrp="1"/>
          </p:cNvSpPr>
          <p:nvPr>
            <p:ph type="sldNum" sz="quarter" idx="5"/>
          </p:nvPr>
        </p:nvSpPr>
        <p:spPr/>
        <p:txBody>
          <a:bodyPr/>
          <a:lstStyle/>
          <a:p>
            <a:fld id="{06048923-161A-49CD-AA22-FCB3A7410D82}" type="slidenum">
              <a:rPr lang="tr-TR" smtClean="0"/>
              <a:t>13</a:t>
            </a:fld>
            <a:endParaRPr lang="tr-TR"/>
          </a:p>
        </p:txBody>
      </p:sp>
    </p:spTree>
    <p:extLst>
      <p:ext uri="{BB962C8B-B14F-4D97-AF65-F5344CB8AC3E}">
        <p14:creationId xmlns:p14="http://schemas.microsoft.com/office/powerpoint/2010/main" val="14885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r"/>
            <a:fld id="{14E80135-C7B0-4F5E-AE10-1ECE7916AD48}" type="slidenum">
              <a:rPr lang="en-US" sz="1200">
                <a:latin typeface="Times New Roman" panose="02020603050405020304" pitchFamily="18" charset="0"/>
              </a:rPr>
              <a:pPr algn="r"/>
              <a:t>14</a:t>
            </a:fld>
            <a:endParaRPr lang="en-US" sz="1200">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lnSpc>
                <a:spcPct val="90000"/>
              </a:lnSpc>
            </a:pPr>
            <a:endParaRPr lang="en-US" dirty="0"/>
          </a:p>
          <a:p>
            <a:pPr eaLnBrk="1" hangingPunct="1">
              <a:lnSpc>
                <a:spcPct val="90000"/>
              </a:lnSpc>
            </a:pPr>
            <a:endParaRPr lang="en-US" dirty="0"/>
          </a:p>
        </p:txBody>
      </p:sp>
    </p:spTree>
    <p:extLst>
      <p:ext uri="{BB962C8B-B14F-4D97-AF65-F5344CB8AC3E}">
        <p14:creationId xmlns:p14="http://schemas.microsoft.com/office/powerpoint/2010/main" val="1911839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noProof="0" dirty="0"/>
          </a:p>
        </p:txBody>
      </p:sp>
      <p:sp>
        <p:nvSpPr>
          <p:cNvPr id="4" name="Slide Number Placeholder 3"/>
          <p:cNvSpPr>
            <a:spLocks noGrp="1"/>
          </p:cNvSpPr>
          <p:nvPr>
            <p:ph type="sldNum" sz="quarter" idx="5"/>
          </p:nvPr>
        </p:nvSpPr>
        <p:spPr/>
        <p:txBody>
          <a:bodyPr/>
          <a:lstStyle/>
          <a:p>
            <a:fld id="{06048923-161A-49CD-AA22-FCB3A7410D82}" type="slidenum">
              <a:rPr lang="tr-TR" smtClean="0"/>
              <a:t>15</a:t>
            </a:fld>
            <a:endParaRPr lang="tr-TR"/>
          </a:p>
        </p:txBody>
      </p:sp>
    </p:spTree>
    <p:extLst>
      <p:ext uri="{BB962C8B-B14F-4D97-AF65-F5344CB8AC3E}">
        <p14:creationId xmlns:p14="http://schemas.microsoft.com/office/powerpoint/2010/main" val="1741708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48923-161A-49CD-AA22-FCB3A7410D82}" type="slidenum">
              <a:rPr lang="tr-TR" smtClean="0"/>
              <a:t>20</a:t>
            </a:fld>
            <a:endParaRPr lang="tr-TR"/>
          </a:p>
        </p:txBody>
      </p:sp>
    </p:spTree>
    <p:extLst>
      <p:ext uri="{BB962C8B-B14F-4D97-AF65-F5344CB8AC3E}">
        <p14:creationId xmlns:p14="http://schemas.microsoft.com/office/powerpoint/2010/main" val="168294822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49106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6411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0298CD5-6C1E-4009-B41F-6DF62E31D3BE}" type="datetimeFigureOut">
              <a:rPr lang="en-US" smtClean="0"/>
              <a:pPr/>
              <a:t>1/7/25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84138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79248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75704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327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5274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10667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1/7/25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85909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4683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87795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0298CD5-6C1E-4009-B41F-6DF62E31D3BE}" type="datetimeFigureOut">
              <a:rPr lang="en-US" smtClean="0"/>
              <a:pPr/>
              <a:t>1/7/25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1293053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2.png"/><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customXml" Target="../ink/ink1.xml"/><Relationship Id="rId10" Type="http://schemas.microsoft.com/office/2007/relationships/hdphoto" Target="../media/hdphoto4.wdp"/><Relationship Id="rId4" Type="http://schemas.microsoft.com/office/2007/relationships/hdphoto" Target="../media/hdphoto3.wdp"/><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5.wdp"/></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3.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a:t>Regresyon</a:t>
            </a:r>
          </a:p>
        </p:txBody>
      </p:sp>
      <p:sp>
        <p:nvSpPr>
          <p:cNvPr id="3" name="Metin kutusu 2">
            <a:extLst>
              <a:ext uri="{FF2B5EF4-FFF2-40B4-BE49-F238E27FC236}">
                <a16:creationId xmlns:a16="http://schemas.microsoft.com/office/drawing/2014/main" id="{E369C4B7-E03E-4CA7-B58E-6A542D32E027}"/>
              </a:ext>
            </a:extLst>
          </p:cNvPr>
          <p:cNvSpPr txBox="1"/>
          <p:nvPr/>
        </p:nvSpPr>
        <p:spPr>
          <a:xfrm>
            <a:off x="1051560" y="5874707"/>
            <a:ext cx="4397770" cy="400110"/>
          </a:xfrm>
          <a:prstGeom prst="rect">
            <a:avLst/>
          </a:prstGeom>
          <a:noFill/>
        </p:spPr>
        <p:txBody>
          <a:bodyPr wrap="square" rtlCol="0">
            <a:spAutoFit/>
          </a:bodyPr>
          <a:lstStyle/>
          <a:p>
            <a:r>
              <a:rPr lang="tr-TR" sz="2000" dirty="0"/>
              <a:t>Düzenlenme Tarihi: Ocak 2025</a:t>
            </a:r>
          </a:p>
        </p:txBody>
      </p:sp>
    </p:spTree>
    <p:extLst>
      <p:ext uri="{BB962C8B-B14F-4D97-AF65-F5344CB8AC3E}">
        <p14:creationId xmlns:p14="http://schemas.microsoft.com/office/powerpoint/2010/main" val="2584302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tr-TR" dirty="0"/>
              <a:t>Çoklu Regresyon Analizi</a:t>
            </a:r>
            <a:endParaRPr lang="en-US" dirty="0"/>
          </a:p>
        </p:txBody>
      </p:sp>
      <p:sp>
        <p:nvSpPr>
          <p:cNvPr id="14339" name="Rectangle 3"/>
          <p:cNvSpPr>
            <a:spLocks noGrp="1" noChangeArrowheads="1"/>
          </p:cNvSpPr>
          <p:nvPr>
            <p:ph idx="1"/>
          </p:nvPr>
        </p:nvSpPr>
        <p:spPr/>
        <p:txBody>
          <a:bodyPr>
            <a:normAutofit lnSpcReduction="10000"/>
          </a:bodyPr>
          <a:lstStyle/>
          <a:p>
            <a:pPr eaLnBrk="1" hangingPunct="1">
              <a:lnSpc>
                <a:spcPct val="80000"/>
              </a:lnSpc>
            </a:pPr>
            <a:r>
              <a:rPr lang="tr-TR" sz="2400" dirty="0"/>
              <a:t>Basit regresyona çok benzer. Çoklu regresyon denkleminde birden fazla tahmin değişkeni vardır. </a:t>
            </a:r>
          </a:p>
          <a:p>
            <a:pPr eaLnBrk="1" hangingPunct="1">
              <a:lnSpc>
                <a:spcPct val="80000"/>
              </a:lnSpc>
            </a:pPr>
            <a:r>
              <a:rPr lang="tr-TR" sz="2400" dirty="0"/>
              <a:t>Formül </a:t>
            </a:r>
          </a:p>
          <a:p>
            <a:pPr eaLnBrk="1" hangingPunct="1">
              <a:lnSpc>
                <a:spcPct val="80000"/>
              </a:lnSpc>
              <a:buFontTx/>
              <a:buNone/>
            </a:pPr>
            <a:r>
              <a:rPr lang="tr-TR" sz="3600" dirty="0"/>
              <a:t>	</a:t>
            </a:r>
            <a:r>
              <a:rPr lang="tr-TR" sz="3600" i="1" dirty="0" err="1">
                <a:solidFill>
                  <a:schemeClr val="accent2"/>
                </a:solidFill>
              </a:rPr>
              <a:t>Y</a:t>
            </a:r>
            <a:r>
              <a:rPr lang="tr-TR" sz="3600" i="1" baseline="-25000" dirty="0" err="1">
                <a:solidFill>
                  <a:schemeClr val="accent2"/>
                </a:solidFill>
              </a:rPr>
              <a:t>i</a:t>
            </a:r>
            <a:r>
              <a:rPr lang="tr-TR" sz="3600" i="1" dirty="0">
                <a:solidFill>
                  <a:schemeClr val="accent2"/>
                </a:solidFill>
              </a:rPr>
              <a:t> = (b</a:t>
            </a:r>
            <a:r>
              <a:rPr lang="tr-TR" sz="3600" i="1" baseline="-25000" dirty="0">
                <a:solidFill>
                  <a:schemeClr val="accent2"/>
                </a:solidFill>
              </a:rPr>
              <a:t>0</a:t>
            </a:r>
            <a:r>
              <a:rPr lang="tr-TR" sz="3600" i="1" dirty="0">
                <a:solidFill>
                  <a:schemeClr val="accent2"/>
                </a:solidFill>
              </a:rPr>
              <a:t> + b</a:t>
            </a:r>
            <a:r>
              <a:rPr lang="tr-TR" sz="3600" i="1" baseline="-25000" dirty="0">
                <a:solidFill>
                  <a:schemeClr val="accent2"/>
                </a:solidFill>
              </a:rPr>
              <a:t>1</a:t>
            </a:r>
            <a:r>
              <a:rPr lang="tr-TR" sz="3600" i="1" dirty="0">
                <a:solidFill>
                  <a:schemeClr val="accent2"/>
                </a:solidFill>
              </a:rPr>
              <a:t>X</a:t>
            </a:r>
            <a:r>
              <a:rPr lang="tr-TR" sz="3600" i="1" baseline="-25000" dirty="0">
                <a:solidFill>
                  <a:schemeClr val="accent2"/>
                </a:solidFill>
              </a:rPr>
              <a:t>1</a:t>
            </a:r>
            <a:r>
              <a:rPr lang="tr-TR" sz="3600" i="1" dirty="0">
                <a:solidFill>
                  <a:schemeClr val="accent2"/>
                </a:solidFill>
              </a:rPr>
              <a:t> + b</a:t>
            </a:r>
            <a:r>
              <a:rPr lang="tr-TR" sz="3600" i="1" baseline="-25000" dirty="0">
                <a:solidFill>
                  <a:schemeClr val="accent2"/>
                </a:solidFill>
              </a:rPr>
              <a:t>2</a:t>
            </a:r>
            <a:r>
              <a:rPr lang="tr-TR" sz="3600" i="1" dirty="0">
                <a:solidFill>
                  <a:schemeClr val="accent2"/>
                </a:solidFill>
              </a:rPr>
              <a:t>X</a:t>
            </a:r>
            <a:r>
              <a:rPr lang="tr-TR" sz="3600" i="1" baseline="-25000" dirty="0">
                <a:solidFill>
                  <a:schemeClr val="accent2"/>
                </a:solidFill>
              </a:rPr>
              <a:t>2</a:t>
            </a:r>
            <a:r>
              <a:rPr lang="tr-TR" sz="3600" i="1" dirty="0">
                <a:solidFill>
                  <a:schemeClr val="accent2"/>
                </a:solidFill>
              </a:rPr>
              <a:t>+…</a:t>
            </a:r>
            <a:r>
              <a:rPr lang="tr-TR" sz="3600" i="1" dirty="0" err="1">
                <a:solidFill>
                  <a:schemeClr val="accent2"/>
                </a:solidFill>
              </a:rPr>
              <a:t>b</a:t>
            </a:r>
            <a:r>
              <a:rPr lang="tr-TR" sz="3600" i="1" baseline="-25000" dirty="0" err="1">
                <a:solidFill>
                  <a:schemeClr val="accent2"/>
                </a:solidFill>
              </a:rPr>
              <a:t>n</a:t>
            </a:r>
            <a:r>
              <a:rPr lang="tr-TR" sz="3600" i="1" dirty="0" err="1">
                <a:solidFill>
                  <a:schemeClr val="accent2"/>
                </a:solidFill>
              </a:rPr>
              <a:t>X</a:t>
            </a:r>
            <a:r>
              <a:rPr lang="tr-TR" sz="3600" i="1" baseline="-25000" dirty="0" err="1">
                <a:solidFill>
                  <a:schemeClr val="accent2"/>
                </a:solidFill>
              </a:rPr>
              <a:t>n</a:t>
            </a:r>
            <a:r>
              <a:rPr lang="tr-TR" sz="3600" i="1" dirty="0">
                <a:solidFill>
                  <a:schemeClr val="accent2"/>
                </a:solidFill>
              </a:rPr>
              <a:t>)+ </a:t>
            </a:r>
            <a:r>
              <a:rPr lang="tr-TR" sz="3600" i="1" dirty="0" err="1">
                <a:solidFill>
                  <a:schemeClr val="accent2"/>
                </a:solidFill>
              </a:rPr>
              <a:t>e</a:t>
            </a:r>
            <a:r>
              <a:rPr lang="tr-TR" sz="3600" i="1" baseline="-25000" dirty="0" err="1">
                <a:solidFill>
                  <a:schemeClr val="accent2"/>
                </a:solidFill>
              </a:rPr>
              <a:t>i</a:t>
            </a:r>
            <a:r>
              <a:rPr lang="tr-TR" sz="2400" dirty="0">
                <a:solidFill>
                  <a:schemeClr val="accent2"/>
                </a:solidFill>
              </a:rPr>
              <a:t>     </a:t>
            </a:r>
            <a:r>
              <a:rPr lang="tr-TR" sz="2400" dirty="0"/>
              <a:t>biçimini alır.</a:t>
            </a:r>
          </a:p>
          <a:p>
            <a:pPr>
              <a:lnSpc>
                <a:spcPct val="80000"/>
              </a:lnSpc>
            </a:pPr>
            <a:r>
              <a:rPr lang="tr-TR" sz="2400" i="1" dirty="0"/>
              <a:t>Y</a:t>
            </a:r>
            <a:r>
              <a:rPr lang="tr-TR" sz="2400" dirty="0"/>
              <a:t> çıktı değişkeni</a:t>
            </a:r>
          </a:p>
          <a:p>
            <a:pPr>
              <a:lnSpc>
                <a:spcPct val="80000"/>
              </a:lnSpc>
            </a:pPr>
            <a:r>
              <a:rPr lang="tr-TR" sz="2400" dirty="0"/>
              <a:t>b</a:t>
            </a:r>
            <a:r>
              <a:rPr lang="tr-TR" sz="2400" baseline="-25000" dirty="0"/>
              <a:t>0, </a:t>
            </a:r>
            <a:r>
              <a:rPr lang="tr-TR" sz="2400" dirty="0"/>
              <a:t>regresyon eğrisinin y eksenini kesim noktası</a:t>
            </a:r>
          </a:p>
          <a:p>
            <a:pPr>
              <a:lnSpc>
                <a:spcPct val="80000"/>
              </a:lnSpc>
            </a:pPr>
            <a:r>
              <a:rPr lang="tr-TR" sz="2400" dirty="0"/>
              <a:t>b</a:t>
            </a:r>
            <a:r>
              <a:rPr lang="tr-TR" sz="2400" baseline="-25000" dirty="0"/>
              <a:t>1</a:t>
            </a:r>
            <a:r>
              <a:rPr lang="tr-TR" sz="2400" dirty="0"/>
              <a:t> ilk tahmin değişkeninin (</a:t>
            </a:r>
            <a:r>
              <a:rPr lang="tr-TR" sz="2400" baseline="-25000" dirty="0"/>
              <a:t> </a:t>
            </a:r>
            <a:r>
              <a:rPr lang="tr-TR" sz="2400" dirty="0"/>
              <a:t>X</a:t>
            </a:r>
            <a:r>
              <a:rPr lang="tr-TR" sz="2400" baseline="-25000" dirty="0"/>
              <a:t>1 </a:t>
            </a:r>
            <a:r>
              <a:rPr lang="tr-TR" sz="2400" dirty="0"/>
              <a:t>) katsayısı</a:t>
            </a:r>
          </a:p>
          <a:p>
            <a:pPr>
              <a:lnSpc>
                <a:spcPct val="80000"/>
              </a:lnSpc>
            </a:pPr>
            <a:r>
              <a:rPr lang="tr-TR" sz="2400" dirty="0"/>
              <a:t>b</a:t>
            </a:r>
            <a:r>
              <a:rPr lang="tr-TR" sz="2400" baseline="-25000" dirty="0"/>
              <a:t>2 </a:t>
            </a:r>
            <a:r>
              <a:rPr lang="tr-TR" sz="2400" dirty="0"/>
              <a:t>ikinci tahmin değişkeninin (X2) katsayısı</a:t>
            </a:r>
          </a:p>
          <a:p>
            <a:pPr>
              <a:lnSpc>
                <a:spcPct val="80000"/>
              </a:lnSpc>
            </a:pPr>
            <a:r>
              <a:rPr lang="tr-TR" sz="2400" dirty="0" err="1"/>
              <a:t>e</a:t>
            </a:r>
            <a:r>
              <a:rPr lang="tr-TR" sz="2400" baseline="-25000" dirty="0" err="1"/>
              <a:t>i</a:t>
            </a:r>
            <a:r>
              <a:rPr lang="tr-TR" sz="2400" baseline="-25000" dirty="0"/>
              <a:t> </a:t>
            </a:r>
            <a:r>
              <a:rPr lang="tr-TR" sz="2400" dirty="0"/>
              <a:t>ise </a:t>
            </a:r>
            <a:r>
              <a:rPr lang="tr-TR" sz="2400" dirty="0" err="1"/>
              <a:t>i’inci</a:t>
            </a:r>
            <a:r>
              <a:rPr lang="tr-TR" sz="2400" dirty="0"/>
              <a:t> denek için Y’nin tahmin edilen değeriyle gözlenen değer arasındaki farktır.</a:t>
            </a:r>
          </a:p>
          <a:p>
            <a:pPr eaLnBrk="1" hangingPunct="1">
              <a:lnSpc>
                <a:spcPct val="80000"/>
              </a:lnSpc>
              <a:buFontTx/>
              <a:buNone/>
            </a:pPr>
            <a:endParaRPr lang="tr-TR" sz="2400" dirty="0"/>
          </a:p>
        </p:txBody>
      </p:sp>
    </p:spTree>
    <p:extLst>
      <p:ext uri="{BB962C8B-B14F-4D97-AF65-F5344CB8AC3E}">
        <p14:creationId xmlns:p14="http://schemas.microsoft.com/office/powerpoint/2010/main" val="354593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30259" y="108114"/>
            <a:ext cx="10058400" cy="941753"/>
          </a:xfrm>
        </p:spPr>
        <p:txBody>
          <a:bodyPr>
            <a:normAutofit/>
          </a:bodyPr>
          <a:lstStyle/>
          <a:p>
            <a:pPr eaLnBrk="1" hangingPunct="1"/>
            <a:r>
              <a:rPr lang="tr-TR" sz="4000" cap="none" dirty="0"/>
              <a:t>Sayıltılar-1</a:t>
            </a:r>
            <a:endParaRPr lang="en-US" sz="4000" cap="none" dirty="0"/>
          </a:p>
        </p:txBody>
      </p:sp>
      <p:sp>
        <p:nvSpPr>
          <p:cNvPr id="18435" name="Rectangle 3"/>
          <p:cNvSpPr>
            <a:spLocks noGrp="1" noChangeArrowheads="1"/>
          </p:cNvSpPr>
          <p:nvPr>
            <p:ph idx="1"/>
          </p:nvPr>
        </p:nvSpPr>
        <p:spPr>
          <a:xfrm>
            <a:off x="478177" y="931334"/>
            <a:ext cx="11121155" cy="5672666"/>
          </a:xfrm>
        </p:spPr>
        <p:txBody>
          <a:bodyPr>
            <a:noAutofit/>
          </a:bodyPr>
          <a:lstStyle/>
          <a:p>
            <a:pPr eaLnBrk="1" hangingPunct="1">
              <a:lnSpc>
                <a:spcPct val="90000"/>
              </a:lnSpc>
            </a:pPr>
            <a:r>
              <a:rPr lang="tr-TR" sz="2400" b="1" dirty="0">
                <a:solidFill>
                  <a:srgbClr val="FF5466"/>
                </a:solidFill>
                <a:latin typeface="Trebuchet MS" panose="020B0703020202090204" pitchFamily="34" charset="0"/>
                <a:cs typeface="Calibri" panose="020F0502020204030204" pitchFamily="34" charset="0"/>
              </a:rPr>
              <a:t>Değişkenlerin Ölçme Düzeyleri</a:t>
            </a:r>
          </a:p>
          <a:p>
            <a:pPr lvl="1"/>
            <a:r>
              <a:rPr lang="tr-TR" sz="2400" dirty="0">
                <a:latin typeface="Trebuchet MS" panose="020B0703020202090204" pitchFamily="34" charset="0"/>
                <a:cs typeface="Calibri" panose="020F0502020204030204" pitchFamily="34" charset="0"/>
              </a:rPr>
              <a:t>Tüm tahmin değişkenleri aralıklı/oranlı (nicel) veya kategorik olmalı (iki kategorili), </a:t>
            </a:r>
          </a:p>
          <a:p>
            <a:pPr lvl="1"/>
            <a:r>
              <a:rPr lang="tr-TR" sz="2400" dirty="0">
                <a:latin typeface="Trebuchet MS" panose="020B0703020202090204" pitchFamily="34" charset="0"/>
                <a:cs typeface="Calibri" panose="020F0502020204030204" pitchFamily="34" charset="0"/>
              </a:rPr>
              <a:t>Çıktı değişkeni nicel ve sürekli</a:t>
            </a:r>
          </a:p>
          <a:p>
            <a:pPr eaLnBrk="1" hangingPunct="1">
              <a:lnSpc>
                <a:spcPct val="90000"/>
              </a:lnSpc>
            </a:pPr>
            <a:r>
              <a:rPr lang="tr-TR" sz="2400" b="1" dirty="0">
                <a:solidFill>
                  <a:srgbClr val="FF5466"/>
                </a:solidFill>
                <a:latin typeface="Trebuchet MS" panose="020B0703020202090204" pitchFamily="34" charset="0"/>
                <a:cs typeface="Calibri" panose="020F0502020204030204" pitchFamily="34" charset="0"/>
              </a:rPr>
              <a:t>Doğrusal İlişki: </a:t>
            </a:r>
            <a:r>
              <a:rPr lang="tr-TR" sz="2400" dirty="0">
                <a:latin typeface="Trebuchet MS" panose="020B0703020202090204" pitchFamily="34" charset="0"/>
                <a:cs typeface="Calibri" panose="020F0502020204030204" pitchFamily="34" charset="0"/>
              </a:rPr>
              <a:t>Çıktı ve tahmin değişkenleri arasında doğrusal ilişki olmalı </a:t>
            </a:r>
          </a:p>
          <a:p>
            <a:r>
              <a:rPr lang="tr-TR" sz="2400" b="1" dirty="0">
                <a:solidFill>
                  <a:srgbClr val="FF5466"/>
                </a:solidFill>
                <a:latin typeface="Trebuchet MS" panose="020B0703020202090204" pitchFamily="34" charset="0"/>
                <a:cs typeface="Calibri" panose="020F0502020204030204" pitchFamily="34" charset="0"/>
              </a:rPr>
              <a:t>Çoklu doğrusal bağlantı (</a:t>
            </a:r>
            <a:r>
              <a:rPr lang="tr-TR" sz="2400" b="1" dirty="0" err="1">
                <a:solidFill>
                  <a:srgbClr val="FF5466"/>
                </a:solidFill>
                <a:latin typeface="Trebuchet MS" panose="020B0703020202090204" pitchFamily="34" charset="0"/>
                <a:cs typeface="Calibri" panose="020F0502020204030204" pitchFamily="34" charset="0"/>
              </a:rPr>
              <a:t>Multicollinearity</a:t>
            </a:r>
            <a:r>
              <a:rPr lang="tr-TR" sz="2400" b="1" dirty="0">
                <a:solidFill>
                  <a:srgbClr val="FF5466"/>
                </a:solidFill>
                <a:latin typeface="Trebuchet MS" panose="020B0703020202090204" pitchFamily="34" charset="0"/>
                <a:cs typeface="Calibri" panose="020F0502020204030204" pitchFamily="34" charset="0"/>
              </a:rPr>
              <a:t>): </a:t>
            </a:r>
            <a:r>
              <a:rPr lang="tr-TR" sz="2400" dirty="0">
                <a:latin typeface="Trebuchet MS" panose="020B0703020202090204" pitchFamily="34" charset="0"/>
                <a:cs typeface="Calibri" panose="020F0502020204030204" pitchFamily="34" charset="0"/>
              </a:rPr>
              <a:t>Çoklu </a:t>
            </a:r>
            <a:r>
              <a:rPr lang="tr-TR" sz="2400" dirty="0" err="1">
                <a:latin typeface="Trebuchet MS" panose="020B0703020202090204" pitchFamily="34" charset="0"/>
                <a:cs typeface="Calibri" panose="020F0502020204030204" pitchFamily="34" charset="0"/>
              </a:rPr>
              <a:t>doğrusallık</a:t>
            </a:r>
            <a:r>
              <a:rPr lang="tr-TR" sz="2400" dirty="0">
                <a:latin typeface="Trebuchet MS" panose="020B0703020202090204" pitchFamily="34" charset="0"/>
                <a:cs typeface="Calibri" panose="020F0502020204030204" pitchFamily="34" charset="0"/>
              </a:rPr>
              <a:t> veya çoklu bağıntı olarak da kullanılmaktadır. Bu durum, birbiriyle yüksek korelasyona sahip iki veya daha fazla bağımsız değişkeniniz olduğunda ortaya çıkar.</a:t>
            </a:r>
          </a:p>
          <a:p>
            <a:pPr lvl="1"/>
            <a:r>
              <a:rPr lang="tr-TR" sz="2400" dirty="0">
                <a:latin typeface="Trebuchet MS" panose="020B0703020202090204" pitchFamily="34" charset="0"/>
                <a:cs typeface="Calibri" panose="020F0502020204030204" pitchFamily="34" charset="0"/>
              </a:rPr>
              <a:t>Tahmin değişkenleri arasındaki ilişki çok güçlü olmamalıdır (r&lt;0,80) </a:t>
            </a:r>
          </a:p>
          <a:p>
            <a:pPr lvl="1"/>
            <a:r>
              <a:rPr lang="tr-TR" sz="2400" dirty="0">
                <a:latin typeface="Trebuchet MS" panose="020B0703020202090204" pitchFamily="34" charset="0"/>
                <a:cs typeface="Calibri" panose="020F0502020204030204" pitchFamily="34" charset="0"/>
              </a:rPr>
              <a:t>VIF; </a:t>
            </a:r>
            <a:r>
              <a:rPr lang="tr-TR" sz="2400" dirty="0" err="1">
                <a:latin typeface="Trebuchet MS" panose="020B0703020202090204" pitchFamily="34" charset="0"/>
                <a:cs typeface="Calibri" panose="020F0502020204030204" pitchFamily="34" charset="0"/>
              </a:rPr>
              <a:t>Tolerance</a:t>
            </a:r>
            <a:r>
              <a:rPr lang="tr-TR" sz="2400" dirty="0">
                <a:latin typeface="Trebuchet MS" panose="020B0703020202090204" pitchFamily="34" charset="0"/>
                <a:cs typeface="Calibri" panose="020F0502020204030204" pitchFamily="34" charset="0"/>
              </a:rPr>
              <a:t> değerleri tahmin edici değişkenler arasındaki korelasyonun büyüklüğünü gösterir. Genel olarak, 4'ün üzerinde bir VIF veya 0,25'in altında bir tolerans çoklu bağlantı olabileceğini ve daha fazla araştırma yapılması gerektiğini gösterir. </a:t>
            </a:r>
            <a:r>
              <a:rPr lang="tr-TR" sz="2400" dirty="0">
                <a:solidFill>
                  <a:srgbClr val="FF0000"/>
                </a:solidFill>
                <a:latin typeface="Trebuchet MS" panose="020B0703020202090204" pitchFamily="34" charset="0"/>
                <a:cs typeface="Calibri" panose="020F0502020204030204" pitchFamily="34" charset="0"/>
              </a:rPr>
              <a:t>VIF 10'dan yüksek veya tolerans 0.1'den </a:t>
            </a:r>
            <a:r>
              <a:rPr lang="tr-TR" sz="2400" dirty="0">
                <a:latin typeface="Trebuchet MS" panose="020B0703020202090204" pitchFamily="34" charset="0"/>
                <a:cs typeface="Calibri" panose="020F0502020204030204" pitchFamily="34" charset="0"/>
              </a:rPr>
              <a:t>düşük olduğunda, düzeltilmesi gereken önemli bir çoklu bağlantı vardır.</a:t>
            </a:r>
          </a:p>
        </p:txBody>
      </p:sp>
    </p:spTree>
    <p:extLst>
      <p:ext uri="{BB962C8B-B14F-4D97-AF65-F5344CB8AC3E}">
        <p14:creationId xmlns:p14="http://schemas.microsoft.com/office/powerpoint/2010/main" val="602815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91B75-9748-CF47-DBE3-6534C8276A44}"/>
              </a:ext>
            </a:extLst>
          </p:cNvPr>
          <p:cNvSpPr>
            <a:spLocks noGrp="1"/>
          </p:cNvSpPr>
          <p:nvPr>
            <p:ph type="title"/>
          </p:nvPr>
        </p:nvSpPr>
        <p:spPr>
          <a:xfrm>
            <a:off x="454387" y="308785"/>
            <a:ext cx="10058400" cy="1010060"/>
          </a:xfrm>
        </p:spPr>
        <p:txBody>
          <a:bodyPr/>
          <a:lstStyle/>
          <a:p>
            <a:r>
              <a:rPr lang="tr-TR" dirty="0"/>
              <a:t>Sayıltılar-2</a:t>
            </a:r>
          </a:p>
        </p:txBody>
      </p:sp>
      <p:sp>
        <p:nvSpPr>
          <p:cNvPr id="3" name="Content Placeholder 2">
            <a:extLst>
              <a:ext uri="{FF2B5EF4-FFF2-40B4-BE49-F238E27FC236}">
                <a16:creationId xmlns:a16="http://schemas.microsoft.com/office/drawing/2014/main" id="{BECB9909-E8A6-3246-48CC-B118572E415D}"/>
              </a:ext>
            </a:extLst>
          </p:cNvPr>
          <p:cNvSpPr>
            <a:spLocks noGrp="1"/>
          </p:cNvSpPr>
          <p:nvPr>
            <p:ph idx="1"/>
          </p:nvPr>
        </p:nvSpPr>
        <p:spPr>
          <a:xfrm>
            <a:off x="454387" y="1318845"/>
            <a:ext cx="10673861" cy="4853355"/>
          </a:xfrm>
        </p:spPr>
        <p:txBody>
          <a:bodyPr>
            <a:normAutofit lnSpcReduction="10000"/>
          </a:bodyPr>
          <a:lstStyle/>
          <a:p>
            <a:r>
              <a:rPr lang="tr-TR" sz="2400" b="1" dirty="0">
                <a:solidFill>
                  <a:srgbClr val="C00000"/>
                </a:solidFill>
                <a:latin typeface="Trebuchet MS" panose="020B0703020202090204" pitchFamily="34" charset="0"/>
                <a:cs typeface="Calibri" panose="020F0502020204030204" pitchFamily="34" charset="0"/>
              </a:rPr>
              <a:t>Bağımsızlık: </a:t>
            </a:r>
            <a:r>
              <a:rPr lang="tr-TR" sz="2400" dirty="0">
                <a:solidFill>
                  <a:srgbClr val="000000"/>
                </a:solidFill>
                <a:uFill>
                  <a:solidFill>
                    <a:srgbClr val="000000"/>
                  </a:solidFill>
                </a:uFill>
                <a:latin typeface="Trebuchet MS" panose="020B0703020202090204" pitchFamily="34" charset="0"/>
                <a:cs typeface="Calibri" panose="020F0502020204030204" pitchFamily="34" charset="0"/>
              </a:rPr>
              <a:t>G</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özlemlerin bağımsızlığı olmalıdır (yani, artıkların bağımsızlığı)</a:t>
            </a:r>
            <a:endParaRPr lang="en-TR" sz="2400" dirty="0">
              <a:solidFill>
                <a:srgbClr val="000000"/>
              </a:solidFill>
              <a:uFill>
                <a:solidFill>
                  <a:srgbClr val="000000"/>
                </a:solidFill>
              </a:uFill>
              <a:latin typeface="Trebuchet MS" panose="020B0703020202090204" pitchFamily="34" charset="0"/>
              <a:ea typeface="Calibri" panose="020F0502020204030204" pitchFamily="34" charset="0"/>
              <a:cs typeface="Calibri" panose="020F0502020204030204" pitchFamily="34" charset="0"/>
            </a:endParaRPr>
          </a:p>
          <a:p>
            <a:pPr lvl="1"/>
            <a:r>
              <a:rPr lang="tr-TR" sz="2400" dirty="0" err="1">
                <a:latin typeface="Trebuchet MS" panose="020B0703020202090204" pitchFamily="34" charset="0"/>
                <a:cs typeface="Calibri" panose="020F0502020204030204" pitchFamily="34" charset="0"/>
              </a:rPr>
              <a:t>Durbin</a:t>
            </a:r>
            <a:r>
              <a:rPr lang="tr-TR" sz="2400" dirty="0">
                <a:latin typeface="Trebuchet MS" panose="020B0703020202090204" pitchFamily="34" charset="0"/>
                <a:cs typeface="Calibri" panose="020F0502020204030204" pitchFamily="34" charset="0"/>
              </a:rPr>
              <a:t>-Watson- artıkların (</a:t>
            </a:r>
            <a:r>
              <a:rPr lang="tr-TR" sz="2400" dirty="0" err="1">
                <a:latin typeface="Trebuchet MS" panose="020B0703020202090204" pitchFamily="34" charset="0"/>
                <a:cs typeface="Calibri" panose="020F0502020204030204" pitchFamily="34" charset="0"/>
              </a:rPr>
              <a:t>residuals</a:t>
            </a:r>
            <a:r>
              <a:rPr lang="tr-TR" sz="2400" dirty="0">
                <a:latin typeface="Trebuchet MS" panose="020B0703020202090204" pitchFamily="34" charset="0"/>
                <a:cs typeface="Calibri" panose="020F0502020204030204" pitchFamily="34" charset="0"/>
              </a:rPr>
              <a:t>) bağımsız oldukları yani birbirleriyle ilişkili olmadıklarını test eder (0-4 arasında değişir, ideal 2’ye yakın olmasıdır)</a:t>
            </a:r>
          </a:p>
          <a:p>
            <a:r>
              <a:rPr lang="tr-TR" sz="2400" b="1" u="none" strike="noStrike" dirty="0">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Eşit hata varyansları</a:t>
            </a:r>
            <a:r>
              <a:rPr lang="tr-TR" sz="2400" b="1" dirty="0">
                <a:solidFill>
                  <a:srgbClr val="C00000"/>
                </a:solidFill>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t>
            </a:r>
            <a:r>
              <a:rPr lang="tr-TR" sz="2400" u="none" strike="noStrike" dirty="0">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verilerin artıklarının varyansı homojen (</a:t>
            </a:r>
            <a:r>
              <a:rPr lang="tr-TR"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homoscedasticity</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olmalı</a:t>
            </a:r>
          </a:p>
          <a:p>
            <a:r>
              <a:rPr lang="tr-TR" sz="2400" b="1" u="none" strike="noStrike" dirty="0">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Normallik: </a:t>
            </a:r>
          </a:p>
          <a:p>
            <a:pPr lvl="1"/>
            <a:r>
              <a:rPr lang="tr-TR" sz="22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artıkların (hataların) yaklaşık olarak normal dağıldığını kontrol edin; ve</a:t>
            </a:r>
            <a:endParaRPr lang="en-TR" sz="2200" dirty="0">
              <a:solidFill>
                <a:srgbClr val="000000"/>
              </a:solidFill>
              <a:uFill>
                <a:solidFill>
                  <a:srgbClr val="000000"/>
                </a:solidFill>
              </a:uFill>
              <a:latin typeface="Trebuchet MS" panose="020B0703020202090204" pitchFamily="34" charset="0"/>
              <a:ea typeface="Calibri" panose="020F0502020204030204" pitchFamily="34" charset="0"/>
              <a:cs typeface="Calibri" panose="020F0502020204030204" pitchFamily="34" charset="0"/>
            </a:endParaRPr>
          </a:p>
          <a:p>
            <a:pPr lvl="1"/>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bağımlı değişkenin yaklaşık olarak normal dağılıp dağılmadığını kontrol edin.</a:t>
            </a:r>
          </a:p>
          <a:p>
            <a:r>
              <a:rPr lang="en-US" sz="2400" b="1" u="none" strike="noStrike" dirty="0" err="1">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Aykırı</a:t>
            </a:r>
            <a:r>
              <a:rPr lang="en-US" sz="2400" b="1" u="none" strike="noStrike" dirty="0">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b="1" u="none" strike="noStrike" dirty="0" err="1">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değerler</a:t>
            </a:r>
            <a:r>
              <a:rPr lang="en-US" sz="2400" b="1" u="none" strike="noStrike" dirty="0">
                <a:solidFill>
                  <a:srgbClr val="C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Önemli</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aykırı</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değerler</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yüksek</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kaldıraç</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noktaları</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modelde</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olmamalıdır</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Aykırı</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değerler</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ayrıca</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model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üzerinde</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etkili</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en-US"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olmamalıdır</a:t>
            </a:r>
            <a:r>
              <a:rPr lang="en-US"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t>
            </a:r>
          </a:p>
          <a:p>
            <a:pPr lvl="1"/>
            <a:endParaRPr lang="en-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endParaRPr>
          </a:p>
          <a:p>
            <a:endParaRPr lang="tr-TR" sz="3600" dirty="0"/>
          </a:p>
        </p:txBody>
      </p:sp>
    </p:spTree>
    <p:extLst>
      <p:ext uri="{BB962C8B-B14F-4D97-AF65-F5344CB8AC3E}">
        <p14:creationId xmlns:p14="http://schemas.microsoft.com/office/powerpoint/2010/main" val="331954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AC8EA-904A-8B46-6E57-2369958005E3}"/>
              </a:ext>
            </a:extLst>
          </p:cNvPr>
          <p:cNvSpPr>
            <a:spLocks noGrp="1"/>
          </p:cNvSpPr>
          <p:nvPr>
            <p:ph type="title"/>
          </p:nvPr>
        </p:nvSpPr>
        <p:spPr>
          <a:xfrm>
            <a:off x="545910" y="307211"/>
            <a:ext cx="10058400" cy="1609344"/>
          </a:xfrm>
        </p:spPr>
        <p:txBody>
          <a:bodyPr/>
          <a:lstStyle/>
          <a:p>
            <a:r>
              <a:rPr lang="en-US" dirty="0" err="1"/>
              <a:t>Etkili</a:t>
            </a:r>
            <a:r>
              <a:rPr lang="en-US" dirty="0"/>
              <a:t> </a:t>
            </a:r>
            <a:r>
              <a:rPr lang="en-US" dirty="0" err="1"/>
              <a:t>Gözlem</a:t>
            </a:r>
            <a:r>
              <a:rPr lang="en-US" dirty="0"/>
              <a:t> </a:t>
            </a:r>
            <a:r>
              <a:rPr lang="en-US" dirty="0" err="1"/>
              <a:t>Analizi</a:t>
            </a:r>
            <a:endParaRPr lang="en-US"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9498461-C015-0FAA-D5E9-552E8971D445}"/>
                  </a:ext>
                </a:extLst>
              </p:cNvPr>
              <p:cNvSpPr txBox="1"/>
              <p:nvPr/>
            </p:nvSpPr>
            <p:spPr>
              <a:xfrm>
                <a:off x="545910" y="1746913"/>
                <a:ext cx="11095630" cy="45102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Beta ve Fit (uyum) değerlerindeki farklar (difference) değerlendirilir. DFBETAS ve DFFITS için kullanılan yaygın kesim noktaları (cutoff) şu şekildedir:</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TR" altLang="en-TR"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DFBETAS</a:t>
                </a:r>
                <a:r>
                  <a:rPr kumimoji="0" lang="en-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Genel bir kural olarak, bir gözlemin katsayı üzerinde önemli bir etkisi varsa|DFBETAS| değeri, </a:t>
                </a:r>
                <a:r>
                  <a:rPr kumimoji="0" lang="tr-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(2/</a:t>
                </a:r>
                <a14:m>
                  <m:oMath xmlns:m="http://schemas.openxmlformats.org/officeDocument/2006/math">
                    <m:rad>
                      <m:radPr>
                        <m:degHide m:val="on"/>
                        <m:ctrlP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ctrlPr>
                      </m:radPr>
                      <m:deg/>
                      <m:e>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𝑛</m:t>
                        </m:r>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m:t>
                        </m:r>
                      </m:e>
                    </m:rad>
                  </m:oMath>
                </a14:m>
                <a:r>
                  <a:rPr kumimoji="0" lang="tr-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değerinden büyük olmalıdır, burada n örneklem büyüklüğünü ifade eder.</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tr-TR" altLang="en-TR"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DFFITS</a:t>
                </a:r>
                <a:r>
                  <a:rPr kumimoji="0" lang="tr-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DFFITS değeri, bir gözlemin model üzerindeki etkisini ölçer. Genellikle, DFFITS için kesim noktası (2</a:t>
                </a:r>
                <a:r>
                  <a:rPr kumimoji="0" lang="tr-TR" altLang="en-TR" sz="2400" b="0" u="none" strike="noStrike" cap="none" normalizeH="0" baseline="0" dirty="0">
                    <a:ln>
                      <a:noFill/>
                    </a:ln>
                    <a:solidFill>
                      <a:schemeClr val="tx1"/>
                    </a:solidFill>
                    <a:effectLst/>
                    <a:cs typeface="Calibri" panose="020F0502020204030204" pitchFamily="34" charset="0"/>
                  </a:rPr>
                  <a:t> </a:t>
                </a:r>
                <a:r>
                  <a:rPr kumimoji="0" lang="tr-TR" altLang="en-TR" sz="2400" b="0" i="0" u="none" strike="noStrike" cap="none" normalizeH="0" baseline="0" dirty="0">
                    <a:ln>
                      <a:noFill/>
                    </a:ln>
                    <a:solidFill>
                      <a:schemeClr val="tx1"/>
                    </a:solidFill>
                    <a:effectLst/>
                    <a:latin typeface="+mj-lt"/>
                    <a:cs typeface="Calibri" panose="020F0502020204030204" pitchFamily="34" charset="0"/>
                  </a:rPr>
                  <a:t>√(</a:t>
                </a:r>
                <a14:m>
                  <m:oMath xmlns:m="http://schemas.openxmlformats.org/officeDocument/2006/math">
                    <m:f>
                      <m:fPr>
                        <m:ctrlP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ctrlPr>
                      </m:fPr>
                      <m:num>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𝑝</m:t>
                        </m:r>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+1</m:t>
                        </m:r>
                      </m:num>
                      <m:den>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𝑛</m:t>
                        </m:r>
                      </m:den>
                    </m:f>
                  </m:oMath>
                </a14:m>
                <a:r>
                  <a:rPr kumimoji="0" lang="tr-TR" altLang="en-TR" sz="2400" b="0" i="0" u="none" strike="noStrike" cap="none" normalizeH="0" baseline="0" dirty="0">
                    <a:ln>
                      <a:noFill/>
                    </a:ln>
                    <a:solidFill>
                      <a:schemeClr val="tx1"/>
                    </a:solidFill>
                    <a:effectLst/>
                    <a:latin typeface="+mj-lt"/>
                    <a:cs typeface="Calibri" panose="020F0502020204030204" pitchFamily="34" charset="0"/>
                  </a:rPr>
                  <a:t>)</a:t>
                </a:r>
                <a14:m>
                  <m:oMath xmlns:m="http://schemas.openxmlformats.org/officeDocument/2006/math">
                    <m:r>
                      <a:rPr kumimoji="0" lang="tr-TR" altLang="en-TR" sz="2400" b="0" i="1" u="none" strike="noStrike" cap="none" normalizeH="0" baseline="0" dirty="0" smtClean="0">
                        <a:ln>
                          <a:noFill/>
                        </a:ln>
                        <a:solidFill>
                          <a:schemeClr val="tx1"/>
                        </a:solidFill>
                        <a:effectLst/>
                        <a:latin typeface="Cambria Math" panose="02040503050406030204" pitchFamily="18" charset="0"/>
                        <a:cs typeface="Calibri" panose="020F0502020204030204" pitchFamily="34" charset="0"/>
                      </a:rPr>
                      <m:t> </m:t>
                    </m:r>
                  </m:oMath>
                </a14:m>
                <a:r>
                  <a:rPr kumimoji="0" lang="tr-TR" altLang="en-TR"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değeri kullanılır, burada k bağımsız değişken sayısı ve n örneklem büyüklüğüdür.</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tr-TR" altLang="en-TR" sz="2000" b="0" i="1" u="none" strike="noStrike" cap="none" normalizeH="0" baseline="0" dirty="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Bu kesim noktaları, gözlemlerin model üzerindeki etkisinin boyutunu değerlendirmede kullanılır ve bir gözlem bu değerlerin üzerindeyse, o gözlem potansiyel olarak modelde etkili (</a:t>
                </a:r>
                <a:r>
                  <a:rPr kumimoji="0" lang="tr-TR" altLang="en-TR" sz="2000" b="0" i="1" u="none" strike="noStrike" cap="none" normalizeH="0" baseline="0" dirty="0" err="1">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influential</a:t>
                </a:r>
                <a:r>
                  <a:rPr kumimoji="0" lang="tr-TR" altLang="en-TR" sz="2000" b="0" i="1" u="none" strike="noStrike" cap="none" normalizeH="0" baseline="0" dirty="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olarak kabul edilir. Ancak, bu değerler kesin sınırlar olarak değil, genel bir yönlendirme olarak kullanılmalıdır ve her zaman modelin bağlamına ve spesifik duruma göre değerlendirilmelidir.</a:t>
                </a:r>
                <a:endParaRPr kumimoji="0" lang="tr-TR" altLang="en-TR" sz="2000" b="0" i="1"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p:txBody>
          </p:sp>
        </mc:Choice>
        <mc:Fallback>
          <p:sp>
            <p:nvSpPr>
              <p:cNvPr id="6" name="TextBox 5">
                <a:extLst>
                  <a:ext uri="{FF2B5EF4-FFF2-40B4-BE49-F238E27FC236}">
                    <a16:creationId xmlns:a16="http://schemas.microsoft.com/office/drawing/2014/main" id="{39498461-C015-0FAA-D5E9-552E8971D445}"/>
                  </a:ext>
                </a:extLst>
              </p:cNvPr>
              <p:cNvSpPr txBox="1">
                <a:spLocks noRot="1" noChangeAspect="1" noMove="1" noResize="1" noEditPoints="1" noAdjustHandles="1" noChangeArrowheads="1" noChangeShapeType="1" noTextEdit="1"/>
              </p:cNvSpPr>
              <p:nvPr/>
            </p:nvSpPr>
            <p:spPr>
              <a:xfrm>
                <a:off x="545910" y="1746913"/>
                <a:ext cx="11095630" cy="4510209"/>
              </a:xfrm>
              <a:prstGeom prst="rect">
                <a:avLst/>
              </a:prstGeom>
              <a:blipFill>
                <a:blip r:embed="rId2"/>
                <a:stretch>
                  <a:fillRect l="-915" t="-1124" b="-1404"/>
                </a:stretch>
              </a:blipFill>
            </p:spPr>
            <p:txBody>
              <a:bodyPr/>
              <a:lstStyle/>
              <a:p>
                <a:r>
                  <a:rPr lang="en-US">
                    <a:noFill/>
                  </a:rPr>
                  <a:t> </a:t>
                </a:r>
              </a:p>
            </p:txBody>
          </p:sp>
        </mc:Fallback>
      </mc:AlternateContent>
    </p:spTree>
    <p:extLst>
      <p:ext uri="{BB962C8B-B14F-4D97-AF65-F5344CB8AC3E}">
        <p14:creationId xmlns:p14="http://schemas.microsoft.com/office/powerpoint/2010/main" val="97096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0AE5-6900-777F-4FE0-65C48C8F9FCC}"/>
              </a:ext>
            </a:extLst>
          </p:cNvPr>
          <p:cNvSpPr>
            <a:spLocks noGrp="1"/>
          </p:cNvSpPr>
          <p:nvPr>
            <p:ph type="title"/>
          </p:nvPr>
        </p:nvSpPr>
        <p:spPr>
          <a:xfrm>
            <a:off x="1069848" y="484632"/>
            <a:ext cx="10058400" cy="799045"/>
          </a:xfrm>
        </p:spPr>
        <p:txBody>
          <a:bodyPr/>
          <a:lstStyle/>
          <a:p>
            <a:r>
              <a:rPr lang="tr-TR" dirty="0"/>
              <a:t>Veri Giriş Yöntemleri</a:t>
            </a:r>
          </a:p>
        </p:txBody>
      </p:sp>
      <p:sp>
        <p:nvSpPr>
          <p:cNvPr id="3" name="Content Placeholder 2">
            <a:extLst>
              <a:ext uri="{FF2B5EF4-FFF2-40B4-BE49-F238E27FC236}">
                <a16:creationId xmlns:a16="http://schemas.microsoft.com/office/drawing/2014/main" id="{77675F6B-3046-6429-8538-FE22E68630B0}"/>
              </a:ext>
            </a:extLst>
          </p:cNvPr>
          <p:cNvSpPr>
            <a:spLocks noGrp="1"/>
          </p:cNvSpPr>
          <p:nvPr>
            <p:ph idx="1"/>
          </p:nvPr>
        </p:nvSpPr>
        <p:spPr>
          <a:xfrm>
            <a:off x="414762" y="1463559"/>
            <a:ext cx="11362476" cy="4665567"/>
          </a:xfrm>
        </p:spPr>
        <p:txBody>
          <a:bodyPr>
            <a:normAutofit/>
          </a:bodyPr>
          <a:lstStyle/>
          <a:p>
            <a:pPr>
              <a:buFont typeface="+mj-lt"/>
              <a:buAutoNum type="arabicPeriod"/>
            </a:pPr>
            <a:r>
              <a:rPr lang="tr-TR" b="1" dirty="0"/>
              <a:t>Zorla Ekleme (</a:t>
            </a:r>
            <a:r>
              <a:rPr lang="tr-TR" b="1" dirty="0" err="1"/>
              <a:t>Enter</a:t>
            </a:r>
            <a:r>
              <a:rPr lang="tr-TR" b="1" dirty="0"/>
              <a:t>):</a:t>
            </a:r>
            <a:r>
              <a:rPr lang="tr-TR" dirty="0"/>
              <a:t> Bu yöntemde, tahmin ediciler sırayla ve otomatik olarak modele dahil edilir. Bu, genellikle kullanılan standart yöntemdir ve en güvenilir olduğu düşünülür.</a:t>
            </a:r>
          </a:p>
          <a:p>
            <a:pPr>
              <a:buFont typeface="+mj-lt"/>
              <a:buAutoNum type="arabicPeriod"/>
            </a:pPr>
            <a:r>
              <a:rPr lang="tr-TR" b="1" dirty="0"/>
              <a:t>Blok halinde Giriş (Hiyerarşik Giriş):</a:t>
            </a:r>
            <a:r>
              <a:rPr lang="tr-TR" dirty="0"/>
              <a:t> Bu yöntem, önceden elde edilen bilgiler ve önceki çalışmaları temel alır. Tahmin ediciler, sonucu tahmin etmedeki bilinen önemlerine göre sıralanır ve modele bu sıraya göre eklenir. İlk adımda en önemli yordayıcılar girer, ardından ek yordayıcılar sonraki aşamalarda modele dahil edilir.</a:t>
            </a:r>
          </a:p>
          <a:p>
            <a:pPr>
              <a:buFont typeface="+mj-lt"/>
              <a:buAutoNum type="arabicPeriod"/>
            </a:pPr>
            <a:r>
              <a:rPr lang="tr-TR" b="1" dirty="0"/>
              <a:t>Geriye Doğru (</a:t>
            </a:r>
            <a:r>
              <a:rPr lang="tr-TR" b="1" dirty="0" err="1"/>
              <a:t>Backward</a:t>
            </a:r>
            <a:r>
              <a:rPr lang="tr-TR" b="1" dirty="0"/>
              <a:t>):</a:t>
            </a:r>
            <a:r>
              <a:rPr lang="tr-TR" dirty="0"/>
              <a:t> Başlangıçta tüm tahmin ediciler modele dahil edilir. Sonrasında, her bir tahmin edicinin modele katkısı değerlendirilir. İstatistiksel olarak yeterli katkı sağlamayan (örneğin, p değeri 0.1'den büyük olan) tahmin ediciler modelden çıkarılır. Bu süreç, tüm kalan tahmin ediciler istatistiksel olarak anlamlı hale gelene kadar devam eder.</a:t>
            </a:r>
          </a:p>
          <a:p>
            <a:pPr>
              <a:buFont typeface="+mj-lt"/>
              <a:buAutoNum type="arabicPeriod"/>
            </a:pPr>
            <a:r>
              <a:rPr lang="tr-TR" b="1" dirty="0"/>
              <a:t>İleriye Doğru (</a:t>
            </a:r>
            <a:r>
              <a:rPr lang="tr-TR" b="1" dirty="0" err="1"/>
              <a:t>Forward</a:t>
            </a:r>
            <a:r>
              <a:rPr lang="tr-TR" b="1" dirty="0"/>
              <a:t>):</a:t>
            </a:r>
            <a:r>
              <a:rPr lang="tr-TR" dirty="0"/>
              <a:t> Bu yöntemde, sonuç değişkeniyle en yüksek basit korelasyona sahip olan tahmin edici önce modele alınır. Daha sonra, sonuç değişkeniyle olan yarı kısmi korelasyonlarının büyüklüğüne göre diğer tahmin ediciler sırayla eklenir. Bu işlem, tüm önemli tahmin ediciler modele dahil edilene kadar tekrarlanır ve böylece model, sonuç değişkenini en iyi açıklayacak şekilde kurulmuş olur.</a:t>
            </a:r>
          </a:p>
          <a:p>
            <a:pPr marL="0" marR="48260" indent="0" algn="just">
              <a:lnSpc>
                <a:spcPct val="100000"/>
              </a:lnSpc>
              <a:spcBef>
                <a:spcPts val="600"/>
              </a:spcBef>
              <a:spcAft>
                <a:spcPts val="745"/>
              </a:spcAft>
              <a:buNone/>
            </a:pPr>
            <a:endParaRPr lang="tr-TR" dirty="0">
              <a:solidFill>
                <a:srgbClr val="000000"/>
              </a:solidFill>
              <a:effectLst/>
              <a:latin typeface="Trebuchet MS" panose="020B0703020202090204" pitchFamily="34" charset="0"/>
              <a:ea typeface="Calibri" panose="020F0502020204030204" pitchFamily="34" charset="0"/>
            </a:endParaRPr>
          </a:p>
        </p:txBody>
      </p:sp>
    </p:spTree>
    <p:extLst>
      <p:ext uri="{BB962C8B-B14F-4D97-AF65-F5344CB8AC3E}">
        <p14:creationId xmlns:p14="http://schemas.microsoft.com/office/powerpoint/2010/main" val="364915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tr-TR"/>
              <a:t>Örnek</a:t>
            </a:r>
            <a:endParaRPr lang="en-US"/>
          </a:p>
        </p:txBody>
      </p:sp>
      <p:sp>
        <p:nvSpPr>
          <p:cNvPr id="20483" name="Rectangle 3"/>
          <p:cNvSpPr>
            <a:spLocks noGrp="1" noChangeArrowheads="1"/>
          </p:cNvSpPr>
          <p:nvPr>
            <p:ph idx="1"/>
          </p:nvPr>
        </p:nvSpPr>
        <p:spPr>
          <a:xfrm>
            <a:off x="841247" y="1812126"/>
            <a:ext cx="11058831" cy="1824692"/>
          </a:xfrm>
        </p:spPr>
        <p:txBody>
          <a:bodyPr>
            <a:normAutofit/>
          </a:bodyPr>
          <a:lstStyle/>
          <a:p>
            <a:pPr eaLnBrk="1" hangingPunct="1"/>
            <a:r>
              <a:rPr lang="tr-TR" sz="2800" dirty="0"/>
              <a:t>Bir plak şirketi yöneticisi albüme harcanan reklam bütçesiyle o albüm piyasaya çıktıktan sonra radyoda çalınma sayısının ve albümün satıldığı bölgenin satışları nasıl tahmin ettiğini modellemek istiyor.</a:t>
            </a:r>
          </a:p>
        </p:txBody>
      </p:sp>
      <p:sp>
        <p:nvSpPr>
          <p:cNvPr id="3" name="TextBox 2">
            <a:extLst>
              <a:ext uri="{FF2B5EF4-FFF2-40B4-BE49-F238E27FC236}">
                <a16:creationId xmlns:a16="http://schemas.microsoft.com/office/drawing/2014/main" id="{AECC8113-D059-FB33-7D00-B1C9150E0A56}"/>
              </a:ext>
            </a:extLst>
          </p:cNvPr>
          <p:cNvSpPr txBox="1"/>
          <p:nvPr/>
        </p:nvSpPr>
        <p:spPr>
          <a:xfrm>
            <a:off x="119922" y="4031673"/>
            <a:ext cx="11982138" cy="492443"/>
          </a:xfrm>
          <a:prstGeom prst="rect">
            <a:avLst/>
          </a:prstGeom>
          <a:solidFill>
            <a:srgbClr val="FFACAA"/>
          </a:solidFill>
        </p:spPr>
        <p:txBody>
          <a:bodyPr wrap="square">
            <a:spAutoFit/>
          </a:bodyPr>
          <a:lstStyle/>
          <a:p>
            <a:pPr marL="0" indent="0" eaLnBrk="1" hangingPunct="1">
              <a:buNone/>
            </a:pPr>
            <a:r>
              <a:rPr lang="tr-TR" sz="2600" dirty="0"/>
              <a:t>Albüm </a:t>
            </a:r>
            <a:r>
              <a:rPr lang="tr-TR" sz="2600" dirty="0" err="1"/>
              <a:t>satışları</a:t>
            </a:r>
            <a:r>
              <a:rPr lang="tr-TR" sz="2600" i="1" baseline="-25000" dirty="0" err="1"/>
              <a:t>i</a:t>
            </a:r>
            <a:r>
              <a:rPr lang="tr-TR" sz="2600" dirty="0"/>
              <a:t> = </a:t>
            </a:r>
            <a:r>
              <a:rPr lang="tr-TR" sz="2600" i="1" dirty="0"/>
              <a:t>b</a:t>
            </a:r>
            <a:r>
              <a:rPr lang="tr-TR" sz="2600" i="1" baseline="-25000" dirty="0"/>
              <a:t>0</a:t>
            </a:r>
            <a:r>
              <a:rPr lang="tr-TR" sz="2600" i="1" dirty="0"/>
              <a:t> + b</a:t>
            </a:r>
            <a:r>
              <a:rPr lang="tr-TR" sz="2600" i="1" baseline="-25000" dirty="0"/>
              <a:t>1</a:t>
            </a:r>
            <a:r>
              <a:rPr lang="tr-TR" sz="2600" i="1" dirty="0"/>
              <a:t>Reklam </a:t>
            </a:r>
            <a:r>
              <a:rPr lang="tr-TR" sz="2600" i="1" dirty="0" err="1"/>
              <a:t>bütçesi</a:t>
            </a:r>
            <a:r>
              <a:rPr lang="tr-TR" sz="2600" i="1" baseline="-25000" dirty="0" err="1"/>
              <a:t>i</a:t>
            </a:r>
            <a:r>
              <a:rPr lang="tr-TR" sz="2600" i="1" dirty="0"/>
              <a:t> + b</a:t>
            </a:r>
            <a:r>
              <a:rPr lang="tr-TR" sz="2600" i="1" baseline="-25000" dirty="0"/>
              <a:t>2</a:t>
            </a:r>
            <a:r>
              <a:rPr lang="tr-TR" sz="2600" i="1" dirty="0"/>
              <a:t>Radyoda çalınma </a:t>
            </a:r>
            <a:r>
              <a:rPr lang="tr-TR" sz="2600" i="1" dirty="0" err="1"/>
              <a:t>sayısı</a:t>
            </a:r>
            <a:r>
              <a:rPr lang="tr-TR" sz="2600" i="1" baseline="-25000" dirty="0" err="1"/>
              <a:t>i</a:t>
            </a:r>
            <a:r>
              <a:rPr lang="tr-TR" sz="2600" i="1" baseline="-25000" dirty="0"/>
              <a:t> </a:t>
            </a:r>
            <a:r>
              <a:rPr lang="tr-TR" sz="2600" i="1" dirty="0"/>
              <a:t>+ b</a:t>
            </a:r>
            <a:r>
              <a:rPr lang="tr-TR" sz="2600" i="1" baseline="-25000" dirty="0"/>
              <a:t>3 </a:t>
            </a:r>
            <a:r>
              <a:rPr lang="tr-TR" sz="2600" i="1" dirty="0" err="1"/>
              <a:t>Yer+e</a:t>
            </a:r>
            <a:r>
              <a:rPr lang="tr-TR" sz="2600" i="1" baseline="-25000" dirty="0" err="1"/>
              <a:t>i</a:t>
            </a:r>
            <a:r>
              <a:rPr lang="tr-TR" sz="2600" dirty="0"/>
              <a:t> </a:t>
            </a:r>
          </a:p>
        </p:txBody>
      </p:sp>
    </p:spTree>
    <p:extLst>
      <p:ext uri="{BB962C8B-B14F-4D97-AF65-F5344CB8AC3E}">
        <p14:creationId xmlns:p14="http://schemas.microsoft.com/office/powerpoint/2010/main" val="412383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676214" y="177800"/>
            <a:ext cx="8024533" cy="993586"/>
          </a:xfrm>
        </p:spPr>
        <p:txBody>
          <a:bodyPr>
            <a:normAutofit fontScale="90000"/>
          </a:bodyPr>
          <a:lstStyle/>
          <a:p>
            <a:pPr eaLnBrk="1" hangingPunct="1"/>
            <a:r>
              <a:rPr lang="tr-TR" dirty="0" err="1">
                <a:solidFill>
                  <a:schemeClr val="accent1">
                    <a:lumMod val="75000"/>
                  </a:schemeClr>
                </a:solidFill>
              </a:rPr>
              <a:t>JASP</a:t>
            </a:r>
            <a:r>
              <a:rPr lang="tr-TR" dirty="0" err="1"/>
              <a:t>’ta</a:t>
            </a:r>
            <a:r>
              <a:rPr lang="tr-TR" dirty="0"/>
              <a:t> Çoklu Regresyon</a:t>
            </a:r>
            <a:endParaRPr lang="en-US" dirty="0"/>
          </a:p>
        </p:txBody>
      </p:sp>
      <p:sp>
        <p:nvSpPr>
          <p:cNvPr id="5" name="TextBox 4">
            <a:extLst>
              <a:ext uri="{FF2B5EF4-FFF2-40B4-BE49-F238E27FC236}">
                <a16:creationId xmlns:a16="http://schemas.microsoft.com/office/drawing/2014/main" id="{74638482-8242-6D5E-FF53-B4C224607F96}"/>
              </a:ext>
            </a:extLst>
          </p:cNvPr>
          <p:cNvSpPr txBox="1"/>
          <p:nvPr/>
        </p:nvSpPr>
        <p:spPr>
          <a:xfrm>
            <a:off x="407147" y="1842911"/>
            <a:ext cx="3111860" cy="369332"/>
          </a:xfrm>
          <a:prstGeom prst="rect">
            <a:avLst/>
          </a:prstGeom>
          <a:solidFill>
            <a:schemeClr val="accent1">
              <a:lumMod val="40000"/>
              <a:lumOff val="60000"/>
            </a:schemeClr>
          </a:solidFill>
        </p:spPr>
        <p:txBody>
          <a:bodyPr wrap="square">
            <a:spAutoFit/>
          </a:bodyPr>
          <a:lstStyle/>
          <a:p>
            <a:pPr eaLnBrk="1" hangingPunct="1"/>
            <a:r>
              <a:rPr lang="tr-TR" sz="1800" dirty="0"/>
              <a:t>Veri Seti: </a:t>
            </a:r>
            <a:r>
              <a:rPr lang="tr-TR" sz="1800" dirty="0" err="1"/>
              <a:t>Album_satışlar.sav</a:t>
            </a:r>
            <a:endParaRPr lang="en-US" sz="1800" dirty="0"/>
          </a:p>
        </p:txBody>
      </p:sp>
      <p:pic>
        <p:nvPicPr>
          <p:cNvPr id="7" name="Picture 6">
            <a:extLst>
              <a:ext uri="{FF2B5EF4-FFF2-40B4-BE49-F238E27FC236}">
                <a16:creationId xmlns:a16="http://schemas.microsoft.com/office/drawing/2014/main" id="{0402A17F-027F-AEE4-CBC3-A20029C145A9}"/>
              </a:ext>
            </a:extLst>
          </p:cNvPr>
          <p:cNvPicPr>
            <a:picLocks noChangeAspect="1"/>
          </p:cNvPicPr>
          <p:nvPr/>
        </p:nvPicPr>
        <p:blipFill>
          <a:blip r:embed="rId2"/>
          <a:stretch>
            <a:fillRect/>
          </a:stretch>
        </p:blipFill>
        <p:spPr>
          <a:xfrm>
            <a:off x="4012453" y="1426562"/>
            <a:ext cx="7772400" cy="4621427"/>
          </a:xfrm>
          <a:prstGeom prst="rect">
            <a:avLst/>
          </a:prstGeom>
        </p:spPr>
      </p:pic>
      <p:sp>
        <p:nvSpPr>
          <p:cNvPr id="8" name="Oval 7">
            <a:extLst>
              <a:ext uri="{FF2B5EF4-FFF2-40B4-BE49-F238E27FC236}">
                <a16:creationId xmlns:a16="http://schemas.microsoft.com/office/drawing/2014/main" id="{9F5125FA-5E53-EB8F-D323-96E129757047}"/>
              </a:ext>
            </a:extLst>
          </p:cNvPr>
          <p:cNvSpPr/>
          <p:nvPr/>
        </p:nvSpPr>
        <p:spPr>
          <a:xfrm>
            <a:off x="9710166" y="1171386"/>
            <a:ext cx="1262634" cy="1052525"/>
          </a:xfrm>
          <a:prstGeom prst="ellipse">
            <a:avLst/>
          </a:prstGeom>
          <a:solidFill>
            <a:srgbClr val="FF5466">
              <a:alpha val="33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42A4F3A-BC24-5955-51C5-8F3675F5152C}"/>
              </a:ext>
            </a:extLst>
          </p:cNvPr>
          <p:cNvSpPr txBox="1"/>
          <p:nvPr/>
        </p:nvSpPr>
        <p:spPr>
          <a:xfrm>
            <a:off x="185979" y="2492360"/>
            <a:ext cx="3333028" cy="1477328"/>
          </a:xfrm>
          <a:prstGeom prst="rect">
            <a:avLst/>
          </a:prstGeom>
          <a:noFill/>
        </p:spPr>
        <p:txBody>
          <a:bodyPr wrap="none" rtlCol="0">
            <a:spAutoFit/>
          </a:bodyPr>
          <a:lstStyle/>
          <a:p>
            <a:r>
              <a:rPr lang="tr-TR"/>
              <a:t>Bağımlı Değişken: Albüm Satışı</a:t>
            </a:r>
          </a:p>
          <a:p>
            <a:r>
              <a:rPr lang="tr-TR"/>
              <a:t>Bağımsız Değişkenler:</a:t>
            </a:r>
          </a:p>
          <a:p>
            <a:pPr marL="342900" indent="-342900">
              <a:buFont typeface="+mj-lt"/>
              <a:buAutoNum type="arabicPeriod"/>
            </a:pPr>
            <a:r>
              <a:rPr lang="tr-TR"/>
              <a:t>Reklam</a:t>
            </a:r>
          </a:p>
          <a:p>
            <a:pPr marL="342900" indent="-342900">
              <a:buFont typeface="+mj-lt"/>
              <a:buAutoNum type="arabicPeriod"/>
            </a:pPr>
            <a:r>
              <a:rPr lang="tr-TR"/>
              <a:t>Radyo</a:t>
            </a:r>
          </a:p>
          <a:p>
            <a:pPr marL="342900" indent="-342900">
              <a:buFont typeface="+mj-lt"/>
              <a:buAutoNum type="arabicPeriod"/>
            </a:pPr>
            <a:r>
              <a:rPr lang="tr-TR"/>
              <a:t>Yer</a:t>
            </a:r>
          </a:p>
        </p:txBody>
      </p:sp>
    </p:spTree>
    <p:extLst>
      <p:ext uri="{BB962C8B-B14F-4D97-AF65-F5344CB8AC3E}">
        <p14:creationId xmlns:p14="http://schemas.microsoft.com/office/powerpoint/2010/main" val="1998306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10"/>
          <p:cNvSpPr txBox="1">
            <a:spLocks noChangeArrowheads="1"/>
          </p:cNvSpPr>
          <p:nvPr/>
        </p:nvSpPr>
        <p:spPr bwMode="auto">
          <a:xfrm>
            <a:off x="769483" y="256802"/>
            <a:ext cx="10158550" cy="523220"/>
          </a:xfrm>
          <a:prstGeom prst="rect">
            <a:avLst/>
          </a:prstGeom>
          <a:solidFill>
            <a:schemeClr val="accent1">
              <a:lumMod val="40000"/>
              <a:lumOff val="60000"/>
            </a:schemeClr>
          </a:solidFill>
          <a:ln>
            <a:noFill/>
          </a:ln>
          <a:effectLst/>
        </p:spPr>
        <p:txBody>
          <a:bodyPr wrap="none">
            <a:spAutoFit/>
          </a:bodyP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tr-TR" sz="2800" dirty="0" err="1"/>
              <a:t>Statistics</a:t>
            </a:r>
            <a:r>
              <a:rPr lang="tr-TR" sz="2800" dirty="0"/>
              <a:t> sekmesine tıklayıp aşağıdaki seçenekleri işaretleyin</a:t>
            </a:r>
            <a:endParaRPr lang="en-US" sz="2800" dirty="0"/>
          </a:p>
        </p:txBody>
      </p:sp>
      <p:sp>
        <p:nvSpPr>
          <p:cNvPr id="11" name="Rectangle 10">
            <a:extLst>
              <a:ext uri="{FF2B5EF4-FFF2-40B4-BE49-F238E27FC236}">
                <a16:creationId xmlns:a16="http://schemas.microsoft.com/office/drawing/2014/main" id="{F0D0492E-7A3B-8440-A59E-BC45715E19E9}"/>
              </a:ext>
            </a:extLst>
          </p:cNvPr>
          <p:cNvSpPr/>
          <p:nvPr/>
        </p:nvSpPr>
        <p:spPr>
          <a:xfrm>
            <a:off x="461934" y="1004090"/>
            <a:ext cx="4860430" cy="5853910"/>
          </a:xfrm>
          <a:prstGeom prst="rect">
            <a:avLst/>
          </a:prstGeom>
        </p:spPr>
        <p:txBody>
          <a:bodyPr wrap="square">
            <a:spAutoFit/>
          </a:bodyPr>
          <a:lstStyle/>
          <a:p>
            <a:pPr marL="285750" indent="-285750">
              <a:lnSpc>
                <a:spcPct val="90000"/>
              </a:lnSpc>
              <a:buFont typeface="Arial" panose="020B0604020202020204" pitchFamily="34" charset="0"/>
              <a:buChar char="•"/>
            </a:pPr>
            <a:r>
              <a:rPr lang="tr-TR" sz="2400" dirty="0" err="1">
                <a:solidFill>
                  <a:srgbClr val="FF5466"/>
                </a:solidFill>
              </a:rPr>
              <a:t>Durbin</a:t>
            </a:r>
            <a:r>
              <a:rPr lang="tr-TR" sz="2400" dirty="0">
                <a:solidFill>
                  <a:srgbClr val="FF5466"/>
                </a:solidFill>
              </a:rPr>
              <a:t>-Watson istatistiği</a:t>
            </a:r>
          </a:p>
          <a:p>
            <a:pPr marL="742950" lvl="1" indent="-285750">
              <a:lnSpc>
                <a:spcPct val="90000"/>
              </a:lnSpc>
              <a:buFont typeface="Arial" panose="020B0604020202020204" pitchFamily="34" charset="0"/>
              <a:buChar char="•"/>
            </a:pPr>
            <a:r>
              <a:rPr lang="tr-TR" sz="2000" dirty="0"/>
              <a:t>artıkların (</a:t>
            </a:r>
            <a:r>
              <a:rPr lang="tr-TR" sz="2000" dirty="0" err="1"/>
              <a:t>residuals</a:t>
            </a:r>
            <a:r>
              <a:rPr lang="tr-TR" sz="2000" dirty="0"/>
              <a:t>) bağımsız oldukları yani birbirleriyle ilişkili olmadıklarını test eder,</a:t>
            </a:r>
          </a:p>
          <a:p>
            <a:pPr marL="742950" lvl="1" indent="-285750">
              <a:lnSpc>
                <a:spcPct val="90000"/>
              </a:lnSpc>
              <a:buFont typeface="Arial" panose="020B0604020202020204" pitchFamily="34" charset="0"/>
              <a:buChar char="•"/>
            </a:pPr>
            <a:r>
              <a:rPr lang="tr-TR" sz="2000" dirty="0"/>
              <a:t>0-4 arasında değişir,</a:t>
            </a:r>
          </a:p>
          <a:p>
            <a:pPr marL="1200150" lvl="2" indent="-285750">
              <a:lnSpc>
                <a:spcPct val="90000"/>
              </a:lnSpc>
              <a:buFont typeface="Arial" panose="020B0604020202020204" pitchFamily="34" charset="0"/>
              <a:buChar char="•"/>
            </a:pPr>
            <a:r>
              <a:rPr lang="tr-TR" sz="2000" dirty="0"/>
              <a:t>ideal olanı 2’ye yakın olmasıdır</a:t>
            </a:r>
          </a:p>
          <a:p>
            <a:pPr marL="1200150" lvl="2" indent="-285750">
              <a:lnSpc>
                <a:spcPct val="90000"/>
              </a:lnSpc>
              <a:buFont typeface="Arial" panose="020B0604020202020204" pitchFamily="34" charset="0"/>
              <a:buChar char="•"/>
            </a:pPr>
            <a:r>
              <a:rPr lang="tr-TR" sz="2000" dirty="0"/>
              <a:t>2’den küçükse pozitif 2’den büyükse negatif ilişki vardır</a:t>
            </a:r>
          </a:p>
          <a:p>
            <a:pPr marL="285750" indent="-285750">
              <a:lnSpc>
                <a:spcPct val="90000"/>
              </a:lnSpc>
              <a:buFont typeface="Arial" panose="020B0604020202020204" pitchFamily="34" charset="0"/>
              <a:buChar char="•"/>
            </a:pPr>
            <a:r>
              <a:rPr lang="tr-TR" sz="2400" dirty="0">
                <a:solidFill>
                  <a:srgbClr val="FF5466"/>
                </a:solidFill>
              </a:rPr>
              <a:t>Çoklu </a:t>
            </a:r>
            <a:r>
              <a:rPr lang="tr-TR" sz="2400" dirty="0" err="1">
                <a:solidFill>
                  <a:srgbClr val="FF5466"/>
                </a:solidFill>
              </a:rPr>
              <a:t>Doğrusallık</a:t>
            </a:r>
            <a:r>
              <a:rPr lang="tr-TR" sz="2400" dirty="0">
                <a:solidFill>
                  <a:srgbClr val="FF5466"/>
                </a:solidFill>
              </a:rPr>
              <a:t>/Bağıntı (</a:t>
            </a:r>
            <a:r>
              <a:rPr lang="tr-TR" sz="2400" dirty="0" err="1">
                <a:solidFill>
                  <a:srgbClr val="FF5466"/>
                </a:solidFill>
              </a:rPr>
              <a:t>Collinearity</a:t>
            </a:r>
            <a:r>
              <a:rPr lang="tr-TR" sz="2400" dirty="0">
                <a:solidFill>
                  <a:srgbClr val="FF5466"/>
                </a:solidFill>
              </a:rPr>
              <a:t> </a:t>
            </a:r>
            <a:r>
              <a:rPr lang="tr-TR" sz="2400" dirty="0" err="1">
                <a:solidFill>
                  <a:srgbClr val="FF5466"/>
                </a:solidFill>
              </a:rPr>
              <a:t>Diagnostic</a:t>
            </a:r>
            <a:r>
              <a:rPr lang="tr-TR" sz="2400" dirty="0">
                <a:solidFill>
                  <a:srgbClr val="FF5466"/>
                </a:solidFill>
              </a:rPr>
              <a:t>)</a:t>
            </a:r>
          </a:p>
          <a:p>
            <a:pPr marL="742950" lvl="1" indent="-285750">
              <a:lnSpc>
                <a:spcPct val="90000"/>
              </a:lnSpc>
              <a:buFont typeface="Arial" panose="020B0604020202020204" pitchFamily="34" charset="0"/>
              <a:buChar char="•"/>
            </a:pPr>
            <a:r>
              <a:rPr lang="tr-TR" sz="2000" dirty="0"/>
              <a:t>Bağımsız değişkenler (Tahmin/yordayıcı) birbirleriyle düşük ilişkili olmalıdır (&lt;0,8)</a:t>
            </a:r>
          </a:p>
          <a:p>
            <a:pPr marL="285750" indent="-285750">
              <a:lnSpc>
                <a:spcPct val="90000"/>
              </a:lnSpc>
              <a:buFont typeface="Arial" panose="020B0604020202020204" pitchFamily="34" charset="0"/>
              <a:buChar char="•"/>
            </a:pPr>
            <a:r>
              <a:rPr lang="tr-TR" sz="2400" dirty="0" err="1">
                <a:solidFill>
                  <a:srgbClr val="FF5466"/>
                </a:solidFill>
              </a:rPr>
              <a:t>Cook</a:t>
            </a:r>
            <a:r>
              <a:rPr lang="tr-TR" sz="2400" dirty="0">
                <a:solidFill>
                  <a:srgbClr val="FF5466"/>
                </a:solidFill>
              </a:rPr>
              <a:t> mesafesi</a:t>
            </a:r>
          </a:p>
          <a:p>
            <a:pPr marL="742950" lvl="1" indent="-285750">
              <a:lnSpc>
                <a:spcPct val="90000"/>
              </a:lnSpc>
              <a:buFont typeface="Arial" panose="020B0604020202020204" pitchFamily="34" charset="0"/>
              <a:buChar char="•"/>
            </a:pPr>
            <a:r>
              <a:rPr lang="tr-TR" sz="2000" dirty="0"/>
              <a:t>Bu değer genellikle </a:t>
            </a:r>
            <a:r>
              <a:rPr lang="tr-TR" sz="2000" dirty="0">
                <a:latin typeface="Trebuchet MS" panose="020B0703020202090204" pitchFamily="34" charset="0"/>
                <a:cs typeface="Calibri" panose="020F0502020204030204" pitchFamily="34" charset="0"/>
              </a:rPr>
              <a:t>4/(n-k-1)</a:t>
            </a:r>
            <a:r>
              <a:rPr lang="tr-TR" sz="2000" dirty="0"/>
              <a:t>’den büyük olmamalı. </a:t>
            </a:r>
            <a:br>
              <a:rPr lang="tr-TR" sz="2000" dirty="0"/>
            </a:br>
            <a:r>
              <a:rPr lang="tr-TR" sz="2000" dirty="0"/>
              <a:t>n=gözlem sayısı k= bağımsız değişken sayısı</a:t>
            </a:r>
            <a:br>
              <a:rPr lang="tr-TR" sz="2000" dirty="0"/>
            </a:br>
            <a:r>
              <a:rPr lang="tr-TR" sz="2000" dirty="0"/>
              <a:t>0,5 kritik ve 1 aykırı değer</a:t>
            </a:r>
            <a:endParaRPr lang="tr-TR" sz="2400" dirty="0"/>
          </a:p>
        </p:txBody>
      </p:sp>
      <p:pic>
        <p:nvPicPr>
          <p:cNvPr id="4" name="Picture 3">
            <a:extLst>
              <a:ext uri="{FF2B5EF4-FFF2-40B4-BE49-F238E27FC236}">
                <a16:creationId xmlns:a16="http://schemas.microsoft.com/office/drawing/2014/main" id="{AD1325C5-84F7-6760-5CB6-A1D321D701CD}"/>
              </a:ext>
            </a:extLst>
          </p:cNvPr>
          <p:cNvPicPr>
            <a:picLocks noChangeAspect="1"/>
          </p:cNvPicPr>
          <p:nvPr/>
        </p:nvPicPr>
        <p:blipFill>
          <a:blip r:embed="rId3"/>
          <a:stretch>
            <a:fillRect/>
          </a:stretch>
        </p:blipFill>
        <p:spPr>
          <a:xfrm>
            <a:off x="5253862" y="1004090"/>
            <a:ext cx="6574083" cy="5048724"/>
          </a:xfrm>
          <a:prstGeom prst="rect">
            <a:avLst/>
          </a:prstGeom>
        </p:spPr>
      </p:pic>
    </p:spTree>
    <p:extLst>
      <p:ext uri="{BB962C8B-B14F-4D97-AF65-F5344CB8AC3E}">
        <p14:creationId xmlns:p14="http://schemas.microsoft.com/office/powerpoint/2010/main" val="2526360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50182" y="315299"/>
            <a:ext cx="9174818" cy="497501"/>
          </a:xfrm>
        </p:spPr>
        <p:txBody>
          <a:bodyPr>
            <a:normAutofit fontScale="90000"/>
          </a:bodyPr>
          <a:lstStyle/>
          <a:p>
            <a:pPr eaLnBrk="1" hangingPunct="1"/>
            <a:r>
              <a:rPr lang="tr-TR" b="1" dirty="0">
                <a:latin typeface="Al Nile" pitchFamily="2" charset="-78"/>
                <a:cs typeface="Al Nile" pitchFamily="2" charset="-78"/>
              </a:rPr>
              <a:t>Grafikler (</a:t>
            </a:r>
            <a:r>
              <a:rPr lang="tr-TR" b="1" dirty="0" err="1">
                <a:latin typeface="Al Nile" pitchFamily="2" charset="-78"/>
                <a:cs typeface="Al Nile" pitchFamily="2" charset="-78"/>
              </a:rPr>
              <a:t>Plots</a:t>
            </a:r>
            <a:r>
              <a:rPr lang="tr-TR" b="1" dirty="0">
                <a:latin typeface="Al Nile" pitchFamily="2" charset="-78"/>
                <a:cs typeface="Al Nile" pitchFamily="2" charset="-78"/>
              </a:rPr>
              <a:t>)</a:t>
            </a:r>
            <a:endParaRPr lang="en-US" b="1" dirty="0">
              <a:latin typeface="Al Nile" pitchFamily="2" charset="-78"/>
              <a:cs typeface="Al Nile" pitchFamily="2" charset="-78"/>
            </a:endParaRPr>
          </a:p>
        </p:txBody>
      </p:sp>
      <p:pic>
        <p:nvPicPr>
          <p:cNvPr id="2" name="Picture 1">
            <a:extLst>
              <a:ext uri="{FF2B5EF4-FFF2-40B4-BE49-F238E27FC236}">
                <a16:creationId xmlns:a16="http://schemas.microsoft.com/office/drawing/2014/main" id="{72C89F64-9A26-922F-7449-FB4F3006BF25}"/>
              </a:ext>
            </a:extLst>
          </p:cNvPr>
          <p:cNvPicPr>
            <a:picLocks noChangeAspect="1"/>
          </p:cNvPicPr>
          <p:nvPr/>
        </p:nvPicPr>
        <p:blipFill>
          <a:blip r:embed="rId2"/>
          <a:stretch>
            <a:fillRect/>
          </a:stretch>
        </p:blipFill>
        <p:spPr>
          <a:xfrm>
            <a:off x="6833192" y="1294527"/>
            <a:ext cx="4546600" cy="4268945"/>
          </a:xfrm>
          <a:prstGeom prst="rect">
            <a:avLst/>
          </a:prstGeom>
        </p:spPr>
      </p:pic>
      <p:sp>
        <p:nvSpPr>
          <p:cNvPr id="4" name="TextBox 3">
            <a:extLst>
              <a:ext uri="{FF2B5EF4-FFF2-40B4-BE49-F238E27FC236}">
                <a16:creationId xmlns:a16="http://schemas.microsoft.com/office/drawing/2014/main" id="{E12B232A-C295-137C-D7A0-BC6E15C7641A}"/>
              </a:ext>
            </a:extLst>
          </p:cNvPr>
          <p:cNvSpPr txBox="1"/>
          <p:nvPr/>
        </p:nvSpPr>
        <p:spPr>
          <a:xfrm>
            <a:off x="350182" y="1533804"/>
            <a:ext cx="6099462" cy="4524315"/>
          </a:xfrm>
          <a:prstGeom prst="rect">
            <a:avLst/>
          </a:prstGeom>
          <a:noFill/>
        </p:spPr>
        <p:txBody>
          <a:bodyPr wrap="square">
            <a:spAutoFit/>
          </a:bodyPr>
          <a:lstStyle/>
          <a:p>
            <a:r>
              <a:rPr lang="tr-TR" sz="2400" b="1" u="none" strike="noStrike" dirty="0">
                <a:solidFill>
                  <a:srgbClr val="FF5466"/>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Eşit hata varyansları</a:t>
            </a:r>
            <a:r>
              <a:rPr lang="tr-TR" sz="2400" u="none" strike="noStrike" dirty="0">
                <a:solidFill>
                  <a:srgbClr val="FF5466"/>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verilerin artıkların varyansı homojen (</a:t>
            </a:r>
            <a:r>
              <a:rPr lang="tr-TR"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homoscedasticity</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olmalı bunun için </a:t>
            </a:r>
            <a:r>
              <a:rPr lang="tr-TR"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residuals</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vs. </a:t>
            </a:r>
            <a:r>
              <a:rPr lang="tr-TR" sz="2400" u="none" strike="noStrike" dirty="0" err="1">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predicted</a:t>
            </a:r>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 grafiğini çizdirin</a:t>
            </a:r>
          </a:p>
          <a:p>
            <a:r>
              <a:rPr lang="tr-TR" sz="2400" b="1" u="none" strike="noStrike" dirty="0">
                <a:solidFill>
                  <a:srgbClr val="FF5466"/>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Normallik</a:t>
            </a:r>
          </a:p>
          <a:p>
            <a:pPr lvl="1"/>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artıkların (hataların) yaklaşık olarak normal dağıldığını kontrol edin; ve</a:t>
            </a:r>
            <a:endParaRPr lang="en-TR" sz="2400" dirty="0">
              <a:solidFill>
                <a:srgbClr val="000000"/>
              </a:solidFill>
              <a:uFill>
                <a:solidFill>
                  <a:srgbClr val="000000"/>
                </a:solidFill>
              </a:uFill>
              <a:latin typeface="Trebuchet MS" panose="020B0703020202090204" pitchFamily="34" charset="0"/>
              <a:ea typeface="Calibri" panose="020F0502020204030204" pitchFamily="34" charset="0"/>
              <a:cs typeface="Calibri" panose="020F0502020204030204" pitchFamily="34" charset="0"/>
            </a:endParaRPr>
          </a:p>
          <a:p>
            <a:pPr lvl="1"/>
            <a:r>
              <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rPr>
              <a:t>bağımlı değişkenin yaklaşık olarak normal dağılıp dağılmadığını Q-Q standardize artıklar grafiğini kontrol edin.</a:t>
            </a:r>
          </a:p>
          <a:p>
            <a:pPr lvl="1"/>
            <a:endParaRPr lang="tr-TR" sz="2400" u="none" strike="noStrike" dirty="0">
              <a:solidFill>
                <a:srgbClr val="000000"/>
              </a:solidFill>
              <a:effectLst/>
              <a:uFill>
                <a:solidFill>
                  <a:srgbClr val="000000"/>
                </a:solidFill>
              </a:uFill>
              <a:latin typeface="Trebuchet MS" panose="020B070302020209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105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AFDD97F-181E-6A40-9BA9-F7D6C1EEA64C}"/>
              </a:ext>
            </a:extLst>
          </p:cNvPr>
          <p:cNvPicPr>
            <a:picLocks noChangeAspect="1"/>
          </p:cNvPicPr>
          <p:nvPr/>
        </p:nvPicPr>
        <p:blipFill>
          <a:blip r:embed="rId3"/>
          <a:stretch>
            <a:fillRect/>
          </a:stretch>
        </p:blipFill>
        <p:spPr>
          <a:xfrm>
            <a:off x="0" y="14990"/>
            <a:ext cx="12192000" cy="6858000"/>
          </a:xfrm>
          <a:prstGeom prst="rect">
            <a:avLst/>
          </a:prstGeom>
        </p:spPr>
      </p:pic>
      <p:pic>
        <p:nvPicPr>
          <p:cNvPr id="3" name="Picture 2">
            <a:extLst>
              <a:ext uri="{FF2B5EF4-FFF2-40B4-BE49-F238E27FC236}">
                <a16:creationId xmlns:a16="http://schemas.microsoft.com/office/drawing/2014/main" id="{CDA0AA60-C8C0-22E3-8921-501E8ABF67E9}"/>
              </a:ext>
            </a:extLst>
          </p:cNvPr>
          <p:cNvPicPr>
            <a:picLocks noChangeAspect="1"/>
          </p:cNvPicPr>
          <p:nvPr/>
        </p:nvPicPr>
        <p:blipFill>
          <a:blip r:embed="rId4"/>
          <a:stretch>
            <a:fillRect/>
          </a:stretch>
        </p:blipFill>
        <p:spPr>
          <a:xfrm>
            <a:off x="1027606" y="2050753"/>
            <a:ext cx="10136787" cy="2756494"/>
          </a:xfrm>
          <a:prstGeom prst="rect">
            <a:avLst/>
          </a:prstGeom>
        </p:spPr>
      </p:pic>
    </p:spTree>
    <p:extLst>
      <p:ext uri="{BB962C8B-B14F-4D97-AF65-F5344CB8AC3E}">
        <p14:creationId xmlns:p14="http://schemas.microsoft.com/office/powerpoint/2010/main" val="690733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5">
            <a:extLst>
              <a:ext uri="{FF2B5EF4-FFF2-40B4-BE49-F238E27FC236}">
                <a16:creationId xmlns:a16="http://schemas.microsoft.com/office/drawing/2014/main" id="{65C87385-A98D-4748-A1F4-7FAC1197FC1A}"/>
              </a:ext>
            </a:extLst>
          </p:cNvPr>
          <p:cNvSpPr txBox="1"/>
          <p:nvPr/>
        </p:nvSpPr>
        <p:spPr>
          <a:xfrm>
            <a:off x="5360116" y="528974"/>
            <a:ext cx="6502678" cy="923330"/>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tr-TR" dirty="0"/>
              <a:t>Çıktı ve tahmin değişkenleri arasındaki korelasyonlar:</a:t>
            </a:r>
          </a:p>
          <a:p>
            <a:r>
              <a:rPr lang="tr-TR" dirty="0"/>
              <a:t>Hepsi sıfırdan farklı ve tahmin değişkenleri de birbirleriyle </a:t>
            </a:r>
          </a:p>
          <a:p>
            <a:r>
              <a:rPr lang="tr-TR" dirty="0"/>
              <a:t>çok ilişkili değil (r&lt;0.9)</a:t>
            </a:r>
          </a:p>
        </p:txBody>
      </p:sp>
      <p:sp>
        <p:nvSpPr>
          <p:cNvPr id="8" name="Rectangle 4">
            <a:extLst>
              <a:ext uri="{FF2B5EF4-FFF2-40B4-BE49-F238E27FC236}">
                <a16:creationId xmlns:a16="http://schemas.microsoft.com/office/drawing/2014/main" id="{00DB876B-7236-8B48-A2CB-0025D0473D3C}"/>
              </a:ext>
            </a:extLst>
          </p:cNvPr>
          <p:cNvSpPr>
            <a:spLocks noGrp="1" noChangeArrowheads="1"/>
          </p:cNvSpPr>
          <p:nvPr>
            <p:ph type="title"/>
          </p:nvPr>
        </p:nvSpPr>
        <p:spPr>
          <a:xfrm>
            <a:off x="309282" y="320265"/>
            <a:ext cx="6669302" cy="531875"/>
          </a:xfrm>
        </p:spPr>
        <p:txBody>
          <a:bodyPr>
            <a:normAutofit fontScale="90000"/>
          </a:bodyPr>
          <a:lstStyle/>
          <a:p>
            <a:pPr eaLnBrk="1" hangingPunct="1"/>
            <a:r>
              <a:rPr lang="tr-TR" cap="none" dirty="0"/>
              <a:t>KORELASYON</a:t>
            </a:r>
            <a:endParaRPr lang="en-US" cap="none" dirty="0"/>
          </a:p>
        </p:txBody>
      </p:sp>
      <p:pic>
        <p:nvPicPr>
          <p:cNvPr id="3" name="Picture 2">
            <a:extLst>
              <a:ext uri="{FF2B5EF4-FFF2-40B4-BE49-F238E27FC236}">
                <a16:creationId xmlns:a16="http://schemas.microsoft.com/office/drawing/2014/main" id="{7492B310-CC69-AD59-5752-66DD54621DAD}"/>
              </a:ext>
            </a:extLst>
          </p:cNvPr>
          <p:cNvPicPr>
            <a:picLocks noChangeAspect="1"/>
          </p:cNvPicPr>
          <p:nvPr/>
        </p:nvPicPr>
        <p:blipFill>
          <a:blip r:embed="rId2"/>
          <a:stretch>
            <a:fillRect/>
          </a:stretch>
        </p:blipFill>
        <p:spPr>
          <a:xfrm>
            <a:off x="1485899" y="1452304"/>
            <a:ext cx="9839855" cy="4531976"/>
          </a:xfrm>
          <a:prstGeom prst="rect">
            <a:avLst/>
          </a:prstGeom>
        </p:spPr>
      </p:pic>
    </p:spTree>
    <p:extLst>
      <p:ext uri="{BB962C8B-B14F-4D97-AF65-F5344CB8AC3E}">
        <p14:creationId xmlns:p14="http://schemas.microsoft.com/office/powerpoint/2010/main" val="1773273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67D4FF-8D4F-E8D3-08DC-875B47B30C4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00156" y="1220931"/>
            <a:ext cx="10591687" cy="2395105"/>
          </a:xfrm>
          <a:prstGeom prst="rect">
            <a:avLst/>
          </a:prstGeom>
        </p:spPr>
      </p:pic>
      <p:sp>
        <p:nvSpPr>
          <p:cNvPr id="28674" name="Rectangle 4"/>
          <p:cNvSpPr>
            <a:spLocks noGrp="1" noChangeArrowheads="1"/>
          </p:cNvSpPr>
          <p:nvPr>
            <p:ph type="title"/>
          </p:nvPr>
        </p:nvSpPr>
        <p:spPr>
          <a:xfrm>
            <a:off x="671914" y="412688"/>
            <a:ext cx="10058400" cy="531875"/>
          </a:xfrm>
        </p:spPr>
        <p:txBody>
          <a:bodyPr>
            <a:normAutofit fontScale="90000"/>
          </a:bodyPr>
          <a:lstStyle/>
          <a:p>
            <a:pPr eaLnBrk="1" hangingPunct="1"/>
            <a:r>
              <a:rPr lang="tr-TR" cap="none" dirty="0"/>
              <a:t>REGRESYON MODELİ ÖZETİ</a:t>
            </a:r>
            <a:endParaRPr lang="en-US" cap="none" dirty="0"/>
          </a:p>
        </p:txBody>
      </p:sp>
      <p:sp>
        <p:nvSpPr>
          <p:cNvPr id="28685" name="Text Box 16"/>
          <p:cNvSpPr txBox="1">
            <a:spLocks noChangeArrowheads="1"/>
          </p:cNvSpPr>
          <p:nvPr/>
        </p:nvSpPr>
        <p:spPr bwMode="auto">
          <a:xfrm>
            <a:off x="241852" y="4009931"/>
            <a:ext cx="11239500" cy="2677656"/>
          </a:xfrm>
          <a:prstGeom prst="rect">
            <a:avLst/>
          </a:prstGeom>
          <a:solidFill>
            <a:schemeClr val="accent1">
              <a:lumMod val="20000"/>
              <a:lumOff val="80000"/>
            </a:schemeClr>
          </a:solidFill>
          <a:ln>
            <a:noFill/>
          </a:ln>
          <a:effectLst/>
        </p:spPr>
        <p:txBody>
          <a:bodyPr wrap="square">
            <a:spAutoFit/>
          </a:bodyP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marL="457200" indent="-457200" algn="l" eaLnBrk="1" hangingPunct="1">
              <a:buFont typeface="Arial" panose="020B0604020202020204" pitchFamily="34" charset="0"/>
              <a:buChar char="•"/>
            </a:pPr>
            <a:r>
              <a:rPr lang="tr-TR" sz="2800" dirty="0"/>
              <a:t>Düzeltilmiş (</a:t>
            </a:r>
            <a:r>
              <a:rPr lang="tr-TR" sz="2800" dirty="0" err="1"/>
              <a:t>adjusted</a:t>
            </a:r>
            <a:r>
              <a:rPr lang="tr-TR" sz="2800" dirty="0"/>
              <a:t>) R</a:t>
            </a:r>
            <a:r>
              <a:rPr lang="tr-TR" sz="2800" baseline="30000" dirty="0"/>
              <a:t>2 </a:t>
            </a:r>
            <a:r>
              <a:rPr lang="tr-TR" sz="2800" dirty="0"/>
              <a:t>modelin </a:t>
            </a:r>
            <a:r>
              <a:rPr lang="tr-TR" sz="2800" dirty="0" err="1"/>
              <a:t>genellenebilirliğini</a:t>
            </a:r>
            <a:r>
              <a:rPr lang="tr-TR" sz="2800" dirty="0"/>
              <a:t> gösteriyor. Yani model örneklem yerine evrenden üretilmiş olsaydı toplam varyansın %62’sini açıklıyor olacaktı. </a:t>
            </a:r>
          </a:p>
          <a:p>
            <a:pPr marL="457200" indent="-457200" algn="l" eaLnBrk="1" hangingPunct="1">
              <a:buFont typeface="Arial" panose="020B0604020202020204" pitchFamily="34" charset="0"/>
              <a:buChar char="•"/>
            </a:pPr>
            <a:endParaRPr lang="tr-TR" sz="2800" dirty="0"/>
          </a:p>
          <a:p>
            <a:pPr marL="457200" indent="-457200" algn="l" eaLnBrk="1" hangingPunct="1">
              <a:buFont typeface="Arial" panose="020B0604020202020204" pitchFamily="34" charset="0"/>
              <a:buChar char="•"/>
            </a:pPr>
            <a:r>
              <a:rPr lang="tr-TR" sz="2800" dirty="0" err="1"/>
              <a:t>Durbin</a:t>
            </a:r>
            <a:r>
              <a:rPr lang="tr-TR" sz="2800" dirty="0"/>
              <a:t> Watson neredeyse 2 yani «hatalar (artıklar) birbirinden bağımsız yani ilişkili değil»</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FD042AD0-BE1F-C94E-890E-702D3530C8CB}"/>
                  </a:ext>
                </a:extLst>
              </p14:cNvPr>
              <p14:cNvContentPartPr/>
              <p14:nvPr/>
            </p14:nvContentPartPr>
            <p14:xfrm>
              <a:off x="4516714" y="3243450"/>
              <a:ext cx="1184400" cy="221760"/>
            </p14:xfrm>
          </p:contentPart>
        </mc:Choice>
        <mc:Fallback xmlns="">
          <p:pic>
            <p:nvPicPr>
              <p:cNvPr id="10" name="Ink 9">
                <a:extLst>
                  <a:ext uri="{FF2B5EF4-FFF2-40B4-BE49-F238E27FC236}">
                    <a16:creationId xmlns:a16="http://schemas.microsoft.com/office/drawing/2014/main" id="{FD042AD0-BE1F-C94E-890E-702D3530C8CB}"/>
                  </a:ext>
                </a:extLst>
              </p:cNvPr>
              <p:cNvPicPr/>
              <p:nvPr/>
            </p:nvPicPr>
            <p:blipFill>
              <a:blip r:embed="rId6"/>
              <a:stretch>
                <a:fillRect/>
              </a:stretch>
            </p:blipFill>
            <p:spPr>
              <a:xfrm>
                <a:off x="4462714" y="3135450"/>
                <a:ext cx="129204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CCB2F19D-10D3-3645-929A-E6011FE59FD9}"/>
                  </a:ext>
                </a:extLst>
              </p14:cNvPr>
              <p14:cNvContentPartPr/>
              <p14:nvPr/>
            </p14:nvContentPartPr>
            <p14:xfrm>
              <a:off x="9187065" y="3279600"/>
              <a:ext cx="1112040" cy="149400"/>
            </p14:xfrm>
          </p:contentPart>
        </mc:Choice>
        <mc:Fallback xmlns="">
          <p:pic>
            <p:nvPicPr>
              <p:cNvPr id="11" name="Ink 10">
                <a:extLst>
                  <a:ext uri="{FF2B5EF4-FFF2-40B4-BE49-F238E27FC236}">
                    <a16:creationId xmlns:a16="http://schemas.microsoft.com/office/drawing/2014/main" id="{CCB2F19D-10D3-3645-929A-E6011FE59FD9}"/>
                  </a:ext>
                </a:extLst>
              </p:cNvPr>
              <p:cNvPicPr/>
              <p:nvPr/>
            </p:nvPicPr>
            <p:blipFill>
              <a:blip r:embed="rId8"/>
              <a:stretch>
                <a:fillRect/>
              </a:stretch>
            </p:blipFill>
            <p:spPr>
              <a:xfrm>
                <a:off x="9133065" y="3171600"/>
                <a:ext cx="1219680" cy="365040"/>
              </a:xfrm>
              <a:prstGeom prst="rect">
                <a:avLst/>
              </a:prstGeom>
            </p:spPr>
          </p:pic>
        </mc:Fallback>
      </mc:AlternateContent>
      <p:pic>
        <p:nvPicPr>
          <p:cNvPr id="3" name="Picture 2">
            <a:extLst>
              <a:ext uri="{FF2B5EF4-FFF2-40B4-BE49-F238E27FC236}">
                <a16:creationId xmlns:a16="http://schemas.microsoft.com/office/drawing/2014/main" id="{3A9EAB98-945D-329F-6DCF-FD54F7E05A55}"/>
              </a:ext>
            </a:extLst>
          </p:cNvPr>
          <p:cNvPicPr>
            <a:picLocks noChangeAspect="1"/>
          </p:cNvPicPr>
          <p:nvPr/>
        </p:nvPicPr>
        <p:blipFill>
          <a:blip r:embed="rId9">
            <a:duotone>
              <a:prstClr val="black"/>
              <a:schemeClr val="accent2">
                <a:tint val="45000"/>
                <a:satMod val="400000"/>
              </a:schemeClr>
            </a:duotone>
            <a:extLst>
              <a:ext uri="{BEBA8EAE-BF5A-486C-A8C5-ECC9F3942E4B}">
                <a14:imgProps xmlns:a14="http://schemas.microsoft.com/office/drawing/2010/main">
                  <a14:imgLayer r:embed="rId10">
                    <a14:imgEffect>
                      <a14:sharpenSoften amount="50000"/>
                    </a14:imgEffect>
                  </a14:imgLayer>
                </a14:imgProps>
              </a:ext>
            </a:extLst>
          </a:blip>
          <a:stretch>
            <a:fillRect/>
          </a:stretch>
        </p:blipFill>
        <p:spPr>
          <a:xfrm>
            <a:off x="8396125" y="944563"/>
            <a:ext cx="3805959" cy="742850"/>
          </a:xfrm>
          <a:prstGeom prst="rect">
            <a:avLst/>
          </a:prstGeom>
        </p:spPr>
      </p:pic>
    </p:spTree>
    <p:extLst>
      <p:ext uri="{BB962C8B-B14F-4D97-AF65-F5344CB8AC3E}">
        <p14:creationId xmlns:p14="http://schemas.microsoft.com/office/powerpoint/2010/main" val="1378410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a:spLocks noGrp="1" noChangeArrowheads="1"/>
          </p:cNvSpPr>
          <p:nvPr>
            <p:ph type="title"/>
          </p:nvPr>
        </p:nvSpPr>
        <p:spPr>
          <a:xfrm>
            <a:off x="307848" y="307934"/>
            <a:ext cx="10058400" cy="997035"/>
          </a:xfrm>
        </p:spPr>
        <p:txBody>
          <a:bodyPr/>
          <a:lstStyle/>
          <a:p>
            <a:pPr eaLnBrk="1" hangingPunct="1"/>
            <a:r>
              <a:rPr lang="tr-TR" dirty="0"/>
              <a:t>ANOVA</a:t>
            </a:r>
            <a:endParaRPr lang="en-US" dirty="0"/>
          </a:p>
        </p:txBody>
      </p:sp>
      <p:sp>
        <p:nvSpPr>
          <p:cNvPr id="29700" name="Text Box 8"/>
          <p:cNvSpPr txBox="1">
            <a:spLocks noChangeArrowheads="1"/>
          </p:cNvSpPr>
          <p:nvPr/>
        </p:nvSpPr>
        <p:spPr bwMode="auto">
          <a:xfrm>
            <a:off x="377952" y="1155660"/>
            <a:ext cx="11506200" cy="1631216"/>
          </a:xfrm>
          <a:prstGeom prst="rect">
            <a:avLst/>
          </a:prstGeom>
          <a:solidFill>
            <a:schemeClr val="bg2">
              <a:lumMod val="90000"/>
            </a:schemeClr>
          </a:solidFill>
          <a:ln>
            <a:noFill/>
          </a:ln>
          <a:effectLst/>
        </p:spPr>
        <p:txBody>
          <a:bodyPr wrap="square">
            <a:spAutoFit/>
          </a:bodyP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eaLnBrk="1" hangingPunct="1"/>
            <a:r>
              <a:rPr lang="tr-TR" dirty="0"/>
              <a:t>F istatistiksel açıdan anlamlı. Regresyon modeli ortalama modelden daha iyi ve en az bir yordayıcı albüm satışlarındaki varyansı anlamlı düzeyde açıklıyor.</a:t>
            </a:r>
          </a:p>
          <a:p>
            <a:pPr algn="l"/>
            <a:r>
              <a:rPr lang="pt-BR" dirty="0"/>
              <a:t>H</a:t>
            </a:r>
            <a:r>
              <a:rPr lang="pt-BR" baseline="-25000" dirty="0"/>
              <a:t>0</a:t>
            </a:r>
            <a:r>
              <a:rPr lang="pt-BR" dirty="0"/>
              <a:t>: β</a:t>
            </a:r>
            <a:r>
              <a:rPr lang="pt-BR" baseline="-25000" dirty="0"/>
              <a:t>1</a:t>
            </a:r>
            <a:r>
              <a:rPr lang="pt-BR" dirty="0"/>
              <a:t> = β</a:t>
            </a:r>
            <a:r>
              <a:rPr lang="pt-BR" baseline="-25000" dirty="0"/>
              <a:t>2</a:t>
            </a:r>
            <a:r>
              <a:rPr lang="pt-BR" dirty="0"/>
              <a:t> = ... = β</a:t>
            </a:r>
            <a:r>
              <a:rPr lang="pt-BR" baseline="-25000" dirty="0"/>
              <a:t>m</a:t>
            </a:r>
            <a:r>
              <a:rPr lang="pt-BR" dirty="0"/>
              <a:t>= 0</a:t>
            </a:r>
            <a:br>
              <a:rPr lang="tr-TR" dirty="0"/>
            </a:br>
            <a:r>
              <a:rPr lang="en-US" dirty="0"/>
              <a:t>H</a:t>
            </a:r>
            <a:r>
              <a:rPr lang="tr-TR" baseline="-25000" dirty="0"/>
              <a:t>1</a:t>
            </a:r>
            <a:r>
              <a:rPr lang="en-US" dirty="0"/>
              <a:t>: </a:t>
            </a:r>
            <a:r>
              <a:rPr lang="tr-TR" dirty="0"/>
              <a:t>En azından bir tahmin değişkeninin katsayısı</a:t>
            </a:r>
            <a:r>
              <a:rPr lang="en-US" dirty="0"/>
              <a:t> β</a:t>
            </a:r>
            <a:r>
              <a:rPr lang="en-US" baseline="-25000" dirty="0"/>
              <a:t>1</a:t>
            </a:r>
            <a:r>
              <a:rPr lang="en-US" dirty="0"/>
              <a:t>, β</a:t>
            </a:r>
            <a:r>
              <a:rPr lang="en-US" baseline="-25000" dirty="0"/>
              <a:t>2</a:t>
            </a:r>
            <a:r>
              <a:rPr lang="en-US" dirty="0"/>
              <a:t> , ... or β</a:t>
            </a:r>
            <a:r>
              <a:rPr lang="en-US" baseline="-25000" dirty="0"/>
              <a:t>m</a:t>
            </a:r>
            <a:r>
              <a:rPr lang="en-US" dirty="0"/>
              <a:t> is </a:t>
            </a:r>
            <a:r>
              <a:rPr lang="tr-TR" dirty="0"/>
              <a:t>sıfırdan farklıdır</a:t>
            </a:r>
            <a:r>
              <a:rPr lang="en-US" dirty="0"/>
              <a:t>.</a:t>
            </a:r>
            <a:endParaRPr lang="tr-TR" dirty="0"/>
          </a:p>
          <a:p>
            <a:pPr algn="l"/>
            <a:endParaRPr lang="tr-TR" dirty="0"/>
          </a:p>
        </p:txBody>
      </p:sp>
      <p:pic>
        <p:nvPicPr>
          <p:cNvPr id="3" name="Picture 2">
            <a:extLst>
              <a:ext uri="{FF2B5EF4-FFF2-40B4-BE49-F238E27FC236}">
                <a16:creationId xmlns:a16="http://schemas.microsoft.com/office/drawing/2014/main" id="{698C3072-D8B2-BA10-9FA8-194BEE697FB2}"/>
              </a:ext>
            </a:extLst>
          </p:cNvPr>
          <p:cNvPicPr>
            <a:picLocks noChangeAspect="1"/>
          </p:cNvPicPr>
          <p:nvPr/>
        </p:nvPicPr>
        <p:blipFill>
          <a:blip r:embed="rId3"/>
          <a:stretch>
            <a:fillRect/>
          </a:stretch>
        </p:blipFill>
        <p:spPr>
          <a:xfrm>
            <a:off x="571749" y="3071766"/>
            <a:ext cx="11118605" cy="2923117"/>
          </a:xfrm>
          <a:prstGeom prst="rect">
            <a:avLst/>
          </a:prstGeom>
        </p:spPr>
      </p:pic>
    </p:spTree>
    <p:extLst>
      <p:ext uri="{BB962C8B-B14F-4D97-AF65-F5344CB8AC3E}">
        <p14:creationId xmlns:p14="http://schemas.microsoft.com/office/powerpoint/2010/main" val="2964630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4FD886-A3E6-48FC-C27B-CC0AD0C2472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884875" y="664088"/>
            <a:ext cx="9622366" cy="2655285"/>
          </a:xfrm>
          <a:prstGeom prst="rect">
            <a:avLst/>
          </a:prstGeom>
        </p:spPr>
      </p:pic>
      <p:sp>
        <p:nvSpPr>
          <p:cNvPr id="31746" name="Rectangle 4"/>
          <p:cNvSpPr>
            <a:spLocks noGrp="1" noChangeArrowheads="1"/>
          </p:cNvSpPr>
          <p:nvPr>
            <p:ph type="title"/>
          </p:nvPr>
        </p:nvSpPr>
        <p:spPr>
          <a:xfrm>
            <a:off x="206746" y="170555"/>
            <a:ext cx="10058400" cy="550925"/>
          </a:xfrm>
        </p:spPr>
        <p:txBody>
          <a:bodyPr>
            <a:normAutofit fontScale="90000"/>
          </a:bodyPr>
          <a:lstStyle/>
          <a:p>
            <a:pPr eaLnBrk="1" hangingPunct="1"/>
            <a:r>
              <a:rPr lang="tr-TR" cap="none" dirty="0"/>
              <a:t>MODEL PARAMETRELERİ</a:t>
            </a:r>
            <a:endParaRPr lang="en-US" cap="none" dirty="0"/>
          </a:p>
        </p:txBody>
      </p:sp>
      <p:sp>
        <p:nvSpPr>
          <p:cNvPr id="31748" name="Text Box 7"/>
          <p:cNvSpPr txBox="1">
            <a:spLocks noChangeArrowheads="1"/>
          </p:cNvSpPr>
          <p:nvPr/>
        </p:nvSpPr>
        <p:spPr bwMode="auto">
          <a:xfrm>
            <a:off x="419408" y="3315520"/>
            <a:ext cx="10553301" cy="3754874"/>
          </a:xfrm>
          <a:prstGeom prst="rect">
            <a:avLst/>
          </a:prstGeom>
          <a:noFill/>
          <a:ln w="9525">
            <a:noFill/>
            <a:miter lim="800000"/>
            <a:headEnd/>
            <a:tailEnd/>
          </a:ln>
          <a:effectLst/>
        </p:spPr>
        <p:txBody>
          <a:bodyPr wrap="square">
            <a:spAutoFit/>
          </a:bodyPr>
          <a:lstStyle>
            <a:lvl1pPr algn="ctr">
              <a:defRPr sz="2000">
                <a:solidFill>
                  <a:schemeClr val="tx1"/>
                </a:solidFill>
                <a:latin typeface="Arial" panose="020B0604020202020204" pitchFamily="34" charset="0"/>
              </a:defRPr>
            </a:lvl1pPr>
            <a:lvl2pPr marL="742950" indent="-285750" algn="ctr">
              <a:defRPr sz="2000">
                <a:solidFill>
                  <a:schemeClr val="tx1"/>
                </a:solidFill>
                <a:latin typeface="Arial" panose="020B0604020202020204" pitchFamily="34" charset="0"/>
              </a:defRPr>
            </a:lvl2pPr>
            <a:lvl3pPr marL="1143000" indent="-228600" algn="ctr">
              <a:defRPr sz="2000">
                <a:solidFill>
                  <a:schemeClr val="tx1"/>
                </a:solidFill>
                <a:latin typeface="Arial" panose="020B0604020202020204" pitchFamily="34" charset="0"/>
              </a:defRPr>
            </a:lvl3pPr>
            <a:lvl4pPr marL="1600200" indent="-228600" algn="ctr">
              <a:defRPr sz="2000">
                <a:solidFill>
                  <a:schemeClr val="tx1"/>
                </a:solidFill>
                <a:latin typeface="Arial" panose="020B0604020202020204" pitchFamily="34" charset="0"/>
              </a:defRPr>
            </a:lvl4pPr>
            <a:lvl5pPr marL="2057400" indent="-228600" algn="ctr">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marL="342900" indent="-342900" algn="l" eaLnBrk="1" hangingPunct="1">
              <a:buClr>
                <a:schemeClr val="accent2"/>
              </a:buClr>
              <a:buFont typeface="Wingdings" panose="05000000000000000000" pitchFamily="2" charset="2"/>
              <a:buChar char="§"/>
            </a:pPr>
            <a:r>
              <a:rPr lang="tr-TR" dirty="0"/>
              <a:t>B0 </a:t>
            </a:r>
            <a:r>
              <a:rPr lang="tr-TR" noProof="0" dirty="0"/>
              <a:t>bu, reklama hiç para harcanmadığında, radyoda hiç çalınmadığında (X = 0 olduğunda), modelin 40409 (40,409x1000) albüm satılacağını öngördüğü şeklinde yorumlanabilir.</a:t>
            </a:r>
            <a:endParaRPr lang="tr-TR" dirty="0"/>
          </a:p>
          <a:p>
            <a:pPr marL="342900" indent="-342900" algn="l" eaLnBrk="1" hangingPunct="1">
              <a:buClr>
                <a:schemeClr val="accent2"/>
              </a:buClr>
              <a:buFont typeface="Wingdings" panose="05000000000000000000" pitchFamily="2" charset="2"/>
              <a:buChar char="§"/>
            </a:pPr>
            <a:r>
              <a:rPr lang="tr-TR" dirty="0"/>
              <a:t>Modelde 1 (x1000) birimlik bir reklam harcamasıyla fazladan 85 (0,085x1000) albüm satılacağı tahmin ediliyor. </a:t>
            </a:r>
          </a:p>
          <a:p>
            <a:pPr marL="342900" indent="-342900" algn="l" eaLnBrk="1" hangingPunct="1">
              <a:buClr>
                <a:schemeClr val="accent2"/>
              </a:buClr>
              <a:buFont typeface="Wingdings" panose="05000000000000000000" pitchFamily="2" charset="2"/>
              <a:buChar char="§"/>
            </a:pPr>
            <a:r>
              <a:rPr lang="tr-TR" dirty="0"/>
              <a:t>Radyoda 1 kere daha fazla çalındığında 3588  (3,588x1000) adet fazla albüm satılıyor.</a:t>
            </a:r>
          </a:p>
          <a:p>
            <a:pPr marL="342900" indent="-342900" algn="l" eaLnBrk="1" hangingPunct="1">
              <a:buClr>
                <a:schemeClr val="accent2"/>
              </a:buClr>
              <a:buFont typeface="Wingdings" panose="05000000000000000000" pitchFamily="2" charset="2"/>
              <a:buChar char="§"/>
            </a:pPr>
            <a:r>
              <a:rPr lang="tr-TR" dirty="0"/>
              <a:t>Albümün satıldığı yerin etkisi anlamlı değil. Ama şöyle yorumlanıyor: Beta katsayısı pozitif olduğu için Avrupa’daki satışlar ABD’deki satışlardan 3311 adet daha fazla. Ancak söz konusu yordayıcının etkisi anlamlı değil!</a:t>
            </a:r>
          </a:p>
          <a:p>
            <a:pPr marL="342900" indent="-342900" algn="l" eaLnBrk="1" hangingPunct="1">
              <a:buClr>
                <a:schemeClr val="accent2"/>
              </a:buClr>
              <a:buFont typeface="Wingdings" panose="05000000000000000000" pitchFamily="2" charset="2"/>
              <a:buChar char="§"/>
            </a:pPr>
            <a:r>
              <a:rPr lang="tr-TR" dirty="0"/>
              <a:t>Modelimiz için regresyon formülü:</a:t>
            </a:r>
            <a:endParaRPr lang="tr-TR" sz="1800" b="1" dirty="0">
              <a:solidFill>
                <a:srgbClr val="C00000"/>
              </a:solidFill>
            </a:endParaRPr>
          </a:p>
          <a:p>
            <a:pPr>
              <a:buClr>
                <a:schemeClr val="accent2"/>
              </a:buClr>
            </a:pPr>
            <a:r>
              <a:rPr lang="tr-TR" sz="1800" b="1" dirty="0">
                <a:solidFill>
                  <a:srgbClr val="C00000"/>
                </a:solidFill>
              </a:rPr>
              <a:t>Albüm satışları = 40,409+ (0,085 x Reklam bütçesi) + (3,588 x Radyoda çalınma) + (3,311 x Yer)</a:t>
            </a:r>
            <a:endParaRPr lang="tr-TR" sz="1600" b="1" dirty="0">
              <a:solidFill>
                <a:srgbClr val="C00000"/>
              </a:solidFill>
            </a:endParaRPr>
          </a:p>
          <a:p>
            <a:pPr eaLnBrk="1" hangingPunct="1"/>
            <a:r>
              <a:rPr lang="tr-TR" dirty="0"/>
              <a:t>  </a:t>
            </a:r>
            <a:endParaRPr lang="en-US" dirty="0"/>
          </a:p>
        </p:txBody>
      </p:sp>
      <p:sp>
        <p:nvSpPr>
          <p:cNvPr id="4" name="Oval 3">
            <a:extLst>
              <a:ext uri="{FF2B5EF4-FFF2-40B4-BE49-F238E27FC236}">
                <a16:creationId xmlns:a16="http://schemas.microsoft.com/office/drawing/2014/main" id="{47BE5A21-97CA-CEA1-D567-71B43D28105D}"/>
              </a:ext>
            </a:extLst>
          </p:cNvPr>
          <p:cNvSpPr/>
          <p:nvPr/>
        </p:nvSpPr>
        <p:spPr>
          <a:xfrm>
            <a:off x="3268134" y="2057399"/>
            <a:ext cx="1083734" cy="990602"/>
          </a:xfrm>
          <a:prstGeom prst="ellipse">
            <a:avLst/>
          </a:prstGeom>
          <a:solidFill>
            <a:schemeClr val="accent1">
              <a:alpha val="1394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27524E06-A546-13AE-74F1-2E50FC11AF0F}"/>
              </a:ext>
            </a:extLst>
          </p:cNvPr>
          <p:cNvSpPr/>
          <p:nvPr/>
        </p:nvSpPr>
        <p:spPr>
          <a:xfrm>
            <a:off x="7586134" y="2057400"/>
            <a:ext cx="1083734" cy="990601"/>
          </a:xfrm>
          <a:prstGeom prst="ellipse">
            <a:avLst/>
          </a:prstGeom>
          <a:solidFill>
            <a:schemeClr val="accent1">
              <a:alpha val="1394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0889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97012" y="413003"/>
            <a:ext cx="11122152" cy="1609344"/>
          </a:xfrm>
        </p:spPr>
        <p:txBody>
          <a:bodyPr/>
          <a:lstStyle/>
          <a:p>
            <a:pPr eaLnBrk="1" hangingPunct="1"/>
            <a:r>
              <a:rPr lang="tr-TR" cap="none" dirty="0"/>
              <a:t>MODEL PARAMETRELERİ </a:t>
            </a:r>
            <a:r>
              <a:rPr lang="tr-TR" sz="2400" cap="none" dirty="0"/>
              <a:t>(DEVAM)</a:t>
            </a:r>
            <a:endParaRPr lang="en-US" cap="none" dirty="0"/>
          </a:p>
        </p:txBody>
      </p:sp>
      <p:sp>
        <p:nvSpPr>
          <p:cNvPr id="32771" name="Rectangle 3"/>
          <p:cNvSpPr>
            <a:spLocks noGrp="1" noChangeArrowheads="1"/>
          </p:cNvSpPr>
          <p:nvPr>
            <p:ph idx="1"/>
          </p:nvPr>
        </p:nvSpPr>
        <p:spPr>
          <a:xfrm>
            <a:off x="612648" y="2338370"/>
            <a:ext cx="7413752" cy="4050792"/>
          </a:xfrm>
        </p:spPr>
        <p:txBody>
          <a:bodyPr>
            <a:normAutofit/>
          </a:bodyPr>
          <a:lstStyle/>
          <a:p>
            <a:pPr eaLnBrk="1" hangingPunct="1">
              <a:lnSpc>
                <a:spcPct val="80000"/>
              </a:lnSpc>
            </a:pPr>
            <a:r>
              <a:rPr lang="tr-TR" dirty="0"/>
              <a:t>b değerleri albüm satışlarıyla her tahmin değişkeni arasındaki ilişkiyi gösteriyor (pozitif veya negatif).</a:t>
            </a:r>
          </a:p>
          <a:p>
            <a:pPr eaLnBrk="1" hangingPunct="1">
              <a:lnSpc>
                <a:spcPct val="80000"/>
              </a:lnSpc>
            </a:pPr>
            <a:r>
              <a:rPr lang="tr-TR" dirty="0"/>
              <a:t>Yani reklam bütçesi arttıkça albüm satışları artıyor; radyoda çalınma sayısı için de aynı şey geçerli</a:t>
            </a:r>
          </a:p>
          <a:p>
            <a:pPr eaLnBrk="1" hangingPunct="1">
              <a:lnSpc>
                <a:spcPct val="80000"/>
              </a:lnSpc>
            </a:pPr>
            <a:r>
              <a:rPr lang="tr-TR" dirty="0"/>
              <a:t>Dahası b değerleri bize tüm diğer tahmin değerlerinin etkisi sabit tutulduğunda her tahmin değişkeninin bağımlı değişkeni ne derece yordadığını  gösterir (reklam bütçesi 0,085, radyoda çalınma sayısı 3,588</a:t>
            </a:r>
          </a:p>
          <a:p>
            <a:pPr eaLnBrk="1" hangingPunct="1">
              <a:lnSpc>
                <a:spcPct val="80000"/>
              </a:lnSpc>
            </a:pPr>
            <a:r>
              <a:rPr lang="tr-TR" dirty="0"/>
              <a:t>Kategorik değişken için ise Avrupa'daki satışlar ABD’dekilerden 3311 adet fazladır. </a:t>
            </a:r>
          </a:p>
          <a:p>
            <a:pPr lvl="1">
              <a:lnSpc>
                <a:spcPct val="80000"/>
              </a:lnSpc>
            </a:pPr>
            <a:r>
              <a:rPr lang="tr-TR" dirty="0">
                <a:solidFill>
                  <a:srgbClr val="C00000"/>
                </a:solidFill>
              </a:rPr>
              <a:t>JASP analiz sırasında ilk kategoriyi referans grubu olarak kabul ediyor</a:t>
            </a:r>
            <a:endParaRPr lang="en-US" dirty="0">
              <a:solidFill>
                <a:srgbClr val="C00000"/>
              </a:solidFill>
            </a:endParaRPr>
          </a:p>
        </p:txBody>
      </p:sp>
      <p:pic>
        <p:nvPicPr>
          <p:cNvPr id="3" name="Picture 2">
            <a:extLst>
              <a:ext uri="{FF2B5EF4-FFF2-40B4-BE49-F238E27FC236}">
                <a16:creationId xmlns:a16="http://schemas.microsoft.com/office/drawing/2014/main" id="{04A00868-BBB9-3E5F-A0A5-3E3CE7981D10}"/>
              </a:ext>
            </a:extLst>
          </p:cNvPr>
          <p:cNvPicPr>
            <a:picLocks noChangeAspect="1"/>
          </p:cNvPicPr>
          <p:nvPr/>
        </p:nvPicPr>
        <p:blipFill>
          <a:blip r:embed="rId2"/>
          <a:stretch>
            <a:fillRect/>
          </a:stretch>
        </p:blipFill>
        <p:spPr>
          <a:xfrm>
            <a:off x="8518652" y="2786289"/>
            <a:ext cx="3060700" cy="1752600"/>
          </a:xfrm>
          <a:prstGeom prst="rect">
            <a:avLst/>
          </a:prstGeom>
        </p:spPr>
      </p:pic>
    </p:spTree>
    <p:extLst>
      <p:ext uri="{BB962C8B-B14F-4D97-AF65-F5344CB8AC3E}">
        <p14:creationId xmlns:p14="http://schemas.microsoft.com/office/powerpoint/2010/main" val="3865360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24996" y="214809"/>
            <a:ext cx="11563804" cy="1609344"/>
          </a:xfrm>
        </p:spPr>
        <p:txBody>
          <a:bodyPr>
            <a:normAutofit/>
          </a:bodyPr>
          <a:lstStyle/>
          <a:p>
            <a:pPr eaLnBrk="1" hangingPunct="1"/>
            <a:r>
              <a:rPr lang="tr-TR" sz="3600" b="1" cap="none" dirty="0"/>
              <a:t>TAHMİN EDİCİLER ARASINDAKİ KORELASYON (COLLINEARITY)</a:t>
            </a:r>
            <a:endParaRPr lang="en-US" sz="3600" b="1" cap="none" dirty="0"/>
          </a:p>
        </p:txBody>
      </p:sp>
      <p:sp>
        <p:nvSpPr>
          <p:cNvPr id="35843" name="Rectangle 3"/>
          <p:cNvSpPr>
            <a:spLocks noGrp="1" noChangeArrowheads="1"/>
          </p:cNvSpPr>
          <p:nvPr>
            <p:ph idx="1"/>
          </p:nvPr>
        </p:nvSpPr>
        <p:spPr>
          <a:xfrm>
            <a:off x="765048" y="1824153"/>
            <a:ext cx="10058400" cy="2908291"/>
          </a:xfrm>
        </p:spPr>
        <p:txBody>
          <a:bodyPr>
            <a:noAutofit/>
          </a:bodyPr>
          <a:lstStyle/>
          <a:p>
            <a:r>
              <a:rPr lang="tr-TR" sz="2200" dirty="0"/>
              <a:t>Burada istediğimiz tahmin değişkenleri (bağımsız değişkenler) arasında mükemmel doğrusal ilişki olmaması</a:t>
            </a:r>
          </a:p>
          <a:p>
            <a:pPr eaLnBrk="1" hangingPunct="1"/>
            <a:r>
              <a:rPr lang="tr-TR" sz="2200" dirty="0" err="1"/>
              <a:t>Varyans</a:t>
            </a:r>
            <a:r>
              <a:rPr lang="tr-TR" sz="2200" dirty="0"/>
              <a:t> Enflasyon Faktörü (VIF) 10,00’ın üzerinde olmaması gerekir</a:t>
            </a:r>
          </a:p>
          <a:p>
            <a:pPr eaLnBrk="1" hangingPunct="1"/>
            <a:r>
              <a:rPr lang="tr-TR" sz="2200" dirty="0"/>
              <a:t>Tolerans istatistikleri de 0,2’nin altında olmaması gerekir (</a:t>
            </a:r>
            <a:r>
              <a:rPr lang="tr-TR" sz="2200" dirty="0" err="1"/>
              <a:t>Field</a:t>
            </a:r>
            <a:r>
              <a:rPr lang="tr-TR" sz="2200" dirty="0"/>
              <a:t>, 2009)</a:t>
            </a:r>
            <a:endParaRPr lang="en-US" sz="2200" dirty="0"/>
          </a:p>
        </p:txBody>
      </p:sp>
      <p:pic>
        <p:nvPicPr>
          <p:cNvPr id="8" name="Picture 7">
            <a:extLst>
              <a:ext uri="{FF2B5EF4-FFF2-40B4-BE49-F238E27FC236}">
                <a16:creationId xmlns:a16="http://schemas.microsoft.com/office/drawing/2014/main" id="{64BB5B1E-F5E6-0C1C-6618-05263C3E8A71}"/>
              </a:ext>
            </a:extLst>
          </p:cNvPr>
          <p:cNvPicPr>
            <a:picLocks noChangeAspect="1"/>
          </p:cNvPicPr>
          <p:nvPr/>
        </p:nvPicPr>
        <p:blipFill>
          <a:blip r:embed="rId2"/>
          <a:stretch>
            <a:fillRect/>
          </a:stretch>
        </p:blipFill>
        <p:spPr>
          <a:xfrm>
            <a:off x="765048" y="3433497"/>
            <a:ext cx="10435636" cy="2908291"/>
          </a:xfrm>
          <a:prstGeom prst="rect">
            <a:avLst/>
          </a:prstGeom>
        </p:spPr>
      </p:pic>
      <p:sp>
        <p:nvSpPr>
          <p:cNvPr id="13" name="Oval 12">
            <a:extLst>
              <a:ext uri="{FF2B5EF4-FFF2-40B4-BE49-F238E27FC236}">
                <a16:creationId xmlns:a16="http://schemas.microsoft.com/office/drawing/2014/main" id="{252D0348-4910-E9F0-9860-BD38E127B45A}"/>
              </a:ext>
            </a:extLst>
          </p:cNvPr>
          <p:cNvSpPr/>
          <p:nvPr/>
        </p:nvSpPr>
        <p:spPr>
          <a:xfrm>
            <a:off x="8839200" y="3433498"/>
            <a:ext cx="2587752" cy="2730236"/>
          </a:xfrm>
          <a:prstGeom prst="ellipse">
            <a:avLst/>
          </a:prstGeom>
          <a:solidFill>
            <a:schemeClr val="accent1">
              <a:alpha val="1394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73198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2616199" y="587838"/>
            <a:ext cx="7112001" cy="707562"/>
          </a:xfrm>
          <a:solidFill>
            <a:schemeClr val="accent3">
              <a:lumMod val="20000"/>
              <a:lumOff val="80000"/>
            </a:schemeClr>
          </a:solidFill>
        </p:spPr>
        <p:txBody>
          <a:bodyPr>
            <a:noAutofit/>
          </a:bodyPr>
          <a:lstStyle/>
          <a:p>
            <a:pPr algn="ctr"/>
            <a:r>
              <a:rPr lang="tr-TR" sz="2400" cap="none" dirty="0"/>
              <a:t>Artıklar (</a:t>
            </a:r>
            <a:r>
              <a:rPr lang="tr-TR" sz="2400" cap="none" dirty="0" err="1"/>
              <a:t>Resıduals</a:t>
            </a:r>
            <a:r>
              <a:rPr lang="tr-TR" sz="2400" cap="none" dirty="0"/>
              <a:t>) Normal Dağılmış</a:t>
            </a:r>
            <a:endParaRPr lang="en-US" sz="2400" cap="none" dirty="0"/>
          </a:p>
        </p:txBody>
      </p:sp>
      <p:sp>
        <p:nvSpPr>
          <p:cNvPr id="11" name="Metin kutusu 10"/>
          <p:cNvSpPr txBox="1"/>
          <p:nvPr/>
        </p:nvSpPr>
        <p:spPr>
          <a:xfrm>
            <a:off x="8178800" y="4440323"/>
            <a:ext cx="3201517" cy="369332"/>
          </a:xfrm>
          <a:prstGeom prst="rect">
            <a:avLst/>
          </a:prstGeom>
          <a:noFill/>
        </p:spPr>
        <p:txBody>
          <a:bodyPr wrap="none" rtlCol="0">
            <a:spAutoFit/>
          </a:bodyPr>
          <a:lstStyle/>
          <a:p>
            <a:r>
              <a:rPr lang="tr-TR" dirty="0"/>
              <a:t>Q-Q </a:t>
            </a:r>
            <a:r>
              <a:rPr lang="tr-TR" dirty="0" err="1"/>
              <a:t>Plot</a:t>
            </a:r>
            <a:r>
              <a:rPr lang="tr-TR" dirty="0"/>
              <a:t>, çizgisel bir şekilde.</a:t>
            </a:r>
            <a:endParaRPr lang="en-US"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CC39C23-53CB-B14A-A8C3-DD7B0BC8DE3B}"/>
                  </a:ext>
                </a:extLst>
              </p14:cNvPr>
              <p14:cNvContentPartPr/>
              <p14:nvPr/>
            </p14:nvContentPartPr>
            <p14:xfrm>
              <a:off x="2207332" y="3718868"/>
              <a:ext cx="360" cy="360"/>
            </p14:xfrm>
          </p:contentPart>
        </mc:Choice>
        <mc:Fallback xmlns="">
          <p:pic>
            <p:nvPicPr>
              <p:cNvPr id="2" name="Ink 1">
                <a:extLst>
                  <a:ext uri="{FF2B5EF4-FFF2-40B4-BE49-F238E27FC236}">
                    <a16:creationId xmlns:a16="http://schemas.microsoft.com/office/drawing/2014/main" id="{5CC39C23-53CB-B14A-A8C3-DD7B0BC8DE3B}"/>
                  </a:ext>
                </a:extLst>
              </p:cNvPr>
              <p:cNvPicPr/>
              <p:nvPr/>
            </p:nvPicPr>
            <p:blipFill>
              <a:blip r:embed="rId3"/>
              <a:stretch>
                <a:fillRect/>
              </a:stretch>
            </p:blipFill>
            <p:spPr>
              <a:xfrm>
                <a:off x="2153692" y="3611228"/>
                <a:ext cx="108000" cy="216000"/>
              </a:xfrm>
              <a:prstGeom prst="rect">
                <a:avLst/>
              </a:prstGeom>
            </p:spPr>
          </p:pic>
        </mc:Fallback>
      </mc:AlternateContent>
      <p:pic>
        <p:nvPicPr>
          <p:cNvPr id="7" name="Picture 6">
            <a:extLst>
              <a:ext uri="{FF2B5EF4-FFF2-40B4-BE49-F238E27FC236}">
                <a16:creationId xmlns:a16="http://schemas.microsoft.com/office/drawing/2014/main" id="{4853A0C1-FCAB-2F94-571F-5954B10DBC4E}"/>
              </a:ext>
            </a:extLst>
          </p:cNvPr>
          <p:cNvPicPr>
            <a:picLocks noChangeAspect="1"/>
          </p:cNvPicPr>
          <p:nvPr/>
        </p:nvPicPr>
        <p:blipFill>
          <a:blip r:embed="rId4"/>
          <a:stretch>
            <a:fillRect/>
          </a:stretch>
        </p:blipFill>
        <p:spPr>
          <a:xfrm>
            <a:off x="2207332" y="1476400"/>
            <a:ext cx="5347728" cy="4774757"/>
          </a:xfrm>
          <a:prstGeom prst="rect">
            <a:avLst/>
          </a:prstGeom>
        </p:spPr>
      </p:pic>
    </p:spTree>
    <p:extLst>
      <p:ext uri="{BB962C8B-B14F-4D97-AF65-F5344CB8AC3E}">
        <p14:creationId xmlns:p14="http://schemas.microsoft.com/office/powerpoint/2010/main" val="3269091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976C14-E58D-88F5-E86D-B2CF9CDC198D}"/>
              </a:ext>
            </a:extLst>
          </p:cNvPr>
          <p:cNvPicPr>
            <a:picLocks noChangeAspect="1"/>
          </p:cNvPicPr>
          <p:nvPr/>
        </p:nvPicPr>
        <p:blipFill>
          <a:blip r:embed="rId2"/>
          <a:stretch>
            <a:fillRect/>
          </a:stretch>
        </p:blipFill>
        <p:spPr>
          <a:xfrm>
            <a:off x="1791521" y="1628004"/>
            <a:ext cx="6766161" cy="5229996"/>
          </a:xfrm>
          <a:prstGeom prst="rect">
            <a:avLst/>
          </a:prstGeom>
        </p:spPr>
      </p:pic>
      <p:sp>
        <p:nvSpPr>
          <p:cNvPr id="6" name="Metin kutusu 5"/>
          <p:cNvSpPr txBox="1"/>
          <p:nvPr/>
        </p:nvSpPr>
        <p:spPr>
          <a:xfrm>
            <a:off x="2606028" y="676187"/>
            <a:ext cx="6537972" cy="461665"/>
          </a:xfrm>
          <a:prstGeom prst="rect">
            <a:avLst/>
          </a:prstGeom>
          <a:solidFill>
            <a:schemeClr val="accent3">
              <a:lumMod val="20000"/>
              <a:lumOff val="80000"/>
            </a:schemeClr>
          </a:solidFill>
        </p:spPr>
        <p:txBody>
          <a:bodyPr wrap="square" rtlCol="0">
            <a:spAutoFit/>
          </a:bodyPr>
          <a:lstStyle/>
          <a:p>
            <a:r>
              <a:rPr lang="tr-TR" sz="2400" dirty="0"/>
              <a:t>Artıkların </a:t>
            </a:r>
            <a:r>
              <a:rPr lang="tr-TR" sz="2400" dirty="0" err="1"/>
              <a:t>varyansı</a:t>
            </a:r>
            <a:r>
              <a:rPr lang="tr-TR" sz="2400" dirty="0"/>
              <a:t> homojen dağılmaktadır</a:t>
            </a:r>
            <a:endParaRPr lang="en-US" sz="2400" dirty="0"/>
          </a:p>
        </p:txBody>
      </p:sp>
    </p:spTree>
    <p:extLst>
      <p:ext uri="{BB962C8B-B14F-4D97-AF65-F5344CB8AC3E}">
        <p14:creationId xmlns:p14="http://schemas.microsoft.com/office/powerpoint/2010/main" val="377474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85AF6-A9F5-53A2-FC3A-7E909DAD7107}"/>
              </a:ext>
            </a:extLst>
          </p:cNvPr>
          <p:cNvSpPr>
            <a:spLocks noGrp="1"/>
          </p:cNvSpPr>
          <p:nvPr>
            <p:ph type="title"/>
          </p:nvPr>
        </p:nvSpPr>
        <p:spPr>
          <a:xfrm>
            <a:off x="204724" y="395762"/>
            <a:ext cx="11782552" cy="1492731"/>
          </a:xfrm>
          <a:solidFill>
            <a:srgbClr val="FFB45E"/>
          </a:solidFill>
        </p:spPr>
        <p:txBody>
          <a:bodyPr>
            <a:noAutofit/>
          </a:bodyPr>
          <a:lstStyle/>
          <a:p>
            <a:pPr marL="457200" indent="-457200">
              <a:buFont typeface="+mj-lt"/>
              <a:buAutoNum type="arabicPeriod"/>
            </a:pPr>
            <a:r>
              <a:rPr lang="tr-TR" sz="2400" dirty="0" err="1">
                <a:latin typeface="Trebuchet MS" panose="020B0703020202090204" pitchFamily="34" charset="0"/>
                <a:cs typeface="Calibri" panose="020F0502020204030204" pitchFamily="34" charset="0"/>
              </a:rPr>
              <a:t>Cook</a:t>
            </a:r>
            <a:r>
              <a:rPr lang="tr-TR" sz="2400" dirty="0">
                <a:latin typeface="Trebuchet MS" panose="020B0703020202090204" pitchFamily="34" charset="0"/>
                <a:cs typeface="Calibri" panose="020F0502020204030204" pitchFamily="34" charset="0"/>
              </a:rPr>
              <a:t> Mesafesini Kontrol Ediniz:  4/(n-k-1)=4/(200-3-1)=0,02’ten büyük değerleri inceleyelim</a:t>
            </a:r>
            <a:br>
              <a:rPr lang="tr-TR" sz="2400" dirty="0">
                <a:latin typeface="Trebuchet MS" panose="020B0703020202090204" pitchFamily="34" charset="0"/>
                <a:cs typeface="Calibri" panose="020F0502020204030204" pitchFamily="34" charset="0"/>
              </a:rPr>
            </a:br>
            <a:r>
              <a:rPr lang="tr-TR" sz="2400" dirty="0">
                <a:latin typeface="Trebuchet MS" panose="020B0703020202090204" pitchFamily="34" charset="0"/>
                <a:cs typeface="Calibri" panose="020F0502020204030204" pitchFamily="34" charset="0"/>
              </a:rPr>
              <a:t>Aynı gözlem değerlerinin mutlak standardize edilmiş artıkları 3’ten büyük olmamalı</a:t>
            </a:r>
          </a:p>
        </p:txBody>
      </p:sp>
      <p:pic>
        <p:nvPicPr>
          <p:cNvPr id="6" name="Picture 5">
            <a:extLst>
              <a:ext uri="{FF2B5EF4-FFF2-40B4-BE49-F238E27FC236}">
                <a16:creationId xmlns:a16="http://schemas.microsoft.com/office/drawing/2014/main" id="{E9F4A4B3-2313-BA3A-1C07-17E2EA8AE607}"/>
              </a:ext>
            </a:extLst>
          </p:cNvPr>
          <p:cNvPicPr>
            <a:picLocks noChangeAspect="1"/>
          </p:cNvPicPr>
          <p:nvPr/>
        </p:nvPicPr>
        <p:blipFill>
          <a:blip r:embed="rId3"/>
          <a:stretch>
            <a:fillRect/>
          </a:stretch>
        </p:blipFill>
        <p:spPr>
          <a:xfrm>
            <a:off x="1753849" y="1924953"/>
            <a:ext cx="7779999" cy="4537285"/>
          </a:xfrm>
          <a:prstGeom prst="rect">
            <a:avLst/>
          </a:prstGeom>
        </p:spPr>
      </p:pic>
    </p:spTree>
    <p:extLst>
      <p:ext uri="{BB962C8B-B14F-4D97-AF65-F5344CB8AC3E}">
        <p14:creationId xmlns:p14="http://schemas.microsoft.com/office/powerpoint/2010/main" val="28386356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{4133AA45-3ECC-6F4F-B25B-F633B815C023}tf10001070</Template>
  <TotalTime>4692</TotalTime>
  <Words>1367</Words>
  <Application>Microsoft Macintosh PowerPoint</Application>
  <PresentationFormat>Widescreen</PresentationFormat>
  <Paragraphs>104</Paragraphs>
  <Slides>20</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Al Nile</vt:lpstr>
      <vt:lpstr>Arial</vt:lpstr>
      <vt:lpstr>Calibri</vt:lpstr>
      <vt:lpstr>Cambria Math</vt:lpstr>
      <vt:lpstr>Georgia</vt:lpstr>
      <vt:lpstr>Rockwell Extra Bold</vt:lpstr>
      <vt:lpstr>Times New Roman</vt:lpstr>
      <vt:lpstr>Trebuchet MS</vt:lpstr>
      <vt:lpstr>Wingdings</vt:lpstr>
      <vt:lpstr>Wood Type</vt:lpstr>
      <vt:lpstr>Regresyon</vt:lpstr>
      <vt:lpstr>Çoklu Regresyon Analizi</vt:lpstr>
      <vt:lpstr>Sayıltılar-1</vt:lpstr>
      <vt:lpstr>Sayıltılar-2</vt:lpstr>
      <vt:lpstr>Etkili Gözlem Analizi</vt:lpstr>
      <vt:lpstr>Veri Giriş Yöntemleri</vt:lpstr>
      <vt:lpstr>Örnek</vt:lpstr>
      <vt:lpstr>JASP’ta Çoklu Regresyon</vt:lpstr>
      <vt:lpstr>PowerPoint Presentation</vt:lpstr>
      <vt:lpstr>Grafikler (Plots)</vt:lpstr>
      <vt:lpstr>PowerPoint Presentation</vt:lpstr>
      <vt:lpstr>KORELASYON</vt:lpstr>
      <vt:lpstr>REGRESYON MODELİ ÖZETİ</vt:lpstr>
      <vt:lpstr>ANOVA</vt:lpstr>
      <vt:lpstr>MODEL PARAMETRELERİ</vt:lpstr>
      <vt:lpstr>MODEL PARAMETRELERİ (DEVAM)</vt:lpstr>
      <vt:lpstr>TAHMİN EDİCİLER ARASINDAKİ KORELASYON (COLLINEARITY)</vt:lpstr>
      <vt:lpstr>Artıklar (Resıduals) Normal Dağılmış</vt:lpstr>
      <vt:lpstr>PowerPoint Presentation</vt:lpstr>
      <vt:lpstr>Cook Mesafesini Kontrol Ediniz:  4/(n-k-1)=4/(200-3-1)=0,02’ten büyük değerleri inceleyelim Aynı gözlem değerlerinin mutlak standardize edilmiş artıkları 3’ten büyük olmamalı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Regresyon</dc:title>
  <dc:creator>Science</dc:creator>
  <cp:lastModifiedBy>Hakem</cp:lastModifiedBy>
  <cp:revision>128</cp:revision>
  <dcterms:created xsi:type="dcterms:W3CDTF">2015-05-07T18:53:52Z</dcterms:created>
  <dcterms:modified xsi:type="dcterms:W3CDTF">2025-01-07T19:45:42Z</dcterms:modified>
</cp:coreProperties>
</file>