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8" r:id="rId1"/>
  </p:sldMasterIdLst>
  <p:notesMasterIdLst>
    <p:notesMasterId r:id="rId13"/>
  </p:notesMasterIdLst>
  <p:sldIdLst>
    <p:sldId id="256" r:id="rId2"/>
    <p:sldId id="267" r:id="rId3"/>
    <p:sldId id="258" r:id="rId4"/>
    <p:sldId id="266" r:id="rId5"/>
    <p:sldId id="257" r:id="rId6"/>
    <p:sldId id="268" r:id="rId7"/>
    <p:sldId id="260" r:id="rId8"/>
    <p:sldId id="261" r:id="rId9"/>
    <p:sldId id="269" r:id="rId10"/>
    <p:sldId id="262" r:id="rId11"/>
    <p:sldId id="26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426"/>
    <p:restoredTop sz="94687"/>
  </p:normalViewPr>
  <p:slideViewPr>
    <p:cSldViewPr snapToGrid="0" snapToObjects="1">
      <p:cViewPr varScale="1">
        <p:scale>
          <a:sx n="113" d="100"/>
          <a:sy n="113" d="100"/>
        </p:scale>
        <p:origin x="100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E33FA3-001E-6443-B262-0C0E6B0030B2}" type="datetimeFigureOut">
              <a:rPr lang="en-US" smtClean="0"/>
              <a:t>11/3/22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D03725-8D2D-2949-87A4-A40E64A83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578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77755-5289-D242-A3A9-4C843527104D}" type="datetimeFigureOut">
              <a:rPr lang="en-US" smtClean="0"/>
              <a:t>11/3/22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EBB4E5B3-B89D-D045-A311-49F330BF68E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77755-5289-D242-A3A9-4C843527104D}" type="datetimeFigureOut">
              <a:rPr lang="en-US" smtClean="0"/>
              <a:t>11/3/22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4E5B3-B89D-D045-A311-49F330BF68E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77755-5289-D242-A3A9-4C843527104D}" type="datetimeFigureOut">
              <a:rPr lang="en-US" smtClean="0"/>
              <a:t>11/3/22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EBB4E5B3-B89D-D045-A311-49F330BF68E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77755-5289-D242-A3A9-4C843527104D}" type="datetimeFigureOut">
              <a:rPr lang="en-US" smtClean="0"/>
              <a:t>11/3/22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EBB4E5B3-B89D-D045-A311-49F330BF68E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77755-5289-D242-A3A9-4C843527104D}" type="datetimeFigureOut">
              <a:rPr lang="en-US" smtClean="0"/>
              <a:t>11/3/22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EBB4E5B3-B89D-D045-A311-49F330BF68E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77755-5289-D242-A3A9-4C843527104D}" type="datetimeFigureOut">
              <a:rPr lang="en-US" smtClean="0"/>
              <a:t>11/3/22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4E5B3-B89D-D045-A311-49F330BF68E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77755-5289-D242-A3A9-4C843527104D}" type="datetimeFigureOut">
              <a:rPr lang="en-US" smtClean="0"/>
              <a:t>11/3/22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4E5B3-B89D-D045-A311-49F330BF68E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77755-5289-D242-A3A9-4C843527104D}" type="datetimeFigureOut">
              <a:rPr lang="en-US" smtClean="0"/>
              <a:t>11/3/22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4E5B3-B89D-D045-A311-49F330BF68E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77755-5289-D242-A3A9-4C843527104D}" type="datetimeFigureOut">
              <a:rPr lang="en-US" smtClean="0"/>
              <a:t>11/3/22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BB4E5B3-B89D-D045-A311-49F330BF68E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77755-5289-D242-A3A9-4C843527104D}" type="datetimeFigureOut">
              <a:rPr lang="en-US" smtClean="0"/>
              <a:t>11/3/22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EBB4E5B3-B89D-D045-A311-49F330BF68E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77755-5289-D242-A3A9-4C843527104D}" type="datetimeFigureOut">
              <a:rPr lang="en-US" smtClean="0"/>
              <a:t>11/3/22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EBB4E5B3-B89D-D045-A311-49F330BF68EE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77755-5289-D242-A3A9-4C843527104D}" type="datetimeFigureOut">
              <a:rPr lang="en-US" smtClean="0"/>
              <a:t>11/3/22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BB4E5B3-B89D-D045-A311-49F330BF68E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77755-5289-D242-A3A9-4C843527104D}" type="datetimeFigureOut">
              <a:rPr lang="en-US" smtClean="0"/>
              <a:t>11/3/22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BB4E5B3-B89D-D045-A311-49F330BF68EE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77755-5289-D242-A3A9-4C843527104D}" type="datetimeFigureOut">
              <a:rPr lang="en-US" smtClean="0"/>
              <a:t>11/3/22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BB4E5B3-B89D-D045-A311-49F330BF68E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77755-5289-D242-A3A9-4C843527104D}" type="datetimeFigureOut">
              <a:rPr lang="en-US" smtClean="0"/>
              <a:t>11/3/22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4E5B3-B89D-D045-A311-49F330BF68E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77755-5289-D242-A3A9-4C843527104D}" type="datetimeFigureOut">
              <a:rPr lang="en-US" smtClean="0"/>
              <a:t>11/3/22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4E5B3-B89D-D045-A311-49F330BF68E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D77755-5289-D242-A3A9-4C843527104D}" type="datetimeFigureOut">
              <a:rPr lang="en-US" smtClean="0"/>
              <a:t>11/3/22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EBB4E5B3-B89D-D045-A311-49F330BF68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0988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  <p:sldLayoutId id="2147483760" r:id="rId12"/>
    <p:sldLayoutId id="2147483761" r:id="rId13"/>
    <p:sldLayoutId id="2147483762" r:id="rId14"/>
    <p:sldLayoutId id="2147483763" r:id="rId15"/>
    <p:sldLayoutId id="214748376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937260"/>
            <a:ext cx="9034812" cy="2949420"/>
          </a:xfrm>
        </p:spPr>
        <p:txBody>
          <a:bodyPr/>
          <a:lstStyle/>
          <a:p>
            <a:r>
              <a:rPr lang="en-US" dirty="0"/>
              <a:t>BETİMSEL İSTATİSTİK I- </a:t>
            </a:r>
            <a:br>
              <a:rPr lang="en-US" dirty="0"/>
            </a:br>
            <a:r>
              <a:rPr lang="en-US" sz="3600" dirty="0"/>
              <a:t>MERKEZİ EĞİLİM ÖLÇÜLERİ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Prof.Dr. EVRİM GENÇ KUMTEPE</a:t>
            </a:r>
          </a:p>
        </p:txBody>
      </p:sp>
    </p:spTree>
    <p:extLst>
      <p:ext uri="{BB962C8B-B14F-4D97-AF65-F5344CB8AC3E}">
        <p14:creationId xmlns:p14="http://schemas.microsoft.com/office/powerpoint/2010/main" val="18546863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BETİMSEL İSTATİSTİK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1417320"/>
            <a:ext cx="10820400" cy="5212080"/>
          </a:xfrm>
        </p:spPr>
        <p:txBody>
          <a:bodyPr>
            <a:normAutofit fontScale="85000" lnSpcReduction="10000"/>
          </a:bodyPr>
          <a:lstStyle/>
          <a:p>
            <a:r>
              <a:rPr lang="tr-TR" sz="2800" dirty="0"/>
              <a:t>Betimsel istatistik gözlenen belli bir özelliğe ilişkin verileri sayısal veya grafiksel yöntemler kullanarak betimleme, tasvir etme işlemidir.</a:t>
            </a:r>
          </a:p>
          <a:p>
            <a:r>
              <a:rPr lang="tr-TR" sz="2800" dirty="0"/>
              <a:t>Çıkarımsal istatistikten temel farkı ise verilerin temsil ettiği kabul edilen popülasyonun (evren) özelliği hakkında kestirim veya hipotez sınaması için analitik ifadeleri elde etme hedefi olmamasıdır.</a:t>
            </a:r>
          </a:p>
          <a:p>
            <a:r>
              <a:rPr lang="tr-TR" sz="2800" dirty="0"/>
              <a:t>Betimsel istatistikler</a:t>
            </a:r>
          </a:p>
          <a:p>
            <a:pPr marL="514350" lvl="1" indent="-514350">
              <a:buFont typeface="+mj-lt"/>
              <a:buAutoNum type="arabicParenR"/>
            </a:pPr>
            <a:r>
              <a:rPr lang="tr-TR" sz="2800" dirty="0"/>
              <a:t>Temel sayma ve sınıflama işlemleri ile elde edilen frekans/yüzde tabloları</a:t>
            </a:r>
          </a:p>
          <a:p>
            <a:pPr marL="514350" lvl="1" indent="-514350">
              <a:buFont typeface="+mj-lt"/>
              <a:buAutoNum type="arabicParenR"/>
            </a:pPr>
            <a:r>
              <a:rPr lang="tr-TR" sz="2800" dirty="0"/>
              <a:t>Grafik gösterimleri (sütun, çizgi, pasta, grafikleri, histogram vb.)</a:t>
            </a:r>
          </a:p>
          <a:p>
            <a:pPr marL="514350" lvl="1" indent="-514350">
              <a:buFont typeface="+mj-lt"/>
              <a:buAutoNum type="arabicParenR"/>
            </a:pPr>
            <a:r>
              <a:rPr lang="tr-TR" sz="2800" dirty="0"/>
              <a:t>Bazı Sayısal değerler </a:t>
            </a:r>
          </a:p>
          <a:p>
            <a:pPr marL="914400" lvl="2" indent="-514350">
              <a:buFont typeface="+mj-lt"/>
              <a:buAutoNum type="alphaLcParenR"/>
            </a:pPr>
            <a:r>
              <a:rPr lang="tr-TR" sz="2600" dirty="0"/>
              <a:t>Merkezi eğilim ölçüleri (merkeze yığılma ölçüleri)</a:t>
            </a:r>
          </a:p>
          <a:p>
            <a:pPr marL="914400" lvl="2" indent="-514350">
              <a:buFont typeface="+mj-lt"/>
              <a:buAutoNum type="alphaLcParenR"/>
            </a:pPr>
            <a:r>
              <a:rPr lang="tr-TR" sz="2600" dirty="0"/>
              <a:t>Yayılım ölçüleri (merkezden dağılma ölçüleri)</a:t>
            </a:r>
            <a:endParaRPr lang="tr-TR" sz="2400" dirty="0"/>
          </a:p>
          <a:p>
            <a:pPr marL="514350" lvl="1" indent="-514350">
              <a:buFont typeface="+mj-lt"/>
              <a:buAutoNum type="alphaLcParenR"/>
            </a:pPr>
            <a:endParaRPr lang="tr-TR" sz="2800" dirty="0"/>
          </a:p>
        </p:txBody>
      </p:sp>
    </p:spTree>
    <p:extLst>
      <p:ext uri="{BB962C8B-B14F-4D97-AF65-F5344CB8AC3E}">
        <p14:creationId xmlns:p14="http://schemas.microsoft.com/office/powerpoint/2010/main" val="6209682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Merkezi</a:t>
            </a:r>
            <a:r>
              <a:rPr lang="en-US" dirty="0"/>
              <a:t> </a:t>
            </a:r>
            <a:r>
              <a:rPr lang="en-US" dirty="0" err="1"/>
              <a:t>Eğilim</a:t>
            </a:r>
            <a:r>
              <a:rPr lang="en-US" dirty="0"/>
              <a:t> </a:t>
            </a:r>
            <a:r>
              <a:rPr lang="en-US" dirty="0" err="1"/>
              <a:t>Ölçüleri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1577340"/>
            <a:ext cx="10820400" cy="5029200"/>
          </a:xfrm>
        </p:spPr>
        <p:txBody>
          <a:bodyPr>
            <a:normAutofit fontScale="92500" lnSpcReduction="20000"/>
          </a:bodyPr>
          <a:lstStyle/>
          <a:p>
            <a:r>
              <a:rPr lang="tr-TR" sz="2800" dirty="0"/>
              <a:t>Aritmetik ortalama, mod, medyan, yüzdelik gibi nokta  değerler, merkezi eğilim ölçüleridir.</a:t>
            </a:r>
          </a:p>
          <a:p>
            <a:pPr lvl="1"/>
            <a:r>
              <a:rPr lang="tr-TR" sz="2600" dirty="0"/>
              <a:t>Bunlar tek bir nokta belirtir. Bu nokta değerler verilerin yığılma noktaları olarak ilgilenilen özelliğe dönük betimlemelerin yapılmasında kullanılır.</a:t>
            </a:r>
          </a:p>
          <a:p>
            <a:r>
              <a:rPr lang="tr-TR" sz="2800" b="1" dirty="0"/>
              <a:t>Aritmetik Ortalama: </a:t>
            </a:r>
            <a:r>
              <a:rPr lang="tr-TR" sz="2800" dirty="0"/>
              <a:t>Bir veri setindeki her bir değeri (gözlem) toplayarak ve toplam değeri de gözlem sayısına bölerek bulunan merkezi eğilim ölçüsüdür.</a:t>
            </a:r>
          </a:p>
          <a:p>
            <a:r>
              <a:rPr lang="tr-TR" sz="2800" b="1" i="1" dirty="0"/>
              <a:t>Ortanca</a:t>
            </a:r>
            <a:r>
              <a:rPr lang="tr-TR" sz="2800" dirty="0"/>
              <a:t>: Bir veri setindeki dağılımın merkezinde yer alan değerdir. Veriler en azdan en büyüğe sıralandığında, medyan listenin ortasında bulunur. </a:t>
            </a:r>
          </a:p>
          <a:p>
            <a:r>
              <a:rPr lang="tr-TR" sz="2800" b="1" dirty="0"/>
              <a:t>Mod (tepe noktası)</a:t>
            </a:r>
            <a:r>
              <a:rPr lang="tr-TR" sz="2800" dirty="0"/>
              <a:t>: Veri setinde  en çok tekrarlanan (frekansı en yüksek) değerdir. </a:t>
            </a:r>
          </a:p>
        </p:txBody>
      </p:sp>
    </p:spTree>
    <p:extLst>
      <p:ext uri="{BB962C8B-B14F-4D97-AF65-F5344CB8AC3E}">
        <p14:creationId xmlns:p14="http://schemas.microsoft.com/office/powerpoint/2010/main" val="15760372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DEĞİŞKENLERE UYGUN MERKEZİ EĞİLİM ÖLÇÜLERİ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09604411"/>
              </p:ext>
            </p:extLst>
          </p:nvPr>
        </p:nvGraphicFramePr>
        <p:xfrm>
          <a:off x="1571627" y="2128839"/>
          <a:ext cx="10086972" cy="4132154"/>
        </p:xfrm>
        <a:graphic>
          <a:graphicData uri="http://schemas.openxmlformats.org/drawingml/2006/table">
            <a:tbl>
              <a:tblPr/>
              <a:tblGrid>
                <a:gridCol w="25217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7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217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217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541041">
                <a:tc>
                  <a:txBody>
                    <a:bodyPr/>
                    <a:lstStyle/>
                    <a:p>
                      <a:r>
                        <a:rPr lang="en-US" sz="2800" dirty="0" err="1">
                          <a:solidFill>
                            <a:schemeClr val="bg1"/>
                          </a:solidFill>
                        </a:rPr>
                        <a:t>Merkezi</a:t>
                      </a:r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2800" dirty="0" err="1">
                          <a:solidFill>
                            <a:schemeClr val="bg1"/>
                          </a:solidFill>
                        </a:rPr>
                        <a:t>Eğilim</a:t>
                      </a:r>
                      <a:r>
                        <a:rPr lang="en-US" sz="2800" baseline="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2800" baseline="0" dirty="0" err="1">
                          <a:solidFill>
                            <a:schemeClr val="bg1"/>
                          </a:solidFill>
                        </a:rPr>
                        <a:t>Ölçüsü</a:t>
                      </a:r>
                      <a:endParaRPr lang="en-US" sz="28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 err="1"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Aralıklı-Oranlı</a:t>
                      </a:r>
                      <a:endParaRPr lang="en-US" sz="2800" b="1" dirty="0">
                        <a:solidFill>
                          <a:schemeClr val="bg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 err="1"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Sıralı</a:t>
                      </a:r>
                      <a:endParaRPr lang="en-US" sz="2800" b="1" dirty="0">
                        <a:solidFill>
                          <a:schemeClr val="bg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 err="1"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Sınıflamalı</a:t>
                      </a:r>
                      <a:endParaRPr lang="en-US" sz="2800" b="1" dirty="0">
                        <a:solidFill>
                          <a:schemeClr val="bg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2148"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 err="1">
                          <a:solidFill>
                            <a:srgbClr val="4B4949"/>
                          </a:solidFill>
                          <a:effectLst/>
                          <a:latin typeface="Arial" charset="0"/>
                        </a:rPr>
                        <a:t>Ortalama</a:t>
                      </a:r>
                      <a:endParaRPr lang="en-US" sz="2800" b="0" dirty="0">
                        <a:solidFill>
                          <a:srgbClr val="4B4949"/>
                        </a:solidFill>
                        <a:effectLst/>
                        <a:latin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>
                          <a:solidFill>
                            <a:srgbClr val="4B4949"/>
                          </a:solidFill>
                          <a:effectLst/>
                          <a:latin typeface="Arial" charset="0"/>
                        </a:rPr>
                        <a:t>✔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b="0">
                        <a:solidFill>
                          <a:srgbClr val="4B4949"/>
                        </a:solidFill>
                        <a:effectLst/>
                        <a:latin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b="0" dirty="0">
                        <a:solidFill>
                          <a:srgbClr val="4B4949"/>
                        </a:solidFill>
                        <a:effectLst/>
                        <a:latin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66817"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 err="1">
                          <a:solidFill>
                            <a:srgbClr val="4B4949"/>
                          </a:solidFill>
                          <a:effectLst/>
                          <a:latin typeface="Arial" charset="0"/>
                        </a:rPr>
                        <a:t>Ortanca</a:t>
                      </a:r>
                      <a:r>
                        <a:rPr lang="en-US" sz="2800" b="0" dirty="0">
                          <a:solidFill>
                            <a:srgbClr val="4B4949"/>
                          </a:solidFill>
                          <a:effectLst/>
                          <a:latin typeface="Arial" charset="0"/>
                        </a:rPr>
                        <a:t> (</a:t>
                      </a:r>
                      <a:r>
                        <a:rPr lang="en-US" sz="2800" b="0" dirty="0" err="1">
                          <a:solidFill>
                            <a:srgbClr val="4B4949"/>
                          </a:solidFill>
                          <a:effectLst/>
                          <a:latin typeface="Arial" charset="0"/>
                        </a:rPr>
                        <a:t>Medyan</a:t>
                      </a:r>
                      <a:r>
                        <a:rPr lang="en-US" sz="2800" b="0" dirty="0">
                          <a:solidFill>
                            <a:srgbClr val="4B4949"/>
                          </a:solidFill>
                          <a:effectLst/>
                          <a:latin typeface="Arial" charset="0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>
                          <a:solidFill>
                            <a:srgbClr val="4B4949"/>
                          </a:solidFill>
                          <a:effectLst/>
                          <a:latin typeface="Arial" charset="0"/>
                        </a:rPr>
                        <a:t>✔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>
                          <a:solidFill>
                            <a:srgbClr val="4B4949"/>
                          </a:solidFill>
                          <a:effectLst/>
                          <a:latin typeface="Arial" charset="0"/>
                        </a:rPr>
                        <a:t>✔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b="0">
                        <a:solidFill>
                          <a:srgbClr val="4B4949"/>
                        </a:solidFill>
                        <a:effectLst/>
                        <a:latin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2148"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rgbClr val="4B4949"/>
                          </a:solidFill>
                          <a:effectLst/>
                          <a:latin typeface="Arial" charset="0"/>
                        </a:rPr>
                        <a:t>Mod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rgbClr val="4B4949"/>
                          </a:solidFill>
                          <a:effectLst/>
                          <a:latin typeface="Arial" charset="0"/>
                        </a:rPr>
                        <a:t>✔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>
                          <a:solidFill>
                            <a:srgbClr val="4B4949"/>
                          </a:solidFill>
                          <a:effectLst/>
                          <a:latin typeface="Arial" charset="0"/>
                        </a:rPr>
                        <a:t>✔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rgbClr val="4B4949"/>
                          </a:solidFill>
                          <a:effectLst/>
                          <a:latin typeface="Arial" charset="0"/>
                        </a:rPr>
                        <a:t>✔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7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71266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848" y="257386"/>
            <a:ext cx="9601200" cy="725594"/>
          </a:xfrm>
        </p:spPr>
        <p:txBody>
          <a:bodyPr/>
          <a:lstStyle/>
          <a:p>
            <a:r>
              <a:rPr lang="en-US" dirty="0"/>
              <a:t>  </a:t>
            </a:r>
            <a:r>
              <a:rPr lang="en-US" dirty="0" err="1"/>
              <a:t>Ortalama</a:t>
            </a:r>
            <a:r>
              <a:rPr lang="en-US" dirty="0"/>
              <a:t> (Mean)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9848" y="982980"/>
            <a:ext cx="10748772" cy="2926080"/>
          </a:xfrm>
        </p:spPr>
        <p:txBody>
          <a:bodyPr>
            <a:normAutofit/>
          </a:bodyPr>
          <a:lstStyle/>
          <a:p>
            <a:r>
              <a:rPr lang="tr-TR" sz="2800" dirty="0"/>
              <a:t>Ortalama normal dağılım gösteren ve en az eşit aralıklı ölçek düzeyinde olan sürekli verilerde, en 'sağlam' merkezi eğilim ölçüsüdür. </a:t>
            </a:r>
          </a:p>
          <a:p>
            <a:r>
              <a:rPr lang="tr-TR" sz="2800" dirty="0"/>
              <a:t>Yukarıdaki varsayımları sağlayan verilerde ortalama, verilerin tamamını temsil eden bir sayısal değer olarak kullanılır.</a:t>
            </a:r>
          </a:p>
          <a:p>
            <a:endParaRPr lang="tr-TR" sz="2800" dirty="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848" y="4014216"/>
            <a:ext cx="4503248" cy="133096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3506" y="4014216"/>
            <a:ext cx="4037542" cy="133096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143125" y="5500688"/>
            <a:ext cx="27917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/>
              <a:t>Evren</a:t>
            </a:r>
            <a:r>
              <a:rPr lang="en-US" sz="2800" dirty="0"/>
              <a:t> </a:t>
            </a:r>
            <a:r>
              <a:rPr lang="en-US" sz="2800" dirty="0" err="1"/>
              <a:t>Ortalaması</a:t>
            </a:r>
            <a:endParaRPr lang="en-US" sz="2800" dirty="0"/>
          </a:p>
        </p:txBody>
      </p:sp>
      <p:sp>
        <p:nvSpPr>
          <p:cNvPr id="18" name="TextBox 17"/>
          <p:cNvSpPr txBox="1"/>
          <p:nvPr/>
        </p:nvSpPr>
        <p:spPr>
          <a:xfrm>
            <a:off x="7110413" y="5450332"/>
            <a:ext cx="34009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/>
              <a:t>Örneklem</a:t>
            </a:r>
            <a:r>
              <a:rPr lang="en-US" sz="2800" dirty="0"/>
              <a:t> </a:t>
            </a:r>
            <a:r>
              <a:rPr lang="en-US" sz="2800" dirty="0" err="1"/>
              <a:t>Ortalaması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8734233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6818" y="257386"/>
            <a:ext cx="8694230" cy="725594"/>
          </a:xfrm>
        </p:spPr>
        <p:txBody>
          <a:bodyPr/>
          <a:lstStyle/>
          <a:p>
            <a:r>
              <a:rPr lang="en-US" dirty="0" err="1"/>
              <a:t>Ortalama</a:t>
            </a:r>
            <a:endParaRPr lang="en-US" dirty="0"/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8485013"/>
              </p:ext>
            </p:extLst>
          </p:nvPr>
        </p:nvGraphicFramePr>
        <p:xfrm>
          <a:off x="1153858" y="1294982"/>
          <a:ext cx="822960" cy="5029200"/>
        </p:xfrm>
        <a:graphic>
          <a:graphicData uri="http://schemas.openxmlformats.org/drawingml/2006/table">
            <a:tbl>
              <a:tblPr firstRow="1" bandRow="1">
                <a:tableStyleId>{FABFCF23-3B69-468F-B69F-88F6DE6A72F2}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1883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883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73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883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97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883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88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1883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63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1883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1883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86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1883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97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1883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95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1883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84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1883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67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Content Placeholder 2"/>
          <p:cNvSpPr txBox="1">
            <a:spLocks/>
          </p:cNvSpPr>
          <p:nvPr/>
        </p:nvSpPr>
        <p:spPr>
          <a:xfrm>
            <a:off x="2343150" y="1134427"/>
            <a:ext cx="9495472" cy="21083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384048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84048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384048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384048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384048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84048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84048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84048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sz="2800" dirty="0">
                <a:solidFill>
                  <a:schemeClr val="tx1"/>
                </a:solidFill>
                <a:latin typeface="Franklin Gothic Book" charset="0"/>
                <a:ea typeface="Franklin Gothic Book" charset="0"/>
                <a:cs typeface="Franklin Gothic Book" charset="0"/>
              </a:rPr>
              <a:t>Yandaki tabloda 10 kişilik (n=10) bir sınıfta öğrencilerin istatistik sınavından aldığı notlar verilmiştir. </a:t>
            </a:r>
          </a:p>
          <a:p>
            <a:r>
              <a:rPr lang="tr-TR" sz="2800" dirty="0">
                <a:solidFill>
                  <a:schemeClr val="tx1"/>
                </a:solidFill>
                <a:latin typeface="Franklin Gothic Book" charset="0"/>
                <a:ea typeface="Franklin Gothic Book" charset="0"/>
                <a:cs typeface="Franklin Gothic Book" charset="0"/>
              </a:rPr>
              <a:t>Buna göre ortalamayı bulmak için ölçme sonucu olarak verilen 10 kişinin notlarını toplayıp gözlem sayısı olan 10’a  bölmemiz gerekir. </a:t>
            </a:r>
          </a:p>
          <a:p>
            <a:endParaRPr lang="tr-TR" sz="2800" dirty="0">
              <a:solidFill>
                <a:schemeClr val="tx1"/>
              </a:solidFill>
              <a:latin typeface="Franklin Gothic Book" charset="0"/>
              <a:ea typeface="Franklin Gothic Book" charset="0"/>
              <a:cs typeface="Franklin Gothic Book" charset="0"/>
            </a:endParaRPr>
          </a:p>
          <a:p>
            <a:endParaRPr lang="tr-TR" sz="2800" dirty="0">
              <a:solidFill>
                <a:schemeClr val="tx1"/>
              </a:solidFill>
              <a:latin typeface="Franklin Gothic Book" charset="0"/>
              <a:ea typeface="Franklin Gothic Book" charset="0"/>
              <a:cs typeface="Franklin Gothic Book" charset="0"/>
            </a:endParaRPr>
          </a:p>
          <a:p>
            <a:endParaRPr lang="tr-TR" sz="2800" dirty="0">
              <a:solidFill>
                <a:schemeClr val="tx1"/>
              </a:solidFill>
              <a:latin typeface="Franklin Gothic Book" charset="0"/>
              <a:ea typeface="Franklin Gothic Book" charset="0"/>
              <a:cs typeface="Franklin Gothic Book" charset="0"/>
            </a:endParaRPr>
          </a:p>
          <a:p>
            <a:endParaRPr lang="tr-TR" sz="2800" dirty="0">
              <a:solidFill>
                <a:schemeClr val="tx1"/>
              </a:solidFill>
              <a:latin typeface="Franklin Gothic Book" charset="0"/>
              <a:ea typeface="Franklin Gothic Book" charset="0"/>
              <a:cs typeface="Franklin Gothic Book" charset="0"/>
            </a:endParaRPr>
          </a:p>
          <a:p>
            <a:endParaRPr lang="tr-TR" sz="2800" dirty="0">
              <a:solidFill>
                <a:schemeClr val="tx1"/>
              </a:solidFill>
              <a:latin typeface="Franklin Gothic Book" charset="0"/>
              <a:ea typeface="Franklin Gothic Book" charset="0"/>
              <a:cs typeface="Franklin Gothic Book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2486564" y="3649562"/>
                <a:ext cx="8671973" cy="701346"/>
              </a:xfrm>
              <a:prstGeom prst="rect">
                <a:avLst/>
              </a:prstGeom>
              <a:gradFill flip="none" rotWithShape="1">
                <a:gsLst>
                  <a:gs pos="0">
                    <a:srgbClr val="FFC000">
                      <a:tint val="66000"/>
                      <a:satMod val="160000"/>
                    </a:srgbClr>
                  </a:gs>
                  <a:gs pos="50000">
                    <a:srgbClr val="FFC000">
                      <a:tint val="44500"/>
                      <a:satMod val="160000"/>
                    </a:srgbClr>
                  </a:gs>
                  <a:gs pos="100000">
                    <a:srgbClr val="FFC000">
                      <a:tint val="23500"/>
                      <a:satMod val="160000"/>
                    </a:srgbClr>
                  </a:gs>
                </a:gsLst>
                <a:lin ang="10800000" scaled="1"/>
                <a:tileRect/>
              </a:gra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tr-TR" sz="24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tr-TR" sz="2400" b="0" i="1" dirty="0" smtClean="0">
                              <a:latin typeface="Cambria Math" charset="0"/>
                            </a:rPr>
                            <m:t>𝑋</m:t>
                          </m:r>
                        </m:e>
                      </m:acc>
                      <m:r>
                        <a:rPr lang="mr-IN" sz="2400" i="1" smtClean="0">
                          <a:latin typeface="Cambria Math" charset="0"/>
                        </a:rPr>
                        <m:t>=</m:t>
                      </m:r>
                      <m:f>
                        <m:fPr>
                          <m:ctrlPr>
                            <a:rPr lang="mr-IN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tr-TR" sz="2400" b="0" i="1" smtClean="0">
                              <a:latin typeface="Cambria Math" charset="0"/>
                            </a:rPr>
                            <m:t>73+97+88+63+100+86+97+95+84+67</m:t>
                          </m:r>
                        </m:num>
                        <m:den>
                          <m:r>
                            <a:rPr lang="tr-TR" sz="2400" b="0" i="1" smtClean="0">
                              <a:latin typeface="Cambria Math" charset="0"/>
                            </a:rPr>
                            <m:t>10</m:t>
                          </m:r>
                        </m:den>
                      </m:f>
                      <m:r>
                        <a:rPr lang="tr-TR" sz="2400" b="0" i="0" smtClean="0">
                          <a:latin typeface="Cambria Math" charset="0"/>
                        </a:rPr>
                        <m:t>  =85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6564" y="3649562"/>
                <a:ext cx="8671973" cy="701346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/>
          <p:cNvSpPr/>
          <p:nvPr/>
        </p:nvSpPr>
        <p:spPr>
          <a:xfrm>
            <a:off x="2265997" y="4757647"/>
            <a:ext cx="9572625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charset="2"/>
              <a:buChar char="§"/>
            </a:pPr>
            <a:r>
              <a:rPr lang="tr-TR" sz="2800" dirty="0">
                <a:latin typeface="Franklin Gothic Book" charset="0"/>
                <a:ea typeface="Franklin Gothic Book" charset="0"/>
                <a:cs typeface="Franklin Gothic Book" charset="0"/>
              </a:rPr>
              <a:t>Bu 10  öğrencinin istatistik sınav başarı ortalaması 85’tir. </a:t>
            </a:r>
          </a:p>
          <a:p>
            <a:pPr marL="342900" indent="-342900">
              <a:buFont typeface="Wingdings" charset="2"/>
              <a:buChar char="§"/>
            </a:pPr>
            <a:r>
              <a:rPr lang="tr-TR" sz="2800" dirty="0">
                <a:latin typeface="Franklin Gothic Book" charset="0"/>
                <a:ea typeface="Franklin Gothic Book" charset="0"/>
                <a:cs typeface="Franklin Gothic Book" charset="0"/>
              </a:rPr>
              <a:t>Not: Önceden belirtilen normal dağılım gösterme koşulunun sağlanabilmesi için daha fazla sayıda veriye ihtiyaç̧ vardır. </a:t>
            </a:r>
          </a:p>
        </p:txBody>
      </p:sp>
    </p:spTree>
    <p:extLst>
      <p:ext uri="{BB962C8B-B14F-4D97-AF65-F5344CB8AC3E}">
        <p14:creationId xmlns:p14="http://schemas.microsoft.com/office/powerpoint/2010/main" val="4679686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6388" y="261938"/>
            <a:ext cx="9601200" cy="671513"/>
          </a:xfrm>
        </p:spPr>
        <p:txBody>
          <a:bodyPr>
            <a:normAutofit/>
          </a:bodyPr>
          <a:lstStyle/>
          <a:p>
            <a:r>
              <a:rPr lang="en-US" dirty="0" err="1"/>
              <a:t>Medyan</a:t>
            </a:r>
            <a:r>
              <a:rPr lang="en-US" dirty="0"/>
              <a:t>/</a:t>
            </a:r>
            <a:r>
              <a:rPr lang="en-US" dirty="0" err="1"/>
              <a:t>Ortanca</a:t>
            </a:r>
            <a:r>
              <a:rPr lang="en-US" dirty="0"/>
              <a:t> (Median)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33500" y="933450"/>
            <a:ext cx="10629900" cy="5924549"/>
          </a:xfrm>
        </p:spPr>
        <p:txBody>
          <a:bodyPr>
            <a:noAutofit/>
          </a:bodyPr>
          <a:lstStyle/>
          <a:p>
            <a:r>
              <a:rPr lang="tr-TR" sz="2400" dirty="0">
                <a:latin typeface="Franklin Gothic Book" charset="0"/>
                <a:ea typeface="Franklin Gothic Book" charset="0"/>
                <a:cs typeface="Franklin Gothic Book" charset="0"/>
              </a:rPr>
              <a:t>Medyan küçükten büyüğe veya büyükten küçüğe doğru sıralanmış̧ verilerin tam ortasında kalan değerdir.</a:t>
            </a:r>
          </a:p>
          <a:p>
            <a:pPr lvl="1"/>
            <a:r>
              <a:rPr lang="tr-TR" sz="2000" dirty="0">
                <a:latin typeface="Franklin Gothic Book" charset="0"/>
                <a:ea typeface="Franklin Gothic Book" charset="0"/>
                <a:cs typeface="Franklin Gothic Book" charset="0"/>
              </a:rPr>
              <a:t>Medyan, sıralanmış̧ verileri %50 - %50 olarak ikiye bölen noktadır.</a:t>
            </a:r>
          </a:p>
          <a:p>
            <a:r>
              <a:rPr lang="tr-TR" sz="2400" dirty="0">
                <a:latin typeface="Franklin Gothic Book" charset="0"/>
                <a:ea typeface="Franklin Gothic Book" charset="0"/>
                <a:cs typeface="Franklin Gothic Book" charset="0"/>
              </a:rPr>
              <a:t>Eğer gözlem sayısı (n) tek sayısı ise medyan veri setindeki tam orta değerdir</a:t>
            </a:r>
          </a:p>
          <a:p>
            <a:r>
              <a:rPr lang="tr-TR" sz="2400" dirty="0">
                <a:latin typeface="Franklin Gothic Book" charset="0"/>
                <a:ea typeface="Franklin Gothic Book" charset="0"/>
                <a:cs typeface="Franklin Gothic Book" charset="0"/>
              </a:rPr>
              <a:t>Gözlem sayısı (n) çift sayı ise medyan ortada kalan iki değerin aritmetik ortalamasına eşittir.</a:t>
            </a:r>
          </a:p>
          <a:p>
            <a:r>
              <a:rPr lang="tr-TR" sz="2400" dirty="0">
                <a:latin typeface="Franklin Gothic Book" charset="0"/>
                <a:ea typeface="Franklin Gothic Book" charset="0"/>
                <a:cs typeface="Franklin Gothic Book" charset="0"/>
              </a:rPr>
              <a:t>Medyan, sıralama işlemine dayalı olduğu için en az sıralama ölçeği düzeyindeki değişkenler için anlamlı bir betimsel istatistiktir. </a:t>
            </a:r>
          </a:p>
          <a:p>
            <a:pPr lvl="1"/>
            <a:r>
              <a:rPr lang="tr-TR" sz="2000" dirty="0">
                <a:latin typeface="Franklin Gothic Book" charset="0"/>
                <a:ea typeface="Franklin Gothic Book" charset="0"/>
                <a:cs typeface="Franklin Gothic Book" charset="0"/>
              </a:rPr>
              <a:t>Yani; cinsiyet, mahalle, okul türü̈ gibi sınıflama ölçeği düzeyindeki kategorik değişkenlerde medyan anlamlı değildir. </a:t>
            </a:r>
          </a:p>
          <a:p>
            <a:r>
              <a:rPr lang="tr-TR" sz="2400" dirty="0">
                <a:latin typeface="Franklin Gothic Book" charset="0"/>
                <a:ea typeface="Franklin Gothic Book" charset="0"/>
                <a:cs typeface="Franklin Gothic Book" charset="0"/>
              </a:rPr>
              <a:t>Sürekli verilerde (aralıklı ve oranlı) ortalama, medyana göre daha 'sağlam' bir istatistiktir. </a:t>
            </a:r>
          </a:p>
          <a:p>
            <a:pPr lvl="1"/>
            <a:r>
              <a:rPr lang="tr-TR" sz="2200" dirty="0">
                <a:latin typeface="Franklin Gothic Book" charset="0"/>
                <a:ea typeface="Franklin Gothic Book" charset="0"/>
                <a:cs typeface="Franklin Gothic Book" charset="0"/>
              </a:rPr>
              <a:t>Ancak normal dağılım göstermeyen verilerde ya da uç̧ noktaların (aşırı değerler) varlığında ortalama yanıltıcı olur ve medyan daha doğru sonuç verir.</a:t>
            </a:r>
          </a:p>
          <a:p>
            <a:endParaRPr lang="tr-TR" sz="2400" dirty="0">
              <a:latin typeface="Franklin Gothic Book" charset="0"/>
              <a:ea typeface="Franklin Gothic Book" charset="0"/>
              <a:cs typeface="Franklin Gothic Book" charset="0"/>
            </a:endParaRPr>
          </a:p>
          <a:p>
            <a:endParaRPr lang="tr-TR" sz="2400" dirty="0">
              <a:latin typeface="Franklin Gothic Book" charset="0"/>
              <a:ea typeface="Franklin Gothic Book" charset="0"/>
              <a:cs typeface="Franklin Gothic Book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78011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5557042" y="3808168"/>
            <a:ext cx="614363" cy="695325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85939" y="624110"/>
            <a:ext cx="9718674" cy="1280890"/>
          </a:xfrm>
        </p:spPr>
        <p:txBody>
          <a:bodyPr/>
          <a:lstStyle/>
          <a:p>
            <a:r>
              <a:rPr lang="en-US" dirty="0" err="1"/>
              <a:t>Medyan</a:t>
            </a:r>
            <a:r>
              <a:rPr lang="en-US" dirty="0"/>
              <a:t>- </a:t>
            </a:r>
            <a:r>
              <a:rPr lang="en-US" dirty="0" err="1"/>
              <a:t>Verideki</a:t>
            </a:r>
            <a:r>
              <a:rPr lang="en-US" dirty="0"/>
              <a:t> </a:t>
            </a:r>
            <a:r>
              <a:rPr lang="en-US" dirty="0" err="1"/>
              <a:t>Gözlem</a:t>
            </a:r>
            <a:r>
              <a:rPr lang="en-US" dirty="0"/>
              <a:t> </a:t>
            </a:r>
            <a:r>
              <a:rPr lang="en-US" dirty="0" err="1"/>
              <a:t>Sayısı</a:t>
            </a:r>
            <a:r>
              <a:rPr lang="en-US"/>
              <a:t> Tek </a:t>
            </a:r>
            <a:r>
              <a:rPr lang="en-US" dirty="0" err="1"/>
              <a:t>ise</a:t>
            </a:r>
            <a:r>
              <a:rPr lang="en-US" dirty="0"/>
              <a:t> </a:t>
            </a:r>
            <a:r>
              <a:rPr lang="en-US" dirty="0" err="1"/>
              <a:t>ise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699" y="1400175"/>
            <a:ext cx="10475913" cy="5158887"/>
          </a:xfrm>
        </p:spPr>
        <p:txBody>
          <a:bodyPr>
            <a:noAutofit/>
          </a:bodyPr>
          <a:lstStyle/>
          <a:p>
            <a:r>
              <a:rPr lang="tr-TR" sz="2200" dirty="0">
                <a:latin typeface="Franklin Gothic Book" charset="0"/>
                <a:ea typeface="Franklin Gothic Book" charset="0"/>
                <a:cs typeface="Franklin Gothic Book" charset="0"/>
              </a:rPr>
              <a:t>Aşağıdaki veriler bir doktora düzeyi istatistik sınıfındaki öğrencilerin yaşlarını göstermektedir.</a:t>
            </a:r>
          </a:p>
          <a:p>
            <a:pPr marL="0" indent="0">
              <a:buNone/>
            </a:pPr>
            <a:r>
              <a:rPr lang="tr-TR" sz="2200" dirty="0">
                <a:latin typeface="Franklin Gothic Book" charset="0"/>
                <a:ea typeface="Franklin Gothic Book" charset="0"/>
                <a:cs typeface="Franklin Gothic Book" charset="0"/>
              </a:rPr>
              <a:t>          27    29    30     31     36      38      29      28      44      35      33       33      37 </a:t>
            </a:r>
          </a:p>
          <a:p>
            <a:pPr marL="0" indent="0">
              <a:buNone/>
            </a:pPr>
            <a:r>
              <a:rPr lang="tr-TR" sz="2200" dirty="0">
                <a:latin typeface="Franklin Gothic Book" charset="0"/>
                <a:ea typeface="Franklin Gothic Book" charset="0"/>
                <a:cs typeface="Franklin Gothic Book" charset="0"/>
              </a:rPr>
              <a:t>n=13 öğrenci</a:t>
            </a:r>
          </a:p>
          <a:p>
            <a:r>
              <a:rPr lang="tr-TR" sz="2200" dirty="0">
                <a:latin typeface="Franklin Gothic Book" charset="0"/>
                <a:ea typeface="Franklin Gothic Book" charset="0"/>
                <a:cs typeface="Franklin Gothic Book" charset="0"/>
              </a:rPr>
              <a:t>Veri setini küçükten büyüğe sıraya dizdiğimizde sıralı veriler;</a:t>
            </a:r>
          </a:p>
          <a:p>
            <a:pPr marL="0" indent="0">
              <a:buNone/>
            </a:pPr>
            <a:r>
              <a:rPr lang="tr-TR" sz="2200" dirty="0">
                <a:latin typeface="Franklin Gothic Book" charset="0"/>
                <a:ea typeface="Franklin Gothic Book" charset="0"/>
                <a:cs typeface="Franklin Gothic Book" charset="0"/>
              </a:rPr>
              <a:t>         </a:t>
            </a:r>
            <a:br>
              <a:rPr lang="tr-TR" sz="2200" dirty="0">
                <a:latin typeface="Franklin Gothic Book" charset="0"/>
                <a:ea typeface="Franklin Gothic Book" charset="0"/>
                <a:cs typeface="Franklin Gothic Book" charset="0"/>
              </a:rPr>
            </a:br>
            <a:r>
              <a:rPr lang="tr-TR" sz="2200" dirty="0">
                <a:latin typeface="Franklin Gothic Book" charset="0"/>
                <a:ea typeface="Franklin Gothic Book" charset="0"/>
                <a:cs typeface="Franklin Gothic Book" charset="0"/>
              </a:rPr>
              <a:t>          </a:t>
            </a:r>
            <a:r>
              <a:rPr lang="tr-TR" sz="2200" strike="sngStrike" dirty="0">
                <a:latin typeface="Franklin Gothic Book" charset="0"/>
                <a:ea typeface="Franklin Gothic Book" charset="0"/>
                <a:cs typeface="Franklin Gothic Book" charset="0"/>
              </a:rPr>
              <a:t>27    28    29    29     30     31 </a:t>
            </a:r>
            <a:r>
              <a:rPr lang="tr-TR" sz="2200" dirty="0">
                <a:latin typeface="Franklin Gothic Book" charset="0"/>
                <a:ea typeface="Franklin Gothic Book" charset="0"/>
                <a:cs typeface="Franklin Gothic Book" charset="0"/>
              </a:rPr>
              <a:t>     33      </a:t>
            </a:r>
            <a:r>
              <a:rPr lang="tr-TR" sz="2200" strike="sngStrike" dirty="0">
                <a:latin typeface="Franklin Gothic Book" charset="0"/>
                <a:ea typeface="Franklin Gothic Book" charset="0"/>
                <a:cs typeface="Franklin Gothic Book" charset="0"/>
              </a:rPr>
              <a:t>33      35      36      37      38      44</a:t>
            </a:r>
          </a:p>
          <a:p>
            <a:endParaRPr lang="tr-TR" sz="2200" dirty="0">
              <a:latin typeface="Franklin Gothic Book" charset="0"/>
              <a:ea typeface="Franklin Gothic Book" charset="0"/>
              <a:cs typeface="Franklin Gothic Book" charset="0"/>
            </a:endParaRPr>
          </a:p>
          <a:p>
            <a:r>
              <a:rPr lang="tr-TR" sz="2200" dirty="0">
                <a:latin typeface="Franklin Gothic Book" charset="0"/>
                <a:ea typeface="Franklin Gothic Book" charset="0"/>
                <a:cs typeface="Franklin Gothic Book" charset="0"/>
              </a:rPr>
              <a:t>Baştaki ve sondaki değerleri çıkardığımızda veri setinin medyanı tam ortadaki değer olan 33’tür. </a:t>
            </a:r>
          </a:p>
          <a:p>
            <a:r>
              <a:rPr lang="tr-TR" sz="2200" dirty="0">
                <a:latin typeface="Franklin Gothic Book" charset="0"/>
                <a:ea typeface="Franklin Gothic Book" charset="0"/>
                <a:cs typeface="Franklin Gothic Book" charset="0"/>
              </a:rPr>
              <a:t>Peki bu veri setinin ortalaması kaçtır?</a:t>
            </a:r>
          </a:p>
        </p:txBody>
      </p:sp>
    </p:spTree>
    <p:extLst>
      <p:ext uri="{BB962C8B-B14F-4D97-AF65-F5344CB8AC3E}">
        <p14:creationId xmlns:p14="http://schemas.microsoft.com/office/powerpoint/2010/main" val="19771347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5468878" y="3435657"/>
            <a:ext cx="1484372" cy="850593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85938" y="345814"/>
            <a:ext cx="9718674" cy="1280890"/>
          </a:xfrm>
        </p:spPr>
        <p:txBody>
          <a:bodyPr/>
          <a:lstStyle/>
          <a:p>
            <a:r>
              <a:rPr lang="tr-TR" dirty="0"/>
              <a:t>Medyan- Verideki Gözlem Sayısı Çift ise 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699" y="1400175"/>
            <a:ext cx="10475913" cy="5158887"/>
          </a:xfrm>
        </p:spPr>
        <p:txBody>
          <a:bodyPr>
            <a:noAutofit/>
          </a:bodyPr>
          <a:lstStyle/>
          <a:p>
            <a:r>
              <a:rPr lang="tr-TR" sz="2300" dirty="0">
                <a:latin typeface="Franklin Gothic Book" charset="0"/>
                <a:ea typeface="Franklin Gothic Book" charset="0"/>
                <a:cs typeface="Franklin Gothic Book" charset="0"/>
              </a:rPr>
              <a:t>Aynı sınıfa bir öğrenci daha ekleyelim.</a:t>
            </a:r>
          </a:p>
          <a:p>
            <a:pPr marL="0" indent="0">
              <a:buNone/>
            </a:pPr>
            <a:r>
              <a:rPr lang="tr-TR" sz="2300" dirty="0">
                <a:latin typeface="Franklin Gothic Book" charset="0"/>
                <a:ea typeface="Franklin Gothic Book" charset="0"/>
                <a:cs typeface="Franklin Gothic Book" charset="0"/>
              </a:rPr>
              <a:t>27    29    30     31     36      38      29      28      44      35      33       33      37      26 </a:t>
            </a:r>
          </a:p>
          <a:p>
            <a:pPr marL="0" indent="0">
              <a:buNone/>
            </a:pPr>
            <a:r>
              <a:rPr lang="tr-TR" sz="2300" dirty="0">
                <a:latin typeface="Franklin Gothic Book" charset="0"/>
                <a:ea typeface="Franklin Gothic Book" charset="0"/>
                <a:cs typeface="Franklin Gothic Book" charset="0"/>
              </a:rPr>
              <a:t>n=14 öğrenci</a:t>
            </a:r>
          </a:p>
          <a:p>
            <a:r>
              <a:rPr lang="tr-TR" sz="2300" dirty="0">
                <a:latin typeface="Franklin Gothic Book" charset="0"/>
                <a:ea typeface="Franklin Gothic Book" charset="0"/>
                <a:cs typeface="Franklin Gothic Book" charset="0"/>
              </a:rPr>
              <a:t>Veri setini küçükten büyüğe sıraya dizdiğimizde sıralı veriler;</a:t>
            </a:r>
          </a:p>
          <a:p>
            <a:pPr marL="0" indent="0">
              <a:buNone/>
            </a:pPr>
            <a:r>
              <a:rPr lang="tr-TR" sz="2300" dirty="0">
                <a:latin typeface="Franklin Gothic Book" charset="0"/>
                <a:ea typeface="Franklin Gothic Book" charset="0"/>
                <a:cs typeface="Franklin Gothic Book" charset="0"/>
              </a:rPr>
              <a:t>         </a:t>
            </a:r>
            <a:br>
              <a:rPr lang="tr-TR" sz="2300" dirty="0">
                <a:latin typeface="Franklin Gothic Book" charset="0"/>
                <a:ea typeface="Franklin Gothic Book" charset="0"/>
                <a:cs typeface="Franklin Gothic Book" charset="0"/>
              </a:rPr>
            </a:br>
            <a:r>
              <a:rPr lang="tr-TR" sz="2300" dirty="0">
                <a:latin typeface="Franklin Gothic Book" charset="0"/>
                <a:ea typeface="Franklin Gothic Book" charset="0"/>
                <a:cs typeface="Franklin Gothic Book" charset="0"/>
              </a:rPr>
              <a:t>        </a:t>
            </a:r>
            <a:r>
              <a:rPr lang="tr-TR" sz="2300" strike="sngStrike" dirty="0">
                <a:latin typeface="Franklin Gothic Book" charset="0"/>
                <a:ea typeface="Franklin Gothic Book" charset="0"/>
                <a:cs typeface="Franklin Gothic Book" charset="0"/>
              </a:rPr>
              <a:t>26    27    28    29    29     30</a:t>
            </a:r>
            <a:r>
              <a:rPr lang="tr-TR" sz="2300" dirty="0">
                <a:latin typeface="Franklin Gothic Book" charset="0"/>
                <a:ea typeface="Franklin Gothic Book" charset="0"/>
                <a:cs typeface="Franklin Gothic Book" charset="0"/>
              </a:rPr>
              <a:t>     31      33      </a:t>
            </a:r>
            <a:r>
              <a:rPr lang="tr-TR" sz="2300" strike="sngStrike" dirty="0">
                <a:latin typeface="Franklin Gothic Book" charset="0"/>
                <a:ea typeface="Franklin Gothic Book" charset="0"/>
                <a:cs typeface="Franklin Gothic Book" charset="0"/>
              </a:rPr>
              <a:t>33     35     36     37     38     44</a:t>
            </a:r>
          </a:p>
          <a:p>
            <a:endParaRPr lang="tr-TR" sz="2300" dirty="0">
              <a:latin typeface="Franklin Gothic Book" charset="0"/>
              <a:ea typeface="Franklin Gothic Book" charset="0"/>
              <a:cs typeface="Franklin Gothic Book" charset="0"/>
            </a:endParaRPr>
          </a:p>
          <a:p>
            <a:r>
              <a:rPr lang="tr-TR" sz="2300" dirty="0">
                <a:latin typeface="Franklin Gothic Book" charset="0"/>
                <a:ea typeface="Franklin Gothic Book" charset="0"/>
                <a:cs typeface="Franklin Gothic Book" charset="0"/>
              </a:rPr>
              <a:t>Baştaki ve sondaki değerleri çıkardığımızda, veri setinin medyanı tam ortadaki iki değerin aritmetik ortalamasına eşittir.   Yani (31+33)/2= 32’dir.</a:t>
            </a:r>
          </a:p>
          <a:p>
            <a:r>
              <a:rPr lang="tr-TR" sz="2300" dirty="0">
                <a:latin typeface="Franklin Gothic Book" charset="0"/>
                <a:ea typeface="Franklin Gothic Book" charset="0"/>
                <a:cs typeface="Franklin Gothic Book" charset="0"/>
              </a:rPr>
              <a:t>“Sınıfın yarısı 32 yaş ve üzerindedir veya 32 yaş ve daha gençtir” seklinde betimsel yorumlar yapılabilir. </a:t>
            </a:r>
          </a:p>
          <a:p>
            <a:endParaRPr lang="tr-TR" sz="2300" dirty="0">
              <a:latin typeface="Franklin Gothic Book" charset="0"/>
              <a:ea typeface="Franklin Gothic Book" charset="0"/>
              <a:cs typeface="Franklin Gothic Book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99323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37551" y="166910"/>
            <a:ext cx="8911687" cy="727612"/>
          </a:xfrm>
        </p:spPr>
        <p:txBody>
          <a:bodyPr/>
          <a:lstStyle/>
          <a:p>
            <a:r>
              <a:rPr lang="en-US"/>
              <a:t>Mod (Mode)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9883" y="894522"/>
            <a:ext cx="10391429" cy="5188227"/>
          </a:xfrm>
        </p:spPr>
        <p:txBody>
          <a:bodyPr>
            <a:noAutofit/>
          </a:bodyPr>
          <a:lstStyle/>
          <a:p>
            <a:r>
              <a:rPr lang="tr-TR" sz="2800" dirty="0">
                <a:latin typeface="Franklin Gothic Book" charset="0"/>
                <a:ea typeface="Franklin Gothic Book" charset="0"/>
                <a:cs typeface="Franklin Gothic Book" charset="0"/>
              </a:rPr>
              <a:t>Mod, frekansı yani sıklığı en fazla olan değerdir. </a:t>
            </a:r>
          </a:p>
          <a:p>
            <a:r>
              <a:rPr lang="tr-TR" sz="2800" dirty="0">
                <a:latin typeface="Franklin Gothic Book" charset="0"/>
                <a:ea typeface="Franklin Gothic Book" charset="0"/>
                <a:cs typeface="Franklin Gothic Book" charset="0"/>
              </a:rPr>
              <a:t>Sütun (çubuk) grafiği, histogram ya da çizgi grafiği gibi grafiklerde, dağılımın maksimum noktasını ifade eden frekans değeri, mod olarak gösterilir. </a:t>
            </a:r>
          </a:p>
          <a:p>
            <a:r>
              <a:rPr lang="tr-TR" sz="2800" dirty="0">
                <a:latin typeface="Franklin Gothic Book" charset="0"/>
                <a:ea typeface="Franklin Gothic Book" charset="0"/>
                <a:cs typeface="Franklin Gothic Book" charset="0"/>
              </a:rPr>
              <a:t>Mod, sınıflama düzeyindeki değişkenlerde dahil olmak üzere her tür ölçme düzeyinde anlamlı bir betimsel istatistiktir. </a:t>
            </a:r>
          </a:p>
          <a:p>
            <a:r>
              <a:rPr lang="tr-TR" sz="2800" dirty="0">
                <a:latin typeface="Franklin Gothic Book" charset="0"/>
                <a:ea typeface="Franklin Gothic Book" charset="0"/>
                <a:cs typeface="Franklin Gothic Book" charset="0"/>
              </a:rPr>
              <a:t>Bir veri setinde mod tek bir değer olabileceği gibi veride birden fazla değerin de görülme sıklığı eşit ve en yüksek olabilir. </a:t>
            </a:r>
          </a:p>
          <a:p>
            <a:pPr lvl="1"/>
            <a:r>
              <a:rPr lang="tr-TR" sz="2400" dirty="0">
                <a:latin typeface="Franklin Gothic Book" charset="0"/>
                <a:ea typeface="Franklin Gothic Book" charset="0"/>
                <a:cs typeface="Franklin Gothic Book" charset="0"/>
              </a:rPr>
              <a:t>Mod olarak tek bir değerin olduğu değişkenlere 'tek modlu değişken' denir ve bu değerler tek tepeli bir dağılım gösterir. </a:t>
            </a:r>
          </a:p>
          <a:p>
            <a:pPr lvl="1"/>
            <a:r>
              <a:rPr lang="tr-TR" sz="2400" dirty="0">
                <a:latin typeface="Franklin Gothic Book" charset="0"/>
                <a:ea typeface="Franklin Gothic Book" charset="0"/>
                <a:cs typeface="Franklin Gothic Book" charset="0"/>
              </a:rPr>
              <a:t>Birden fazla mod değeri olan değişkenlere ise ’çok modlu değişken' denir ve bu değişkenlerin dağılımı çok tepeli dağılım sergiler. </a:t>
            </a:r>
          </a:p>
          <a:p>
            <a:endParaRPr lang="tr-TR" sz="2800" dirty="0">
              <a:latin typeface="Franklin Gothic Book" charset="0"/>
              <a:ea typeface="Franklin Gothic Book" charset="0"/>
              <a:cs typeface="Franklin Gothic Book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91387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val 15"/>
          <p:cNvSpPr/>
          <p:nvPr/>
        </p:nvSpPr>
        <p:spPr>
          <a:xfrm>
            <a:off x="10346006" y="3967095"/>
            <a:ext cx="593187" cy="56210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5" name="Oval 14"/>
          <p:cNvSpPr/>
          <p:nvPr/>
        </p:nvSpPr>
        <p:spPr>
          <a:xfrm>
            <a:off x="6936505" y="3943350"/>
            <a:ext cx="593187" cy="56210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4" name="Oval 13"/>
          <p:cNvSpPr/>
          <p:nvPr/>
        </p:nvSpPr>
        <p:spPr>
          <a:xfrm>
            <a:off x="2948375" y="3943350"/>
            <a:ext cx="593187" cy="56210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1" name="Oval 10"/>
          <p:cNvSpPr/>
          <p:nvPr/>
        </p:nvSpPr>
        <p:spPr>
          <a:xfrm>
            <a:off x="1730913" y="3943350"/>
            <a:ext cx="593187" cy="56210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730913" y="683745"/>
            <a:ext cx="8911687" cy="787247"/>
          </a:xfrm>
        </p:spPr>
        <p:txBody>
          <a:bodyPr/>
          <a:lstStyle/>
          <a:p>
            <a:r>
              <a:rPr lang="tr-TR" dirty="0"/>
              <a:t>Mod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1234" y="1470992"/>
            <a:ext cx="5911574" cy="139533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31234" y="2866322"/>
            <a:ext cx="1573188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500" b="1">
                <a:latin typeface="Franklin Gothic Book" charset="0"/>
                <a:ea typeface="Franklin Gothic Book" charset="0"/>
                <a:cs typeface="Franklin Gothic Book" charset="0"/>
              </a:rPr>
              <a:t>Tek Modlu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16694" y="2866322"/>
            <a:ext cx="142539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500" b="1" dirty="0">
                <a:latin typeface="Franklin Gothic Book" charset="0"/>
                <a:ea typeface="Franklin Gothic Book" charset="0"/>
                <a:cs typeface="Franklin Gothic Book" charset="0"/>
              </a:rPr>
              <a:t>İki Modlu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6086" y="2866322"/>
            <a:ext cx="1624163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500" b="1" dirty="0">
                <a:latin typeface="Franklin Gothic Book" charset="0"/>
                <a:ea typeface="Franklin Gothic Book" charset="0"/>
                <a:cs typeface="Franklin Gothic Book" charset="0"/>
              </a:rPr>
              <a:t>Çok Modlu</a:t>
            </a:r>
          </a:p>
        </p:txBody>
      </p:sp>
      <p:sp>
        <p:nvSpPr>
          <p:cNvPr id="9" name="Rectangle 8"/>
          <p:cNvSpPr/>
          <p:nvPr/>
        </p:nvSpPr>
        <p:spPr>
          <a:xfrm>
            <a:off x="1152766" y="3551352"/>
            <a:ext cx="10455966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2800" i="1" dirty="0">
                <a:effectLst/>
                <a:latin typeface="Franklin Gothic Book" charset="0"/>
                <a:ea typeface="Franklin Gothic Book" charset="0"/>
                <a:cs typeface="Franklin Gothic Book" charset="0"/>
              </a:rPr>
              <a:t>İstatistik dersinden alınan notlar;</a:t>
            </a:r>
            <a:br>
              <a:rPr lang="tr-TR" sz="2800" i="1" dirty="0">
                <a:effectLst/>
                <a:latin typeface="Franklin Gothic Book" charset="0"/>
                <a:ea typeface="Franklin Gothic Book" charset="0"/>
                <a:cs typeface="Franklin Gothic Book" charset="0"/>
              </a:rPr>
            </a:br>
            <a:r>
              <a:rPr lang="tr-TR" sz="2800" dirty="0">
                <a:latin typeface="Franklin Gothic Book" charset="0"/>
                <a:ea typeface="Franklin Gothic Book" charset="0"/>
                <a:cs typeface="Franklin Gothic Book" charset="0"/>
              </a:rPr>
              <a:t>45,</a:t>
            </a:r>
            <a:r>
              <a:rPr lang="mr-IN" sz="2800" dirty="0">
                <a:effectLst/>
                <a:latin typeface="Franklin Gothic Book" charset="0"/>
                <a:ea typeface="Franklin Gothic Book" charset="0"/>
                <a:cs typeface="Franklin Gothic Book" charset="0"/>
              </a:rPr>
              <a:t> </a:t>
            </a:r>
            <a:r>
              <a:rPr lang="tr-TR" sz="2800" dirty="0">
                <a:effectLst/>
                <a:latin typeface="Franklin Gothic Book" charset="0"/>
                <a:ea typeface="Franklin Gothic Book" charset="0"/>
                <a:cs typeface="Franklin Gothic Book" charset="0"/>
              </a:rPr>
              <a:t>55,</a:t>
            </a:r>
            <a:r>
              <a:rPr lang="mr-IN" sz="2800" dirty="0">
                <a:effectLst/>
                <a:latin typeface="Franklin Gothic Book" charset="0"/>
                <a:ea typeface="Franklin Gothic Book" charset="0"/>
                <a:cs typeface="Franklin Gothic Book" charset="0"/>
              </a:rPr>
              <a:t> </a:t>
            </a:r>
            <a:r>
              <a:rPr lang="tr-TR" sz="2800" dirty="0">
                <a:effectLst/>
                <a:latin typeface="Franklin Gothic Book" charset="0"/>
                <a:ea typeface="Franklin Gothic Book" charset="0"/>
                <a:cs typeface="Franklin Gothic Book" charset="0"/>
              </a:rPr>
              <a:t>45,</a:t>
            </a:r>
            <a:r>
              <a:rPr lang="mr-IN" sz="2800" dirty="0">
                <a:effectLst/>
                <a:latin typeface="Franklin Gothic Book" charset="0"/>
                <a:ea typeface="Franklin Gothic Book" charset="0"/>
                <a:cs typeface="Franklin Gothic Book" charset="0"/>
              </a:rPr>
              <a:t> </a:t>
            </a:r>
            <a:r>
              <a:rPr lang="tr-TR" sz="2800" dirty="0">
                <a:effectLst/>
                <a:latin typeface="Franklin Gothic Book" charset="0"/>
                <a:ea typeface="Franklin Gothic Book" charset="0"/>
                <a:cs typeface="Franklin Gothic Book" charset="0"/>
              </a:rPr>
              <a:t>55</a:t>
            </a:r>
            <a:r>
              <a:rPr lang="tr-TR" sz="2800" dirty="0">
                <a:latin typeface="Franklin Gothic Book" charset="0"/>
                <a:ea typeface="Franklin Gothic Book" charset="0"/>
                <a:cs typeface="Franklin Gothic Book" charset="0"/>
              </a:rPr>
              <a:t>,</a:t>
            </a:r>
            <a:r>
              <a:rPr lang="mr-IN" sz="2800" dirty="0">
                <a:effectLst/>
                <a:latin typeface="Franklin Gothic Book" charset="0"/>
                <a:ea typeface="Franklin Gothic Book" charset="0"/>
                <a:cs typeface="Franklin Gothic Book" charset="0"/>
              </a:rPr>
              <a:t> </a:t>
            </a:r>
            <a:r>
              <a:rPr lang="tr-TR" sz="2800" dirty="0">
                <a:effectLst/>
                <a:latin typeface="Franklin Gothic Book" charset="0"/>
                <a:ea typeface="Franklin Gothic Book" charset="0"/>
                <a:cs typeface="Franklin Gothic Book" charset="0"/>
              </a:rPr>
              <a:t>90</a:t>
            </a:r>
            <a:r>
              <a:rPr lang="tr-TR" sz="2800" dirty="0">
                <a:latin typeface="Franklin Gothic Book" charset="0"/>
                <a:ea typeface="Franklin Gothic Book" charset="0"/>
                <a:cs typeface="Franklin Gothic Book" charset="0"/>
              </a:rPr>
              <a:t>,  76,  88,  36,  48,  55,  90,  100, 89, 77,  55</a:t>
            </a:r>
            <a:r>
              <a:rPr lang="mr-IN" sz="2800" dirty="0">
                <a:effectLst/>
                <a:latin typeface="Franklin Gothic Book" charset="0"/>
                <a:ea typeface="Franklin Gothic Book" charset="0"/>
                <a:cs typeface="Franklin Gothic Book" charset="0"/>
              </a:rPr>
              <a:t> </a:t>
            </a:r>
            <a:endParaRPr lang="mr-IN" sz="2800" dirty="0">
              <a:latin typeface="Franklin Gothic Book" charset="0"/>
              <a:ea typeface="Franklin Gothic Book" charset="0"/>
              <a:cs typeface="Franklin Gothic Book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152765" y="4738706"/>
            <a:ext cx="11039235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2800" dirty="0">
                <a:latin typeface="Franklin Gothic Book" charset="0"/>
                <a:ea typeface="Franklin Gothic Book" charset="0"/>
                <a:cs typeface="Franklin Gothic Book" charset="0"/>
              </a:rPr>
              <a:t>Görüldüğü </a:t>
            </a:r>
            <a:r>
              <a:rPr lang="tr-TR" sz="2800" dirty="0">
                <a:effectLst/>
                <a:latin typeface="Franklin Gothic Book" charset="0"/>
                <a:ea typeface="Franklin Gothic Book" charset="0"/>
                <a:cs typeface="Franklin Gothic Book" charset="0"/>
              </a:rPr>
              <a:t>gibi en sık tekrar eden ya da frekansı en yüksek olan not 55’tir. 55 değerinin frekansı </a:t>
            </a:r>
            <a:r>
              <a:rPr lang="tr-TR" sz="2800" dirty="0">
                <a:latin typeface="Franklin Gothic Book" charset="0"/>
                <a:ea typeface="Franklin Gothic Book" charset="0"/>
                <a:cs typeface="Franklin Gothic Book" charset="0"/>
              </a:rPr>
              <a:t>4’tür.</a:t>
            </a:r>
            <a:r>
              <a:rPr lang="tr-TR" sz="2800" dirty="0">
                <a:effectLst/>
                <a:latin typeface="Franklin Gothic Book" charset="0"/>
                <a:ea typeface="Franklin Gothic Book" charset="0"/>
                <a:cs typeface="Franklin Gothic Book" charset="0"/>
              </a:rPr>
              <a:t> Bu durumda sınav notlarının </a:t>
            </a:r>
            <a:r>
              <a:rPr lang="tr-TR" sz="2800" dirty="0" err="1">
                <a:effectLst/>
                <a:latin typeface="Franklin Gothic Book" charset="0"/>
                <a:ea typeface="Franklin Gothic Book" charset="0"/>
                <a:cs typeface="Franklin Gothic Book" charset="0"/>
              </a:rPr>
              <a:t>modu</a:t>
            </a:r>
            <a:r>
              <a:rPr lang="tr-TR" sz="2800" dirty="0">
                <a:effectLst/>
                <a:latin typeface="Franklin Gothic Book" charset="0"/>
                <a:ea typeface="Franklin Gothic Book" charset="0"/>
                <a:cs typeface="Franklin Gothic Book" charset="0"/>
              </a:rPr>
              <a:t> 55 olur. </a:t>
            </a:r>
            <a:endParaRPr lang="tr-TR" sz="2800" dirty="0">
              <a:latin typeface="Franklin Gothic Book" charset="0"/>
              <a:ea typeface="Franklin Gothic Book" charset="0"/>
              <a:cs typeface="Franklin Gothic Book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8860048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122</TotalTime>
  <Words>902</Words>
  <Application>Microsoft Macintosh PowerPoint</Application>
  <PresentationFormat>Widescreen</PresentationFormat>
  <Paragraphs>96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Calibri</vt:lpstr>
      <vt:lpstr>Cambria Math</vt:lpstr>
      <vt:lpstr>Century Gothic</vt:lpstr>
      <vt:lpstr>Franklin Gothic Book</vt:lpstr>
      <vt:lpstr>Wingdings</vt:lpstr>
      <vt:lpstr>Wingdings 3</vt:lpstr>
      <vt:lpstr>Wisp</vt:lpstr>
      <vt:lpstr>BETİMSEL İSTATİSTİK I-  MERKEZİ EĞİLİM ÖLÇÜLERİ</vt:lpstr>
      <vt:lpstr>BETİMSEL İSTATİSTİK</vt:lpstr>
      <vt:lpstr>Merkezi Eğilim Ölçüleri</vt:lpstr>
      <vt:lpstr>DEĞİŞKENLERE UYGUN MERKEZİ EĞİLİM ÖLÇÜLERİ</vt:lpstr>
      <vt:lpstr>  Ortalama (Mean)</vt:lpstr>
      <vt:lpstr>Ortalama</vt:lpstr>
      <vt:lpstr>Medyan/Ortanca (Median)</vt:lpstr>
      <vt:lpstr>Medyan- Verideki Gözlem Sayısı Tek ise ise</vt:lpstr>
      <vt:lpstr>Medyan- Verideki Gözlem Sayısı Çift ise ise</vt:lpstr>
      <vt:lpstr>Mod (Mode)</vt:lpstr>
      <vt:lpstr>Mod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MERKEZİ EĞİLİM ÖLÇÜLERİ</dc:title>
  <dc:creator>Reviewer</dc:creator>
  <cp:lastModifiedBy>Reviewer</cp:lastModifiedBy>
  <cp:revision>17</cp:revision>
  <dcterms:created xsi:type="dcterms:W3CDTF">2019-02-27T19:51:25Z</dcterms:created>
  <dcterms:modified xsi:type="dcterms:W3CDTF">2022-11-03T08:23:23Z</dcterms:modified>
</cp:coreProperties>
</file>