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21"/>
  </p:notesMasterIdLst>
  <p:sldIdLst>
    <p:sldId id="256" r:id="rId2"/>
    <p:sldId id="321" r:id="rId3"/>
    <p:sldId id="309" r:id="rId4"/>
    <p:sldId id="310" r:id="rId5"/>
    <p:sldId id="311" r:id="rId6"/>
    <p:sldId id="312" r:id="rId7"/>
    <p:sldId id="313" r:id="rId8"/>
    <p:sldId id="259" r:id="rId9"/>
    <p:sldId id="264" r:id="rId10"/>
    <p:sldId id="270" r:id="rId11"/>
    <p:sldId id="276" r:id="rId12"/>
    <p:sldId id="266" r:id="rId13"/>
    <p:sldId id="265" r:id="rId14"/>
    <p:sldId id="304" r:id="rId15"/>
    <p:sldId id="314" r:id="rId16"/>
    <p:sldId id="315" r:id="rId17"/>
    <p:sldId id="318" r:id="rId18"/>
    <p:sldId id="271" r:id="rId19"/>
    <p:sldId id="31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66"/>
    <a:srgbClr val="FFACAA"/>
    <a:srgbClr val="FFB45E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Açık Stil 1 - Vurgu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8589"/>
  </p:normalViewPr>
  <p:slideViewPr>
    <p:cSldViewPr snapToGrid="0">
      <p:cViewPr varScale="1">
        <p:scale>
          <a:sx n="101" d="100"/>
          <a:sy n="10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066C4-0799-4045-B6C3-CE4717E81647}" type="datetimeFigureOut">
              <a:rPr lang="tr-TR" smtClean="0"/>
              <a:t>23.05.2024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48923-161A-49CD-AA22-FCB3A7410D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313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10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41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13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248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704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327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7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66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90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83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795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5/23/24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93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file:///C:/Users/Evrim/Desktop/&#304;statistik/sinavlar.sav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Regresyon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E369C4B7-E03E-4CA7-B58E-6A542D32E027}"/>
              </a:ext>
            </a:extLst>
          </p:cNvPr>
          <p:cNvSpPr txBox="1"/>
          <p:nvPr/>
        </p:nvSpPr>
        <p:spPr>
          <a:xfrm>
            <a:off x="1051560" y="5874707"/>
            <a:ext cx="4397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/>
              <a:t>Düzenlenme Tarihi: Aralık 2023</a:t>
            </a:r>
          </a:p>
        </p:txBody>
      </p:sp>
    </p:spTree>
    <p:extLst>
      <p:ext uri="{BB962C8B-B14F-4D97-AF65-F5344CB8AC3E}">
        <p14:creationId xmlns:p14="http://schemas.microsoft.com/office/powerpoint/2010/main" val="258430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9428-19C0-11AB-74F7-F9CEB345A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66835"/>
          </a:xfrm>
        </p:spPr>
        <p:txBody>
          <a:bodyPr>
            <a:normAutofit fontScale="90000"/>
          </a:bodyPr>
          <a:lstStyle/>
          <a:p>
            <a:r>
              <a:rPr lang="tr-TR" dirty="0"/>
              <a:t>Regresyon Analizi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92D81-4A32-3C8F-796D-88A3E2742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51467"/>
            <a:ext cx="10058400" cy="5020733"/>
          </a:xfrm>
        </p:spPr>
        <p:txBody>
          <a:bodyPr>
            <a:normAutofit fontScale="92500"/>
          </a:bodyPr>
          <a:lstStyle/>
          <a:p>
            <a:r>
              <a:rPr lang="tr-TR" sz="2400" dirty="0">
                <a:solidFill>
                  <a:srgbClr val="FF5466"/>
                </a:solidFill>
              </a:rPr>
              <a:t>Regresyon analizindeki temel fikir, </a:t>
            </a:r>
            <a:r>
              <a:rPr lang="tr-TR" sz="2400" dirty="0"/>
              <a:t>bir bağımlı değişken ile bir veya daha fazla bağımsız değişken arasındaki ilişkileri tahmin etmek için istatistiksel bir modelleme geliştirmektir.</a:t>
            </a:r>
          </a:p>
          <a:p>
            <a:r>
              <a:rPr lang="tr-TR" sz="2400" dirty="0">
                <a:solidFill>
                  <a:srgbClr val="FF5466"/>
                </a:solidFill>
              </a:rPr>
              <a:t>Amaç: </a:t>
            </a:r>
            <a:r>
              <a:rPr lang="tr-TR" sz="2400" dirty="0"/>
              <a:t>Regresyon analizi öncelikle kavramsal olarak farklı iki amaç için kullanılır. </a:t>
            </a:r>
          </a:p>
          <a:p>
            <a:pPr marL="731520" lvl="1" indent="-457200">
              <a:buFont typeface="+mj-lt"/>
              <a:buAutoNum type="arabicPeriod"/>
            </a:pPr>
            <a:r>
              <a:rPr lang="tr-TR" sz="2000" dirty="0"/>
              <a:t>Regresyon analizi yaygın olarak tahmin ve öngörü için kullanılır ve kullanımı makine öğrenimi alanıyla önemli ölçüde örtüşür.</a:t>
            </a:r>
          </a:p>
          <a:p>
            <a:pPr marL="731520" lvl="1" indent="-457200">
              <a:buFont typeface="+mj-lt"/>
              <a:buAutoNum type="arabicPeriod"/>
            </a:pPr>
            <a:r>
              <a:rPr lang="tr-TR" sz="2000" dirty="0"/>
              <a:t>Bazı durumlarda regresyon analizi, bağımsız ve bağımlı değişkenler arasındaki nedensel ilişkileri çıkarmak için kullanılabilir.</a:t>
            </a:r>
          </a:p>
          <a:p>
            <a:r>
              <a:rPr lang="tr-TR" sz="2400" dirty="0">
                <a:solidFill>
                  <a:srgbClr val="FF5466"/>
                </a:solidFill>
              </a:rPr>
              <a:t>Başarısı: </a:t>
            </a:r>
            <a:r>
              <a:rPr lang="tr-TR" sz="2400" dirty="0"/>
              <a:t>Uygun verilerin mevcudiyetine bağlıdır.</a:t>
            </a:r>
          </a:p>
          <a:p>
            <a:r>
              <a:rPr lang="tr-TR" sz="2400" dirty="0">
                <a:solidFill>
                  <a:srgbClr val="FF5466"/>
                </a:solidFill>
              </a:rPr>
              <a:t>Bağımlı değişken (sonuç): </a:t>
            </a:r>
            <a:r>
              <a:rPr lang="tr-TR" sz="2400" dirty="0"/>
              <a:t>Araştırmacıların açıklamaya veya tahmin etmeye çalıştığı değişken, Y ile gösterilir ve sonuç değişkeni olarak adlandırılır.</a:t>
            </a:r>
          </a:p>
          <a:p>
            <a:r>
              <a:rPr lang="tr-TR" sz="2400" dirty="0">
                <a:solidFill>
                  <a:srgbClr val="FF5466"/>
                </a:solidFill>
              </a:rPr>
              <a:t>Bağımsız değişken (Yordayıcı/Tahmin edici/</a:t>
            </a:r>
            <a:r>
              <a:rPr lang="tr-TR" sz="2400" dirty="0" err="1">
                <a:solidFill>
                  <a:srgbClr val="FF5466"/>
                </a:solidFill>
              </a:rPr>
              <a:t>kovaryantlar</a:t>
            </a:r>
            <a:r>
              <a:rPr lang="tr-TR" sz="2400" dirty="0">
                <a:solidFill>
                  <a:srgbClr val="FF5466"/>
                </a:solidFill>
              </a:rPr>
              <a:t>): </a:t>
            </a:r>
            <a:r>
              <a:rPr lang="tr-TR" sz="2400" dirty="0"/>
              <a:t>X ile gösterilir ve sonuç değişkenini açıklamak veya tahmin etmek için kullanılan değişken</a:t>
            </a:r>
          </a:p>
        </p:txBody>
      </p:sp>
    </p:spTree>
    <p:extLst>
      <p:ext uri="{BB962C8B-B14F-4D97-AF65-F5344CB8AC3E}">
        <p14:creationId xmlns:p14="http://schemas.microsoft.com/office/powerpoint/2010/main" val="614124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0A31-E92C-8B82-808F-84AC67DA5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19912"/>
          </a:xfrm>
        </p:spPr>
        <p:txBody>
          <a:bodyPr/>
          <a:lstStyle/>
          <a:p>
            <a:r>
              <a:rPr lang="tr-TR" dirty="0"/>
              <a:t>Regresyon Modeli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1CA5-B6DE-5945-8012-2BA566C80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4" y="1304544"/>
            <a:ext cx="10058400" cy="5254518"/>
          </a:xfrm>
        </p:spPr>
        <p:txBody>
          <a:bodyPr>
            <a:normAutofit fontScale="92500" lnSpcReduction="10000"/>
          </a:bodyPr>
          <a:lstStyle/>
          <a:p>
            <a:pPr marL="6350" marR="56515" indent="-6350" algn="just">
              <a:lnSpc>
                <a:spcPct val="104000"/>
              </a:lnSpc>
              <a:spcAft>
                <a:spcPts val="1130"/>
              </a:spcAft>
            </a:pPr>
            <a:r>
              <a:rPr lang="tr-TR" sz="24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Regresyon, çıktı ve tahmin (yordayıcı) değişken(</a:t>
            </a:r>
            <a:r>
              <a:rPr lang="tr-TR" sz="240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ler</a:t>
            </a:r>
            <a:r>
              <a:rPr lang="tr-TR" sz="24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)i arasındaki ilişkinin varsayımsal bir modeliyle sonuçlanır. Kullanılan model, formülle tanımlanan doğrusal bir modeldir;</a:t>
            </a:r>
            <a:endParaRPr lang="en-TR" sz="2400" dirty="0">
              <a:solidFill>
                <a:srgbClr val="000000"/>
              </a:solidFill>
              <a:effectLst/>
              <a:latin typeface="Trebuchet MS" panose="020B0703020202090204" pitchFamily="34" charset="0"/>
              <a:ea typeface="Calibri" panose="020F0502020204030204" pitchFamily="34" charset="0"/>
            </a:endParaRPr>
          </a:p>
          <a:p>
            <a:pPr marL="6350" marR="49530" indent="-6350" algn="ctr">
              <a:lnSpc>
                <a:spcPct val="107000"/>
              </a:lnSpc>
              <a:spcAft>
                <a:spcPts val="685"/>
              </a:spcAft>
            </a:pPr>
            <a:r>
              <a:rPr lang="tr-TR" sz="2400" b="1" i="1" kern="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y = b</a:t>
            </a:r>
            <a:r>
              <a:rPr lang="tr-TR" sz="2400" b="1" i="1" kern="0" baseline="-250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0</a:t>
            </a:r>
            <a:r>
              <a:rPr lang="tr-TR" sz="2400" b="1" i="1" kern="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 + b</a:t>
            </a:r>
            <a:r>
              <a:rPr lang="tr-TR" sz="2400" b="1" i="1" kern="0" baseline="-250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1</a:t>
            </a:r>
            <a:r>
              <a:rPr lang="tr-TR" sz="2400" b="1" i="1" kern="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*x</a:t>
            </a:r>
            <a:r>
              <a:rPr lang="tr-TR" sz="2400" b="1" i="1" kern="0" baseline="-250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1</a:t>
            </a:r>
            <a:r>
              <a:rPr lang="tr-TR" sz="2400" b="1" i="1" kern="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 + …….+</a:t>
            </a:r>
            <a:r>
              <a:rPr lang="tr-TR" sz="2400" b="1" i="1" kern="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b</a:t>
            </a:r>
            <a:r>
              <a:rPr lang="tr-TR" sz="2400" b="1" i="1" kern="0" baseline="-2500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n</a:t>
            </a:r>
            <a:r>
              <a:rPr lang="tr-TR" sz="2400" b="1" i="1" kern="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*</a:t>
            </a:r>
            <a:r>
              <a:rPr lang="tr-TR" sz="2400" b="1" i="1" kern="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X</a:t>
            </a:r>
            <a:r>
              <a:rPr lang="tr-TR" sz="2400" b="1" i="1" kern="0" baseline="-2500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n</a:t>
            </a:r>
            <a:r>
              <a:rPr lang="tr-TR" sz="2400" b="1" i="1" kern="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+ </a:t>
            </a:r>
            <a:r>
              <a:rPr lang="tr-TR" sz="2400" b="1" i="1" kern="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Arial" panose="020B0604020202020204" pitchFamily="34" charset="0"/>
              </a:rPr>
              <a:t>ε</a:t>
            </a:r>
            <a:endParaRPr lang="tr-TR" sz="2400" b="1" i="1" kern="0" dirty="0">
              <a:solidFill>
                <a:srgbClr val="000000"/>
              </a:solidFill>
              <a:effectLst/>
              <a:latin typeface="Trebuchet MS" panose="020B0703020202090204" pitchFamily="34" charset="0"/>
              <a:ea typeface="Arial" panose="020B0604020202020204" pitchFamily="34" charset="0"/>
            </a:endParaRPr>
          </a:p>
          <a:p>
            <a:pPr marL="6350" marR="49530" indent="-6350" algn="ctr">
              <a:lnSpc>
                <a:spcPct val="107000"/>
              </a:lnSpc>
              <a:spcAft>
                <a:spcPts val="685"/>
              </a:spcAft>
            </a:pPr>
            <a:endParaRPr lang="en-TR" sz="2400" b="1" i="1" kern="0" dirty="0">
              <a:solidFill>
                <a:srgbClr val="000000"/>
              </a:solidFill>
              <a:effectLst/>
              <a:latin typeface="Trebuchet MS" panose="020B0703020202090204" pitchFamily="34" charset="0"/>
              <a:ea typeface="Arial" panose="020B0604020202020204" pitchFamily="34" charset="0"/>
            </a:endParaRPr>
          </a:p>
          <a:p>
            <a:pPr marL="815340" marR="48260" indent="-6350" algn="just">
              <a:lnSpc>
                <a:spcPct val="110000"/>
              </a:lnSpc>
              <a:spcBef>
                <a:spcPts val="0"/>
              </a:spcBef>
              <a:spcAft>
                <a:spcPts val="90"/>
              </a:spcAft>
            </a:pPr>
            <a:r>
              <a:rPr lang="tr-TR" sz="24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y = tahmini bağımlı çıktı değişkeni puanı</a:t>
            </a:r>
            <a:endParaRPr lang="en-TR" sz="2400" dirty="0">
              <a:solidFill>
                <a:srgbClr val="000000"/>
              </a:solidFill>
              <a:effectLst/>
              <a:latin typeface="Trebuchet MS" panose="020B0703020202090204" pitchFamily="34" charset="0"/>
              <a:ea typeface="Calibri" panose="020F0502020204030204" pitchFamily="34" charset="0"/>
            </a:endParaRPr>
          </a:p>
          <a:p>
            <a:pPr marL="815340" marR="48260" indent="-6350" algn="just">
              <a:lnSpc>
                <a:spcPct val="110000"/>
              </a:lnSpc>
              <a:spcBef>
                <a:spcPts val="0"/>
              </a:spcBef>
              <a:spcAft>
                <a:spcPts val="110"/>
              </a:spcAft>
            </a:pPr>
            <a:r>
              <a:rPr lang="tr-TR" sz="24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b</a:t>
            </a:r>
            <a:r>
              <a:rPr lang="tr-TR" sz="2400" baseline="-250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0</a:t>
            </a:r>
            <a:r>
              <a:rPr lang="tr-TR" sz="24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 = sabit (x  sıfır olduğunda y’nin aldığı değer)</a:t>
            </a:r>
            <a:endParaRPr lang="en-TR" sz="2400" dirty="0">
              <a:solidFill>
                <a:srgbClr val="000000"/>
              </a:solidFill>
              <a:effectLst/>
              <a:latin typeface="Trebuchet MS" panose="020B0703020202090204" pitchFamily="34" charset="0"/>
              <a:ea typeface="Calibri" panose="020F0502020204030204" pitchFamily="34" charset="0"/>
            </a:endParaRPr>
          </a:p>
          <a:p>
            <a:pPr marL="815340" marR="48260" indent="-6350" algn="just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lang="tr-TR" sz="24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b</a:t>
            </a:r>
            <a:r>
              <a:rPr lang="tr-TR" sz="2400" baseline="-250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1</a:t>
            </a:r>
            <a:r>
              <a:rPr lang="tr-TR" sz="24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 = birinci yordayıcının regresyon katsayısı  (eğim-</a:t>
            </a:r>
            <a:r>
              <a:rPr lang="tr-TR" sz="240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slope</a:t>
            </a:r>
            <a:r>
              <a:rPr lang="tr-TR" sz="24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)</a:t>
            </a:r>
            <a:endParaRPr lang="en-TR" sz="2400" dirty="0">
              <a:solidFill>
                <a:srgbClr val="000000"/>
              </a:solidFill>
              <a:effectLst/>
              <a:latin typeface="Trebuchet MS" panose="020B0703020202090204" pitchFamily="34" charset="0"/>
              <a:ea typeface="Calibri" panose="020F0502020204030204" pitchFamily="34" charset="0"/>
            </a:endParaRPr>
          </a:p>
          <a:p>
            <a:pPr marL="815340" marR="48260" indent="-6350" algn="just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lang="tr-TR" sz="24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</a:rPr>
              <a:t>x</a:t>
            </a:r>
            <a:r>
              <a:rPr lang="tr-TR" sz="2400" baseline="-250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</a:rPr>
              <a:t>1</a:t>
            </a:r>
            <a:r>
              <a:rPr lang="tr-TR" sz="24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</a:rPr>
              <a:t> = ilk bağımsız yordayıcı değişkene ilişkin puan</a:t>
            </a:r>
            <a:endParaRPr lang="en-TR" sz="2400" dirty="0">
              <a:solidFill>
                <a:srgbClr val="000000"/>
              </a:solidFill>
              <a:latin typeface="Trebuchet MS" panose="020B0703020202090204" pitchFamily="34" charset="0"/>
              <a:ea typeface="Calibri" panose="020F0502020204030204" pitchFamily="34" charset="0"/>
            </a:endParaRPr>
          </a:p>
          <a:p>
            <a:pPr marL="815340" marR="48260" indent="-6350" algn="just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lang="tr-TR" sz="240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b</a:t>
            </a:r>
            <a:r>
              <a:rPr lang="tr-TR" sz="2400" baseline="-2500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n</a:t>
            </a:r>
            <a:r>
              <a:rPr lang="tr-TR" sz="24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 = n. yordayıcının regresyon katsayısı </a:t>
            </a:r>
          </a:p>
          <a:p>
            <a:pPr marL="815340" marR="48260" indent="-6350" algn="just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lang="tr-TR" sz="2400" dirty="0" err="1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</a:rPr>
              <a:t>x</a:t>
            </a:r>
            <a:r>
              <a:rPr lang="tr-TR" sz="2400" baseline="-25000" dirty="0" err="1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</a:rPr>
              <a:t>n</a:t>
            </a:r>
            <a:r>
              <a:rPr lang="tr-TR" sz="24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</a:rPr>
              <a:t> = n.  bağımsız yordayıcı değişkene ilişkin puan</a:t>
            </a:r>
            <a:endParaRPr lang="en-TR" sz="2400" dirty="0">
              <a:solidFill>
                <a:srgbClr val="000000"/>
              </a:solidFill>
              <a:latin typeface="Trebuchet MS" panose="020B0703020202090204" pitchFamily="34" charset="0"/>
              <a:ea typeface="Calibri" panose="020F0502020204030204" pitchFamily="34" charset="0"/>
            </a:endParaRPr>
          </a:p>
          <a:p>
            <a:pPr marL="815340" marR="48260" indent="-6350" algn="just">
              <a:lnSpc>
                <a:spcPct val="110000"/>
              </a:lnSpc>
              <a:spcBef>
                <a:spcPts val="0"/>
              </a:spcBef>
              <a:spcAft>
                <a:spcPts val="2215"/>
              </a:spcAft>
            </a:pPr>
            <a:r>
              <a:rPr lang="tr-TR" sz="240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ε</a:t>
            </a:r>
            <a:r>
              <a:rPr lang="tr-TR" sz="2400" dirty="0">
                <a:solidFill>
                  <a:srgbClr val="000000"/>
                </a:solidFill>
                <a:effectLst/>
                <a:latin typeface="Trebuchet MS" panose="020B0703020202090204" pitchFamily="34" charset="0"/>
                <a:ea typeface="Calibri" panose="020F0502020204030204" pitchFamily="34" charset="0"/>
              </a:rPr>
              <a:t> = rastgele hata bileşeni (artıklara dayalı)</a:t>
            </a:r>
            <a:endParaRPr lang="en-TR" sz="2400" dirty="0">
              <a:solidFill>
                <a:srgbClr val="000000"/>
              </a:solidFill>
              <a:effectLst/>
              <a:latin typeface="Trebuchet MS" panose="020B0703020202090204" pitchFamily="34" charset="0"/>
              <a:ea typeface="Calibri" panose="020F0502020204030204" pitchFamily="34" charset="0"/>
            </a:endParaRPr>
          </a:p>
          <a:p>
            <a:endParaRPr lang="tr-TR" sz="2400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150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DDD8-CD10-9BF4-D184-DC322CBE7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 Küçük Kareler Yöntemi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B1648-764C-B4E9-28F3-A86853F4C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470523" cy="499872"/>
          </a:xfrm>
        </p:spPr>
        <p:txBody>
          <a:bodyPr/>
          <a:lstStyle/>
          <a:p>
            <a:r>
              <a:rPr lang="tr-TR" dirty="0"/>
              <a:t>En küçük kareler yöntemi (</a:t>
            </a:r>
            <a:r>
              <a:rPr lang="tr-TR" dirty="0" err="1"/>
              <a:t>least</a:t>
            </a:r>
            <a:r>
              <a:rPr lang="tr-TR" dirty="0"/>
              <a:t> </a:t>
            </a:r>
            <a:r>
              <a:rPr lang="tr-TR" dirty="0" err="1"/>
              <a:t>squares</a:t>
            </a:r>
            <a:r>
              <a:rPr lang="tr-TR" dirty="0"/>
              <a:t>)</a:t>
            </a:r>
          </a:p>
          <a:p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07B38E-216C-B60F-685D-458AF0D5D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670" y="2709672"/>
            <a:ext cx="3268874" cy="3418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87EEE1-CA05-9B03-DF36-233FD1F89E32}"/>
              </a:ext>
            </a:extLst>
          </p:cNvPr>
          <p:cNvSpPr txBox="1"/>
          <p:nvPr/>
        </p:nvSpPr>
        <p:spPr>
          <a:xfrm>
            <a:off x="2255520" y="3867389"/>
            <a:ext cx="1731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/>
              <a:t>Albüm Satışları</a:t>
            </a:r>
            <a:br>
              <a:rPr lang="tr-TR" dirty="0"/>
            </a:br>
            <a:r>
              <a:rPr lang="tr-TR" dirty="0"/>
              <a:t>(x1000)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BD3B0-7F5B-27E4-1873-BF52D8CB4FC4}"/>
              </a:ext>
            </a:extLst>
          </p:cNvPr>
          <p:cNvSpPr txBox="1"/>
          <p:nvPr/>
        </p:nvSpPr>
        <p:spPr>
          <a:xfrm>
            <a:off x="4843715" y="6075820"/>
            <a:ext cx="1751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/>
              <a:t>Reklam Bütçesi</a:t>
            </a:r>
            <a:br>
              <a:rPr lang="tr-TR" dirty="0"/>
            </a:br>
            <a:r>
              <a:rPr lang="tr-TR" dirty="0"/>
              <a:t>(x1000 TL)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5B0B96-95BD-B764-EC6C-8F92C791AF75}"/>
              </a:ext>
            </a:extLst>
          </p:cNvPr>
          <p:cNvSpPr txBox="1"/>
          <p:nvPr/>
        </p:nvSpPr>
        <p:spPr>
          <a:xfrm>
            <a:off x="7306817" y="2251948"/>
            <a:ext cx="4434227" cy="369332"/>
          </a:xfrm>
          <a:prstGeom prst="rect">
            <a:avLst/>
          </a:prstGeom>
          <a:solidFill>
            <a:srgbClr val="FFACAA"/>
          </a:solidFill>
        </p:spPr>
        <p:txBody>
          <a:bodyPr wrap="none" rtlCol="0">
            <a:spAutoFit/>
          </a:bodyPr>
          <a:lstStyle/>
          <a:p>
            <a:r>
              <a:rPr lang="tr-TR" dirty="0"/>
              <a:t>Kırmızı kesikli çizgiler artıklar (</a:t>
            </a:r>
            <a:r>
              <a:rPr lang="tr-TR" dirty="0" err="1"/>
              <a:t>residuals</a:t>
            </a:r>
            <a:r>
              <a:rPr lang="tr-TR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2E7D0F-C5ED-A042-D287-23042F880A0F}"/>
              </a:ext>
            </a:extLst>
          </p:cNvPr>
          <p:cNvSpPr txBox="1"/>
          <p:nvPr/>
        </p:nvSpPr>
        <p:spPr>
          <a:xfrm>
            <a:off x="4474464" y="2712720"/>
            <a:ext cx="1499616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r-TR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Çizginin üzerindeki değerler pozitif sapmalar</a:t>
            </a:r>
            <a:r>
              <a:rPr lang="en-TR" sz="1400" dirty="0">
                <a:effectLst/>
              </a:rPr>
              <a:t> </a:t>
            </a:r>
            <a:endParaRPr lang="tr-T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94698E-683E-72F9-B538-0C3B49903453}"/>
              </a:ext>
            </a:extLst>
          </p:cNvPr>
          <p:cNvSpPr txBox="1"/>
          <p:nvPr/>
        </p:nvSpPr>
        <p:spPr>
          <a:xfrm>
            <a:off x="6540371" y="4351212"/>
            <a:ext cx="1499616" cy="738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r-TR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Çizginin altındaki değerler negatif sapmalar</a:t>
            </a:r>
            <a:r>
              <a:rPr lang="en-TR" sz="1400" dirty="0">
                <a:effectLst/>
              </a:rPr>
              <a:t> 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46340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649C-8F06-4ADB-AA40-00513D2CB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94" y="326370"/>
            <a:ext cx="11714168" cy="1256245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/>
              <a:t>Bir regresyon modelinin uyumunu nasıl değerlendiririz?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28B8F-3201-90F5-5913-B4F38B875C32}"/>
              </a:ext>
            </a:extLst>
          </p:cNvPr>
          <p:cNvSpPr txBox="1"/>
          <p:nvPr/>
        </p:nvSpPr>
        <p:spPr>
          <a:xfrm>
            <a:off x="9371172" y="2897079"/>
            <a:ext cx="2602523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r-TR" b="1" dirty="0"/>
              <a:t>Model Kareler Toplamı</a:t>
            </a:r>
            <a:br>
              <a:rPr lang="tr-TR" b="1" dirty="0"/>
            </a:br>
            <a:r>
              <a:rPr lang="tr-TR" b="1" dirty="0"/>
              <a:t>(SSM)</a:t>
            </a:r>
          </a:p>
          <a:p>
            <a:r>
              <a:rPr lang="tr-TR" dirty="0"/>
              <a:t>Model değişkenliği (regresyon modeli ile ortalama modeli arasındaki değişkenlik farkı)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F53621-595D-DD5F-765F-33E548B7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739" y="1767281"/>
            <a:ext cx="2202079" cy="22595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B09C97-F00B-5156-97BF-A2D7FDDB6427}"/>
              </a:ext>
            </a:extLst>
          </p:cNvPr>
          <p:cNvSpPr txBox="1"/>
          <p:nvPr/>
        </p:nvSpPr>
        <p:spPr>
          <a:xfrm>
            <a:off x="179808" y="1976438"/>
            <a:ext cx="2371427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r-TR" sz="1600" b="1" dirty="0"/>
              <a:t>Toplam Kareler Toplamı (SST)</a:t>
            </a:r>
            <a:br>
              <a:rPr lang="tr-TR" sz="1600" dirty="0"/>
            </a:br>
            <a:r>
              <a:rPr lang="tr-TR" sz="1600" dirty="0"/>
              <a:t>Gözlenen değerlerin Y değişkeninin ortalamasından sapmaları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6E703-657F-B07E-C63E-85E639680749}"/>
              </a:ext>
            </a:extLst>
          </p:cNvPr>
          <p:cNvSpPr txBox="1"/>
          <p:nvPr/>
        </p:nvSpPr>
        <p:spPr>
          <a:xfrm>
            <a:off x="132156" y="4321941"/>
            <a:ext cx="2371427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r-TR" sz="1600" b="1" dirty="0"/>
              <a:t>Artık Kareler Toplamı</a:t>
            </a:r>
            <a:br>
              <a:rPr lang="tr-TR" sz="1600" b="1" dirty="0"/>
            </a:br>
            <a:r>
              <a:rPr lang="tr-TR" sz="1600" b="1" dirty="0"/>
              <a:t>(SSR)</a:t>
            </a:r>
            <a:br>
              <a:rPr lang="tr-TR" sz="1600" dirty="0"/>
            </a:br>
            <a:r>
              <a:rPr lang="tr-TR" sz="1600" dirty="0"/>
              <a:t>Gözlenen değerlerin X ve Y değişkeni ilişkisine dayalı regresyon doğrusundan sapmaları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185B36-6E99-4C3F-2EDD-C4305B44E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235" y="4196365"/>
            <a:ext cx="2392634" cy="2502388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92B52092-04D2-5838-1168-33320E7EE4F5}"/>
              </a:ext>
            </a:extLst>
          </p:cNvPr>
          <p:cNvSpPr/>
          <p:nvPr/>
        </p:nvSpPr>
        <p:spPr>
          <a:xfrm>
            <a:off x="5102130" y="3833446"/>
            <a:ext cx="580972" cy="386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BCA5B28-C593-3FAE-DCDD-AB5EEE49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378" y="2761268"/>
            <a:ext cx="2782765" cy="25312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E0DD47-D86D-CF88-B108-8996A3F1C78B}"/>
              </a:ext>
            </a:extLst>
          </p:cNvPr>
          <p:cNvSpPr txBox="1"/>
          <p:nvPr/>
        </p:nvSpPr>
        <p:spPr>
          <a:xfrm>
            <a:off x="5880627" y="5551164"/>
            <a:ext cx="6093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Model, ortalama modeli kullanmaktan daha iyi bir tahminle sonuçlanırsa, </a:t>
            </a:r>
            <a:r>
              <a:rPr lang="tr-TR" dirty="0" err="1"/>
              <a:t>SSM'nin</a:t>
            </a:r>
            <a:r>
              <a:rPr lang="tr-TR" dirty="0"/>
              <a:t> </a:t>
            </a:r>
            <a:r>
              <a:rPr lang="tr-TR" dirty="0" err="1"/>
              <a:t>SSR'den</a:t>
            </a:r>
            <a:r>
              <a:rPr lang="tr-TR" dirty="0"/>
              <a:t> çok daha büyük olmasını bekleriz</a:t>
            </a:r>
          </a:p>
        </p:txBody>
      </p:sp>
    </p:spTree>
    <p:extLst>
      <p:ext uri="{BB962C8B-B14F-4D97-AF65-F5344CB8AC3E}">
        <p14:creationId xmlns:p14="http://schemas.microsoft.com/office/powerpoint/2010/main" val="35444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30B2-5C3E-F3AE-3931-94146062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 Testi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55C22-35C7-E6EE-A24B-2053CEE35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1307592"/>
          </a:xfrm>
        </p:spPr>
        <p:txBody>
          <a:bodyPr/>
          <a:lstStyle/>
          <a:p>
            <a:r>
              <a:rPr lang="tr-TR" dirty="0"/>
              <a:t>Kareler Toplamı (</a:t>
            </a:r>
            <a:r>
              <a:rPr lang="tr-TR" dirty="0" err="1"/>
              <a:t>sum</a:t>
            </a:r>
            <a:r>
              <a:rPr lang="tr-TR" dirty="0"/>
              <a:t> of </a:t>
            </a:r>
            <a:r>
              <a:rPr lang="tr-TR" dirty="0" err="1"/>
              <a:t>squares</a:t>
            </a:r>
            <a:r>
              <a:rPr lang="tr-TR" dirty="0"/>
              <a:t>) toplam değerlerdir.  </a:t>
            </a:r>
          </a:p>
          <a:p>
            <a:r>
              <a:rPr lang="tr-TR" dirty="0"/>
              <a:t>Bunları ortalamalar cinsinden de ifade edilebiliriz. Böyle olduğunda </a:t>
            </a:r>
            <a:r>
              <a:rPr lang="tr-TR" dirty="0" err="1"/>
              <a:t>Mean</a:t>
            </a:r>
            <a:r>
              <a:rPr lang="tr-TR" dirty="0"/>
              <a:t> </a:t>
            </a:r>
            <a:r>
              <a:rPr lang="tr-TR" dirty="0" err="1"/>
              <a:t>squares</a:t>
            </a:r>
            <a:r>
              <a:rPr lang="tr-TR" dirty="0"/>
              <a:t> terimini ortalama kareler olarak adlandırıyoruz.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F5B46-D101-B8F3-FE0A-5A0850D39E3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96154" y="3660531"/>
            <a:ext cx="30480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08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E106-A477-BC26-1343-0DD5D2A2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Açıklanan Varyans (R</a:t>
            </a:r>
            <a:r>
              <a:rPr lang="tr-TR" baseline="30000" dirty="0"/>
              <a:t>2</a:t>
            </a:r>
            <a:r>
              <a:rPr lang="tr-T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177BC-BDE5-E117-68C5-F0271C2F8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920730"/>
          </a:xfrm>
        </p:spPr>
        <p:txBody>
          <a:bodyPr/>
          <a:lstStyle/>
          <a:p>
            <a:r>
              <a:rPr lang="tr-TR" dirty="0"/>
              <a:t>Regresyon modeli tarafından açıklanan varyans oranı.</a:t>
            </a:r>
          </a:p>
          <a:p>
            <a:r>
              <a:rPr lang="tr-TR" dirty="0" err="1"/>
              <a:t>Pearson</a:t>
            </a:r>
            <a:r>
              <a:rPr lang="tr-TR" dirty="0"/>
              <a:t> Korelasyon Katsayısı Karesi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32215-2BF4-6D97-1A46-7BE92476DE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936512" y="3652716"/>
            <a:ext cx="32639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5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61682" y="328403"/>
            <a:ext cx="10058400" cy="1061780"/>
          </a:xfrm>
        </p:spPr>
        <p:txBody>
          <a:bodyPr>
            <a:normAutofit fontScale="90000"/>
          </a:bodyPr>
          <a:lstStyle/>
          <a:p>
            <a:r>
              <a:rPr lang="tr-TR" sz="4800" dirty="0"/>
              <a:t>Basit Doğrusal Regresyon Modeli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95063" y="1425335"/>
            <a:ext cx="10058400" cy="1734670"/>
          </a:xfrm>
        </p:spPr>
        <p:txBody>
          <a:bodyPr/>
          <a:lstStyle/>
          <a:p>
            <a:r>
              <a:rPr lang="tr-TR" dirty="0"/>
              <a:t>Sadece bir tek bağımsız değişken, X </a:t>
            </a:r>
          </a:p>
          <a:p>
            <a:r>
              <a:rPr lang="tr-TR" dirty="0"/>
              <a:t>Y ise bağımlı değişken</a:t>
            </a:r>
          </a:p>
          <a:p>
            <a:r>
              <a:rPr lang="es-ES" dirty="0"/>
              <a:t> X ve Y arasındaki ilişki lineer </a:t>
            </a:r>
            <a:r>
              <a:rPr lang="tr-TR" dirty="0"/>
              <a:t>(doğrusal) </a:t>
            </a:r>
            <a:r>
              <a:rPr lang="es-ES" dirty="0"/>
              <a:t>bir</a:t>
            </a:r>
            <a:r>
              <a:rPr lang="tr-TR" dirty="0"/>
              <a:t> fonksiyonla tanımlanmış</a:t>
            </a:r>
          </a:p>
          <a:p>
            <a:r>
              <a:rPr lang="tr-TR" dirty="0"/>
              <a:t>Y’deki değişime </a:t>
            </a:r>
            <a:r>
              <a:rPr lang="tr-TR" dirty="0" err="1"/>
              <a:t>X’deki</a:t>
            </a:r>
            <a:r>
              <a:rPr lang="tr-TR" dirty="0"/>
              <a:t> değişimin neden olduğu varsayılmakta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70" y="3551611"/>
            <a:ext cx="4442642" cy="261139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37" y="3551611"/>
            <a:ext cx="4220550" cy="2705766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082" y="3593540"/>
            <a:ext cx="2034000" cy="259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5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46394" y="294091"/>
            <a:ext cx="10058400" cy="1185575"/>
          </a:xfrm>
        </p:spPr>
        <p:txBody>
          <a:bodyPr/>
          <a:lstStyle/>
          <a:p>
            <a:r>
              <a:rPr lang="tr-TR" dirty="0"/>
              <a:t>BASİT REGRESYON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46394" y="1479666"/>
            <a:ext cx="5652654" cy="4474561"/>
          </a:xfrm>
        </p:spPr>
        <p:txBody>
          <a:bodyPr>
            <a:normAutofit/>
          </a:bodyPr>
          <a:lstStyle/>
          <a:p>
            <a:r>
              <a:rPr lang="tr-TR" dirty="0"/>
              <a:t>Basit doğrusal regresyon bize normal dağılmış, hakkında aralıklı/oranlı ölçekle veri toplanmış iki değişken arasında doğrusal ilişki olup olmadığını test etme olanağı verir. Değişkenlerden biri tahmin, biri sonuç değişkenidir. Örneğin, </a:t>
            </a:r>
            <a:r>
              <a:rPr lang="tr-TR" dirty="0" err="1">
                <a:solidFill>
                  <a:schemeClr val="accent2"/>
                </a:solidFill>
                <a:hlinkClick r:id="rId2" action="ppaction://hlinkfile"/>
              </a:rPr>
              <a:t>sınavlar.sav</a:t>
            </a:r>
            <a:r>
              <a:rPr lang="tr-TR" dirty="0">
                <a:solidFill>
                  <a:schemeClr val="accent2"/>
                </a:solidFill>
                <a:hlinkClick r:id="rId2" action="ppaction://hlinkfile"/>
              </a:rPr>
              <a:t> </a:t>
            </a:r>
            <a:r>
              <a:rPr lang="tr-TR" dirty="0"/>
              <a:t>veri dosyasını  kullanarak yazma ve okuma puanları arasındaki ilişkiye bakalım. Başka bir deyişle öğrencilerin yazma puanlarından okuma puanlarını tahmin etmeye çalışalım. </a:t>
            </a:r>
            <a:endParaRPr lang="en-US" dirty="0"/>
          </a:p>
          <a:p>
            <a:r>
              <a:rPr lang="tr-TR" dirty="0"/>
              <a:t>Bağımlı değişken (Y) = okuma puanı</a:t>
            </a:r>
          </a:p>
          <a:p>
            <a:r>
              <a:rPr lang="tr-TR" dirty="0"/>
              <a:t>Bağımsız değişken (X) = yazma puanı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AAC512-92E5-CE98-3702-462C3A351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077" y="1762695"/>
            <a:ext cx="5391094" cy="262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9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dirty="0"/>
              <a:t>Önce Hipotez kuralım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958322" y="1871132"/>
            <a:ext cx="10480145" cy="413067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tr-TR" sz="2400" dirty="0"/>
              <a:t>Boş Hipotez (</a:t>
            </a:r>
            <a:r>
              <a:rPr lang="en-US" dirty="0"/>
              <a:t>H</a:t>
            </a:r>
            <a:r>
              <a:rPr lang="tr-TR" baseline="-25000" dirty="0"/>
              <a:t>0</a:t>
            </a:r>
            <a:r>
              <a:rPr lang="tr-TR" sz="2400" dirty="0"/>
              <a:t>): “</a:t>
            </a:r>
            <a:r>
              <a:rPr lang="tr-TR" sz="2400" dirty="0" err="1"/>
              <a:t>Anakütle</a:t>
            </a:r>
            <a:r>
              <a:rPr lang="tr-TR" sz="2400" dirty="0"/>
              <a:t> model katsayıları “0”’a eşittir. Öğrencilerin okuma ve yazma puanları arasında doğrusal bir ilişki yoktur. </a:t>
            </a:r>
          </a:p>
          <a:p>
            <a:pPr eaLnBrk="1" hangingPunct="1">
              <a:lnSpc>
                <a:spcPct val="80000"/>
              </a:lnSpc>
            </a:pPr>
            <a:r>
              <a:rPr lang="tr-TR" sz="2400" dirty="0"/>
              <a:t>Araştırma Hipotezi (H</a:t>
            </a:r>
            <a:r>
              <a:rPr lang="tr-TR" sz="2400" baseline="-25000" dirty="0"/>
              <a:t>1</a:t>
            </a:r>
            <a:r>
              <a:rPr lang="tr-TR" sz="2400" dirty="0"/>
              <a:t>): “Öğrencilerin okuma ve yazma puanları arasında doğrusal bir ilişki vardır.  Okuma puanı üzerinde yazma puanının bir etkisi vardır.” (çift kuyruk testi).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H</a:t>
            </a:r>
            <a:r>
              <a:rPr lang="tr-TR" baseline="-25000" dirty="0"/>
              <a:t>0</a:t>
            </a:r>
            <a:r>
              <a:rPr lang="en-US" sz="2000" dirty="0"/>
              <a:t> : µ = µ </a:t>
            </a:r>
            <a:r>
              <a:rPr lang="tr-TR" baseline="-25000" dirty="0"/>
              <a:t>0</a:t>
            </a: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2000" dirty="0"/>
              <a:t>H</a:t>
            </a:r>
            <a:r>
              <a:rPr lang="tr-TR" sz="2000" baseline="-25000" dirty="0"/>
              <a:t>1</a:t>
            </a:r>
            <a:r>
              <a:rPr lang="en-US" sz="2000" dirty="0"/>
              <a:t>: µ </a:t>
            </a:r>
            <a:r>
              <a:rPr lang="en-US" sz="2000" dirty="0">
                <a:sym typeface="Symbol" panose="05050102010706020507" pitchFamily="18" charset="2"/>
              </a:rPr>
              <a:t></a:t>
            </a:r>
            <a:r>
              <a:rPr lang="tr-TR" sz="2000" dirty="0"/>
              <a:t> </a:t>
            </a:r>
            <a:r>
              <a:rPr lang="en-US" sz="2000" dirty="0"/>
              <a:t>µ </a:t>
            </a:r>
            <a:r>
              <a:rPr lang="tr-TR" baseline="-25000" dirty="0"/>
              <a:t>0</a:t>
            </a:r>
            <a:r>
              <a:rPr lang="tr-TR" sz="2000" dirty="0"/>
              <a:t> (çift kuyruk testi)</a:t>
            </a: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tr-TR" sz="2400" dirty="0"/>
              <a:t>Boş hipotezleri büyüktür/küçüktür diye de kurabilirsiniz. O zaman tek kuyruk test yapılır.</a:t>
            </a:r>
          </a:p>
          <a:p>
            <a:pPr lvl="1">
              <a:lnSpc>
                <a:spcPct val="80000"/>
              </a:lnSpc>
            </a:pPr>
            <a:r>
              <a:rPr lang="tr-TR" sz="2200" dirty="0"/>
              <a:t>Örneğin, </a:t>
            </a:r>
            <a:r>
              <a:rPr lang="en-US" dirty="0"/>
              <a:t>H</a:t>
            </a:r>
            <a:r>
              <a:rPr lang="tr-TR" baseline="-25000" dirty="0"/>
              <a:t>0</a:t>
            </a:r>
            <a:r>
              <a:rPr lang="tr-TR" sz="2200" dirty="0"/>
              <a:t> : “Öğrencilerin yazma puanları yüksekse okuma puanları da yüksektir.”</a:t>
            </a:r>
          </a:p>
        </p:txBody>
      </p:sp>
    </p:spTree>
    <p:extLst>
      <p:ext uri="{BB962C8B-B14F-4D97-AF65-F5344CB8AC3E}">
        <p14:creationId xmlns:p14="http://schemas.microsoft.com/office/powerpoint/2010/main" val="2585326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59" y="108114"/>
            <a:ext cx="10058400" cy="1609344"/>
          </a:xfrm>
        </p:spPr>
        <p:txBody>
          <a:bodyPr/>
          <a:lstStyle/>
          <a:p>
            <a:pPr eaLnBrk="1" hangingPunct="1"/>
            <a:r>
              <a:rPr lang="tr-TR" cap="none" dirty="0"/>
              <a:t>SAYILTILAR</a:t>
            </a:r>
            <a:endParaRPr lang="en-US" cap="none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8178" y="1452283"/>
            <a:ext cx="11104222" cy="4719917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tr-TR" sz="2800" dirty="0"/>
              <a:t>Tüm tahmin değişkenleri aralıklı/oranlı (nicel) veya kategorik olmalı (iki kategori) </a:t>
            </a:r>
          </a:p>
          <a:p>
            <a:r>
              <a:rPr lang="tr-TR" sz="2800" dirty="0"/>
              <a:t>Çıktı değişkeni nicel, sürekli ve sınırsız olmalı </a:t>
            </a:r>
          </a:p>
          <a:p>
            <a:r>
              <a:rPr lang="tr-TR" sz="2800" dirty="0"/>
              <a:t>Çıktı ve tahmin edici değişken arasında istatistiksel olarak </a:t>
            </a:r>
            <a:r>
              <a:rPr lang="tr-TR" sz="2800" b="1" dirty="0"/>
              <a:t>anlamlı ve doğrusal bir ilişki </a:t>
            </a:r>
            <a:r>
              <a:rPr lang="tr-TR" sz="2800" dirty="0"/>
              <a:t>olmalı (korelasyon ve </a:t>
            </a:r>
            <a:r>
              <a:rPr lang="tr-TR" sz="2800" dirty="0" err="1"/>
              <a:t>saçılım</a:t>
            </a:r>
            <a:r>
              <a:rPr lang="tr-TR" sz="2800" dirty="0"/>
              <a:t> grafiği)</a:t>
            </a:r>
          </a:p>
          <a:p>
            <a:pPr eaLnBrk="1" hangingPunct="1">
              <a:lnSpc>
                <a:spcPct val="90000"/>
              </a:lnSpc>
            </a:pPr>
            <a:r>
              <a:rPr lang="tr-TR" sz="28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Artıkların</a:t>
            </a:r>
            <a:r>
              <a:rPr lang="tr-TR" sz="2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(hataların) yaklaşık olarak </a:t>
            </a:r>
            <a:r>
              <a:rPr lang="tr-TR" sz="28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dağılması </a:t>
            </a:r>
            <a:r>
              <a:rPr lang="tr-TR" sz="2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beklenir (Q-Q </a:t>
            </a:r>
            <a:r>
              <a:rPr lang="tr-TR" sz="28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</a:t>
            </a:r>
            <a:r>
              <a:rPr lang="tr-TR" sz="2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Grafiği)</a:t>
            </a:r>
          </a:p>
          <a:p>
            <a:r>
              <a:rPr lang="tr-TR" sz="28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Eşit hata varyansları</a:t>
            </a:r>
            <a:r>
              <a:rPr lang="tr-TR" sz="2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verilerin artıkların varyansı homojen (</a:t>
            </a:r>
            <a:r>
              <a:rPr lang="tr-TR" sz="28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homoscedasticity</a:t>
            </a:r>
            <a:r>
              <a:rPr lang="tr-TR" sz="2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olmalı (</a:t>
            </a:r>
            <a:r>
              <a:rPr lang="tr-TR" sz="28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Residuals</a:t>
            </a:r>
            <a:r>
              <a:rPr lang="tr-TR" sz="2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tr-TR" sz="28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</a:t>
            </a:r>
            <a:r>
              <a:rPr lang="tr-TR" sz="2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8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</a:t>
            </a:r>
            <a:r>
              <a:rPr lang="tr-TR" sz="2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rebuchet MS" panose="020B070302020209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endParaRPr lang="tr-TR" sz="2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rebuchet MS" panose="020B070302020209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r-TR" sz="2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rebuchet MS" panose="020B070302020209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tr-TR" sz="2400" dirty="0"/>
          </a:p>
          <a:p>
            <a:pPr eaLnBrk="1" hangingPunct="1">
              <a:lnSpc>
                <a:spcPct val="90000"/>
              </a:lnSpc>
            </a:pP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92417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82205" y="189538"/>
            <a:ext cx="2257895" cy="898522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chemeClr val="accent1"/>
                </a:solidFill>
              </a:rPr>
              <a:t>JASP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04582" y="1072719"/>
            <a:ext cx="10058400" cy="438912"/>
          </a:xfrm>
        </p:spPr>
        <p:txBody>
          <a:bodyPr/>
          <a:lstStyle/>
          <a:p>
            <a:r>
              <a:rPr lang="tr-TR" dirty="0"/>
              <a:t>ÜST MENÜ&gt; REGRESSION &gt;CORRELATION</a:t>
            </a:r>
          </a:p>
        </p:txBody>
      </p:sp>
      <p:sp>
        <p:nvSpPr>
          <p:cNvPr id="6" name="Metin kutusu 5"/>
          <p:cNvSpPr txBox="1"/>
          <p:nvPr/>
        </p:nvSpPr>
        <p:spPr>
          <a:xfrm>
            <a:off x="6611803" y="1629952"/>
            <a:ext cx="5262697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Yazma puanları ile okuma puanları arasında </a:t>
            </a:r>
          </a:p>
          <a:p>
            <a:r>
              <a:rPr lang="tr-TR" dirty="0"/>
              <a:t>İstatistiksel olarak anlamlı bir ilişki var (</a:t>
            </a:r>
            <a:r>
              <a:rPr lang="tr-TR" i="1" dirty="0"/>
              <a:t>p</a:t>
            </a:r>
            <a:r>
              <a:rPr lang="tr-TR" dirty="0"/>
              <a:t>&lt;0.01).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0752EA-1CD8-619D-7E3B-325636053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152" y="2465787"/>
            <a:ext cx="5232400" cy="2311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88A598-FE47-A3A7-2B1F-FD9F4257C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971241"/>
            <a:ext cx="5892030" cy="3157024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1DEC667E-C5FE-68DA-B1C3-373B874BA251}"/>
              </a:ext>
            </a:extLst>
          </p:cNvPr>
          <p:cNvSpPr/>
          <p:nvPr/>
        </p:nvSpPr>
        <p:spPr>
          <a:xfrm>
            <a:off x="10287000" y="3621487"/>
            <a:ext cx="1041400" cy="937813"/>
          </a:xfrm>
          <a:prstGeom prst="ellipse">
            <a:avLst/>
          </a:prstGeom>
          <a:solidFill>
            <a:srgbClr val="92D050">
              <a:alpha val="3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7734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58648" y="95166"/>
            <a:ext cx="10058400" cy="1098634"/>
          </a:xfrm>
        </p:spPr>
        <p:txBody>
          <a:bodyPr/>
          <a:lstStyle/>
          <a:p>
            <a:r>
              <a:rPr lang="tr-TR" dirty="0"/>
              <a:t>Grafik Sunumu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>
          <a:xfrm>
            <a:off x="443313" y="1080685"/>
            <a:ext cx="11359219" cy="748115"/>
          </a:xfrm>
        </p:spPr>
        <p:txBody>
          <a:bodyPr>
            <a:noAutofit/>
          </a:bodyPr>
          <a:lstStyle/>
          <a:p>
            <a:r>
              <a:rPr lang="tr-TR" dirty="0"/>
              <a:t>Nitekim bu pozitif doğrusal ilişkiyi  </a:t>
            </a:r>
            <a:r>
              <a:rPr lang="tr-TR" dirty="0" err="1"/>
              <a:t>Saçılım</a:t>
            </a:r>
            <a:r>
              <a:rPr lang="tr-TR" dirty="0"/>
              <a:t> (</a:t>
            </a:r>
            <a:r>
              <a:rPr lang="tr-TR" dirty="0" err="1">
                <a:sym typeface="Wingdings" panose="05000000000000000000" pitchFamily="2" charset="2"/>
              </a:rPr>
              <a:t>scatter</a:t>
            </a:r>
            <a:r>
              <a:rPr lang="tr-TR" dirty="0">
                <a:sym typeface="Wingdings" panose="05000000000000000000" pitchFamily="2" charset="2"/>
              </a:rPr>
              <a:t> </a:t>
            </a:r>
            <a:r>
              <a:rPr lang="tr-TR" dirty="0" err="1">
                <a:sym typeface="Wingdings" panose="05000000000000000000" pitchFamily="2" charset="2"/>
              </a:rPr>
              <a:t>plot</a:t>
            </a:r>
            <a:r>
              <a:rPr lang="tr-TR" dirty="0">
                <a:sym typeface="Wingdings" panose="05000000000000000000" pitchFamily="2" charset="2"/>
              </a:rPr>
              <a:t>) grafiğinde  x ekseninde yazma puanı, y ekseninde okuma puanını atayarak görebilirsiniz. 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D59C63-F2CD-AE81-4E25-1023D31D7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44" y="1828800"/>
            <a:ext cx="4315689" cy="47860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250F71-9E99-C593-F453-1A0719FE0C40}"/>
              </a:ext>
            </a:extLst>
          </p:cNvPr>
          <p:cNvSpPr txBox="1"/>
          <p:nvPr/>
        </p:nvSpPr>
        <p:spPr>
          <a:xfrm>
            <a:off x="8565712" y="2814319"/>
            <a:ext cx="323682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r-TR" dirty="0" err="1">
                <a:sym typeface="Wingdings" panose="05000000000000000000" pitchFamily="2" charset="2"/>
              </a:rPr>
              <a:t>Saçılım</a:t>
            </a:r>
            <a:r>
              <a:rPr lang="tr-TR" dirty="0">
                <a:sym typeface="Wingdings" panose="05000000000000000000" pitchFamily="2" charset="2"/>
              </a:rPr>
              <a:t> grafiğini;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 err="1">
                <a:sym typeface="Wingdings" panose="05000000000000000000" pitchFamily="2" charset="2"/>
              </a:rPr>
              <a:t>Descriptives</a:t>
            </a:r>
            <a:r>
              <a:rPr lang="tr-TR" dirty="0">
                <a:sym typeface="Wingdings" panose="05000000000000000000" pitchFamily="2" charset="2"/>
              </a:rPr>
              <a:t> seçeneğinde </a:t>
            </a:r>
            <a:r>
              <a:rPr lang="tr-TR" dirty="0" err="1">
                <a:sym typeface="Wingdings" panose="05000000000000000000" pitchFamily="2" charset="2"/>
              </a:rPr>
              <a:t>customizable</a:t>
            </a:r>
            <a:r>
              <a:rPr lang="tr-TR" dirty="0">
                <a:sym typeface="Wingdings" panose="05000000000000000000" pitchFamily="2" charset="2"/>
              </a:rPr>
              <a:t> </a:t>
            </a:r>
            <a:r>
              <a:rPr lang="tr-TR" dirty="0" err="1">
                <a:sym typeface="Wingdings" panose="05000000000000000000" pitchFamily="2" charset="2"/>
              </a:rPr>
              <a:t>plot</a:t>
            </a:r>
            <a:r>
              <a:rPr lang="tr-TR" dirty="0">
                <a:sym typeface="Wingdings" panose="05000000000000000000" pitchFamily="2" charset="2"/>
              </a:rPr>
              <a:t> sekmesinden ya da 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 err="1">
                <a:sym typeface="Wingdings" panose="05000000000000000000" pitchFamily="2" charset="2"/>
              </a:rPr>
              <a:t>Correlation</a:t>
            </a:r>
            <a:r>
              <a:rPr lang="tr-TR" dirty="0">
                <a:sym typeface="Wingdings" panose="05000000000000000000" pitchFamily="2" charset="2"/>
              </a:rPr>
              <a:t> analizi sırasında «</a:t>
            </a:r>
            <a:r>
              <a:rPr lang="tr-TR" dirty="0" err="1">
                <a:sym typeface="Wingdings" panose="05000000000000000000" pitchFamily="2" charset="2"/>
              </a:rPr>
              <a:t>plot</a:t>
            </a:r>
            <a:r>
              <a:rPr lang="tr-TR" dirty="0">
                <a:sym typeface="Wingdings" panose="05000000000000000000" pitchFamily="2" charset="2"/>
              </a:rPr>
              <a:t>» seçeneğinden çizdirebilirsiniz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15D95F-6C10-D207-ADFB-1EDC4546C069}"/>
              </a:ext>
            </a:extLst>
          </p:cNvPr>
          <p:cNvSpPr txBox="1"/>
          <p:nvPr/>
        </p:nvSpPr>
        <p:spPr>
          <a:xfrm>
            <a:off x="3896189" y="2279134"/>
            <a:ext cx="4453466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chemeClr val="bg1"/>
                </a:solidFill>
              </a:rPr>
              <a:t>Okuma Notu= 18,16+(0,65) Yazma Notu</a:t>
            </a:r>
            <a:endParaRPr lang="tr-T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172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881676" y="1159767"/>
            <a:ext cx="5097394" cy="374904"/>
          </a:xfrm>
        </p:spPr>
        <p:txBody>
          <a:bodyPr/>
          <a:lstStyle/>
          <a:p>
            <a:r>
              <a:rPr lang="tr-TR" dirty="0"/>
              <a:t>REGRESSION &gt;LINEAR REGRESSION</a:t>
            </a:r>
          </a:p>
        </p:txBody>
      </p:sp>
      <p:sp>
        <p:nvSpPr>
          <p:cNvPr id="4" name="Unvan 1">
            <a:extLst>
              <a:ext uri="{FF2B5EF4-FFF2-40B4-BE49-F238E27FC236}">
                <a16:creationId xmlns:a16="http://schemas.microsoft.com/office/drawing/2014/main" id="{E108D5BD-DD8C-F302-F0E8-2B0AFAAD30A7}"/>
              </a:ext>
            </a:extLst>
          </p:cNvPr>
          <p:cNvSpPr txBox="1">
            <a:spLocks/>
          </p:cNvSpPr>
          <p:nvPr/>
        </p:nvSpPr>
        <p:spPr>
          <a:xfrm>
            <a:off x="469413" y="444545"/>
            <a:ext cx="2257895" cy="898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>
                <a:solidFill>
                  <a:schemeClr val="accent1"/>
                </a:solidFill>
              </a:rPr>
              <a:t>JASP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61835F-EC68-7177-6C5F-EEF277B45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13" y="1817118"/>
            <a:ext cx="6325216" cy="32237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36EAF9-1F97-CC61-BCB5-670874AFE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192" y="1817118"/>
            <a:ext cx="33274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01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CCD8-C2EE-2A7A-2820-41231ADB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Çıktı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4C3166-1E09-5F70-7487-A8D759F8B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91" y="1769650"/>
            <a:ext cx="8572600" cy="3962935"/>
          </a:xfrm>
          <a:prstGeom prst="rect">
            <a:avLst/>
          </a:prstGeom>
        </p:spPr>
      </p:pic>
      <p:sp>
        <p:nvSpPr>
          <p:cNvPr id="5" name="Metin kutusu 5">
            <a:extLst>
              <a:ext uri="{FF2B5EF4-FFF2-40B4-BE49-F238E27FC236}">
                <a16:creationId xmlns:a16="http://schemas.microsoft.com/office/drawing/2014/main" id="{2927223A-5F21-58A8-DA65-0D3C75F38240}"/>
              </a:ext>
            </a:extLst>
          </p:cNvPr>
          <p:cNvSpPr txBox="1"/>
          <p:nvPr/>
        </p:nvSpPr>
        <p:spPr>
          <a:xfrm>
            <a:off x="4365261" y="829230"/>
            <a:ext cx="7209693" cy="369332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tr-TR" dirty="0"/>
              <a:t>Okuma puanlarındaki  değişimin %35’i Yazma puanlarıyla açıklanıyor</a:t>
            </a:r>
          </a:p>
        </p:txBody>
      </p:sp>
      <p:cxnSp>
        <p:nvCxnSpPr>
          <p:cNvPr id="6" name="Düz Ok Bağlayıcısı 7">
            <a:extLst>
              <a:ext uri="{FF2B5EF4-FFF2-40B4-BE49-F238E27FC236}">
                <a16:creationId xmlns:a16="http://schemas.microsoft.com/office/drawing/2014/main" id="{0D2275D4-5C3C-3D6A-9517-565093E47E15}"/>
              </a:ext>
            </a:extLst>
          </p:cNvPr>
          <p:cNvCxnSpPr>
            <a:cxnSpLocks/>
          </p:cNvCxnSpPr>
          <p:nvPr/>
        </p:nvCxnSpPr>
        <p:spPr>
          <a:xfrm flipV="1">
            <a:off x="5873262" y="1303833"/>
            <a:ext cx="2096846" cy="17383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EF06691-BB03-33E6-247E-2852802E2A5C}"/>
              </a:ext>
            </a:extLst>
          </p:cNvPr>
          <p:cNvSpPr txBox="1"/>
          <p:nvPr/>
        </p:nvSpPr>
        <p:spPr>
          <a:xfrm>
            <a:off x="763393" y="4394693"/>
            <a:ext cx="69613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SSM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FB7364-CC99-E713-5DB4-157D0CF1EC28}"/>
              </a:ext>
            </a:extLst>
          </p:cNvPr>
          <p:cNvSpPr txBox="1"/>
          <p:nvPr/>
        </p:nvSpPr>
        <p:spPr>
          <a:xfrm>
            <a:off x="763393" y="4862267"/>
            <a:ext cx="69613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SSR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D79F9F-715F-6499-05B5-B499A1FA98E2}"/>
              </a:ext>
            </a:extLst>
          </p:cNvPr>
          <p:cNvSpPr txBox="1"/>
          <p:nvPr/>
        </p:nvSpPr>
        <p:spPr>
          <a:xfrm>
            <a:off x="763393" y="5363253"/>
            <a:ext cx="69613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SST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3D910C8-D423-7951-5B20-EA8D3FFE7DC7}"/>
              </a:ext>
            </a:extLst>
          </p:cNvPr>
          <p:cNvCxnSpPr/>
          <p:nvPr/>
        </p:nvCxnSpPr>
        <p:spPr>
          <a:xfrm>
            <a:off x="1698191" y="4579359"/>
            <a:ext cx="1203271" cy="0"/>
          </a:xfrm>
          <a:prstGeom prst="straightConnector1">
            <a:avLst/>
          </a:prstGeom>
          <a:ln w="28575">
            <a:solidFill>
              <a:srgbClr val="FF54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EB7CE1-971B-B401-A6D1-3EEEC3BD855E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1459523" y="4862267"/>
            <a:ext cx="1441939" cy="184666"/>
          </a:xfrm>
          <a:prstGeom prst="straightConnector1">
            <a:avLst/>
          </a:prstGeom>
          <a:ln w="28575">
            <a:solidFill>
              <a:srgbClr val="FF54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FDAB2E-37AE-B51C-DBF9-EB34856F0566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1459523" y="5145175"/>
            <a:ext cx="1441939" cy="402744"/>
          </a:xfrm>
          <a:prstGeom prst="straightConnector1">
            <a:avLst/>
          </a:prstGeom>
          <a:ln w="28575">
            <a:solidFill>
              <a:srgbClr val="FF54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D095CF4-22EF-17CB-F4F1-3B95FE5F737A}"/>
              </a:ext>
            </a:extLst>
          </p:cNvPr>
          <p:cNvSpPr txBox="1"/>
          <p:nvPr/>
        </p:nvSpPr>
        <p:spPr>
          <a:xfrm>
            <a:off x="7877742" y="2248143"/>
            <a:ext cx="3689472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tr-TR" dirty="0"/>
              <a:t>R</a:t>
            </a:r>
            <a:r>
              <a:rPr lang="tr-TR" baseline="30000" dirty="0"/>
              <a:t>2</a:t>
            </a:r>
            <a:r>
              <a:rPr lang="tr-TR" dirty="0"/>
              <a:t>=SSM/SST =7450,288/20919,420</a:t>
            </a:r>
            <a:br>
              <a:rPr lang="tr-TR" dirty="0"/>
            </a:br>
            <a:r>
              <a:rPr lang="tr-TR" dirty="0"/>
              <a:t>R</a:t>
            </a:r>
            <a:r>
              <a:rPr lang="tr-TR" baseline="30000" dirty="0"/>
              <a:t>2</a:t>
            </a:r>
            <a:r>
              <a:rPr lang="tr-TR" dirty="0"/>
              <a:t>=0,356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5840EF-E3E1-EDB4-ED37-AF36A345936A}"/>
              </a:ext>
            </a:extLst>
          </p:cNvPr>
          <p:cNvSpPr txBox="1"/>
          <p:nvPr/>
        </p:nvSpPr>
        <p:spPr>
          <a:xfrm>
            <a:off x="7713619" y="5875236"/>
            <a:ext cx="3324949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tr-TR" dirty="0"/>
              <a:t>F=</a:t>
            </a:r>
            <a:r>
              <a:rPr lang="tr-TR" dirty="0" err="1"/>
              <a:t>MSm</a:t>
            </a:r>
            <a:r>
              <a:rPr lang="tr-TR" dirty="0"/>
              <a:t>/</a:t>
            </a:r>
            <a:r>
              <a:rPr lang="tr-TR" dirty="0" err="1"/>
              <a:t>MSr</a:t>
            </a:r>
            <a:r>
              <a:rPr lang="tr-TR" dirty="0"/>
              <a:t> =7450,288/68,026</a:t>
            </a:r>
            <a:br>
              <a:rPr lang="tr-TR" dirty="0"/>
            </a:br>
            <a:r>
              <a:rPr lang="tr-TR" dirty="0"/>
              <a:t>F=109,521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16ECB8-C4E2-5ED3-3B58-55D9235FB3FA}"/>
              </a:ext>
            </a:extLst>
          </p:cNvPr>
          <p:cNvSpPr txBox="1"/>
          <p:nvPr/>
        </p:nvSpPr>
        <p:spPr>
          <a:xfrm>
            <a:off x="8586677" y="3507955"/>
            <a:ext cx="69613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tr-TR" dirty="0" err="1"/>
              <a:t>MSm</a:t>
            </a:r>
            <a:endParaRPr lang="tr-TR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E50DA67-A2B1-7073-14C1-75D83224A1CF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877742" y="3692621"/>
            <a:ext cx="708935" cy="886738"/>
          </a:xfrm>
          <a:prstGeom prst="straightConnector1">
            <a:avLst/>
          </a:prstGeom>
          <a:ln w="28575">
            <a:solidFill>
              <a:srgbClr val="FF54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62F42EC-C36B-6AE1-BC68-07F0D8A36410}"/>
              </a:ext>
            </a:extLst>
          </p:cNvPr>
          <p:cNvSpPr txBox="1"/>
          <p:nvPr/>
        </p:nvSpPr>
        <p:spPr>
          <a:xfrm>
            <a:off x="10270791" y="4492222"/>
            <a:ext cx="69613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tr-TR" dirty="0" err="1"/>
              <a:t>MSr</a:t>
            </a:r>
            <a:endParaRPr lang="tr-TR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ABE87F-6DAC-BBC2-EAF3-4128A509FF2E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7877742" y="4676888"/>
            <a:ext cx="2393049" cy="185379"/>
          </a:xfrm>
          <a:prstGeom prst="straightConnector1">
            <a:avLst/>
          </a:prstGeom>
          <a:ln w="28575">
            <a:solidFill>
              <a:srgbClr val="FF54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983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B746-03E5-50D7-103A-89A4FB60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975614" cy="1609344"/>
          </a:xfrm>
        </p:spPr>
        <p:txBody>
          <a:bodyPr>
            <a:normAutofit/>
          </a:bodyPr>
          <a:lstStyle/>
          <a:p>
            <a:r>
              <a:rPr lang="tr-TR" sz="4400" dirty="0"/>
              <a:t>Katsayılar ve Betimleyici İstatistikler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5E70A-A56A-DF26-3E7F-28063A1BF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33" y="1782395"/>
            <a:ext cx="9293534" cy="409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39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2BCA-A171-A060-C0CC-B3C7B4D3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1921"/>
            <a:ext cx="10058400" cy="896248"/>
          </a:xfrm>
        </p:spPr>
        <p:txBody>
          <a:bodyPr>
            <a:normAutofit/>
          </a:bodyPr>
          <a:lstStyle/>
          <a:p>
            <a:r>
              <a:rPr lang="tr-TR" sz="3600" dirty="0"/>
              <a:t>Normallik ve Varyansların Homojenliği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B8F434-E3E1-CD3D-1C0C-5A70841B6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68694"/>
            <a:ext cx="4881714" cy="3720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5E269B-C509-9DC5-0AFC-933D9CC78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50" y="1437583"/>
            <a:ext cx="3983437" cy="37206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9A9D4C-DFDF-6149-5AF5-F8B5FAB15486}"/>
              </a:ext>
            </a:extLst>
          </p:cNvPr>
          <p:cNvSpPr txBox="1"/>
          <p:nvPr/>
        </p:nvSpPr>
        <p:spPr>
          <a:xfrm>
            <a:off x="5947997" y="5412847"/>
            <a:ext cx="5177203" cy="9911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6350" marR="48260" indent="-6350" algn="ctr">
              <a:lnSpc>
                <a:spcPct val="110000"/>
              </a:lnSpc>
              <a:spcAft>
                <a:spcPts val="745"/>
              </a:spcAft>
            </a:pPr>
            <a:r>
              <a:rPr lang="tr-T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Bu grafik, artıkların taban çizgisi etrafında dengeli bir rastgele dağılım gösterdiğini ve </a:t>
            </a:r>
            <a:r>
              <a:rPr lang="tr-T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homoscedasticity</a:t>
            </a:r>
            <a:r>
              <a:rPr lang="tr-T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varsayımının ihlal edilmediğini ortaya koymaktadır. </a:t>
            </a:r>
            <a:endParaRPr lang="en-TR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409BAF-418C-78B8-E527-AD6D122BCBC1}"/>
              </a:ext>
            </a:extLst>
          </p:cNvPr>
          <p:cNvSpPr txBox="1"/>
          <p:nvPr/>
        </p:nvSpPr>
        <p:spPr>
          <a:xfrm>
            <a:off x="196117" y="5268058"/>
            <a:ext cx="5540865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Q-Q grafiği, standartlaştırılmış artıkların köşegen boyunca güzel bir şekilde oturduğunu göstermektedir; bu da hem normallik hem de </a:t>
            </a:r>
            <a:r>
              <a:rPr lang="tr-TR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doğrusallık</a:t>
            </a:r>
            <a:r>
              <a:rPr lang="tr-TR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varsayımlarının ihlal edilmediğini göstermektedir.</a:t>
            </a:r>
            <a:r>
              <a:rPr lang="en-TR" dirty="0">
                <a:effectLst/>
              </a:rPr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78603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30214" y="145965"/>
            <a:ext cx="10058400" cy="1609344"/>
          </a:xfrm>
        </p:spPr>
        <p:txBody>
          <a:bodyPr/>
          <a:lstStyle/>
          <a:p>
            <a:pPr eaLnBrk="1" hangingPunct="1"/>
            <a:r>
              <a:rPr lang="tr-TR" dirty="0"/>
              <a:t>Tabloların yorumu</a:t>
            </a: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92668" y="1456266"/>
            <a:ext cx="10366685" cy="49530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eaLnBrk="1" hangingPunct="1"/>
            <a:r>
              <a:rPr lang="tr-TR" sz="2400" dirty="0"/>
              <a:t>Okuma puanıyla yazma puanı arasında pozitif (0,646) bir ilişki var. Söz konusu etkinin t- değerinden bu ilişkinin istatistiksel açıdan anlamlı olduğunu görüyoruz (t = 10,465, p &lt;0,001).</a:t>
            </a:r>
          </a:p>
          <a:p>
            <a:pPr eaLnBrk="1" hangingPunct="1"/>
            <a:r>
              <a:rPr lang="tr-TR" sz="2400" dirty="0"/>
              <a:t>Okuma ile yazma arasında istatistiksel açıdan anlamlı pozitif doğrusal bir ilişki vardır. </a:t>
            </a:r>
          </a:p>
          <a:p>
            <a:pPr eaLnBrk="1" hangingPunct="1"/>
            <a:r>
              <a:rPr lang="tr-TR" sz="2400" dirty="0">
                <a:solidFill>
                  <a:srgbClr val="C00000"/>
                </a:solidFill>
              </a:rPr>
              <a:t>Yorumu: </a:t>
            </a:r>
            <a:r>
              <a:rPr lang="tr-TR" sz="2400" dirty="0"/>
              <a:t>Yazma notunun okuma notu üzerinde bir etkisi vardır. Yazma notunda 1 birimlik artış okuma notunda 0,646 birimlik artışa neden olur. </a:t>
            </a:r>
          </a:p>
          <a:p>
            <a:pPr eaLnBrk="1" hangingPunct="1"/>
            <a:r>
              <a:rPr lang="tr-TR" sz="2400" dirty="0"/>
              <a:t>Bu nedenle etkisi yoktur boş hipotezi reddedilir.</a:t>
            </a:r>
          </a:p>
          <a:p>
            <a:r>
              <a:rPr lang="tr-TR" sz="2400" dirty="0"/>
              <a:t>Bu ilişki için basit doğrusal regresyon matematiksel formülü:</a:t>
            </a:r>
          </a:p>
          <a:p>
            <a:pPr marL="0" indent="0" algn="ctr">
              <a:buNone/>
            </a:pPr>
            <a:r>
              <a:rPr lang="tr-TR" sz="2800" b="1" dirty="0">
                <a:solidFill>
                  <a:srgbClr val="C00000"/>
                </a:solidFill>
              </a:rPr>
              <a:t>Okuma Notu= 18,16+(0,646) Yazma Notu</a:t>
            </a:r>
          </a:p>
          <a:p>
            <a:r>
              <a:rPr lang="tr-TR" sz="2400" i="1" dirty="0">
                <a:solidFill>
                  <a:srgbClr val="C00000"/>
                </a:solidFill>
              </a:rPr>
              <a:t>Soru: </a:t>
            </a:r>
            <a:r>
              <a:rPr lang="tr-TR" sz="2400" i="1" dirty="0"/>
              <a:t>Yazma notu 50 olan bir öğrenci tahminen okuma dersinden kaç alır?</a:t>
            </a:r>
          </a:p>
          <a:p>
            <a:pPr eaLnBrk="1" hangingPunct="1"/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624014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C262E-7EFE-5D71-B116-0C508DF60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Sorunun Yanıtı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5ACBE-A9CF-AE4A-D207-82CE513BF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3600" b="1" dirty="0">
                <a:solidFill>
                  <a:srgbClr val="C00000"/>
                </a:solidFill>
              </a:rPr>
              <a:t>Okuma Notu= 18,16+(0,646) Yazma Notu</a:t>
            </a:r>
          </a:p>
          <a:p>
            <a:pPr marL="0" indent="0">
              <a:buNone/>
            </a:pPr>
            <a:r>
              <a:rPr lang="tr-TR" sz="3600" dirty="0"/>
              <a:t>Okuma Notu= 18,16+ (0,646 x 50)</a:t>
            </a:r>
          </a:p>
          <a:p>
            <a:pPr marL="0" indent="0">
              <a:buNone/>
            </a:pPr>
            <a:r>
              <a:rPr lang="tr-TR" sz="3600" dirty="0"/>
              <a:t>Okuma Notu=18,16 + 32,3</a:t>
            </a:r>
          </a:p>
          <a:p>
            <a:pPr marL="0" indent="0">
              <a:buNone/>
            </a:pPr>
            <a:r>
              <a:rPr lang="tr-TR" sz="3600" dirty="0"/>
              <a:t>Okuma Notu= 50,46</a:t>
            </a:r>
          </a:p>
        </p:txBody>
      </p:sp>
    </p:spTree>
    <p:extLst>
      <p:ext uri="{BB962C8B-B14F-4D97-AF65-F5344CB8AC3E}">
        <p14:creationId xmlns:p14="http://schemas.microsoft.com/office/powerpoint/2010/main" val="915196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{4133AA45-3ECC-6F4F-B25B-F633B815C023}tf10001070</Template>
  <TotalTime>4458</TotalTime>
  <Words>1015</Words>
  <Application>Microsoft Macintosh PowerPoint</Application>
  <PresentationFormat>Widescreen</PresentationFormat>
  <Paragraphs>102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Georgia</vt:lpstr>
      <vt:lpstr>Rockwell Extra Bold</vt:lpstr>
      <vt:lpstr>Trebuchet MS</vt:lpstr>
      <vt:lpstr>Wingdings</vt:lpstr>
      <vt:lpstr>Wood Type</vt:lpstr>
      <vt:lpstr>Regresyon</vt:lpstr>
      <vt:lpstr>Regresyon Analizi</vt:lpstr>
      <vt:lpstr>Regresyon Modeli</vt:lpstr>
      <vt:lpstr>En Küçük Kareler Yöntemi</vt:lpstr>
      <vt:lpstr>Bir regresyon modelinin uyumunu nasıl değerlendiririz?</vt:lpstr>
      <vt:lpstr>F Testi</vt:lpstr>
      <vt:lpstr>Açıklanan Varyans (R2)</vt:lpstr>
      <vt:lpstr>Basit Doğrusal Regresyon Modeli</vt:lpstr>
      <vt:lpstr>BASİT REGRESYON</vt:lpstr>
      <vt:lpstr>Önce Hipotez kuralım</vt:lpstr>
      <vt:lpstr>SAYILTILAR</vt:lpstr>
      <vt:lpstr>JASP </vt:lpstr>
      <vt:lpstr>Grafik Sunumu</vt:lpstr>
      <vt:lpstr>PowerPoint Presentation</vt:lpstr>
      <vt:lpstr>Çıktı</vt:lpstr>
      <vt:lpstr>Katsayılar ve Betimleyici İstatistikler</vt:lpstr>
      <vt:lpstr>Normallik ve Varyansların Homojenliği</vt:lpstr>
      <vt:lpstr>Tabloların yorumu</vt:lpstr>
      <vt:lpstr>Sorunun Yanıtı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Regresyon</dc:title>
  <dc:creator>Science</dc:creator>
  <cp:lastModifiedBy>Evrim Kumtepe</cp:lastModifiedBy>
  <cp:revision>122</cp:revision>
  <dcterms:created xsi:type="dcterms:W3CDTF">2015-05-07T18:53:52Z</dcterms:created>
  <dcterms:modified xsi:type="dcterms:W3CDTF">2024-05-23T08:46:29Z</dcterms:modified>
</cp:coreProperties>
</file>