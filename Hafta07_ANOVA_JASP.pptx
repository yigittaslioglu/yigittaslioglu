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8" r:id="rId2"/>
  </p:sldMasterIdLst>
  <p:notesMasterIdLst>
    <p:notesMasterId r:id="rId24"/>
  </p:notesMasterIdLst>
  <p:handoutMasterIdLst>
    <p:handoutMasterId r:id="rId25"/>
  </p:handoutMasterIdLst>
  <p:sldIdLst>
    <p:sldId id="458" r:id="rId3"/>
    <p:sldId id="651" r:id="rId4"/>
    <p:sldId id="653" r:id="rId5"/>
    <p:sldId id="652" r:id="rId6"/>
    <p:sldId id="684" r:id="rId7"/>
    <p:sldId id="676" r:id="rId8"/>
    <p:sldId id="677" r:id="rId9"/>
    <p:sldId id="678" r:id="rId10"/>
    <p:sldId id="680" r:id="rId11"/>
    <p:sldId id="654" r:id="rId12"/>
    <p:sldId id="670" r:id="rId13"/>
    <p:sldId id="667" r:id="rId14"/>
    <p:sldId id="681" r:id="rId15"/>
    <p:sldId id="686" r:id="rId16"/>
    <p:sldId id="662" r:id="rId17"/>
    <p:sldId id="663" r:id="rId18"/>
    <p:sldId id="672" r:id="rId19"/>
    <p:sldId id="664" r:id="rId20"/>
    <p:sldId id="682" r:id="rId21"/>
    <p:sldId id="661" r:id="rId22"/>
    <p:sldId id="666" r:id="rId23"/>
  </p:sldIdLst>
  <p:sldSz cx="9144000" cy="6858000" type="screen4x3"/>
  <p:notesSz cx="6858000" cy="9144000"/>
  <p:defaultTextStyle>
    <a:defPPr>
      <a:defRPr lang="en-US"/>
    </a:defPPr>
    <a:lvl1pPr algn="l" rtl="0" eaLnBrk="0" fontAlgn="base" hangingPunct="0">
      <a:spcBef>
        <a:spcPct val="0"/>
      </a:spcBef>
      <a:spcAft>
        <a:spcPct val="0"/>
      </a:spcAft>
      <a:defRPr sz="2000" kern="1200">
        <a:solidFill>
          <a:schemeClr val="tx1"/>
        </a:solidFill>
        <a:latin typeface="Arial" charset="0"/>
        <a:ea typeface="+mn-ea"/>
        <a:cs typeface="+mn-cs"/>
      </a:defRPr>
    </a:lvl1pPr>
    <a:lvl2pPr marL="457200" algn="l" rtl="0" eaLnBrk="0" fontAlgn="base" hangingPunct="0">
      <a:spcBef>
        <a:spcPct val="0"/>
      </a:spcBef>
      <a:spcAft>
        <a:spcPct val="0"/>
      </a:spcAft>
      <a:defRPr sz="2000" kern="1200">
        <a:solidFill>
          <a:schemeClr val="tx1"/>
        </a:solidFill>
        <a:latin typeface="Arial" charset="0"/>
        <a:ea typeface="+mn-ea"/>
        <a:cs typeface="+mn-cs"/>
      </a:defRPr>
    </a:lvl2pPr>
    <a:lvl3pPr marL="914400" algn="l" rtl="0" eaLnBrk="0" fontAlgn="base" hangingPunct="0">
      <a:spcBef>
        <a:spcPct val="0"/>
      </a:spcBef>
      <a:spcAft>
        <a:spcPct val="0"/>
      </a:spcAft>
      <a:defRPr sz="2000" kern="1200">
        <a:solidFill>
          <a:schemeClr val="tx1"/>
        </a:solidFill>
        <a:latin typeface="Arial" charset="0"/>
        <a:ea typeface="+mn-ea"/>
        <a:cs typeface="+mn-cs"/>
      </a:defRPr>
    </a:lvl3pPr>
    <a:lvl4pPr marL="1371600" algn="l" rtl="0" eaLnBrk="0" fontAlgn="base" hangingPunct="0">
      <a:spcBef>
        <a:spcPct val="0"/>
      </a:spcBef>
      <a:spcAft>
        <a:spcPct val="0"/>
      </a:spcAft>
      <a:defRPr sz="2000" kern="1200">
        <a:solidFill>
          <a:schemeClr val="tx1"/>
        </a:solidFill>
        <a:latin typeface="Arial" charset="0"/>
        <a:ea typeface="+mn-ea"/>
        <a:cs typeface="+mn-cs"/>
      </a:defRPr>
    </a:lvl4pPr>
    <a:lvl5pPr marL="1828800" algn="l" rtl="0" eaLnBrk="0" fontAlgn="base" hangingPunct="0">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FFFF"/>
    <a:srgbClr val="FF3300"/>
    <a:srgbClr val="FFFF99"/>
    <a:srgbClr val="CC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82" autoAdjust="0"/>
    <p:restoredTop sz="94425" autoAdjust="0"/>
  </p:normalViewPr>
  <p:slideViewPr>
    <p:cSldViewPr>
      <p:cViewPr varScale="1">
        <p:scale>
          <a:sx n="62" d="100"/>
          <a:sy n="62" d="100"/>
        </p:scale>
        <p:origin x="1044"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24EE5D-AF41-5542-9CCD-939613621905}" type="datetimeFigureOut">
              <a:rPr lang="en-US" smtClean="0"/>
              <a:t>11/28/2023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992CD9-020C-634B-A44E-F85A2B7A28EE}" type="slidenum">
              <a:rPr lang="en-US" smtClean="0"/>
              <a:t>‹#›</a:t>
            </a:fld>
            <a:endParaRPr lang="en-US"/>
          </a:p>
        </p:txBody>
      </p:sp>
    </p:spTree>
    <p:extLst>
      <p:ext uri="{BB962C8B-B14F-4D97-AF65-F5344CB8AC3E}">
        <p14:creationId xmlns:p14="http://schemas.microsoft.com/office/powerpoint/2010/main" val="7270073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atin typeface="Times New Roman" panose="02020603050405020304" pitchFamily="18" charset="0"/>
              </a:defRPr>
            </a:lvl1pPr>
          </a:lstStyle>
          <a:p>
            <a:pPr>
              <a:defRPr/>
            </a:pPr>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ma14:placeholderFlag xmlns:ma14="http://schemas.microsoft.com/office/mac/drawingml/2011/main" xmlns="" val="1"/>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Times New Roman" panose="02020603050405020304" pitchFamily="18" charset="0"/>
              </a:defRPr>
            </a:lvl1pPr>
          </a:lstStyle>
          <a:p>
            <a:pPr>
              <a:defRPr/>
            </a:pPr>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57E1BFB1-CA28-DE43-8B93-A16E7D11A1F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0"/>
              </a:spcBef>
              <a:spcAft>
                <a:spcPct val="0"/>
              </a:spcAft>
              <a:defRPr sz="2000">
                <a:solidFill>
                  <a:schemeClr val="tx1"/>
                </a:solidFill>
                <a:latin typeface="Arial" charset="0"/>
              </a:defRPr>
            </a:lvl6pPr>
            <a:lvl7pPr marL="2971800" indent="-228600" eaLnBrk="0" fontAlgn="base" hangingPunct="0">
              <a:spcBef>
                <a:spcPct val="0"/>
              </a:spcBef>
              <a:spcAft>
                <a:spcPct val="0"/>
              </a:spcAft>
              <a:defRPr sz="2000">
                <a:solidFill>
                  <a:schemeClr val="tx1"/>
                </a:solidFill>
                <a:latin typeface="Arial" charset="0"/>
              </a:defRPr>
            </a:lvl7pPr>
            <a:lvl8pPr marL="3429000" indent="-228600" eaLnBrk="0" fontAlgn="base" hangingPunct="0">
              <a:spcBef>
                <a:spcPct val="0"/>
              </a:spcBef>
              <a:spcAft>
                <a:spcPct val="0"/>
              </a:spcAft>
              <a:defRPr sz="2000">
                <a:solidFill>
                  <a:schemeClr val="tx1"/>
                </a:solidFill>
                <a:latin typeface="Arial" charset="0"/>
              </a:defRPr>
            </a:lvl8pPr>
            <a:lvl9pPr marL="3886200" indent="-228600" eaLnBrk="0" fontAlgn="base" hangingPunct="0">
              <a:spcBef>
                <a:spcPct val="0"/>
              </a:spcBef>
              <a:spcAft>
                <a:spcPct val="0"/>
              </a:spcAft>
              <a:defRPr sz="2000">
                <a:solidFill>
                  <a:schemeClr val="tx1"/>
                </a:solidFill>
                <a:latin typeface="Arial" charset="0"/>
              </a:defRPr>
            </a:lvl9pPr>
          </a:lstStyle>
          <a:p>
            <a:fld id="{1D613142-564A-734F-B24D-2F86C7D84A24}" type="slidenum">
              <a:rPr lang="en-US" altLang="tr-TR" sz="1200">
                <a:latin typeface="Times New Roman" charset="0"/>
              </a:rPr>
              <a:pPr/>
              <a:t>1</a:t>
            </a:fld>
            <a:endParaRPr lang="en-US" altLang="tr-TR" sz="1200">
              <a:latin typeface="Times New Roman"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tr-TR" altLang="tr-TR">
              <a:latin typeface="Times New 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822960" y="758952"/>
            <a:ext cx="75438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p:cNvSpPr>
            <a:spLocks noGrp="1"/>
          </p:cNvSpPr>
          <p:nvPr>
            <p:ph type="dt" sz="half" idx="10"/>
          </p:nvPr>
        </p:nvSpPr>
        <p:spPr/>
        <p:txBody>
          <a:bodyPr/>
          <a:lstStyle>
            <a:lvl1pPr>
              <a:defRPr/>
            </a:lvl1pPr>
          </a:lstStyle>
          <a:p>
            <a:pPr>
              <a:defRPr/>
            </a:pPr>
            <a:fld id="{ADA21AC8-1D0D-554A-91FF-4A86FE7A5347}" type="datetimeFigureOut">
              <a:rPr lang="en-US"/>
              <a:pPr>
                <a:defRPr/>
              </a:pPr>
              <a:t>11/28/2023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365EAA7-AD17-534F-9D36-0B0C91865A99}" type="slidenum">
              <a:rPr lang="en-US"/>
              <a:pPr>
                <a:defRPr/>
              </a:pPr>
              <a:t>‹#›</a:t>
            </a:fld>
            <a:endParaRPr lang="en-US"/>
          </a:p>
        </p:txBody>
      </p:sp>
    </p:spTree>
    <p:extLst>
      <p:ext uri="{BB962C8B-B14F-4D97-AF65-F5344CB8AC3E}">
        <p14:creationId xmlns:p14="http://schemas.microsoft.com/office/powerpoint/2010/main" val="1600998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5F5012BF-BE46-2D49-ACE0-F93A97121AA1}" type="datetimeFigureOut">
              <a:rPr lang="en-US"/>
              <a:pPr>
                <a:defRPr/>
              </a:pPr>
              <a:t>11/28/2023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5810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043BEACB-381B-C540-80D5-EE45853526E3}" type="datetimeFigureOut">
              <a:rPr lang="en-US"/>
              <a:pPr>
                <a:defRPr/>
              </a:pPr>
              <a:t>11/28/2023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101425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fld id="{E3F442C0-2B44-D442-A06D-053A501B6E8A}" type="datetimeFigureOut">
              <a:rPr lang="en-US"/>
              <a:pPr>
                <a:defRPr/>
              </a:pPr>
              <a:t>11/28/2023</a:t>
            </a:fld>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2071037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pPr>
              <a:defRPr/>
            </a:pPr>
            <a:fld id="{CBFF3057-EE92-9743-893B-79F5B4C64803}" type="datetimeFigureOut">
              <a:rPr lang="en-US"/>
              <a:pPr>
                <a:defRPr/>
              </a:pPr>
              <a:t>11/28/2023</a:t>
            </a:fld>
            <a:endParaRPr 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151762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CEC3614B-DB1C-1045-9F30-FA1A7D18CA2B}" type="datetimeFigureOut">
              <a:rPr lang="en-US"/>
              <a:pPr>
                <a:defRPr/>
              </a:pPr>
              <a:t>11/28/2023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7D6E418-E2D6-144B-8566-235B66876436}" type="slidenum">
              <a:rPr lang="en-US"/>
              <a:pPr>
                <a:defRPr/>
              </a:pPr>
              <a:t>‹#›</a:t>
            </a:fld>
            <a:endParaRPr lang="en-US"/>
          </a:p>
        </p:txBody>
      </p:sp>
    </p:spTree>
    <p:extLst>
      <p:ext uri="{BB962C8B-B14F-4D97-AF65-F5344CB8AC3E}">
        <p14:creationId xmlns:p14="http://schemas.microsoft.com/office/powerpoint/2010/main" val="808471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Rectangle 4"/>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fld id="{22F23CFD-1681-2347-93C1-EDED37DA11D3}" type="datetimeFigureOut">
              <a:rPr lang="en-US"/>
              <a:pPr>
                <a:defRPr/>
              </a:pPr>
              <a:t>11/28/2023</a:t>
            </a:fld>
            <a:endParaRPr lang="en-US"/>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F6A4E78E-F2CB-3343-BD46-F5EC8C4BCBD0}" type="slidenum">
              <a:rPr lang="en-US"/>
              <a:pPr>
                <a:defRPr/>
              </a:pPr>
              <a:t>‹#›</a:t>
            </a:fld>
            <a:endParaRPr lang="en-US"/>
          </a:p>
        </p:txBody>
      </p:sp>
    </p:spTree>
    <p:extLst>
      <p:ext uri="{BB962C8B-B14F-4D97-AF65-F5344CB8AC3E}">
        <p14:creationId xmlns:p14="http://schemas.microsoft.com/office/powerpoint/2010/main" val="1025409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5" name="Rectangle 7"/>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349250" y="6459538"/>
            <a:ext cx="1963738" cy="365125"/>
          </a:xfrm>
        </p:spPr>
        <p:txBody>
          <a:bodyPr/>
          <a:lstStyle>
            <a:lvl1pPr algn="l">
              <a:defRPr/>
            </a:lvl1pPr>
          </a:lstStyle>
          <a:p>
            <a:pPr>
              <a:defRPr/>
            </a:pPr>
            <a:fld id="{104AE6A8-1F4D-1845-AFE8-8452A7875153}" type="datetimeFigureOut">
              <a:rPr lang="en-US"/>
              <a:pPr>
                <a:defRPr/>
              </a:pPr>
              <a:t>11/28/2023</a:t>
            </a:fld>
            <a:endParaRPr lang="en-US"/>
          </a:p>
        </p:txBody>
      </p:sp>
      <p:sp>
        <p:nvSpPr>
          <p:cNvPr id="8" name="Footer Placeholder 5"/>
          <p:cNvSpPr>
            <a:spLocks noGrp="1"/>
          </p:cNvSpPr>
          <p:nvPr>
            <p:ph type="ftr" sz="quarter" idx="11"/>
          </p:nvPr>
        </p:nvSpPr>
        <p:spPr>
          <a:xfrm>
            <a:off x="3600450" y="6459538"/>
            <a:ext cx="3486150" cy="365125"/>
          </a:xfrm>
        </p:spPr>
        <p:txBody>
          <a:bodyPr/>
          <a:lstStyle>
            <a:lvl1pPr algn="l">
              <a:defRPr>
                <a:solidFill>
                  <a:schemeClr val="tx2"/>
                </a:solidFill>
              </a:defRPr>
            </a:lvl1pPr>
          </a:lstStyle>
          <a:p>
            <a:pPr>
              <a:defRPr/>
            </a:pPr>
            <a:endParaRPr lang="en-US"/>
          </a:p>
        </p:txBody>
      </p:sp>
      <p:sp>
        <p:nvSpPr>
          <p:cNvPr id="9" name="Slide Number Placeholder 6"/>
          <p:cNvSpPr>
            <a:spLocks noGrp="1"/>
          </p:cNvSpPr>
          <p:nvPr>
            <p:ph type="sldNum" sz="quarter" idx="12"/>
          </p:nvPr>
        </p:nvSpPr>
        <p:spPr/>
        <p:txBody>
          <a:bodyPr/>
          <a:lstStyle>
            <a:lvl1pPr>
              <a:defRPr>
                <a:solidFill>
                  <a:schemeClr val="tx2"/>
                </a:solidFill>
              </a:defRPr>
            </a:lvl1pPr>
          </a:lstStyle>
          <a:p>
            <a:pPr>
              <a:defRPr/>
            </a:pPr>
            <a:fld id="{D8A39CB0-6C06-C341-9BF3-C7C6E252B81A}" type="slidenum">
              <a:rPr lang="en-US"/>
              <a:pPr>
                <a:defRPr/>
              </a:pPr>
              <a:t>‹#›</a:t>
            </a:fld>
            <a:endParaRPr lang="en-US"/>
          </a:p>
        </p:txBody>
      </p:sp>
    </p:spTree>
    <p:extLst>
      <p:ext uri="{BB962C8B-B14F-4D97-AF65-F5344CB8AC3E}">
        <p14:creationId xmlns:p14="http://schemas.microsoft.com/office/powerpoint/2010/main" val="508476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5" name="Rectangle 7"/>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lang="en-US" noProof="0"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fld id="{5224C4C8-877D-ED45-8372-841652F9DE61}" type="datetimeFigureOut">
              <a:rPr lang="en-US"/>
              <a:pPr>
                <a:defRPr/>
              </a:pPr>
              <a:t>11/28/2023</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3BBCD273-635A-F842-BFD3-96ED4A424732}" type="slidenum">
              <a:rPr lang="en-US"/>
              <a:pPr>
                <a:defRPr/>
              </a:pPr>
              <a:t>‹#›</a:t>
            </a:fld>
            <a:endParaRPr lang="en-US"/>
          </a:p>
        </p:txBody>
      </p:sp>
    </p:spTree>
    <p:extLst>
      <p:ext uri="{BB962C8B-B14F-4D97-AF65-F5344CB8AC3E}">
        <p14:creationId xmlns:p14="http://schemas.microsoft.com/office/powerpoint/2010/main" val="1131406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AD2FECB9-C783-834A-A7D6-DC2EAF6FB10A}" type="datetimeFigureOut">
              <a:rPr lang="en-US"/>
              <a:pPr>
                <a:defRPr/>
              </a:pPr>
              <a:t>11/28/2023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A70147-3A60-FE4A-9EFB-02EAC11E6887}" type="slidenum">
              <a:rPr lang="en-US"/>
              <a:pPr>
                <a:defRPr/>
              </a:pPr>
              <a:t>‹#›</a:t>
            </a:fld>
            <a:endParaRPr lang="en-US"/>
          </a:p>
        </p:txBody>
      </p:sp>
    </p:spTree>
    <p:extLst>
      <p:ext uri="{BB962C8B-B14F-4D97-AF65-F5344CB8AC3E}">
        <p14:creationId xmlns:p14="http://schemas.microsoft.com/office/powerpoint/2010/main" val="854356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fld id="{79C13F72-5E6C-D743-A0C8-F4F664143688}" type="datetimeFigureOut">
              <a:rPr lang="en-US"/>
              <a:pPr>
                <a:defRPr/>
              </a:pPr>
              <a:t>11/28/2023</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8781C89E-48F2-B44B-B2CA-C6D917C225A6}" type="slidenum">
              <a:rPr lang="en-US"/>
              <a:pPr>
                <a:defRPr/>
              </a:pPr>
              <a:t>‹#›</a:t>
            </a:fld>
            <a:endParaRPr lang="en-US"/>
          </a:p>
        </p:txBody>
      </p:sp>
    </p:spTree>
    <p:extLst>
      <p:ext uri="{BB962C8B-B14F-4D97-AF65-F5344CB8AC3E}">
        <p14:creationId xmlns:p14="http://schemas.microsoft.com/office/powerpoint/2010/main" val="17318434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Başlık, Metin ve 2 İçerik">
    <p:spTree>
      <p:nvGrpSpPr>
        <p:cNvPr id="1" name=""/>
        <p:cNvGrpSpPr/>
        <p:nvPr/>
      </p:nvGrpSpPr>
      <p:grpSpPr>
        <a:xfrm>
          <a:off x="0" y="0"/>
          <a:ext cx="0" cy="0"/>
          <a:chOff x="0" y="0"/>
          <a:chExt cx="0" cy="0"/>
        </a:xfrm>
      </p:grpSpPr>
      <p:sp>
        <p:nvSpPr>
          <p:cNvPr id="2" name="Unvan 1"/>
          <p:cNvSpPr>
            <a:spLocks noGrp="1"/>
          </p:cNvSpPr>
          <p:nvPr>
            <p:ph type="title"/>
          </p:nvPr>
        </p:nvSpPr>
        <p:spPr>
          <a:xfrm>
            <a:off x="457200" y="0"/>
            <a:ext cx="7772400" cy="914400"/>
          </a:xfrm>
        </p:spPr>
        <p:txBody>
          <a:bodyPr/>
          <a:lstStyle/>
          <a:p>
            <a:r>
              <a:rPr lang="en-US"/>
              <a:t>Click to edit Master title style</a:t>
            </a:r>
            <a:endParaRPr lang="tr-TR"/>
          </a:p>
        </p:txBody>
      </p:sp>
      <p:sp>
        <p:nvSpPr>
          <p:cNvPr id="3" name="Metin Yer Tutucusu 2"/>
          <p:cNvSpPr>
            <a:spLocks noGrp="1"/>
          </p:cNvSpPr>
          <p:nvPr>
            <p:ph type="body" sz="half" idx="1"/>
          </p:nvPr>
        </p:nvSpPr>
        <p:spPr>
          <a:xfrm>
            <a:off x="533400" y="1219200"/>
            <a:ext cx="4038600" cy="4953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tr-TR" dirty="0"/>
          </a:p>
        </p:txBody>
      </p:sp>
      <p:sp>
        <p:nvSpPr>
          <p:cNvPr id="4" name="İçerik Yer Tutucusu 3"/>
          <p:cNvSpPr>
            <a:spLocks noGrp="1"/>
          </p:cNvSpPr>
          <p:nvPr>
            <p:ph sz="quarter" idx="2"/>
          </p:nvPr>
        </p:nvSpPr>
        <p:spPr>
          <a:xfrm>
            <a:off x="4648200" y="1219200"/>
            <a:ext cx="4038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İçerik Yer Tutucusu 4"/>
          <p:cNvSpPr>
            <a:spLocks noGrp="1"/>
          </p:cNvSpPr>
          <p:nvPr>
            <p:ph sz="quarter" idx="3"/>
          </p:nvPr>
        </p:nvSpPr>
        <p:spPr>
          <a:xfrm>
            <a:off x="4648200" y="3771900"/>
            <a:ext cx="4038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98924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Başlık, Metin ve İçerik">
    <p:spTree>
      <p:nvGrpSpPr>
        <p:cNvPr id="1" name=""/>
        <p:cNvGrpSpPr/>
        <p:nvPr/>
      </p:nvGrpSpPr>
      <p:grpSpPr>
        <a:xfrm>
          <a:off x="0" y="0"/>
          <a:ext cx="0" cy="0"/>
          <a:chOff x="0" y="0"/>
          <a:chExt cx="0" cy="0"/>
        </a:xfrm>
      </p:grpSpPr>
      <p:sp>
        <p:nvSpPr>
          <p:cNvPr id="2" name="Unvan 1"/>
          <p:cNvSpPr>
            <a:spLocks noGrp="1"/>
          </p:cNvSpPr>
          <p:nvPr>
            <p:ph type="title"/>
          </p:nvPr>
        </p:nvSpPr>
        <p:spPr>
          <a:xfrm>
            <a:off x="457200" y="0"/>
            <a:ext cx="7772400" cy="914400"/>
          </a:xfrm>
        </p:spPr>
        <p:txBody>
          <a:bodyPr/>
          <a:lstStyle/>
          <a:p>
            <a:r>
              <a:rPr lang="en-US"/>
              <a:t>Click to edit Master title style</a:t>
            </a:r>
            <a:endParaRPr lang="tr-TR"/>
          </a:p>
        </p:txBody>
      </p:sp>
      <p:sp>
        <p:nvSpPr>
          <p:cNvPr id="3" name="Metin Yer Tutucusu 2"/>
          <p:cNvSpPr>
            <a:spLocks noGrp="1"/>
          </p:cNvSpPr>
          <p:nvPr>
            <p:ph type="body" sz="half" idx="1"/>
          </p:nvPr>
        </p:nvSpPr>
        <p:spPr>
          <a:xfrm>
            <a:off x="457200" y="121920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İçerik Yer Tutucusu 3"/>
          <p:cNvSpPr>
            <a:spLocks noGrp="1"/>
          </p:cNvSpPr>
          <p:nvPr>
            <p:ph sz="half" idx="2"/>
          </p:nvPr>
        </p:nvSpPr>
        <p:spPr>
          <a:xfrm>
            <a:off x="4648200" y="121920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4711740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143000" y="1122363"/>
            <a:ext cx="6858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lvl1pPr>
              <a:defRPr/>
            </a:lvl1pPr>
          </a:lstStyle>
          <a:p>
            <a:pPr>
              <a:defRPr/>
            </a:pPr>
            <a:fld id="{FAFF4D91-D3A5-1D4B-B002-38A290AE2978}" type="datetimeFigureOut">
              <a:rPr lang="tr-TR"/>
              <a:pPr>
                <a:defRPr/>
              </a:pPr>
              <a:t>28.11.2023</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pPr>
              <a:defRPr/>
            </a:pPr>
            <a:fld id="{2F771577-6ABB-9547-9C6D-8A064A297719}" type="slidenum">
              <a:rPr lang="tr-TR"/>
              <a:pPr>
                <a:defRPr/>
              </a:pPr>
              <a:t>‹#›</a:t>
            </a:fld>
            <a:endParaRPr lang="tr-TR"/>
          </a:p>
        </p:txBody>
      </p:sp>
    </p:spTree>
    <p:extLst>
      <p:ext uri="{BB962C8B-B14F-4D97-AF65-F5344CB8AC3E}">
        <p14:creationId xmlns:p14="http://schemas.microsoft.com/office/powerpoint/2010/main" val="1097981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3C9EFC48-BC40-AC41-B555-FB978A70780E}" type="datetimeFigureOut">
              <a:rPr lang="tr-TR"/>
              <a:pPr>
                <a:defRPr/>
              </a:pPr>
              <a:t>28.11.2023</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pPr>
              <a:defRPr/>
            </a:pPr>
            <a:fld id="{02752917-B2CF-F047-9B7B-2B168B1CEC3F}" type="slidenum">
              <a:rPr lang="tr-TR"/>
              <a:pPr>
                <a:defRPr/>
              </a:pPr>
              <a:t>‹#›</a:t>
            </a:fld>
            <a:endParaRPr lang="tr-TR"/>
          </a:p>
        </p:txBody>
      </p:sp>
    </p:spTree>
    <p:extLst>
      <p:ext uri="{BB962C8B-B14F-4D97-AF65-F5344CB8AC3E}">
        <p14:creationId xmlns:p14="http://schemas.microsoft.com/office/powerpoint/2010/main" val="444780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623888" y="1709738"/>
            <a:ext cx="78867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lvl1pPr>
              <a:defRPr/>
            </a:lvl1pPr>
          </a:lstStyle>
          <a:p>
            <a:pPr>
              <a:defRPr/>
            </a:pPr>
            <a:fld id="{8CC5C956-412A-AA40-BD45-A8C7C5791152}" type="datetimeFigureOut">
              <a:rPr lang="tr-TR"/>
              <a:pPr>
                <a:defRPr/>
              </a:pPr>
              <a:t>28.11.2023</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pPr>
              <a:defRPr/>
            </a:pPr>
            <a:fld id="{35F62F31-B3CF-DE44-A1F5-C62477459897}" type="slidenum">
              <a:rPr lang="tr-TR"/>
              <a:pPr>
                <a:defRPr/>
              </a:pPr>
              <a:t>‹#›</a:t>
            </a:fld>
            <a:endParaRPr lang="tr-TR"/>
          </a:p>
        </p:txBody>
      </p:sp>
    </p:spTree>
    <p:extLst>
      <p:ext uri="{BB962C8B-B14F-4D97-AF65-F5344CB8AC3E}">
        <p14:creationId xmlns:p14="http://schemas.microsoft.com/office/powerpoint/2010/main" val="411707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628650" y="1825625"/>
            <a:ext cx="386715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825625"/>
            <a:ext cx="386715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3"/>
          <p:cNvSpPr>
            <a:spLocks noGrp="1"/>
          </p:cNvSpPr>
          <p:nvPr>
            <p:ph type="dt" sz="half" idx="10"/>
          </p:nvPr>
        </p:nvSpPr>
        <p:spPr/>
        <p:txBody>
          <a:bodyPr/>
          <a:lstStyle>
            <a:lvl1pPr>
              <a:defRPr/>
            </a:lvl1pPr>
          </a:lstStyle>
          <a:p>
            <a:pPr>
              <a:defRPr/>
            </a:pPr>
            <a:fld id="{24453930-C695-1042-AABA-5D5A1E640973}" type="datetimeFigureOut">
              <a:rPr lang="tr-TR"/>
              <a:pPr>
                <a:defRPr/>
              </a:pPr>
              <a:t>28.11.2023</a:t>
            </a:fld>
            <a:endParaRPr lang="tr-TR"/>
          </a:p>
        </p:txBody>
      </p:sp>
      <p:sp>
        <p:nvSpPr>
          <p:cNvPr id="6" name="Altbilgi Yer Tutucusu 4"/>
          <p:cNvSpPr>
            <a:spLocks noGrp="1"/>
          </p:cNvSpPr>
          <p:nvPr>
            <p:ph type="ftr" sz="quarter" idx="11"/>
          </p:nvPr>
        </p:nvSpPr>
        <p:spPr/>
        <p:txBody>
          <a:bodyPr/>
          <a:lstStyle>
            <a:lvl1pPr>
              <a:defRPr/>
            </a:lvl1pPr>
          </a:lstStyle>
          <a:p>
            <a:pPr>
              <a:defRPr/>
            </a:pPr>
            <a:endParaRPr lang="tr-TR"/>
          </a:p>
        </p:txBody>
      </p:sp>
      <p:sp>
        <p:nvSpPr>
          <p:cNvPr id="7" name="Slayt Numarası Yer Tutucusu 5"/>
          <p:cNvSpPr>
            <a:spLocks noGrp="1"/>
          </p:cNvSpPr>
          <p:nvPr>
            <p:ph type="sldNum" sz="quarter" idx="12"/>
          </p:nvPr>
        </p:nvSpPr>
        <p:spPr/>
        <p:txBody>
          <a:bodyPr/>
          <a:lstStyle>
            <a:lvl1pPr>
              <a:defRPr/>
            </a:lvl1pPr>
          </a:lstStyle>
          <a:p>
            <a:pPr>
              <a:defRPr/>
            </a:pPr>
            <a:fld id="{DB7F6143-976D-9D4D-9AA0-FBA71E0C1377}" type="slidenum">
              <a:rPr lang="tr-TR"/>
              <a:pPr>
                <a:defRPr/>
              </a:pPr>
              <a:t>‹#›</a:t>
            </a:fld>
            <a:endParaRPr lang="tr-TR"/>
          </a:p>
        </p:txBody>
      </p:sp>
    </p:spTree>
    <p:extLst>
      <p:ext uri="{BB962C8B-B14F-4D97-AF65-F5344CB8AC3E}">
        <p14:creationId xmlns:p14="http://schemas.microsoft.com/office/powerpoint/2010/main" val="4669432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630238" y="365125"/>
            <a:ext cx="7886700" cy="1325563"/>
          </a:xfrm>
        </p:spPr>
        <p:txBody>
          <a:bodyPr/>
          <a:lstStyle/>
          <a:p>
            <a:r>
              <a:rPr lang="tr-TR"/>
              <a:t>Asıl başlık stili için tıklatın</a:t>
            </a:r>
          </a:p>
        </p:txBody>
      </p:sp>
      <p:sp>
        <p:nvSpPr>
          <p:cNvPr id="3" name="Metin Yer Tutucusu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630238" y="2505075"/>
            <a:ext cx="386873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29150" y="2505075"/>
            <a:ext cx="38877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3"/>
          <p:cNvSpPr>
            <a:spLocks noGrp="1"/>
          </p:cNvSpPr>
          <p:nvPr>
            <p:ph type="dt" sz="half" idx="10"/>
          </p:nvPr>
        </p:nvSpPr>
        <p:spPr/>
        <p:txBody>
          <a:bodyPr/>
          <a:lstStyle>
            <a:lvl1pPr>
              <a:defRPr/>
            </a:lvl1pPr>
          </a:lstStyle>
          <a:p>
            <a:pPr>
              <a:defRPr/>
            </a:pPr>
            <a:fld id="{AAD01604-FFA1-304A-AD7D-56784691093B}" type="datetimeFigureOut">
              <a:rPr lang="tr-TR"/>
              <a:pPr>
                <a:defRPr/>
              </a:pPr>
              <a:t>28.11.2023</a:t>
            </a:fld>
            <a:endParaRPr lang="tr-TR"/>
          </a:p>
        </p:txBody>
      </p:sp>
      <p:sp>
        <p:nvSpPr>
          <p:cNvPr id="8" name="Altbilgi Yer Tutucusu 4"/>
          <p:cNvSpPr>
            <a:spLocks noGrp="1"/>
          </p:cNvSpPr>
          <p:nvPr>
            <p:ph type="ftr" sz="quarter" idx="11"/>
          </p:nvPr>
        </p:nvSpPr>
        <p:spPr/>
        <p:txBody>
          <a:bodyPr/>
          <a:lstStyle>
            <a:lvl1pPr>
              <a:defRPr/>
            </a:lvl1pPr>
          </a:lstStyle>
          <a:p>
            <a:pPr>
              <a:defRPr/>
            </a:pPr>
            <a:endParaRPr lang="tr-TR"/>
          </a:p>
        </p:txBody>
      </p:sp>
      <p:sp>
        <p:nvSpPr>
          <p:cNvPr id="9" name="Slayt Numarası Yer Tutucusu 5"/>
          <p:cNvSpPr>
            <a:spLocks noGrp="1"/>
          </p:cNvSpPr>
          <p:nvPr>
            <p:ph type="sldNum" sz="quarter" idx="12"/>
          </p:nvPr>
        </p:nvSpPr>
        <p:spPr/>
        <p:txBody>
          <a:bodyPr/>
          <a:lstStyle>
            <a:lvl1pPr>
              <a:defRPr/>
            </a:lvl1pPr>
          </a:lstStyle>
          <a:p>
            <a:pPr>
              <a:defRPr/>
            </a:pPr>
            <a:fld id="{E2670EFC-BD3E-5E42-98BC-C3206ACB5BB0}" type="slidenum">
              <a:rPr lang="tr-TR"/>
              <a:pPr>
                <a:defRPr/>
              </a:pPr>
              <a:t>‹#›</a:t>
            </a:fld>
            <a:endParaRPr lang="tr-TR"/>
          </a:p>
        </p:txBody>
      </p:sp>
    </p:spTree>
    <p:extLst>
      <p:ext uri="{BB962C8B-B14F-4D97-AF65-F5344CB8AC3E}">
        <p14:creationId xmlns:p14="http://schemas.microsoft.com/office/powerpoint/2010/main" val="1010242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3"/>
          <p:cNvSpPr>
            <a:spLocks noGrp="1"/>
          </p:cNvSpPr>
          <p:nvPr>
            <p:ph type="dt" sz="half" idx="10"/>
          </p:nvPr>
        </p:nvSpPr>
        <p:spPr/>
        <p:txBody>
          <a:bodyPr/>
          <a:lstStyle>
            <a:lvl1pPr>
              <a:defRPr/>
            </a:lvl1pPr>
          </a:lstStyle>
          <a:p>
            <a:pPr>
              <a:defRPr/>
            </a:pPr>
            <a:fld id="{C5C0BEB3-6535-7545-B0B3-45452369E38B}" type="datetimeFigureOut">
              <a:rPr lang="tr-TR"/>
              <a:pPr>
                <a:defRPr/>
              </a:pPr>
              <a:t>28.11.2023</a:t>
            </a:fld>
            <a:endParaRPr lang="tr-TR"/>
          </a:p>
        </p:txBody>
      </p:sp>
      <p:sp>
        <p:nvSpPr>
          <p:cNvPr id="4" name="Altbilgi Yer Tutucusu 4"/>
          <p:cNvSpPr>
            <a:spLocks noGrp="1"/>
          </p:cNvSpPr>
          <p:nvPr>
            <p:ph type="ftr" sz="quarter" idx="11"/>
          </p:nvPr>
        </p:nvSpPr>
        <p:spPr/>
        <p:txBody>
          <a:bodyPr/>
          <a:lstStyle>
            <a:lvl1pPr>
              <a:defRPr/>
            </a:lvl1pPr>
          </a:lstStyle>
          <a:p>
            <a:pPr>
              <a:defRPr/>
            </a:pPr>
            <a:endParaRPr lang="tr-TR"/>
          </a:p>
        </p:txBody>
      </p:sp>
      <p:sp>
        <p:nvSpPr>
          <p:cNvPr id="5" name="Slayt Numarası Yer Tutucusu 5"/>
          <p:cNvSpPr>
            <a:spLocks noGrp="1"/>
          </p:cNvSpPr>
          <p:nvPr>
            <p:ph type="sldNum" sz="quarter" idx="12"/>
          </p:nvPr>
        </p:nvSpPr>
        <p:spPr/>
        <p:txBody>
          <a:bodyPr/>
          <a:lstStyle>
            <a:lvl1pPr>
              <a:defRPr/>
            </a:lvl1pPr>
          </a:lstStyle>
          <a:p>
            <a:pPr>
              <a:defRPr/>
            </a:pPr>
            <a:fld id="{A5809D38-3EA5-C64C-812A-D57CC7D0C67C}" type="slidenum">
              <a:rPr lang="tr-TR"/>
              <a:pPr>
                <a:defRPr/>
              </a:pPr>
              <a:t>‹#›</a:t>
            </a:fld>
            <a:endParaRPr lang="tr-TR"/>
          </a:p>
        </p:txBody>
      </p:sp>
    </p:spTree>
    <p:extLst>
      <p:ext uri="{BB962C8B-B14F-4D97-AF65-F5344CB8AC3E}">
        <p14:creationId xmlns:p14="http://schemas.microsoft.com/office/powerpoint/2010/main" val="1137143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3"/>
          <p:cNvSpPr>
            <a:spLocks noGrp="1"/>
          </p:cNvSpPr>
          <p:nvPr>
            <p:ph type="dt" sz="half" idx="10"/>
          </p:nvPr>
        </p:nvSpPr>
        <p:spPr/>
        <p:txBody>
          <a:bodyPr/>
          <a:lstStyle>
            <a:lvl1pPr>
              <a:defRPr/>
            </a:lvl1pPr>
          </a:lstStyle>
          <a:p>
            <a:pPr>
              <a:defRPr/>
            </a:pPr>
            <a:fld id="{F269F8F4-DE72-3742-85F8-2C8CA1E37B2C}" type="datetimeFigureOut">
              <a:rPr lang="tr-TR"/>
              <a:pPr>
                <a:defRPr/>
              </a:pPr>
              <a:t>28.11.2023</a:t>
            </a:fld>
            <a:endParaRPr lang="tr-TR"/>
          </a:p>
        </p:txBody>
      </p:sp>
      <p:sp>
        <p:nvSpPr>
          <p:cNvPr id="3" name="Altbilgi Yer Tutucusu 4"/>
          <p:cNvSpPr>
            <a:spLocks noGrp="1"/>
          </p:cNvSpPr>
          <p:nvPr>
            <p:ph type="ftr" sz="quarter" idx="11"/>
          </p:nvPr>
        </p:nvSpPr>
        <p:spPr/>
        <p:txBody>
          <a:bodyPr/>
          <a:lstStyle>
            <a:lvl1pPr>
              <a:defRPr/>
            </a:lvl1pPr>
          </a:lstStyle>
          <a:p>
            <a:pPr>
              <a:defRPr/>
            </a:pPr>
            <a:endParaRPr lang="tr-TR"/>
          </a:p>
        </p:txBody>
      </p:sp>
      <p:sp>
        <p:nvSpPr>
          <p:cNvPr id="4" name="Slayt Numarası Yer Tutucusu 5"/>
          <p:cNvSpPr>
            <a:spLocks noGrp="1"/>
          </p:cNvSpPr>
          <p:nvPr>
            <p:ph type="sldNum" sz="quarter" idx="12"/>
          </p:nvPr>
        </p:nvSpPr>
        <p:spPr/>
        <p:txBody>
          <a:bodyPr/>
          <a:lstStyle>
            <a:lvl1pPr>
              <a:defRPr/>
            </a:lvl1pPr>
          </a:lstStyle>
          <a:p>
            <a:pPr>
              <a:defRPr/>
            </a:pPr>
            <a:fld id="{48F02711-85F9-2D45-8D00-00B4ED6E090D}" type="slidenum">
              <a:rPr lang="tr-TR"/>
              <a:pPr>
                <a:defRPr/>
              </a:pPr>
              <a:t>‹#›</a:t>
            </a:fld>
            <a:endParaRPr lang="tr-TR"/>
          </a:p>
        </p:txBody>
      </p:sp>
    </p:spTree>
    <p:extLst>
      <p:ext uri="{BB962C8B-B14F-4D97-AF65-F5344CB8AC3E}">
        <p14:creationId xmlns:p14="http://schemas.microsoft.com/office/powerpoint/2010/main" val="15211408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630238" y="457200"/>
            <a:ext cx="2949575"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3"/>
          <p:cNvSpPr>
            <a:spLocks noGrp="1"/>
          </p:cNvSpPr>
          <p:nvPr>
            <p:ph type="dt" sz="half" idx="10"/>
          </p:nvPr>
        </p:nvSpPr>
        <p:spPr/>
        <p:txBody>
          <a:bodyPr/>
          <a:lstStyle>
            <a:lvl1pPr>
              <a:defRPr/>
            </a:lvl1pPr>
          </a:lstStyle>
          <a:p>
            <a:pPr>
              <a:defRPr/>
            </a:pPr>
            <a:fld id="{65BA3D3C-5EA5-5345-937E-F07B21CBEB61}" type="datetimeFigureOut">
              <a:rPr lang="tr-TR"/>
              <a:pPr>
                <a:defRPr/>
              </a:pPr>
              <a:t>28.11.2023</a:t>
            </a:fld>
            <a:endParaRPr lang="tr-TR"/>
          </a:p>
        </p:txBody>
      </p:sp>
      <p:sp>
        <p:nvSpPr>
          <p:cNvPr id="6" name="Altbilgi Yer Tutucusu 4"/>
          <p:cNvSpPr>
            <a:spLocks noGrp="1"/>
          </p:cNvSpPr>
          <p:nvPr>
            <p:ph type="ftr" sz="quarter" idx="11"/>
          </p:nvPr>
        </p:nvSpPr>
        <p:spPr/>
        <p:txBody>
          <a:bodyPr/>
          <a:lstStyle>
            <a:lvl1pPr>
              <a:defRPr/>
            </a:lvl1pPr>
          </a:lstStyle>
          <a:p>
            <a:pPr>
              <a:defRPr/>
            </a:pPr>
            <a:endParaRPr lang="tr-TR"/>
          </a:p>
        </p:txBody>
      </p:sp>
      <p:sp>
        <p:nvSpPr>
          <p:cNvPr id="7" name="Slayt Numarası Yer Tutucusu 5"/>
          <p:cNvSpPr>
            <a:spLocks noGrp="1"/>
          </p:cNvSpPr>
          <p:nvPr>
            <p:ph type="sldNum" sz="quarter" idx="12"/>
          </p:nvPr>
        </p:nvSpPr>
        <p:spPr/>
        <p:txBody>
          <a:bodyPr/>
          <a:lstStyle>
            <a:lvl1pPr>
              <a:defRPr/>
            </a:lvl1pPr>
          </a:lstStyle>
          <a:p>
            <a:pPr>
              <a:defRPr/>
            </a:pPr>
            <a:fld id="{C37FE9AC-A04D-E147-8D30-3862407D7F3C}" type="slidenum">
              <a:rPr lang="tr-TR"/>
              <a:pPr>
                <a:defRPr/>
              </a:pPr>
              <a:t>‹#›</a:t>
            </a:fld>
            <a:endParaRPr lang="tr-TR"/>
          </a:p>
        </p:txBody>
      </p:sp>
    </p:spTree>
    <p:extLst>
      <p:ext uri="{BB962C8B-B14F-4D97-AF65-F5344CB8AC3E}">
        <p14:creationId xmlns:p14="http://schemas.microsoft.com/office/powerpoint/2010/main" val="221543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630238" y="457200"/>
            <a:ext cx="2949575"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Metin Yer Tutucusu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3"/>
          <p:cNvSpPr>
            <a:spLocks noGrp="1"/>
          </p:cNvSpPr>
          <p:nvPr>
            <p:ph type="dt" sz="half" idx="10"/>
          </p:nvPr>
        </p:nvSpPr>
        <p:spPr/>
        <p:txBody>
          <a:bodyPr/>
          <a:lstStyle>
            <a:lvl1pPr>
              <a:defRPr/>
            </a:lvl1pPr>
          </a:lstStyle>
          <a:p>
            <a:pPr>
              <a:defRPr/>
            </a:pPr>
            <a:fld id="{B6EE1357-3DA1-3340-86BF-8F09C51CC902}" type="datetimeFigureOut">
              <a:rPr lang="tr-TR"/>
              <a:pPr>
                <a:defRPr/>
              </a:pPr>
              <a:t>28.11.2023</a:t>
            </a:fld>
            <a:endParaRPr lang="tr-TR"/>
          </a:p>
        </p:txBody>
      </p:sp>
      <p:sp>
        <p:nvSpPr>
          <p:cNvPr id="6" name="Altbilgi Yer Tutucusu 4"/>
          <p:cNvSpPr>
            <a:spLocks noGrp="1"/>
          </p:cNvSpPr>
          <p:nvPr>
            <p:ph type="ftr" sz="quarter" idx="11"/>
          </p:nvPr>
        </p:nvSpPr>
        <p:spPr/>
        <p:txBody>
          <a:bodyPr/>
          <a:lstStyle>
            <a:lvl1pPr>
              <a:defRPr/>
            </a:lvl1pPr>
          </a:lstStyle>
          <a:p>
            <a:pPr>
              <a:defRPr/>
            </a:pPr>
            <a:endParaRPr lang="tr-TR"/>
          </a:p>
        </p:txBody>
      </p:sp>
      <p:sp>
        <p:nvSpPr>
          <p:cNvPr id="7" name="Slayt Numarası Yer Tutucusu 5"/>
          <p:cNvSpPr>
            <a:spLocks noGrp="1"/>
          </p:cNvSpPr>
          <p:nvPr>
            <p:ph type="sldNum" sz="quarter" idx="12"/>
          </p:nvPr>
        </p:nvSpPr>
        <p:spPr/>
        <p:txBody>
          <a:bodyPr/>
          <a:lstStyle>
            <a:lvl1pPr>
              <a:defRPr/>
            </a:lvl1pPr>
          </a:lstStyle>
          <a:p>
            <a:pPr>
              <a:defRPr/>
            </a:pPr>
            <a:fld id="{802715A0-A958-E643-9ACD-4B0DE442B3A8}" type="slidenum">
              <a:rPr lang="tr-TR"/>
              <a:pPr>
                <a:defRPr/>
              </a:pPr>
              <a:t>‹#›</a:t>
            </a:fld>
            <a:endParaRPr lang="tr-TR"/>
          </a:p>
        </p:txBody>
      </p:sp>
    </p:spTree>
    <p:extLst>
      <p:ext uri="{BB962C8B-B14F-4D97-AF65-F5344CB8AC3E}">
        <p14:creationId xmlns:p14="http://schemas.microsoft.com/office/powerpoint/2010/main" val="8328004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DFA8A64D-D959-8F44-812F-6E358CAFFAFC}" type="datetimeFigureOut">
              <a:rPr lang="tr-TR"/>
              <a:pPr>
                <a:defRPr/>
              </a:pPr>
              <a:t>28.11.2023</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pPr>
              <a:defRPr/>
            </a:pPr>
            <a:fld id="{209426FA-4453-5E4B-BA18-23E6D9E2EA90}" type="slidenum">
              <a:rPr lang="tr-TR"/>
              <a:pPr>
                <a:defRPr/>
              </a:pPr>
              <a:t>‹#›</a:t>
            </a:fld>
            <a:endParaRPr lang="tr-TR"/>
          </a:p>
        </p:txBody>
      </p:sp>
    </p:spTree>
    <p:extLst>
      <p:ext uri="{BB962C8B-B14F-4D97-AF65-F5344CB8AC3E}">
        <p14:creationId xmlns:p14="http://schemas.microsoft.com/office/powerpoint/2010/main" val="1725933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543675" y="365125"/>
            <a:ext cx="1971675"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628650" y="365125"/>
            <a:ext cx="5762625"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lvl1pPr>
              <a:defRPr/>
            </a:lvl1pPr>
          </a:lstStyle>
          <a:p>
            <a:pPr>
              <a:defRPr/>
            </a:pPr>
            <a:fld id="{37938797-C5B2-B94D-8D87-8E6C4B65FB11}" type="datetimeFigureOut">
              <a:rPr lang="tr-TR"/>
              <a:pPr>
                <a:defRPr/>
              </a:pPr>
              <a:t>28.11.2023</a:t>
            </a:fld>
            <a:endParaRPr lang="tr-TR"/>
          </a:p>
        </p:txBody>
      </p:sp>
      <p:sp>
        <p:nvSpPr>
          <p:cNvPr id="5" name="Altbilgi Yer Tutucusu 4"/>
          <p:cNvSpPr>
            <a:spLocks noGrp="1"/>
          </p:cNvSpPr>
          <p:nvPr>
            <p:ph type="ftr" sz="quarter" idx="11"/>
          </p:nvPr>
        </p:nvSpPr>
        <p:spPr/>
        <p:txBody>
          <a:bodyPr/>
          <a:lstStyle>
            <a:lvl1pPr>
              <a:defRPr/>
            </a:lvl1pPr>
          </a:lstStyle>
          <a:p>
            <a:pPr>
              <a:defRPr/>
            </a:pPr>
            <a:endParaRPr lang="tr-TR"/>
          </a:p>
        </p:txBody>
      </p:sp>
      <p:sp>
        <p:nvSpPr>
          <p:cNvPr id="6" name="Slayt Numarası Yer Tutucusu 5"/>
          <p:cNvSpPr>
            <a:spLocks noGrp="1"/>
          </p:cNvSpPr>
          <p:nvPr>
            <p:ph type="sldNum" sz="quarter" idx="12"/>
          </p:nvPr>
        </p:nvSpPr>
        <p:spPr/>
        <p:txBody>
          <a:bodyPr/>
          <a:lstStyle>
            <a:lvl1pPr>
              <a:defRPr/>
            </a:lvl1pPr>
          </a:lstStyle>
          <a:p>
            <a:pPr>
              <a:defRPr/>
            </a:pPr>
            <a:fld id="{585464EC-E5E1-CE44-9EE5-204DD6AEB027}" type="slidenum">
              <a:rPr lang="tr-TR"/>
              <a:pPr>
                <a:defRPr/>
              </a:pPr>
              <a:t>‹#›</a:t>
            </a:fld>
            <a:endParaRPr lang="tr-TR"/>
          </a:p>
        </p:txBody>
      </p:sp>
    </p:spTree>
    <p:extLst>
      <p:ext uri="{BB962C8B-B14F-4D97-AF65-F5344CB8AC3E}">
        <p14:creationId xmlns:p14="http://schemas.microsoft.com/office/powerpoint/2010/main" val="1696411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tr-TR"/>
              <a:t>Asıl başlık stili için tıklatın</a:t>
            </a:r>
            <a:endParaRPr lang="en-US" dirty="0"/>
          </a:p>
        </p:txBody>
      </p:sp>
      <p:sp>
        <p:nvSpPr>
          <p:cNvPr id="1029" name="Text Placeholder 2"/>
          <p:cNvSpPr>
            <a:spLocks noGrp="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0" bIns="45720" numCol="1" anchor="t" anchorCtr="0" compatLnSpc="1">
            <a:prstTxWarp prst="textNoShape">
              <a:avLst/>
            </a:prstTxWarp>
          </a:bodyPr>
          <a:lstStyle/>
          <a:p>
            <a:pPr lvl="0"/>
            <a:r>
              <a:rPr lang="tr-TR" altLang="tr-TR"/>
              <a:t>Asıl metin stillerini düzenlemek için tıklatın</a:t>
            </a:r>
          </a:p>
          <a:p>
            <a:pPr lvl="1"/>
            <a:r>
              <a:rPr lang="tr-TR" altLang="tr-TR"/>
              <a:t>İkinci düzey</a:t>
            </a:r>
          </a:p>
          <a:p>
            <a:pPr lvl="2"/>
            <a:r>
              <a:rPr lang="tr-TR" altLang="tr-TR"/>
              <a:t>Üçüncü düzey</a:t>
            </a:r>
          </a:p>
          <a:p>
            <a:pPr lvl="3"/>
            <a:r>
              <a:rPr lang="tr-TR" altLang="tr-TR"/>
              <a:t>Dördüncü düzey</a:t>
            </a:r>
          </a:p>
          <a:p>
            <a:pPr lvl="4"/>
            <a:r>
              <a:rPr lang="tr-TR" altLang="tr-TR"/>
              <a:t>Beşinci düzey</a:t>
            </a:r>
            <a:endParaRPr lang="en-US" altLang="tr-TR"/>
          </a:p>
        </p:txBody>
      </p:sp>
      <p:sp>
        <p:nvSpPr>
          <p:cNvPr id="4"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eaLnBrk="1" hangingPunct="1">
              <a:defRPr sz="900">
                <a:solidFill>
                  <a:srgbClr val="FFFFFF"/>
                </a:solidFill>
                <a:latin typeface="Arial" panose="020B0604020202020204" pitchFamily="34" charset="0"/>
              </a:defRPr>
            </a:lvl1pPr>
          </a:lstStyle>
          <a:p>
            <a:pPr>
              <a:defRPr/>
            </a:pPr>
            <a:fld id="{C0D84E49-8C41-294F-9016-CA45E907E555}" type="datetimeFigureOut">
              <a:rPr lang="en-US"/>
              <a:pPr>
                <a:defRPr/>
              </a:pPr>
              <a:t>11/28/2023</a:t>
            </a:fld>
            <a:endParaRPr lang="en-US"/>
          </a:p>
        </p:txBody>
      </p:sp>
      <p:sp>
        <p:nvSpPr>
          <p:cNvPr id="5"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eaLnBrk="1" hangingPunct="1">
              <a:defRPr sz="900" cap="all" baseline="0">
                <a:solidFill>
                  <a:srgbClr val="FFFFFF"/>
                </a:solidFill>
                <a:latin typeface="Arial" panose="020B0604020202020204" pitchFamily="34" charset="0"/>
              </a:defRPr>
            </a:lvl1pPr>
          </a:lstStyle>
          <a:p>
            <a:pPr>
              <a:defRPr/>
            </a:pPr>
            <a:endParaRPr lang="en-US"/>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lstStyle>
            <a:lvl1pPr algn="r" eaLnBrk="1" hangingPunct="1">
              <a:defRPr sz="1050">
                <a:solidFill>
                  <a:srgbClr val="FFFFFF"/>
                </a:solidFill>
                <a:latin typeface="Arial" panose="020B0604020202020204" pitchFamily="34" charset="0"/>
              </a:defRPr>
            </a:lvl1pPr>
          </a:lstStyle>
          <a:p>
            <a:pPr>
              <a:defRPr/>
            </a:pPr>
            <a:fld id="{AB37DAAA-FE5C-BA41-B222-F51EED30C7C8}" type="slidenum">
              <a:rPr lang="en-US"/>
              <a:pPr>
                <a:defRPr/>
              </a:pPr>
              <a:t>‹#›</a:t>
            </a:fld>
            <a:endParaRPr lang="en-US"/>
          </a:p>
        </p:txBody>
      </p:sp>
      <p:sp>
        <p:nvSpPr>
          <p:cNvPr id="1034" name="Rectangle 20"/>
          <p:cNvSpPr>
            <a:spLocks noChangeArrowheads="1"/>
          </p:cNvSpPr>
          <p:nvPr userDrawn="1"/>
        </p:nvSpPr>
        <p:spPr bwMode="auto">
          <a:xfrm>
            <a:off x="0" y="0"/>
            <a:ext cx="9144000" cy="914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000">
                <a:solidFill>
                  <a:schemeClr val="tx1"/>
                </a:solidFill>
                <a:latin typeface="Arial" panose="020B0604020202020204" pitchFamily="34" charset="0"/>
              </a:defRPr>
            </a:lvl1pPr>
            <a:lvl2pPr marL="742950" indent="-285750" algn="ctr">
              <a:defRPr sz="2000">
                <a:solidFill>
                  <a:schemeClr val="tx1"/>
                </a:solidFill>
                <a:latin typeface="Arial" panose="020B0604020202020204" pitchFamily="34" charset="0"/>
              </a:defRPr>
            </a:lvl2pPr>
            <a:lvl3pPr marL="1143000" indent="-228600" algn="ctr">
              <a:defRPr sz="2000">
                <a:solidFill>
                  <a:schemeClr val="tx1"/>
                </a:solidFill>
                <a:latin typeface="Arial" panose="020B0604020202020204" pitchFamily="34" charset="0"/>
              </a:defRPr>
            </a:lvl3pPr>
            <a:lvl4pPr marL="1600200" indent="-228600" algn="ctr">
              <a:defRPr sz="2000">
                <a:solidFill>
                  <a:schemeClr val="tx1"/>
                </a:solidFill>
                <a:latin typeface="Arial" panose="020B0604020202020204" pitchFamily="34" charset="0"/>
              </a:defRPr>
            </a:lvl4pPr>
            <a:lvl5pPr marL="2057400" indent="-228600" algn="ctr">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defRPr/>
            </a:pPr>
            <a:endParaRPr lang="tr-TR"/>
          </a:p>
        </p:txBody>
      </p:sp>
      <p:sp>
        <p:nvSpPr>
          <p:cNvPr id="1035" name="Rectangle 22"/>
          <p:cNvSpPr>
            <a:spLocks noChangeArrowheads="1"/>
          </p:cNvSpPr>
          <p:nvPr userDrawn="1"/>
        </p:nvSpPr>
        <p:spPr bwMode="auto">
          <a:xfrm>
            <a:off x="0" y="6477000"/>
            <a:ext cx="9144000" cy="381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000">
                <a:solidFill>
                  <a:schemeClr val="tx1"/>
                </a:solidFill>
                <a:latin typeface="Arial" panose="020B0604020202020204" pitchFamily="34" charset="0"/>
              </a:defRPr>
            </a:lvl1pPr>
            <a:lvl2pPr marL="742950" indent="-285750" algn="ctr">
              <a:defRPr sz="2000">
                <a:solidFill>
                  <a:schemeClr val="tx1"/>
                </a:solidFill>
                <a:latin typeface="Arial" panose="020B0604020202020204" pitchFamily="34" charset="0"/>
              </a:defRPr>
            </a:lvl2pPr>
            <a:lvl3pPr marL="1143000" indent="-228600" algn="ctr">
              <a:defRPr sz="2000">
                <a:solidFill>
                  <a:schemeClr val="tx1"/>
                </a:solidFill>
                <a:latin typeface="Arial" panose="020B0604020202020204" pitchFamily="34" charset="0"/>
              </a:defRPr>
            </a:lvl3pPr>
            <a:lvl4pPr marL="1600200" indent="-228600" algn="ctr">
              <a:defRPr sz="2000">
                <a:solidFill>
                  <a:schemeClr val="tx1"/>
                </a:solidFill>
                <a:latin typeface="Arial" panose="020B0604020202020204" pitchFamily="34" charset="0"/>
              </a:defRPr>
            </a:lvl4pPr>
            <a:lvl5pPr marL="2057400" indent="-228600" algn="ctr">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defRPr/>
            </a:pPr>
            <a:endParaRPr lang="tr-TR"/>
          </a:p>
        </p:txBody>
      </p:sp>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71" r:id="rId6"/>
    <p:sldLayoutId id="2147483789" r:id="rId7"/>
    <p:sldLayoutId id="2147483790" r:id="rId8"/>
    <p:sldLayoutId id="2147483791" r:id="rId9"/>
    <p:sldLayoutId id="2147483772" r:id="rId10"/>
    <p:sldLayoutId id="2147483792" r:id="rId11"/>
    <p:sldLayoutId id="2147483793" r:id="rId12"/>
    <p:sldLayoutId id="2147483794" r:id="rId13"/>
  </p:sldLayoutIdLst>
  <p:txStyles>
    <p:titleStyle>
      <a:lvl1pPr algn="l" rtl="0" eaLnBrk="1" fontAlgn="base" hangingPunct="1">
        <a:lnSpc>
          <a:spcPct val="85000"/>
        </a:lnSpc>
        <a:spcBef>
          <a:spcPct val="0"/>
        </a:spcBef>
        <a:spcAft>
          <a:spcPct val="0"/>
        </a:spcAft>
        <a:defRPr sz="4800" kern="1200" spc="-50">
          <a:solidFill>
            <a:srgbClr val="404040"/>
          </a:solidFill>
          <a:latin typeface="+mj-lt"/>
          <a:ea typeface="+mj-ea"/>
          <a:cs typeface="+mj-cs"/>
        </a:defRPr>
      </a:lvl1pPr>
      <a:lvl2pPr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2pPr>
      <a:lvl3pPr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3pPr>
      <a:lvl4pPr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4pPr>
      <a:lvl5pPr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5pPr>
      <a:lvl6pPr marL="457200"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6pPr>
      <a:lvl7pPr marL="914400"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7pPr>
      <a:lvl8pPr marL="1371600"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8pPr>
      <a:lvl9pPr marL="1828800"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Başlık Yer Tutucusu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tr-TR" altLang="tr-TR"/>
              <a:t>Asıl başlık stili için tıklatın</a:t>
            </a:r>
          </a:p>
        </p:txBody>
      </p:sp>
      <p:sp>
        <p:nvSpPr>
          <p:cNvPr id="2051" name="Metin Yer Tutucusu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tr-TR" altLang="tr-TR"/>
              <a:t>Asıl metin stillerini düzenlemek için tıklatın</a:t>
            </a:r>
          </a:p>
          <a:p>
            <a:pPr lvl="1"/>
            <a:r>
              <a:rPr lang="tr-TR" altLang="tr-TR"/>
              <a:t>İkinci düzey</a:t>
            </a:r>
          </a:p>
          <a:p>
            <a:pPr lvl="2"/>
            <a:r>
              <a:rPr lang="tr-TR" altLang="tr-TR"/>
              <a:t>Üçüncü düzey</a:t>
            </a:r>
          </a:p>
          <a:p>
            <a:pPr lvl="3"/>
            <a:r>
              <a:rPr lang="tr-TR" altLang="tr-TR"/>
              <a:t>Dördüncü düzey</a:t>
            </a:r>
          </a:p>
          <a:p>
            <a:pPr lvl="4"/>
            <a:r>
              <a:rPr lang="tr-TR" altLang="tr-TR"/>
              <a:t>Beşinci düzey</a:t>
            </a:r>
          </a:p>
        </p:txBody>
      </p:sp>
      <p:sp>
        <p:nvSpPr>
          <p:cNvPr id="4" name="Veri Yer Tutucusu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panose="020B0604020202020204" pitchFamily="34" charset="0"/>
              </a:defRPr>
            </a:lvl1pPr>
          </a:lstStyle>
          <a:p>
            <a:pPr>
              <a:defRPr/>
            </a:pPr>
            <a:fld id="{CCE477AD-368B-994F-9D1C-72FF8C8B2E93}" type="datetimeFigureOut">
              <a:rPr lang="tr-TR"/>
              <a:pPr>
                <a:defRPr/>
              </a:pPr>
              <a:t>28.11.2023</a:t>
            </a:fld>
            <a:endParaRPr lang="tr-TR"/>
          </a:p>
        </p:txBody>
      </p:sp>
      <p:sp>
        <p:nvSpPr>
          <p:cNvPr id="5" name="Altbilgi Yer Tutucusu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panose="020B0604020202020204" pitchFamily="34" charset="0"/>
              </a:defRPr>
            </a:lvl1pPr>
          </a:lstStyle>
          <a:p>
            <a:pPr>
              <a:defRPr/>
            </a:pPr>
            <a:endParaRPr lang="tr-TR"/>
          </a:p>
        </p:txBody>
      </p:sp>
      <p:sp>
        <p:nvSpPr>
          <p:cNvPr id="6" name="Slayt Numarası Yer Tutucusu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defRPr sz="1200">
                <a:solidFill>
                  <a:schemeClr val="tx1">
                    <a:tint val="75000"/>
                  </a:schemeClr>
                </a:solidFill>
                <a:latin typeface="Arial" panose="020B0604020202020204" pitchFamily="34" charset="0"/>
              </a:defRPr>
            </a:lvl1pPr>
          </a:lstStyle>
          <a:p>
            <a:pPr>
              <a:defRPr/>
            </a:pPr>
            <a:fld id="{B0A4EB63-E83C-A544-8B7D-9D410799D9D1}" type="slidenum">
              <a:rPr lang="tr-TR"/>
              <a:pPr>
                <a:defRPr/>
              </a:pPr>
              <a:t>‹#›</a:t>
            </a:fld>
            <a:endParaRPr lang="tr-TR"/>
          </a:p>
        </p:txBody>
      </p:sp>
    </p:spTree>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4" name="Rectangle 4"/>
          <p:cNvSpPr>
            <a:spLocks noGrp="1" noChangeArrowheads="1"/>
          </p:cNvSpPr>
          <p:nvPr>
            <p:ph type="ctrTitle"/>
          </p:nvPr>
        </p:nvSpPr>
        <p:spPr>
          <a:xfrm>
            <a:off x="685800" y="2708275"/>
            <a:ext cx="8458200" cy="1470025"/>
          </a:xfrm>
        </p:spPr>
        <p:txBody>
          <a:bodyPr anchor="ctr"/>
          <a:lstStyle/>
          <a:p>
            <a:pPr eaLnBrk="1" fontAlgn="auto" hangingPunct="1">
              <a:spcAft>
                <a:spcPts val="0"/>
              </a:spcAft>
              <a:defRPr/>
            </a:pPr>
            <a:r>
              <a:rPr lang="tr-TR" sz="3600" b="1" dirty="0" err="1">
                <a:solidFill>
                  <a:schemeClr val="tx1"/>
                </a:solidFill>
              </a:rPr>
              <a:t>Varyans</a:t>
            </a:r>
            <a:r>
              <a:rPr lang="tr-TR" sz="3600" b="1" dirty="0">
                <a:solidFill>
                  <a:schemeClr val="tx1"/>
                </a:solidFill>
              </a:rPr>
              <a:t> Analizi (ANOVA)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018" name="Rectangle 2"/>
          <p:cNvSpPr>
            <a:spLocks noGrp="1" noChangeArrowheads="1"/>
          </p:cNvSpPr>
          <p:nvPr>
            <p:ph type="title"/>
          </p:nvPr>
        </p:nvSpPr>
        <p:spPr>
          <a:xfrm>
            <a:off x="822325" y="188913"/>
            <a:ext cx="7543800" cy="792162"/>
          </a:xfrm>
        </p:spPr>
        <p:txBody>
          <a:bodyPr/>
          <a:lstStyle/>
          <a:p>
            <a:pPr eaLnBrk="1" fontAlgn="auto" hangingPunct="1">
              <a:spcAft>
                <a:spcPts val="0"/>
              </a:spcAft>
              <a:defRPr/>
            </a:pPr>
            <a:r>
              <a:rPr lang="tr-TR" dirty="0" err="1">
                <a:solidFill>
                  <a:schemeClr val="bg1"/>
                </a:solidFill>
              </a:rPr>
              <a:t>Varyans</a:t>
            </a:r>
            <a:r>
              <a:rPr lang="tr-TR" dirty="0">
                <a:solidFill>
                  <a:schemeClr val="bg1"/>
                </a:solidFill>
              </a:rPr>
              <a:t> Analizi (ANOVA)</a:t>
            </a:r>
            <a:endParaRPr lang="en-US" dirty="0">
              <a:solidFill>
                <a:schemeClr val="bg1"/>
              </a:solidFill>
            </a:endParaRPr>
          </a:p>
        </p:txBody>
      </p:sp>
      <p:sp>
        <p:nvSpPr>
          <p:cNvPr id="17411" name="Rectangle 3"/>
          <p:cNvSpPr>
            <a:spLocks noGrp="1" noChangeArrowheads="1"/>
          </p:cNvSpPr>
          <p:nvPr>
            <p:ph idx="1"/>
          </p:nvPr>
        </p:nvSpPr>
        <p:spPr>
          <a:xfrm>
            <a:off x="822325" y="1846263"/>
            <a:ext cx="7543800" cy="4319041"/>
          </a:xfrm>
        </p:spPr>
        <p:txBody>
          <a:bodyPr/>
          <a:lstStyle/>
          <a:p>
            <a:pPr eaLnBrk="1" hangingPunct="1"/>
            <a:r>
              <a:rPr lang="tr-TR" altLang="tr-TR" sz="2800" dirty="0"/>
              <a:t>Bağımsız değişkende 3 ve 3’ten fazla grup varsa ANOVA kullanılır. </a:t>
            </a:r>
          </a:p>
          <a:p>
            <a:pPr lvl="1" eaLnBrk="1" hangingPunct="1"/>
            <a:r>
              <a:rPr lang="en-US" sz="2200" dirty="0"/>
              <a:t>𝐻0: 𝜇1 = 𝜇2 = ⋯ = 𝜇𝑘 </a:t>
            </a:r>
            <a:br>
              <a:rPr lang="en-US" sz="2200" dirty="0"/>
            </a:br>
            <a:r>
              <a:rPr lang="en-US" sz="2200" dirty="0"/>
              <a:t>𝐻1: </a:t>
            </a:r>
            <a:r>
              <a:rPr lang="en-US" sz="2200" dirty="0" err="1"/>
              <a:t>en</a:t>
            </a:r>
            <a:r>
              <a:rPr lang="en-US" sz="2200" dirty="0"/>
              <a:t> </a:t>
            </a:r>
            <a:r>
              <a:rPr lang="en-US" sz="2200" dirty="0" err="1"/>
              <a:t>azından</a:t>
            </a:r>
            <a:r>
              <a:rPr lang="en-US" sz="2200" dirty="0"/>
              <a:t> </a:t>
            </a:r>
            <a:r>
              <a:rPr lang="en-US" sz="2200" dirty="0" err="1"/>
              <a:t>bir</a:t>
            </a:r>
            <a:r>
              <a:rPr lang="en-US" sz="2200" dirty="0"/>
              <a:t> </a:t>
            </a:r>
            <a:r>
              <a:rPr lang="en-US" sz="2200" dirty="0" err="1"/>
              <a:t>ortalama</a:t>
            </a:r>
            <a:r>
              <a:rPr lang="en-US" sz="2200" dirty="0"/>
              <a:t> </a:t>
            </a:r>
            <a:r>
              <a:rPr lang="en-US" sz="2200" dirty="0" err="1"/>
              <a:t>diğerlerinden</a:t>
            </a:r>
            <a:r>
              <a:rPr lang="en-US" sz="2200" dirty="0"/>
              <a:t> </a:t>
            </a:r>
            <a:r>
              <a:rPr lang="en-US" sz="2200" dirty="0" err="1"/>
              <a:t>farklıdır</a:t>
            </a:r>
            <a:endParaRPr lang="en-US" sz="2200" dirty="0"/>
          </a:p>
          <a:p>
            <a:pPr marL="200025" lvl="1" indent="0" eaLnBrk="1" hangingPunct="1">
              <a:buNone/>
            </a:pPr>
            <a:endParaRPr lang="en-US" sz="2200" dirty="0"/>
          </a:p>
          <a:p>
            <a:pPr>
              <a:buFont typeface="Wingdings" pitchFamily="2" charset="2"/>
              <a:buChar char="§"/>
            </a:pPr>
            <a:r>
              <a:rPr lang="en-US" dirty="0">
                <a:solidFill>
                  <a:schemeClr val="tx1"/>
                </a:solidFill>
              </a:rPr>
              <a:t>Tek </a:t>
            </a:r>
            <a:r>
              <a:rPr lang="en-US" dirty="0" err="1">
                <a:solidFill>
                  <a:schemeClr val="tx1"/>
                </a:solidFill>
              </a:rPr>
              <a:t>yönlü</a:t>
            </a:r>
            <a:r>
              <a:rPr lang="en-US" dirty="0">
                <a:solidFill>
                  <a:schemeClr val="tx1"/>
                </a:solidFill>
              </a:rPr>
              <a:t> </a:t>
            </a:r>
            <a:r>
              <a:rPr lang="en-US" dirty="0" err="1">
                <a:solidFill>
                  <a:schemeClr val="tx1"/>
                </a:solidFill>
              </a:rPr>
              <a:t>varyans</a:t>
            </a:r>
            <a:r>
              <a:rPr lang="en-US" dirty="0">
                <a:solidFill>
                  <a:schemeClr val="tx1"/>
                </a:solidFill>
              </a:rPr>
              <a:t> </a:t>
            </a:r>
            <a:r>
              <a:rPr lang="en-US" dirty="0" err="1">
                <a:solidFill>
                  <a:schemeClr val="tx1"/>
                </a:solidFill>
              </a:rPr>
              <a:t>analizi</a:t>
            </a:r>
            <a:r>
              <a:rPr lang="en-US" dirty="0">
                <a:solidFill>
                  <a:schemeClr val="tx1"/>
                </a:solidFill>
              </a:rPr>
              <a:t> (ANOVA) normal </a:t>
            </a:r>
            <a:r>
              <a:rPr lang="en-US" dirty="0" err="1">
                <a:solidFill>
                  <a:schemeClr val="tx1"/>
                </a:solidFill>
              </a:rPr>
              <a:t>dağılımlı</a:t>
            </a:r>
            <a:r>
              <a:rPr lang="en-US" dirty="0">
                <a:solidFill>
                  <a:schemeClr val="tx1"/>
                </a:solidFill>
              </a:rPr>
              <a:t> </a:t>
            </a:r>
            <a:r>
              <a:rPr lang="en-US" dirty="0" err="1">
                <a:solidFill>
                  <a:schemeClr val="tx1"/>
                </a:solidFill>
              </a:rPr>
              <a:t>bir</a:t>
            </a:r>
            <a:r>
              <a:rPr lang="en-US" dirty="0">
                <a:solidFill>
                  <a:schemeClr val="tx1"/>
                </a:solidFill>
              </a:rPr>
              <a:t> </a:t>
            </a:r>
            <a:r>
              <a:rPr lang="en-US" dirty="0" err="1">
                <a:solidFill>
                  <a:schemeClr val="tx1"/>
                </a:solidFill>
              </a:rPr>
              <a:t>veri</a:t>
            </a:r>
            <a:r>
              <a:rPr lang="en-US" dirty="0">
                <a:solidFill>
                  <a:schemeClr val="tx1"/>
                </a:solidFill>
              </a:rPr>
              <a:t> </a:t>
            </a:r>
            <a:r>
              <a:rPr lang="en-US" dirty="0" err="1">
                <a:solidFill>
                  <a:schemeClr val="tx1"/>
                </a:solidFill>
              </a:rPr>
              <a:t>setinde</a:t>
            </a:r>
            <a:r>
              <a:rPr lang="en-US" dirty="0">
                <a:solidFill>
                  <a:schemeClr val="tx1"/>
                </a:solidFill>
              </a:rPr>
              <a:t> </a:t>
            </a:r>
            <a:r>
              <a:rPr lang="en-US" dirty="0" err="1">
                <a:solidFill>
                  <a:schemeClr val="tx1"/>
                </a:solidFill>
              </a:rPr>
              <a:t>üç</a:t>
            </a:r>
            <a:r>
              <a:rPr lang="en-US" dirty="0">
                <a:solidFill>
                  <a:schemeClr val="tx1"/>
                </a:solidFill>
              </a:rPr>
              <a:t> </a:t>
            </a:r>
            <a:r>
              <a:rPr lang="en-US" dirty="0" err="1">
                <a:solidFill>
                  <a:schemeClr val="tx1"/>
                </a:solidFill>
              </a:rPr>
              <a:t>ve</a:t>
            </a:r>
            <a:r>
              <a:rPr lang="en-US" dirty="0">
                <a:solidFill>
                  <a:schemeClr val="tx1"/>
                </a:solidFill>
              </a:rPr>
              <a:t> </a:t>
            </a:r>
            <a:r>
              <a:rPr lang="en-US" dirty="0" err="1">
                <a:solidFill>
                  <a:schemeClr val="tx1"/>
                </a:solidFill>
              </a:rPr>
              <a:t>daha</a:t>
            </a:r>
            <a:r>
              <a:rPr lang="en-US" dirty="0">
                <a:solidFill>
                  <a:schemeClr val="tx1"/>
                </a:solidFill>
              </a:rPr>
              <a:t> </a:t>
            </a:r>
            <a:r>
              <a:rPr lang="en-US" dirty="0" err="1">
                <a:solidFill>
                  <a:schemeClr val="tx1"/>
                </a:solidFill>
              </a:rPr>
              <a:t>fazla</a:t>
            </a:r>
            <a:r>
              <a:rPr lang="en-US" dirty="0">
                <a:solidFill>
                  <a:schemeClr val="tx1"/>
                </a:solidFill>
              </a:rPr>
              <a:t> </a:t>
            </a:r>
            <a:r>
              <a:rPr lang="en-US" dirty="0" err="1">
                <a:solidFill>
                  <a:schemeClr val="tx1"/>
                </a:solidFill>
              </a:rPr>
              <a:t>bağımsız</a:t>
            </a:r>
            <a:r>
              <a:rPr lang="en-US" dirty="0">
                <a:solidFill>
                  <a:schemeClr val="tx1"/>
                </a:solidFill>
              </a:rPr>
              <a:t> </a:t>
            </a:r>
            <a:r>
              <a:rPr lang="en-US" dirty="0" err="1">
                <a:solidFill>
                  <a:schemeClr val="tx1"/>
                </a:solidFill>
              </a:rPr>
              <a:t>ortalama</a:t>
            </a:r>
            <a:r>
              <a:rPr lang="en-US" dirty="0">
                <a:solidFill>
                  <a:schemeClr val="tx1"/>
                </a:solidFill>
              </a:rPr>
              <a:t> </a:t>
            </a:r>
            <a:r>
              <a:rPr lang="en-US" dirty="0" err="1">
                <a:solidFill>
                  <a:schemeClr val="tx1"/>
                </a:solidFill>
              </a:rPr>
              <a:t>arasındaki</a:t>
            </a:r>
            <a:r>
              <a:rPr lang="en-US" dirty="0">
                <a:solidFill>
                  <a:schemeClr val="tx1"/>
                </a:solidFill>
              </a:rPr>
              <a:t> </a:t>
            </a:r>
            <a:r>
              <a:rPr lang="en-US" dirty="0" err="1">
                <a:solidFill>
                  <a:schemeClr val="tx1"/>
                </a:solidFill>
              </a:rPr>
              <a:t>farkın</a:t>
            </a:r>
            <a:r>
              <a:rPr lang="en-US" dirty="0">
                <a:solidFill>
                  <a:schemeClr val="tx1"/>
                </a:solidFill>
              </a:rPr>
              <a:t> </a:t>
            </a:r>
            <a:r>
              <a:rPr lang="en-US" dirty="0" err="1">
                <a:solidFill>
                  <a:schemeClr val="tx1"/>
                </a:solidFill>
              </a:rPr>
              <a:t>önemli</a:t>
            </a:r>
            <a:r>
              <a:rPr lang="en-US" dirty="0">
                <a:solidFill>
                  <a:schemeClr val="tx1"/>
                </a:solidFill>
              </a:rPr>
              <a:t> </a:t>
            </a:r>
            <a:r>
              <a:rPr lang="en-US" dirty="0" err="1">
                <a:solidFill>
                  <a:schemeClr val="tx1"/>
                </a:solidFill>
              </a:rPr>
              <a:t>olup</a:t>
            </a:r>
            <a:r>
              <a:rPr lang="en-US" dirty="0">
                <a:solidFill>
                  <a:schemeClr val="tx1"/>
                </a:solidFill>
              </a:rPr>
              <a:t> </a:t>
            </a:r>
            <a:r>
              <a:rPr lang="en-US" dirty="0" err="1">
                <a:solidFill>
                  <a:schemeClr val="tx1"/>
                </a:solidFill>
              </a:rPr>
              <a:t>olmadığının</a:t>
            </a:r>
            <a:r>
              <a:rPr lang="en-US" dirty="0">
                <a:solidFill>
                  <a:schemeClr val="tx1"/>
                </a:solidFill>
              </a:rPr>
              <a:t> </a:t>
            </a:r>
            <a:r>
              <a:rPr lang="en-US" dirty="0" err="1">
                <a:solidFill>
                  <a:schemeClr val="tx1"/>
                </a:solidFill>
              </a:rPr>
              <a:t>hesaplanmasında</a:t>
            </a:r>
            <a:r>
              <a:rPr lang="en-US" dirty="0">
                <a:solidFill>
                  <a:schemeClr val="tx1"/>
                </a:solidFill>
              </a:rPr>
              <a:t> </a:t>
            </a:r>
            <a:r>
              <a:rPr lang="en-US" dirty="0" err="1">
                <a:solidFill>
                  <a:schemeClr val="tx1"/>
                </a:solidFill>
              </a:rPr>
              <a:t>kullanılır</a:t>
            </a:r>
            <a:r>
              <a:rPr lang="en-US" dirty="0">
                <a:solidFill>
                  <a:schemeClr val="tx1"/>
                </a:solidFill>
              </a:rPr>
              <a:t>.</a:t>
            </a:r>
          </a:p>
          <a:p>
            <a:pPr>
              <a:buFont typeface="Wingdings" pitchFamily="2" charset="2"/>
              <a:buChar char="§"/>
            </a:pPr>
            <a:r>
              <a:rPr lang="tr-TR" altLang="tr-TR" dirty="0">
                <a:solidFill>
                  <a:schemeClr val="tx1"/>
                </a:solidFill>
              </a:rPr>
              <a:t>Uygulama(faktör): Çalışılan popülasyonları birbirinden ayırmaya yarayan bir karakteristik- bağımsız değişken ve ilgili değişkenin düzeyleri</a:t>
            </a:r>
            <a:endParaRPr lang="en-US" altLang="tr-TR"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394840" y="1340768"/>
            <a:ext cx="8281615" cy="4176464"/>
          </a:xfrm>
        </p:spPr>
        <p:txBody>
          <a:bodyPr/>
          <a:lstStyle/>
          <a:p>
            <a:pPr eaLnBrk="1" hangingPunct="1">
              <a:lnSpc>
                <a:spcPct val="80000"/>
              </a:lnSpc>
              <a:buFont typeface="Wingdings" pitchFamily="2" charset="2"/>
              <a:buChar char="§"/>
            </a:pPr>
            <a:r>
              <a:rPr lang="tr-TR" altLang="tr-TR" sz="2400" dirty="0"/>
              <a:t>ANOVA ise 3 ya da daha fazla ortalamanın eşit olup olmadığını test eder.</a:t>
            </a:r>
          </a:p>
          <a:p>
            <a:pPr eaLnBrk="1" hangingPunct="1">
              <a:lnSpc>
                <a:spcPct val="80000"/>
              </a:lnSpc>
              <a:buFont typeface="Wingdings" pitchFamily="2" charset="2"/>
              <a:buChar char="§"/>
            </a:pPr>
            <a:r>
              <a:rPr lang="tr-TR" altLang="tr-TR" sz="2400" dirty="0"/>
              <a:t>ANOVA testi F istatistiğini verir ancak bu test sonuç hakkında her şeyi söylemez. </a:t>
            </a:r>
          </a:p>
          <a:p>
            <a:pPr lvl="1">
              <a:lnSpc>
                <a:spcPct val="80000"/>
              </a:lnSpc>
              <a:buFont typeface="Wingdings" pitchFamily="2" charset="2"/>
              <a:buChar char="§"/>
            </a:pPr>
            <a:r>
              <a:rPr lang="tr-TR" altLang="tr-TR" sz="2200" b="1" i="1" dirty="0"/>
              <a:t>Deneysel uyarının veya bağımsız değişkenin </a:t>
            </a:r>
            <a:r>
              <a:rPr lang="tr-TR" altLang="tr-TR" sz="2200" dirty="0"/>
              <a:t>etkili olup olmadığını söyler (ör., üç grup ortalamasının eşit olmaması) ama hangi grupların etkilendiğini söylemez (üç ortalama da farklı olabilir, ilk ikisi eşit, üçüncüsü farklı olabilir, ilki farklı, ikinci ve üçüncüsü aynı olabilir vs. vs.)</a:t>
            </a:r>
          </a:p>
        </p:txBody>
      </p:sp>
      <p:sp>
        <p:nvSpPr>
          <p:cNvPr id="2" name="Rectangle 1">
            <a:extLst>
              <a:ext uri="{FF2B5EF4-FFF2-40B4-BE49-F238E27FC236}">
                <a16:creationId xmlns:a16="http://schemas.microsoft.com/office/drawing/2014/main" id="{707250B3-5724-4674-3FD7-87C894496563}"/>
              </a:ext>
            </a:extLst>
          </p:cNvPr>
          <p:cNvSpPr/>
          <p:nvPr/>
        </p:nvSpPr>
        <p:spPr>
          <a:xfrm>
            <a:off x="250825" y="260648"/>
            <a:ext cx="8425631" cy="683264"/>
          </a:xfrm>
          <a:prstGeom prst="rect">
            <a:avLst/>
          </a:prstGeom>
        </p:spPr>
        <p:txBody>
          <a:bodyPr wrap="square">
            <a:spAutoFit/>
          </a:bodyPr>
          <a:lstStyle/>
          <a:p>
            <a:pPr eaLnBrk="1" hangingPunct="1">
              <a:lnSpc>
                <a:spcPct val="80000"/>
              </a:lnSpc>
            </a:pPr>
            <a:r>
              <a:rPr lang="tr-TR" altLang="tr-TR" sz="2400" dirty="0"/>
              <a:t>t testi iki örneklemin ortalamalarının farksız olduğunu veya eşit olup olmadığı hipotezini test eder.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Rectangle 2"/>
          <p:cNvSpPr>
            <a:spLocks noGrp="1" noChangeArrowheads="1"/>
          </p:cNvSpPr>
          <p:nvPr>
            <p:ph type="title"/>
          </p:nvPr>
        </p:nvSpPr>
        <p:spPr>
          <a:xfrm>
            <a:off x="822325" y="287338"/>
            <a:ext cx="7543800" cy="693737"/>
          </a:xfrm>
        </p:spPr>
        <p:txBody>
          <a:bodyPr>
            <a:normAutofit fontScale="90000"/>
          </a:bodyPr>
          <a:lstStyle/>
          <a:p>
            <a:pPr eaLnBrk="1" fontAlgn="auto" hangingPunct="1">
              <a:spcAft>
                <a:spcPts val="0"/>
              </a:spcAft>
              <a:defRPr/>
            </a:pPr>
            <a:r>
              <a:rPr lang="tr-TR" dirty="0" err="1">
                <a:solidFill>
                  <a:schemeClr val="bg1"/>
                </a:solidFill>
              </a:rPr>
              <a:t>ANOVA’nın</a:t>
            </a:r>
            <a:r>
              <a:rPr lang="tr-TR" dirty="0">
                <a:solidFill>
                  <a:schemeClr val="bg1"/>
                </a:solidFill>
              </a:rPr>
              <a:t> t testinden farkı</a:t>
            </a:r>
            <a:endParaRPr lang="en-US" dirty="0">
              <a:solidFill>
                <a:schemeClr val="bg1"/>
              </a:solidFill>
            </a:endParaRPr>
          </a:p>
        </p:txBody>
      </p:sp>
      <p:sp>
        <p:nvSpPr>
          <p:cNvPr id="1111043" name="Rectangle 3"/>
          <p:cNvSpPr>
            <a:spLocks noGrp="1" noChangeArrowheads="1"/>
          </p:cNvSpPr>
          <p:nvPr>
            <p:ph idx="1"/>
          </p:nvPr>
        </p:nvSpPr>
        <p:spPr>
          <a:xfrm>
            <a:off x="457200" y="1125538"/>
            <a:ext cx="8229600" cy="4535710"/>
          </a:xfrm>
        </p:spPr>
        <p:txBody>
          <a:bodyPr>
            <a:normAutofit/>
          </a:bodyPr>
          <a:lstStyle/>
          <a:p>
            <a:pPr eaLnBrk="1" hangingPunct="1">
              <a:lnSpc>
                <a:spcPct val="70000"/>
              </a:lnSpc>
            </a:pPr>
            <a:r>
              <a:rPr lang="tr-TR" altLang="x-none" sz="2400" b="1" i="1" dirty="0"/>
              <a:t>Niye gruplar arasındaki bütün kombinasyonları test etmek için t testi yapmıyoruz da ANOVA yapıyoruz?</a:t>
            </a:r>
          </a:p>
          <a:p>
            <a:pPr eaLnBrk="1" hangingPunct="1">
              <a:lnSpc>
                <a:spcPct val="70000"/>
              </a:lnSpc>
            </a:pPr>
            <a:endParaRPr lang="tr-TR" altLang="x-none" sz="2400" b="1" i="1" dirty="0"/>
          </a:p>
          <a:p>
            <a:pPr eaLnBrk="1" hangingPunct="1">
              <a:lnSpc>
                <a:spcPct val="70000"/>
              </a:lnSpc>
              <a:buFont typeface="Wingdings" pitchFamily="2" charset="2"/>
              <a:buChar char="§"/>
            </a:pPr>
            <a:r>
              <a:rPr lang="tr-TR" altLang="x-none" sz="2200" dirty="0"/>
              <a:t>Örneğin, 3 grup olsun. t testini ikili karşılaştırmalar olarak </a:t>
            </a:r>
            <a:r>
              <a:rPr lang="tr-TR" altLang="x-none" sz="2200" dirty="0">
                <a:solidFill>
                  <a:srgbClr val="C00000"/>
                </a:solidFill>
              </a:rPr>
              <a:t>1-2, 1-3, 2-3 </a:t>
            </a:r>
            <a:r>
              <a:rPr lang="tr-TR" altLang="x-none" sz="2200" dirty="0"/>
              <a:t>grupları için ayrı ayrı yapmamız gerekli. </a:t>
            </a:r>
          </a:p>
          <a:p>
            <a:pPr>
              <a:lnSpc>
                <a:spcPct val="70000"/>
              </a:lnSpc>
              <a:buFont typeface="Wingdings" pitchFamily="2" charset="2"/>
              <a:buChar char="§"/>
            </a:pPr>
            <a:r>
              <a:rPr lang="tr-TR" altLang="x-none" sz="2200" dirty="0"/>
              <a:t>Her testin kendine özgü Tür 1 hata olasılığı var (⍺=0,05</a:t>
            </a:r>
          </a:p>
          <a:p>
            <a:pPr lvl="1">
              <a:lnSpc>
                <a:spcPct val="70000"/>
              </a:lnSpc>
              <a:buFont typeface="Wingdings" pitchFamily="2" charset="2"/>
              <a:buChar char="§"/>
            </a:pPr>
            <a:r>
              <a:rPr lang="tr-TR" altLang="x-none" sz="2000" dirty="0"/>
              <a:t>Yani her bir t testinde Tür 1 hatası </a:t>
            </a:r>
            <a:r>
              <a:rPr lang="tr-TR" altLang="x-none" sz="2000" b="1" dirty="0">
                <a:solidFill>
                  <a:schemeClr val="accent2"/>
                </a:solidFill>
              </a:rPr>
              <a:t>yapmama</a:t>
            </a:r>
            <a:r>
              <a:rPr lang="tr-TR" altLang="x-none" sz="2000" dirty="0">
                <a:solidFill>
                  <a:schemeClr val="accent2"/>
                </a:solidFill>
              </a:rPr>
              <a:t> </a:t>
            </a:r>
            <a:r>
              <a:rPr lang="tr-TR" altLang="x-none" sz="2000" dirty="0"/>
              <a:t>olasılığı (0,95).</a:t>
            </a:r>
          </a:p>
          <a:p>
            <a:pPr eaLnBrk="1" hangingPunct="1">
              <a:lnSpc>
                <a:spcPct val="70000"/>
              </a:lnSpc>
              <a:buFont typeface="Wingdings" pitchFamily="2" charset="2"/>
              <a:buChar char="§"/>
            </a:pPr>
            <a:r>
              <a:rPr lang="tr-TR" altLang="x-none" sz="2200" dirty="0"/>
              <a:t>Üç t testi olduğuna göre hata yapmama olasılığını üç kez kendisiyle çarpalım: 0,95 * 0,95 * 0,95 = 0,857</a:t>
            </a:r>
          </a:p>
          <a:p>
            <a:pPr lvl="1">
              <a:lnSpc>
                <a:spcPct val="70000"/>
              </a:lnSpc>
              <a:buFont typeface="Wingdings" pitchFamily="2" charset="2"/>
              <a:buChar char="§"/>
            </a:pPr>
            <a:r>
              <a:rPr lang="tr-TR" altLang="x-none" sz="2000" dirty="0"/>
              <a:t>1 - 0,857 = 0,143. Yani Tür 1 hatası yapma olasılığı 0,05’ten 0,143’e yükseldi.</a:t>
            </a:r>
          </a:p>
          <a:p>
            <a:pPr lvl="1">
              <a:lnSpc>
                <a:spcPct val="70000"/>
              </a:lnSpc>
              <a:buFont typeface="Wingdings" pitchFamily="2" charset="2"/>
              <a:buChar char="§"/>
            </a:pPr>
            <a:r>
              <a:rPr lang="tr-TR" altLang="x-none" sz="2000" dirty="0"/>
              <a:t>İstenmez bir durum…</a:t>
            </a:r>
          </a:p>
          <a:p>
            <a:pPr eaLnBrk="1" hangingPunct="1">
              <a:lnSpc>
                <a:spcPct val="70000"/>
              </a:lnSpc>
              <a:buFont typeface="Wingdings" pitchFamily="2" charset="2"/>
              <a:buChar char="§"/>
            </a:pPr>
            <a:r>
              <a:rPr lang="tr-TR" altLang="x-none" sz="2200" dirty="0"/>
              <a:t>Ya grup sayısı 3 yerine 5 olsaydı? O zaman 10 defa </a:t>
            </a:r>
            <a:r>
              <a:rPr lang="tr-TR" altLang="x-none" sz="2200" i="1" dirty="0"/>
              <a:t>t testi </a:t>
            </a:r>
            <a:r>
              <a:rPr lang="tr-TR" altLang="x-none" sz="2200" dirty="0"/>
              <a:t>yapmak gerekirdi ve hata oranı 0,40’a yükselirdi. </a:t>
            </a:r>
            <a:endParaRPr lang="en-US" altLang="x-none"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908720"/>
            <a:ext cx="7543800" cy="828005"/>
          </a:xfrm>
        </p:spPr>
        <p:txBody>
          <a:bodyPr/>
          <a:lstStyle/>
          <a:p>
            <a:r>
              <a:rPr lang="en-US" dirty="0" err="1"/>
              <a:t>Bir</a:t>
            </a:r>
            <a:r>
              <a:rPr lang="en-US" dirty="0"/>
              <a:t> </a:t>
            </a:r>
            <a:r>
              <a:rPr lang="en-US" dirty="0" err="1"/>
              <a:t>başka</a:t>
            </a:r>
            <a:r>
              <a:rPr lang="en-US" dirty="0"/>
              <a:t> </a:t>
            </a:r>
            <a:r>
              <a:rPr lang="en-US" dirty="0" err="1"/>
              <a:t>deyişle</a:t>
            </a:r>
            <a:endParaRPr lang="en-US" dirty="0"/>
          </a:p>
        </p:txBody>
      </p:sp>
      <p:sp>
        <p:nvSpPr>
          <p:cNvPr id="3" name="Content Placeholder 2"/>
          <p:cNvSpPr>
            <a:spLocks noGrp="1"/>
          </p:cNvSpPr>
          <p:nvPr>
            <p:ph idx="1"/>
          </p:nvPr>
        </p:nvSpPr>
        <p:spPr/>
        <p:txBody>
          <a:bodyPr/>
          <a:lstStyle/>
          <a:p>
            <a:r>
              <a:rPr lang="en-US" dirty="0">
                <a:solidFill>
                  <a:schemeClr val="tx1"/>
                </a:solidFill>
              </a:rPr>
              <a:t>Eğer </a:t>
            </a:r>
            <a:r>
              <a:rPr lang="en-US" dirty="0" err="1">
                <a:solidFill>
                  <a:schemeClr val="tx1"/>
                </a:solidFill>
              </a:rPr>
              <a:t>aynı</a:t>
            </a:r>
            <a:r>
              <a:rPr lang="en-US" dirty="0">
                <a:solidFill>
                  <a:schemeClr val="tx1"/>
                </a:solidFill>
              </a:rPr>
              <a:t> </a:t>
            </a:r>
            <a:r>
              <a:rPr lang="en-US" dirty="0" err="1">
                <a:solidFill>
                  <a:schemeClr val="tx1"/>
                </a:solidFill>
              </a:rPr>
              <a:t>koşullarda</a:t>
            </a:r>
            <a:r>
              <a:rPr lang="en-US" dirty="0">
                <a:solidFill>
                  <a:schemeClr val="tx1"/>
                </a:solidFill>
              </a:rPr>
              <a:t> </a:t>
            </a:r>
            <a:r>
              <a:rPr lang="en-US" dirty="0" err="1">
                <a:solidFill>
                  <a:schemeClr val="tx1"/>
                </a:solidFill>
              </a:rPr>
              <a:t>ve</a:t>
            </a:r>
            <a:r>
              <a:rPr lang="en-US" dirty="0">
                <a:solidFill>
                  <a:schemeClr val="tx1"/>
                </a:solidFill>
              </a:rPr>
              <a:t> </a:t>
            </a:r>
            <a:r>
              <a:rPr lang="en-US" dirty="0" err="1">
                <a:solidFill>
                  <a:schemeClr val="tx1"/>
                </a:solidFill>
              </a:rPr>
              <a:t>aynı</a:t>
            </a:r>
            <a:r>
              <a:rPr lang="en-US" dirty="0">
                <a:solidFill>
                  <a:schemeClr val="tx1"/>
                </a:solidFill>
              </a:rPr>
              <a:t> </a:t>
            </a:r>
            <a:r>
              <a:rPr lang="en-US" dirty="0" err="1">
                <a:solidFill>
                  <a:schemeClr val="tx1"/>
                </a:solidFill>
              </a:rPr>
              <a:t>örneklemde</a:t>
            </a:r>
            <a:r>
              <a:rPr lang="en-US" dirty="0">
                <a:solidFill>
                  <a:schemeClr val="tx1"/>
                </a:solidFill>
              </a:rPr>
              <a:t> </a:t>
            </a:r>
            <a:r>
              <a:rPr lang="en-US" dirty="0" err="1">
                <a:solidFill>
                  <a:schemeClr val="tx1"/>
                </a:solidFill>
              </a:rPr>
              <a:t>benzer</a:t>
            </a:r>
            <a:r>
              <a:rPr lang="en-US" dirty="0">
                <a:solidFill>
                  <a:schemeClr val="tx1"/>
                </a:solidFill>
              </a:rPr>
              <a:t> (</a:t>
            </a:r>
            <a:r>
              <a:rPr lang="en-US" dirty="0" err="1">
                <a:solidFill>
                  <a:schemeClr val="tx1"/>
                </a:solidFill>
              </a:rPr>
              <a:t>karşılaştırmaları</a:t>
            </a:r>
            <a:r>
              <a:rPr lang="en-US" dirty="0">
                <a:solidFill>
                  <a:schemeClr val="tx1"/>
                </a:solidFill>
              </a:rPr>
              <a:t>) </a:t>
            </a:r>
            <a:r>
              <a:rPr lang="en-US" dirty="0" err="1">
                <a:solidFill>
                  <a:schemeClr val="tx1"/>
                </a:solidFill>
              </a:rPr>
              <a:t>testleri</a:t>
            </a:r>
            <a:r>
              <a:rPr lang="en-US" dirty="0">
                <a:solidFill>
                  <a:schemeClr val="tx1"/>
                </a:solidFill>
              </a:rPr>
              <a:t> </a:t>
            </a:r>
            <a:r>
              <a:rPr lang="en-US" dirty="0" err="1">
                <a:solidFill>
                  <a:schemeClr val="tx1"/>
                </a:solidFill>
              </a:rPr>
              <a:t>defalarca</a:t>
            </a:r>
            <a:r>
              <a:rPr lang="en-US" dirty="0">
                <a:solidFill>
                  <a:schemeClr val="tx1"/>
                </a:solidFill>
              </a:rPr>
              <a:t> </a:t>
            </a:r>
            <a:r>
              <a:rPr lang="en-US" dirty="0" err="1">
                <a:solidFill>
                  <a:schemeClr val="tx1"/>
                </a:solidFill>
              </a:rPr>
              <a:t>yaparsanız</a:t>
            </a:r>
            <a:r>
              <a:rPr lang="en-US" dirty="0">
                <a:solidFill>
                  <a:schemeClr val="tx1"/>
                </a:solidFill>
              </a:rPr>
              <a:t> </a:t>
            </a:r>
            <a:r>
              <a:rPr lang="en-US" dirty="0" err="1">
                <a:solidFill>
                  <a:schemeClr val="tx1"/>
                </a:solidFill>
              </a:rPr>
              <a:t>en</a:t>
            </a:r>
            <a:r>
              <a:rPr lang="en-US" dirty="0">
                <a:solidFill>
                  <a:schemeClr val="tx1"/>
                </a:solidFill>
              </a:rPr>
              <a:t> </a:t>
            </a:r>
            <a:r>
              <a:rPr lang="en-US" dirty="0" err="1">
                <a:solidFill>
                  <a:schemeClr val="tx1"/>
                </a:solidFill>
              </a:rPr>
              <a:t>azından</a:t>
            </a:r>
            <a:r>
              <a:rPr lang="en-US" dirty="0">
                <a:solidFill>
                  <a:schemeClr val="tx1"/>
                </a:solidFill>
              </a:rPr>
              <a:t> </a:t>
            </a:r>
            <a:r>
              <a:rPr lang="en-US" dirty="0" err="1">
                <a:solidFill>
                  <a:schemeClr val="tx1"/>
                </a:solidFill>
              </a:rPr>
              <a:t>bir</a:t>
            </a:r>
            <a:r>
              <a:rPr lang="en-US" dirty="0">
                <a:solidFill>
                  <a:schemeClr val="tx1"/>
                </a:solidFill>
              </a:rPr>
              <a:t> </a:t>
            </a:r>
            <a:r>
              <a:rPr lang="en-US" dirty="0" err="1">
                <a:solidFill>
                  <a:schemeClr val="tx1"/>
                </a:solidFill>
              </a:rPr>
              <a:t>tane</a:t>
            </a:r>
            <a:r>
              <a:rPr lang="en-US" dirty="0">
                <a:solidFill>
                  <a:schemeClr val="tx1"/>
                </a:solidFill>
              </a:rPr>
              <a:t> </a:t>
            </a:r>
            <a:r>
              <a:rPr lang="en-US" dirty="0" err="1">
                <a:solidFill>
                  <a:schemeClr val="tx1"/>
                </a:solidFill>
              </a:rPr>
              <a:t>anlamlı</a:t>
            </a:r>
            <a:r>
              <a:rPr lang="en-US" dirty="0">
                <a:solidFill>
                  <a:schemeClr val="tx1"/>
                </a:solidFill>
              </a:rPr>
              <a:t> </a:t>
            </a:r>
            <a:r>
              <a:rPr lang="en-US" dirty="0" err="1">
                <a:solidFill>
                  <a:schemeClr val="tx1"/>
                </a:solidFill>
              </a:rPr>
              <a:t>fark</a:t>
            </a:r>
            <a:r>
              <a:rPr lang="en-US" dirty="0">
                <a:solidFill>
                  <a:schemeClr val="tx1"/>
                </a:solidFill>
              </a:rPr>
              <a:t> </a:t>
            </a:r>
            <a:r>
              <a:rPr lang="en-US" dirty="0" err="1">
                <a:solidFill>
                  <a:schemeClr val="tx1"/>
                </a:solidFill>
              </a:rPr>
              <a:t>bulabilirsiniz</a:t>
            </a:r>
            <a:r>
              <a:rPr lang="en-US" dirty="0">
                <a:solidFill>
                  <a:schemeClr val="tx1"/>
                </a:solidFill>
              </a:rPr>
              <a:t>.</a:t>
            </a:r>
          </a:p>
          <a:p>
            <a:r>
              <a:rPr lang="en-US" dirty="0" err="1">
                <a:solidFill>
                  <a:schemeClr val="tx1"/>
                </a:solidFill>
              </a:rPr>
              <a:t>Örneğin</a:t>
            </a:r>
            <a:r>
              <a:rPr lang="en-US" dirty="0">
                <a:solidFill>
                  <a:schemeClr val="tx1"/>
                </a:solidFill>
              </a:rPr>
              <a:t> 52’lik </a:t>
            </a:r>
            <a:r>
              <a:rPr lang="en-US" dirty="0" err="1">
                <a:solidFill>
                  <a:schemeClr val="tx1"/>
                </a:solidFill>
              </a:rPr>
              <a:t>bir</a:t>
            </a:r>
            <a:r>
              <a:rPr lang="en-US" dirty="0">
                <a:solidFill>
                  <a:schemeClr val="tx1"/>
                </a:solidFill>
              </a:rPr>
              <a:t> </a:t>
            </a:r>
            <a:r>
              <a:rPr lang="en-US" dirty="0" err="1">
                <a:solidFill>
                  <a:schemeClr val="tx1"/>
                </a:solidFill>
              </a:rPr>
              <a:t>deste</a:t>
            </a:r>
            <a:r>
              <a:rPr lang="en-US" dirty="0">
                <a:solidFill>
                  <a:schemeClr val="tx1"/>
                </a:solidFill>
              </a:rPr>
              <a:t> </a:t>
            </a:r>
            <a:r>
              <a:rPr lang="en-US" dirty="0" err="1">
                <a:solidFill>
                  <a:schemeClr val="tx1"/>
                </a:solidFill>
              </a:rPr>
              <a:t>oyun</a:t>
            </a:r>
            <a:r>
              <a:rPr lang="en-US" dirty="0">
                <a:solidFill>
                  <a:schemeClr val="tx1"/>
                </a:solidFill>
              </a:rPr>
              <a:t> </a:t>
            </a:r>
            <a:r>
              <a:rPr lang="en-US" dirty="0" err="1">
                <a:solidFill>
                  <a:schemeClr val="tx1"/>
                </a:solidFill>
              </a:rPr>
              <a:t>kağıdında</a:t>
            </a:r>
            <a:r>
              <a:rPr lang="en-US" dirty="0">
                <a:solidFill>
                  <a:schemeClr val="tx1"/>
                </a:solidFill>
              </a:rPr>
              <a:t> </a:t>
            </a:r>
            <a:r>
              <a:rPr lang="en-US" dirty="0" err="1">
                <a:solidFill>
                  <a:schemeClr val="tx1"/>
                </a:solidFill>
              </a:rPr>
              <a:t>sinek</a:t>
            </a:r>
            <a:r>
              <a:rPr lang="en-US" dirty="0">
                <a:solidFill>
                  <a:schemeClr val="tx1"/>
                </a:solidFill>
              </a:rPr>
              <a:t> </a:t>
            </a:r>
            <a:r>
              <a:rPr lang="en-US" dirty="0" err="1">
                <a:solidFill>
                  <a:schemeClr val="tx1"/>
                </a:solidFill>
              </a:rPr>
              <a:t>dokuzluyu</a:t>
            </a:r>
            <a:r>
              <a:rPr lang="en-US" dirty="0">
                <a:solidFill>
                  <a:schemeClr val="tx1"/>
                </a:solidFill>
              </a:rPr>
              <a:t> </a:t>
            </a:r>
            <a:r>
              <a:rPr lang="en-US" dirty="0" err="1">
                <a:solidFill>
                  <a:schemeClr val="tx1"/>
                </a:solidFill>
              </a:rPr>
              <a:t>bulma</a:t>
            </a:r>
            <a:r>
              <a:rPr lang="en-US" dirty="0">
                <a:solidFill>
                  <a:schemeClr val="tx1"/>
                </a:solidFill>
              </a:rPr>
              <a:t> </a:t>
            </a:r>
            <a:r>
              <a:rPr lang="en-US" dirty="0" err="1">
                <a:solidFill>
                  <a:schemeClr val="tx1"/>
                </a:solidFill>
              </a:rPr>
              <a:t>şansınız</a:t>
            </a:r>
            <a:r>
              <a:rPr lang="en-US" dirty="0">
                <a:solidFill>
                  <a:schemeClr val="tx1"/>
                </a:solidFill>
              </a:rPr>
              <a:t> ilk </a:t>
            </a:r>
            <a:r>
              <a:rPr lang="en-US" dirty="0" err="1">
                <a:solidFill>
                  <a:schemeClr val="tx1"/>
                </a:solidFill>
              </a:rPr>
              <a:t>çekişte</a:t>
            </a:r>
            <a:r>
              <a:rPr lang="en-US" dirty="0">
                <a:solidFill>
                  <a:schemeClr val="tx1"/>
                </a:solidFill>
              </a:rPr>
              <a:t> 1/52 </a:t>
            </a:r>
            <a:r>
              <a:rPr lang="en-US" dirty="0" err="1">
                <a:solidFill>
                  <a:schemeClr val="tx1"/>
                </a:solidFill>
              </a:rPr>
              <a:t>iken</a:t>
            </a:r>
            <a:r>
              <a:rPr lang="en-US" dirty="0">
                <a:solidFill>
                  <a:schemeClr val="tx1"/>
                </a:solidFill>
              </a:rPr>
              <a:t> 50 </a:t>
            </a:r>
            <a:r>
              <a:rPr lang="en-US" dirty="0" err="1">
                <a:solidFill>
                  <a:schemeClr val="tx1"/>
                </a:solidFill>
              </a:rPr>
              <a:t>defa</a:t>
            </a:r>
            <a:r>
              <a:rPr lang="en-US" dirty="0">
                <a:solidFill>
                  <a:schemeClr val="tx1"/>
                </a:solidFill>
              </a:rPr>
              <a:t> </a:t>
            </a:r>
            <a:r>
              <a:rPr lang="en-US" dirty="0" err="1">
                <a:solidFill>
                  <a:schemeClr val="tx1"/>
                </a:solidFill>
              </a:rPr>
              <a:t>çektiğinizde</a:t>
            </a:r>
            <a:r>
              <a:rPr lang="en-US" dirty="0">
                <a:solidFill>
                  <a:schemeClr val="tx1"/>
                </a:solidFill>
              </a:rPr>
              <a:t> </a:t>
            </a:r>
            <a:r>
              <a:rPr lang="en-US" dirty="0" err="1">
                <a:solidFill>
                  <a:schemeClr val="tx1"/>
                </a:solidFill>
              </a:rPr>
              <a:t>tabi</a:t>
            </a:r>
            <a:r>
              <a:rPr lang="en-US" dirty="0">
                <a:solidFill>
                  <a:schemeClr val="tx1"/>
                </a:solidFill>
              </a:rPr>
              <a:t> </a:t>
            </a:r>
            <a:r>
              <a:rPr lang="en-US" dirty="0" err="1">
                <a:solidFill>
                  <a:schemeClr val="tx1"/>
                </a:solidFill>
              </a:rPr>
              <a:t>ki</a:t>
            </a:r>
            <a:r>
              <a:rPr lang="en-US" dirty="0">
                <a:solidFill>
                  <a:schemeClr val="tx1"/>
                </a:solidFill>
              </a:rPr>
              <a:t> </a:t>
            </a:r>
            <a:r>
              <a:rPr lang="en-US" dirty="0" err="1">
                <a:solidFill>
                  <a:schemeClr val="tx1"/>
                </a:solidFill>
              </a:rPr>
              <a:t>bu</a:t>
            </a:r>
            <a:r>
              <a:rPr lang="en-US" dirty="0">
                <a:solidFill>
                  <a:schemeClr val="tx1"/>
                </a:solidFill>
              </a:rPr>
              <a:t> </a:t>
            </a:r>
            <a:r>
              <a:rPr lang="en-US" dirty="0" err="1">
                <a:solidFill>
                  <a:schemeClr val="tx1"/>
                </a:solidFill>
              </a:rPr>
              <a:t>kartı</a:t>
            </a:r>
            <a:r>
              <a:rPr lang="en-US" dirty="0">
                <a:solidFill>
                  <a:schemeClr val="tx1"/>
                </a:solidFill>
              </a:rPr>
              <a:t> </a:t>
            </a:r>
            <a:r>
              <a:rPr lang="en-US" dirty="0" err="1">
                <a:solidFill>
                  <a:schemeClr val="tx1"/>
                </a:solidFill>
              </a:rPr>
              <a:t>bulma</a:t>
            </a:r>
            <a:r>
              <a:rPr lang="en-US" dirty="0">
                <a:solidFill>
                  <a:schemeClr val="tx1"/>
                </a:solidFill>
              </a:rPr>
              <a:t> </a:t>
            </a:r>
            <a:r>
              <a:rPr lang="en-US" dirty="0" err="1">
                <a:solidFill>
                  <a:schemeClr val="tx1"/>
                </a:solidFill>
              </a:rPr>
              <a:t>ihtimalinizi</a:t>
            </a:r>
            <a:r>
              <a:rPr lang="en-US" dirty="0">
                <a:solidFill>
                  <a:schemeClr val="tx1"/>
                </a:solidFill>
              </a:rPr>
              <a:t> </a:t>
            </a:r>
            <a:r>
              <a:rPr lang="en-US" dirty="0" err="1">
                <a:solidFill>
                  <a:schemeClr val="tx1"/>
                </a:solidFill>
              </a:rPr>
              <a:t>arttırmış</a:t>
            </a:r>
            <a:r>
              <a:rPr lang="en-US" dirty="0">
                <a:solidFill>
                  <a:schemeClr val="tx1"/>
                </a:solidFill>
              </a:rPr>
              <a:t> </a:t>
            </a:r>
            <a:r>
              <a:rPr lang="en-US" dirty="0" err="1">
                <a:solidFill>
                  <a:schemeClr val="tx1"/>
                </a:solidFill>
              </a:rPr>
              <a:t>oluyorsunuz</a:t>
            </a:r>
            <a:r>
              <a:rPr lang="en-US" dirty="0">
                <a:solidFill>
                  <a:schemeClr val="tx1"/>
                </a:solidFill>
              </a:rPr>
              <a:t>. </a:t>
            </a:r>
          </a:p>
          <a:p>
            <a:r>
              <a:rPr lang="en-US" dirty="0" err="1">
                <a:solidFill>
                  <a:schemeClr val="tx1"/>
                </a:solidFill>
              </a:rPr>
              <a:t>Aynı</a:t>
            </a:r>
            <a:r>
              <a:rPr lang="en-US" dirty="0">
                <a:solidFill>
                  <a:schemeClr val="tx1"/>
                </a:solidFill>
              </a:rPr>
              <a:t> </a:t>
            </a:r>
            <a:r>
              <a:rPr lang="en-US" dirty="0" err="1">
                <a:solidFill>
                  <a:schemeClr val="tx1"/>
                </a:solidFill>
              </a:rPr>
              <a:t>şekilde</a:t>
            </a:r>
            <a:r>
              <a:rPr lang="en-US" dirty="0">
                <a:solidFill>
                  <a:schemeClr val="tx1"/>
                </a:solidFill>
              </a:rPr>
              <a:t> </a:t>
            </a:r>
            <a:r>
              <a:rPr lang="en-US" dirty="0" err="1">
                <a:solidFill>
                  <a:schemeClr val="tx1"/>
                </a:solidFill>
              </a:rPr>
              <a:t>bir</a:t>
            </a:r>
            <a:r>
              <a:rPr lang="en-US" dirty="0">
                <a:solidFill>
                  <a:schemeClr val="tx1"/>
                </a:solidFill>
              </a:rPr>
              <a:t> </a:t>
            </a:r>
            <a:r>
              <a:rPr lang="en-US" dirty="0" err="1">
                <a:solidFill>
                  <a:schemeClr val="tx1"/>
                </a:solidFill>
              </a:rPr>
              <a:t>testi</a:t>
            </a:r>
            <a:r>
              <a:rPr lang="en-US" dirty="0">
                <a:solidFill>
                  <a:schemeClr val="tx1"/>
                </a:solidFill>
              </a:rPr>
              <a:t> 50 </a:t>
            </a:r>
            <a:r>
              <a:rPr lang="en-US" dirty="0" err="1">
                <a:solidFill>
                  <a:schemeClr val="tx1"/>
                </a:solidFill>
              </a:rPr>
              <a:t>defa</a:t>
            </a:r>
            <a:r>
              <a:rPr lang="en-US" dirty="0">
                <a:solidFill>
                  <a:schemeClr val="tx1"/>
                </a:solidFill>
              </a:rPr>
              <a:t> </a:t>
            </a:r>
            <a:r>
              <a:rPr lang="en-US" dirty="0" err="1">
                <a:solidFill>
                  <a:schemeClr val="tx1"/>
                </a:solidFill>
              </a:rPr>
              <a:t>tekrarladığınızda</a:t>
            </a:r>
            <a:r>
              <a:rPr lang="en-US" dirty="0">
                <a:solidFill>
                  <a:schemeClr val="tx1"/>
                </a:solidFill>
              </a:rPr>
              <a:t> </a:t>
            </a:r>
            <a:r>
              <a:rPr lang="en-US" dirty="0" err="1">
                <a:solidFill>
                  <a:schemeClr val="tx1"/>
                </a:solidFill>
              </a:rPr>
              <a:t>en</a:t>
            </a:r>
            <a:r>
              <a:rPr lang="en-US" dirty="0">
                <a:solidFill>
                  <a:schemeClr val="tx1"/>
                </a:solidFill>
              </a:rPr>
              <a:t> </a:t>
            </a:r>
            <a:r>
              <a:rPr lang="en-US" dirty="0" err="1">
                <a:solidFill>
                  <a:schemeClr val="tx1"/>
                </a:solidFill>
              </a:rPr>
              <a:t>az</a:t>
            </a:r>
            <a:r>
              <a:rPr lang="en-US" dirty="0">
                <a:solidFill>
                  <a:schemeClr val="tx1"/>
                </a:solidFill>
              </a:rPr>
              <a:t> </a:t>
            </a:r>
            <a:r>
              <a:rPr lang="en-US" dirty="0" err="1">
                <a:solidFill>
                  <a:schemeClr val="tx1"/>
                </a:solidFill>
              </a:rPr>
              <a:t>birinde</a:t>
            </a:r>
            <a:r>
              <a:rPr lang="en-US" dirty="0">
                <a:solidFill>
                  <a:schemeClr val="tx1"/>
                </a:solidFill>
              </a:rPr>
              <a:t> </a:t>
            </a:r>
            <a:r>
              <a:rPr lang="en-US" dirty="0" err="1">
                <a:solidFill>
                  <a:schemeClr val="tx1"/>
                </a:solidFill>
              </a:rPr>
              <a:t>anlamlı</a:t>
            </a:r>
            <a:r>
              <a:rPr lang="en-US" dirty="0">
                <a:solidFill>
                  <a:schemeClr val="tx1"/>
                </a:solidFill>
              </a:rPr>
              <a:t> </a:t>
            </a:r>
            <a:r>
              <a:rPr lang="en-US" dirty="0" err="1">
                <a:solidFill>
                  <a:schemeClr val="tx1"/>
                </a:solidFill>
              </a:rPr>
              <a:t>bir</a:t>
            </a:r>
            <a:r>
              <a:rPr lang="en-US" dirty="0">
                <a:solidFill>
                  <a:schemeClr val="tx1"/>
                </a:solidFill>
              </a:rPr>
              <a:t> </a:t>
            </a:r>
            <a:r>
              <a:rPr lang="en-US" dirty="0" err="1">
                <a:solidFill>
                  <a:schemeClr val="tx1"/>
                </a:solidFill>
              </a:rPr>
              <a:t>sonuç</a:t>
            </a:r>
            <a:r>
              <a:rPr lang="en-US" dirty="0">
                <a:solidFill>
                  <a:schemeClr val="tx1"/>
                </a:solidFill>
              </a:rPr>
              <a:t> </a:t>
            </a:r>
            <a:r>
              <a:rPr lang="en-US" dirty="0" err="1">
                <a:solidFill>
                  <a:schemeClr val="tx1"/>
                </a:solidFill>
              </a:rPr>
              <a:t>bulma</a:t>
            </a:r>
            <a:r>
              <a:rPr lang="en-US" dirty="0">
                <a:solidFill>
                  <a:schemeClr val="tx1"/>
                </a:solidFill>
              </a:rPr>
              <a:t> </a:t>
            </a:r>
            <a:r>
              <a:rPr lang="en-US" dirty="0" err="1">
                <a:solidFill>
                  <a:schemeClr val="tx1"/>
                </a:solidFill>
              </a:rPr>
              <a:t>olasılığınız</a:t>
            </a:r>
            <a:endParaRPr lang="en-US" dirty="0">
              <a:solidFill>
                <a:schemeClr val="tx1"/>
              </a:solidFill>
            </a:endParaRPr>
          </a:p>
          <a:p>
            <a:r>
              <a:rPr lang="en-US" dirty="0">
                <a:solidFill>
                  <a:schemeClr val="tx1"/>
                </a:solidFill>
              </a:rPr>
              <a:t>P (</a:t>
            </a:r>
            <a:r>
              <a:rPr lang="en-US" dirty="0" err="1">
                <a:solidFill>
                  <a:schemeClr val="tx1"/>
                </a:solidFill>
              </a:rPr>
              <a:t>anlamlı</a:t>
            </a:r>
            <a:r>
              <a:rPr lang="en-US" dirty="0">
                <a:solidFill>
                  <a:schemeClr val="tx1"/>
                </a:solidFill>
              </a:rPr>
              <a:t> </a:t>
            </a:r>
            <a:r>
              <a:rPr lang="en-US" dirty="0" err="1">
                <a:solidFill>
                  <a:schemeClr val="tx1"/>
                </a:solidFill>
              </a:rPr>
              <a:t>farklılık</a:t>
            </a:r>
            <a:r>
              <a:rPr lang="en-US" dirty="0">
                <a:solidFill>
                  <a:schemeClr val="tx1"/>
                </a:solidFill>
              </a:rPr>
              <a:t>) = 1 – P(</a:t>
            </a:r>
            <a:r>
              <a:rPr lang="en-US" dirty="0" err="1">
                <a:solidFill>
                  <a:schemeClr val="tx1"/>
                </a:solidFill>
              </a:rPr>
              <a:t>anlamlı</a:t>
            </a:r>
            <a:r>
              <a:rPr lang="en-US" dirty="0">
                <a:solidFill>
                  <a:schemeClr val="tx1"/>
                </a:solidFill>
              </a:rPr>
              <a:t> </a:t>
            </a:r>
            <a:r>
              <a:rPr lang="en-US" dirty="0" err="1">
                <a:solidFill>
                  <a:schemeClr val="tx1"/>
                </a:solidFill>
              </a:rPr>
              <a:t>farklılık</a:t>
            </a:r>
            <a:r>
              <a:rPr lang="en-US" dirty="0">
                <a:solidFill>
                  <a:schemeClr val="tx1"/>
                </a:solidFill>
              </a:rPr>
              <a:t> </a:t>
            </a:r>
            <a:r>
              <a:rPr lang="en-US" dirty="0" err="1">
                <a:solidFill>
                  <a:schemeClr val="tx1"/>
                </a:solidFill>
              </a:rPr>
              <a:t>görülmeme</a:t>
            </a:r>
            <a:r>
              <a:rPr lang="en-US" dirty="0">
                <a:solidFill>
                  <a:schemeClr val="tx1"/>
                </a:solidFill>
              </a:rPr>
              <a:t>)</a:t>
            </a:r>
            <a:br>
              <a:rPr lang="en-US" dirty="0">
                <a:solidFill>
                  <a:schemeClr val="tx1"/>
                </a:solidFill>
              </a:rPr>
            </a:br>
            <a:r>
              <a:rPr lang="en-US" dirty="0">
                <a:solidFill>
                  <a:schemeClr val="tx1"/>
                </a:solidFill>
              </a:rPr>
              <a:t>= 1 – (1-0.05)</a:t>
            </a:r>
            <a:r>
              <a:rPr lang="en-US" baseline="30000" dirty="0">
                <a:solidFill>
                  <a:schemeClr val="tx1"/>
                </a:solidFill>
              </a:rPr>
              <a:t>50</a:t>
            </a:r>
            <a:r>
              <a:rPr lang="en-US" dirty="0">
                <a:solidFill>
                  <a:schemeClr val="tx1"/>
                </a:solidFill>
              </a:rPr>
              <a:t> = 0.92.</a:t>
            </a:r>
          </a:p>
          <a:p>
            <a:r>
              <a:rPr lang="en-US" dirty="0" err="1">
                <a:solidFill>
                  <a:schemeClr val="tx1"/>
                </a:solidFill>
              </a:rPr>
              <a:t>En</a:t>
            </a:r>
            <a:r>
              <a:rPr lang="en-US" dirty="0">
                <a:solidFill>
                  <a:schemeClr val="tx1"/>
                </a:solidFill>
              </a:rPr>
              <a:t> </a:t>
            </a:r>
            <a:r>
              <a:rPr lang="en-US" dirty="0" err="1">
                <a:solidFill>
                  <a:schemeClr val="tx1"/>
                </a:solidFill>
              </a:rPr>
              <a:t>az</a:t>
            </a:r>
            <a:r>
              <a:rPr lang="en-US" dirty="0">
                <a:solidFill>
                  <a:schemeClr val="tx1"/>
                </a:solidFill>
              </a:rPr>
              <a:t> </a:t>
            </a:r>
            <a:r>
              <a:rPr lang="en-US" dirty="0" err="1">
                <a:solidFill>
                  <a:schemeClr val="tx1"/>
                </a:solidFill>
              </a:rPr>
              <a:t>bir</a:t>
            </a:r>
            <a:r>
              <a:rPr lang="en-US" dirty="0">
                <a:solidFill>
                  <a:schemeClr val="tx1"/>
                </a:solidFill>
              </a:rPr>
              <a:t> </a:t>
            </a:r>
            <a:r>
              <a:rPr lang="en-US" dirty="0" err="1">
                <a:solidFill>
                  <a:schemeClr val="tx1"/>
                </a:solidFill>
              </a:rPr>
              <a:t>tane</a:t>
            </a:r>
            <a:r>
              <a:rPr lang="en-US" dirty="0">
                <a:solidFill>
                  <a:schemeClr val="tx1"/>
                </a:solidFill>
              </a:rPr>
              <a:t> </a:t>
            </a:r>
            <a:r>
              <a:rPr lang="en-US" dirty="0" err="1">
                <a:solidFill>
                  <a:schemeClr val="tx1"/>
                </a:solidFill>
              </a:rPr>
              <a:t>anlamlı</a:t>
            </a:r>
            <a:r>
              <a:rPr lang="en-US" dirty="0">
                <a:solidFill>
                  <a:schemeClr val="tx1"/>
                </a:solidFill>
              </a:rPr>
              <a:t> </a:t>
            </a:r>
            <a:r>
              <a:rPr lang="en-US" dirty="0" err="1">
                <a:solidFill>
                  <a:schemeClr val="tx1"/>
                </a:solidFill>
              </a:rPr>
              <a:t>farklılık</a:t>
            </a:r>
            <a:r>
              <a:rPr lang="en-US" dirty="0">
                <a:solidFill>
                  <a:schemeClr val="tx1"/>
                </a:solidFill>
              </a:rPr>
              <a:t> </a:t>
            </a:r>
            <a:r>
              <a:rPr lang="en-US" dirty="0" err="1">
                <a:solidFill>
                  <a:schemeClr val="tx1"/>
                </a:solidFill>
              </a:rPr>
              <a:t>bulacağınız</a:t>
            </a:r>
            <a:r>
              <a:rPr lang="en-US" dirty="0">
                <a:solidFill>
                  <a:schemeClr val="tx1"/>
                </a:solidFill>
              </a:rPr>
              <a:t> </a:t>
            </a:r>
            <a:r>
              <a:rPr lang="en-US" dirty="0" err="1">
                <a:solidFill>
                  <a:schemeClr val="tx1"/>
                </a:solidFill>
              </a:rPr>
              <a:t>neredeyse</a:t>
            </a:r>
            <a:r>
              <a:rPr lang="en-US" dirty="0">
                <a:solidFill>
                  <a:schemeClr val="tx1"/>
                </a:solidFill>
              </a:rPr>
              <a:t> </a:t>
            </a:r>
            <a:r>
              <a:rPr lang="en-US" dirty="0" err="1">
                <a:solidFill>
                  <a:schemeClr val="tx1"/>
                </a:solidFill>
              </a:rPr>
              <a:t>kesin</a:t>
            </a:r>
            <a:r>
              <a:rPr lang="en-US" dirty="0">
                <a:solidFill>
                  <a:schemeClr val="tx1"/>
                </a:solidFill>
              </a:rPr>
              <a:t> (%92 </a:t>
            </a:r>
            <a:r>
              <a:rPr lang="en-US" dirty="0" err="1">
                <a:solidFill>
                  <a:schemeClr val="tx1"/>
                </a:solidFill>
              </a:rPr>
              <a:t>ihtimal</a:t>
            </a:r>
            <a:r>
              <a:rPr lang="en-US" dirty="0">
                <a:solidFill>
                  <a:schemeClr val="tx1"/>
                </a:solidFill>
              </a:rPr>
              <a:t>)</a:t>
            </a:r>
          </a:p>
          <a:p>
            <a:endParaRPr lang="en-US" dirty="0">
              <a:solidFill>
                <a:schemeClr val="tx1"/>
              </a:solidFill>
            </a:endParaRPr>
          </a:p>
        </p:txBody>
      </p:sp>
    </p:spTree>
    <p:extLst>
      <p:ext uri="{BB962C8B-B14F-4D97-AF65-F5344CB8AC3E}">
        <p14:creationId xmlns:p14="http://schemas.microsoft.com/office/powerpoint/2010/main" val="261803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Sayıltılar</a:t>
            </a:r>
          </a:p>
        </p:txBody>
      </p:sp>
      <p:sp>
        <p:nvSpPr>
          <p:cNvPr id="3" name="Content Placeholder 2"/>
          <p:cNvSpPr>
            <a:spLocks noGrp="1"/>
          </p:cNvSpPr>
          <p:nvPr>
            <p:ph idx="1"/>
          </p:nvPr>
        </p:nvSpPr>
        <p:spPr>
          <a:xfrm>
            <a:off x="323528" y="1846263"/>
            <a:ext cx="8042597" cy="4247033"/>
          </a:xfrm>
        </p:spPr>
        <p:txBody>
          <a:bodyPr/>
          <a:lstStyle/>
          <a:p>
            <a:pPr marL="457200" indent="-457200">
              <a:buFont typeface="+mj-lt"/>
              <a:buAutoNum type="arabicPeriod"/>
            </a:pPr>
            <a:r>
              <a:rPr lang="en-US" sz="2400" dirty="0" err="1">
                <a:solidFill>
                  <a:schemeClr val="tx1"/>
                </a:solidFill>
              </a:rPr>
              <a:t>Grup</a:t>
            </a:r>
            <a:r>
              <a:rPr lang="en-US" sz="2400" dirty="0">
                <a:solidFill>
                  <a:schemeClr val="tx1"/>
                </a:solidFill>
              </a:rPr>
              <a:t> </a:t>
            </a:r>
            <a:r>
              <a:rPr lang="en-US" sz="2400" dirty="0" err="1">
                <a:solidFill>
                  <a:schemeClr val="tx1"/>
                </a:solidFill>
              </a:rPr>
              <a:t>içi</a:t>
            </a:r>
            <a:r>
              <a:rPr lang="en-US" sz="2400" dirty="0">
                <a:solidFill>
                  <a:schemeClr val="tx1"/>
                </a:solidFill>
              </a:rPr>
              <a:t> </a:t>
            </a:r>
            <a:r>
              <a:rPr lang="en-US" sz="2400" dirty="0" err="1">
                <a:solidFill>
                  <a:schemeClr val="tx1"/>
                </a:solidFill>
              </a:rPr>
              <a:t>dağılımların</a:t>
            </a:r>
            <a:r>
              <a:rPr lang="en-US" sz="2400" dirty="0">
                <a:solidFill>
                  <a:schemeClr val="tx1"/>
                </a:solidFill>
              </a:rPr>
              <a:t> normal </a:t>
            </a:r>
            <a:r>
              <a:rPr lang="en-US" sz="2400" dirty="0" err="1">
                <a:solidFill>
                  <a:schemeClr val="tx1"/>
                </a:solidFill>
              </a:rPr>
              <a:t>olması</a:t>
            </a:r>
            <a:r>
              <a:rPr lang="en-US" sz="2400" dirty="0">
                <a:solidFill>
                  <a:schemeClr val="tx1"/>
                </a:solidFill>
              </a:rPr>
              <a:t> (within group normality) </a:t>
            </a:r>
          </a:p>
          <a:p>
            <a:pPr lvl="1">
              <a:lnSpc>
                <a:spcPct val="80000"/>
              </a:lnSpc>
            </a:pPr>
            <a:r>
              <a:rPr lang="en-US" sz="2000" dirty="0" err="1">
                <a:solidFill>
                  <a:schemeClr val="tx1"/>
                </a:solidFill>
              </a:rPr>
              <a:t>Dağılım</a:t>
            </a:r>
            <a:r>
              <a:rPr lang="en-US" sz="2000" dirty="0">
                <a:solidFill>
                  <a:schemeClr val="tx1"/>
                </a:solidFill>
              </a:rPr>
              <a:t> </a:t>
            </a:r>
            <a:r>
              <a:rPr lang="en-US" sz="2000" dirty="0" err="1">
                <a:solidFill>
                  <a:schemeClr val="tx1"/>
                </a:solidFill>
              </a:rPr>
              <a:t>normalden</a:t>
            </a:r>
            <a:r>
              <a:rPr lang="en-US" sz="2000" dirty="0">
                <a:solidFill>
                  <a:schemeClr val="tx1"/>
                </a:solidFill>
              </a:rPr>
              <a:t> </a:t>
            </a:r>
            <a:r>
              <a:rPr lang="en-US" sz="2000" dirty="0" err="1">
                <a:solidFill>
                  <a:schemeClr val="tx1"/>
                </a:solidFill>
              </a:rPr>
              <a:t>çok</a:t>
            </a:r>
            <a:r>
              <a:rPr lang="en-US" sz="2000" dirty="0">
                <a:solidFill>
                  <a:schemeClr val="tx1"/>
                </a:solidFill>
              </a:rPr>
              <a:t> </a:t>
            </a:r>
            <a:r>
              <a:rPr lang="en-US" sz="2000" dirty="0" err="1">
                <a:solidFill>
                  <a:schemeClr val="tx1"/>
                </a:solidFill>
              </a:rPr>
              <a:t>uzak</a:t>
            </a:r>
            <a:r>
              <a:rPr lang="en-US" sz="2000" dirty="0">
                <a:solidFill>
                  <a:schemeClr val="tx1"/>
                </a:solidFill>
              </a:rPr>
              <a:t> </a:t>
            </a:r>
            <a:r>
              <a:rPr lang="en-US" sz="2000" dirty="0" err="1">
                <a:solidFill>
                  <a:schemeClr val="tx1"/>
                </a:solidFill>
              </a:rPr>
              <a:t>olduğunda</a:t>
            </a:r>
            <a:r>
              <a:rPr lang="en-US" sz="2000" dirty="0">
                <a:solidFill>
                  <a:schemeClr val="tx1"/>
                </a:solidFill>
              </a:rPr>
              <a:t> </a:t>
            </a:r>
            <a:r>
              <a:rPr lang="en-US" sz="2000" dirty="0" err="1">
                <a:solidFill>
                  <a:schemeClr val="tx1"/>
                </a:solidFill>
              </a:rPr>
              <a:t>kritik</a:t>
            </a:r>
            <a:r>
              <a:rPr lang="en-US" sz="2000" dirty="0">
                <a:solidFill>
                  <a:schemeClr val="tx1"/>
                </a:solidFill>
              </a:rPr>
              <a:t> </a:t>
            </a:r>
          </a:p>
          <a:p>
            <a:pPr lvl="1">
              <a:lnSpc>
                <a:spcPct val="80000"/>
              </a:lnSpc>
            </a:pPr>
            <a:r>
              <a:rPr lang="en-US" sz="2000" dirty="0">
                <a:solidFill>
                  <a:schemeClr val="tx1"/>
                </a:solidFill>
              </a:rPr>
              <a:t>Eğer her </a:t>
            </a:r>
            <a:r>
              <a:rPr lang="en-US" sz="2000" dirty="0" err="1">
                <a:solidFill>
                  <a:schemeClr val="tx1"/>
                </a:solidFill>
              </a:rPr>
              <a:t>bir</a:t>
            </a:r>
            <a:r>
              <a:rPr lang="en-US" sz="2000" dirty="0">
                <a:solidFill>
                  <a:schemeClr val="tx1"/>
                </a:solidFill>
              </a:rPr>
              <a:t> </a:t>
            </a:r>
            <a:r>
              <a:rPr lang="en-US" sz="2000" dirty="0" err="1">
                <a:solidFill>
                  <a:schemeClr val="tx1"/>
                </a:solidFill>
              </a:rPr>
              <a:t>gruptaki</a:t>
            </a:r>
            <a:r>
              <a:rPr lang="en-US" sz="2000" dirty="0">
                <a:solidFill>
                  <a:schemeClr val="tx1"/>
                </a:solidFill>
              </a:rPr>
              <a:t> </a:t>
            </a:r>
            <a:r>
              <a:rPr lang="en-US" sz="2000" dirty="0" err="1">
                <a:solidFill>
                  <a:schemeClr val="tx1"/>
                </a:solidFill>
              </a:rPr>
              <a:t>örneklem</a:t>
            </a:r>
            <a:r>
              <a:rPr lang="en-US" sz="2000" dirty="0">
                <a:solidFill>
                  <a:schemeClr val="tx1"/>
                </a:solidFill>
              </a:rPr>
              <a:t> </a:t>
            </a:r>
            <a:r>
              <a:rPr lang="en-US" sz="2000" dirty="0" err="1">
                <a:solidFill>
                  <a:schemeClr val="tx1"/>
                </a:solidFill>
              </a:rPr>
              <a:t>büyüklüğü</a:t>
            </a:r>
            <a:r>
              <a:rPr lang="en-US" sz="2000" dirty="0">
                <a:solidFill>
                  <a:schemeClr val="tx1"/>
                </a:solidFill>
              </a:rPr>
              <a:t> </a:t>
            </a:r>
            <a:r>
              <a:rPr lang="en-US" sz="2000" dirty="0" err="1">
                <a:solidFill>
                  <a:schemeClr val="tx1"/>
                </a:solidFill>
              </a:rPr>
              <a:t>yeterli</a:t>
            </a:r>
            <a:r>
              <a:rPr lang="en-US" sz="2000" dirty="0">
                <a:solidFill>
                  <a:schemeClr val="tx1"/>
                </a:solidFill>
              </a:rPr>
              <a:t> </a:t>
            </a:r>
            <a:r>
              <a:rPr lang="en-US" sz="2000" dirty="0" err="1">
                <a:solidFill>
                  <a:schemeClr val="tx1"/>
                </a:solidFill>
              </a:rPr>
              <a:t>ise</a:t>
            </a:r>
            <a:r>
              <a:rPr lang="en-US" sz="2000" dirty="0">
                <a:solidFill>
                  <a:schemeClr val="tx1"/>
                </a:solidFill>
              </a:rPr>
              <a:t> (&gt; 30) </a:t>
            </a:r>
            <a:r>
              <a:rPr lang="en-US" sz="2000" dirty="0" err="1">
                <a:solidFill>
                  <a:schemeClr val="tx1"/>
                </a:solidFill>
              </a:rPr>
              <a:t>bu</a:t>
            </a:r>
            <a:r>
              <a:rPr lang="en-US" sz="2000" dirty="0">
                <a:solidFill>
                  <a:schemeClr val="tx1"/>
                </a:solidFill>
              </a:rPr>
              <a:t> </a:t>
            </a:r>
            <a:r>
              <a:rPr lang="en-US" sz="2000" dirty="0" err="1">
                <a:solidFill>
                  <a:schemeClr val="tx1"/>
                </a:solidFill>
              </a:rPr>
              <a:t>sayıltıya</a:t>
            </a:r>
            <a:r>
              <a:rPr lang="en-US" sz="2000" dirty="0">
                <a:solidFill>
                  <a:schemeClr val="tx1"/>
                </a:solidFill>
              </a:rPr>
              <a:t> </a:t>
            </a:r>
            <a:r>
              <a:rPr lang="en-US" sz="2000" dirty="0" err="1">
                <a:solidFill>
                  <a:schemeClr val="tx1"/>
                </a:solidFill>
              </a:rPr>
              <a:t>karşı</a:t>
            </a:r>
            <a:r>
              <a:rPr lang="en-US" sz="2000" dirty="0">
                <a:solidFill>
                  <a:schemeClr val="tx1"/>
                </a:solidFill>
              </a:rPr>
              <a:t> ANOVA </a:t>
            </a:r>
            <a:r>
              <a:rPr lang="en-US" sz="2000" dirty="0" err="1">
                <a:solidFill>
                  <a:schemeClr val="tx1"/>
                </a:solidFill>
              </a:rPr>
              <a:t>hala</a:t>
            </a:r>
            <a:r>
              <a:rPr lang="en-US" sz="2000" dirty="0">
                <a:solidFill>
                  <a:schemeClr val="tx1"/>
                </a:solidFill>
              </a:rPr>
              <a:t> </a:t>
            </a:r>
            <a:r>
              <a:rPr lang="en-US" sz="2000" dirty="0" err="1">
                <a:solidFill>
                  <a:schemeClr val="tx1"/>
                </a:solidFill>
              </a:rPr>
              <a:t>geçerli</a:t>
            </a:r>
            <a:r>
              <a:rPr lang="en-US" sz="2000" dirty="0">
                <a:solidFill>
                  <a:schemeClr val="tx1"/>
                </a:solidFill>
              </a:rPr>
              <a:t>/</a:t>
            </a:r>
            <a:r>
              <a:rPr lang="en-US" sz="2000" dirty="0" err="1">
                <a:solidFill>
                  <a:schemeClr val="tx1"/>
                </a:solidFill>
              </a:rPr>
              <a:t>güçlü</a:t>
            </a:r>
            <a:r>
              <a:rPr lang="en-US" sz="2000" dirty="0">
                <a:solidFill>
                  <a:schemeClr val="tx1"/>
                </a:solidFill>
              </a:rPr>
              <a:t> </a:t>
            </a:r>
            <a:r>
              <a:rPr lang="en-US" sz="2000" dirty="0" err="1">
                <a:solidFill>
                  <a:schemeClr val="tx1"/>
                </a:solidFill>
              </a:rPr>
              <a:t>bir</a:t>
            </a:r>
            <a:r>
              <a:rPr lang="en-US" sz="2000" dirty="0">
                <a:solidFill>
                  <a:schemeClr val="tx1"/>
                </a:solidFill>
              </a:rPr>
              <a:t> </a:t>
            </a:r>
            <a:r>
              <a:rPr lang="en-US" sz="2000" dirty="0" err="1">
                <a:solidFill>
                  <a:schemeClr val="tx1"/>
                </a:solidFill>
              </a:rPr>
              <a:t>analiz</a:t>
            </a:r>
            <a:endParaRPr lang="en-US" sz="2000" dirty="0">
              <a:solidFill>
                <a:schemeClr val="tx1"/>
              </a:solidFill>
              <a:effectLst/>
            </a:endParaRPr>
          </a:p>
          <a:p>
            <a:pPr marL="457200" indent="-457200">
              <a:lnSpc>
                <a:spcPct val="80000"/>
              </a:lnSpc>
              <a:buFont typeface="+mj-lt"/>
              <a:buAutoNum type="arabicPeriod"/>
            </a:pPr>
            <a:r>
              <a:rPr lang="en-US" sz="2400" dirty="0" err="1">
                <a:solidFill>
                  <a:schemeClr val="tx1"/>
                </a:solidFill>
              </a:rPr>
              <a:t>Popülasyonların</a:t>
            </a:r>
            <a:r>
              <a:rPr lang="en-US" sz="2400" dirty="0">
                <a:solidFill>
                  <a:schemeClr val="tx1"/>
                </a:solidFill>
              </a:rPr>
              <a:t> varyansı </a:t>
            </a:r>
            <a:r>
              <a:rPr lang="en-US" sz="2400" dirty="0" err="1">
                <a:solidFill>
                  <a:schemeClr val="tx1"/>
                </a:solidFill>
              </a:rPr>
              <a:t>homojen</a:t>
            </a:r>
            <a:r>
              <a:rPr lang="en-US" sz="2400" dirty="0">
                <a:solidFill>
                  <a:schemeClr val="tx1"/>
                </a:solidFill>
              </a:rPr>
              <a:t> 𝜎2 </a:t>
            </a:r>
          </a:p>
          <a:p>
            <a:pPr lvl="1">
              <a:lnSpc>
                <a:spcPct val="80000"/>
              </a:lnSpc>
            </a:pPr>
            <a:r>
              <a:rPr lang="en-US" sz="2000" dirty="0">
                <a:solidFill>
                  <a:schemeClr val="tx1"/>
                </a:solidFill>
              </a:rPr>
              <a:t>ANOVA </a:t>
            </a:r>
            <a:r>
              <a:rPr lang="en-US" sz="2000" dirty="0" err="1">
                <a:solidFill>
                  <a:schemeClr val="tx1"/>
                </a:solidFill>
              </a:rPr>
              <a:t>bu</a:t>
            </a:r>
            <a:r>
              <a:rPr lang="en-US" sz="2000" dirty="0">
                <a:solidFill>
                  <a:schemeClr val="tx1"/>
                </a:solidFill>
              </a:rPr>
              <a:t> </a:t>
            </a:r>
            <a:r>
              <a:rPr lang="en-US" sz="2000" dirty="0" err="1">
                <a:solidFill>
                  <a:schemeClr val="tx1"/>
                </a:solidFill>
              </a:rPr>
              <a:t>varsayımların</a:t>
            </a:r>
            <a:r>
              <a:rPr lang="en-US" sz="2000" dirty="0">
                <a:solidFill>
                  <a:schemeClr val="tx1"/>
                </a:solidFill>
              </a:rPr>
              <a:t> </a:t>
            </a:r>
            <a:r>
              <a:rPr lang="en-US" sz="2000" dirty="0" err="1">
                <a:solidFill>
                  <a:schemeClr val="tx1"/>
                </a:solidFill>
              </a:rPr>
              <a:t>ihlaline</a:t>
            </a:r>
            <a:r>
              <a:rPr lang="en-US" sz="2000" dirty="0">
                <a:solidFill>
                  <a:schemeClr val="tx1"/>
                </a:solidFill>
              </a:rPr>
              <a:t> </a:t>
            </a:r>
            <a:r>
              <a:rPr lang="en-US" sz="2000" dirty="0" err="1">
                <a:solidFill>
                  <a:schemeClr val="tx1"/>
                </a:solidFill>
              </a:rPr>
              <a:t>dirençli</a:t>
            </a:r>
            <a:r>
              <a:rPr lang="en-US" sz="2000" dirty="0">
                <a:solidFill>
                  <a:schemeClr val="tx1"/>
                </a:solidFill>
              </a:rPr>
              <a:t> </a:t>
            </a:r>
            <a:r>
              <a:rPr lang="en-US" sz="2000" dirty="0" err="1">
                <a:solidFill>
                  <a:schemeClr val="tx1"/>
                </a:solidFill>
              </a:rPr>
              <a:t>bir</a:t>
            </a:r>
            <a:r>
              <a:rPr lang="en-US" sz="2000" dirty="0">
                <a:solidFill>
                  <a:schemeClr val="tx1"/>
                </a:solidFill>
              </a:rPr>
              <a:t> </a:t>
            </a:r>
            <a:r>
              <a:rPr lang="en-US" sz="2000" dirty="0" err="1">
                <a:solidFill>
                  <a:schemeClr val="tx1"/>
                </a:solidFill>
              </a:rPr>
              <a:t>yöntemdir</a:t>
            </a:r>
            <a:r>
              <a:rPr lang="en-US" sz="2000" dirty="0">
                <a:solidFill>
                  <a:schemeClr val="tx1"/>
                </a:solidFill>
              </a:rPr>
              <a:t>. </a:t>
            </a:r>
            <a:r>
              <a:rPr lang="en-US" sz="2000" dirty="0" err="1">
                <a:solidFill>
                  <a:schemeClr val="tx1"/>
                </a:solidFill>
              </a:rPr>
              <a:t>Özellikle</a:t>
            </a:r>
            <a:r>
              <a:rPr lang="en-US" sz="2000" dirty="0">
                <a:solidFill>
                  <a:schemeClr val="tx1"/>
                </a:solidFill>
              </a:rPr>
              <a:t> </a:t>
            </a:r>
            <a:r>
              <a:rPr lang="en-US" sz="2000" dirty="0" err="1">
                <a:solidFill>
                  <a:schemeClr val="tx1"/>
                </a:solidFill>
              </a:rPr>
              <a:t>grup</a:t>
            </a:r>
            <a:r>
              <a:rPr lang="en-US" sz="2000" dirty="0">
                <a:solidFill>
                  <a:schemeClr val="tx1"/>
                </a:solidFill>
              </a:rPr>
              <a:t> </a:t>
            </a:r>
            <a:r>
              <a:rPr lang="en-US" sz="2000" dirty="0" err="1">
                <a:solidFill>
                  <a:schemeClr val="tx1"/>
                </a:solidFill>
              </a:rPr>
              <a:t>büyüklükleri</a:t>
            </a:r>
            <a:r>
              <a:rPr lang="en-US" sz="2000" dirty="0">
                <a:solidFill>
                  <a:schemeClr val="tx1"/>
                </a:solidFill>
              </a:rPr>
              <a:t> </a:t>
            </a:r>
            <a:r>
              <a:rPr lang="en-US" sz="2000" dirty="0" err="1">
                <a:solidFill>
                  <a:schemeClr val="tx1"/>
                </a:solidFill>
              </a:rPr>
              <a:t>eşit</a:t>
            </a:r>
            <a:r>
              <a:rPr lang="en-US" sz="2000" dirty="0">
                <a:solidFill>
                  <a:schemeClr val="tx1"/>
                </a:solidFill>
              </a:rPr>
              <a:t> (n1=n2=n3) </a:t>
            </a:r>
            <a:r>
              <a:rPr lang="en-US" sz="2000" dirty="0" err="1">
                <a:solidFill>
                  <a:schemeClr val="tx1"/>
                </a:solidFill>
              </a:rPr>
              <a:t>olduğunda</a:t>
            </a:r>
            <a:r>
              <a:rPr lang="en-US" sz="2000" dirty="0">
                <a:solidFill>
                  <a:schemeClr val="tx1"/>
                </a:solidFill>
              </a:rPr>
              <a:t> ANOVA </a:t>
            </a:r>
            <a:r>
              <a:rPr lang="en-US" sz="2000" dirty="0" err="1">
                <a:solidFill>
                  <a:schemeClr val="tx1"/>
                </a:solidFill>
              </a:rPr>
              <a:t>normallik</a:t>
            </a:r>
            <a:r>
              <a:rPr lang="en-US" sz="2000" dirty="0">
                <a:solidFill>
                  <a:schemeClr val="tx1"/>
                </a:solidFill>
              </a:rPr>
              <a:t> </a:t>
            </a:r>
            <a:r>
              <a:rPr lang="en-US" sz="2000" dirty="0" err="1">
                <a:solidFill>
                  <a:schemeClr val="tx1"/>
                </a:solidFill>
              </a:rPr>
              <a:t>ve</a:t>
            </a:r>
            <a:r>
              <a:rPr lang="en-US" sz="2000" dirty="0">
                <a:solidFill>
                  <a:schemeClr val="tx1"/>
                </a:solidFill>
              </a:rPr>
              <a:t> </a:t>
            </a:r>
            <a:r>
              <a:rPr lang="en-US" sz="2000" dirty="0" err="1">
                <a:solidFill>
                  <a:schemeClr val="tx1"/>
                </a:solidFill>
              </a:rPr>
              <a:t>grup</a:t>
            </a:r>
            <a:r>
              <a:rPr lang="en-US" sz="2000" dirty="0">
                <a:solidFill>
                  <a:schemeClr val="tx1"/>
                </a:solidFill>
              </a:rPr>
              <a:t> varyans </a:t>
            </a:r>
            <a:r>
              <a:rPr lang="en-US" sz="2000" dirty="0" err="1">
                <a:solidFill>
                  <a:schemeClr val="tx1"/>
                </a:solidFill>
              </a:rPr>
              <a:t>homojenliği</a:t>
            </a:r>
            <a:r>
              <a:rPr lang="en-US" sz="2000" dirty="0">
                <a:solidFill>
                  <a:schemeClr val="tx1"/>
                </a:solidFill>
              </a:rPr>
              <a:t> </a:t>
            </a:r>
            <a:r>
              <a:rPr lang="en-US" sz="2000" dirty="0" err="1">
                <a:solidFill>
                  <a:schemeClr val="tx1"/>
                </a:solidFill>
              </a:rPr>
              <a:t>varsayımı</a:t>
            </a:r>
            <a:r>
              <a:rPr lang="en-US" sz="2000" dirty="0">
                <a:solidFill>
                  <a:schemeClr val="tx1"/>
                </a:solidFill>
              </a:rPr>
              <a:t> </a:t>
            </a:r>
            <a:r>
              <a:rPr lang="en-US" sz="2000" dirty="0" err="1">
                <a:solidFill>
                  <a:schemeClr val="tx1"/>
                </a:solidFill>
              </a:rPr>
              <a:t>ihlallerine</a:t>
            </a:r>
            <a:r>
              <a:rPr lang="en-US" sz="2000" dirty="0">
                <a:solidFill>
                  <a:schemeClr val="tx1"/>
                </a:solidFill>
              </a:rPr>
              <a:t> </a:t>
            </a:r>
            <a:r>
              <a:rPr lang="en-US" sz="2000" dirty="0" err="1">
                <a:solidFill>
                  <a:schemeClr val="tx1"/>
                </a:solidFill>
              </a:rPr>
              <a:t>dirençlidir</a:t>
            </a:r>
            <a:r>
              <a:rPr lang="en-US" sz="2000" dirty="0">
                <a:solidFill>
                  <a:schemeClr val="tx1"/>
                </a:solidFill>
              </a:rPr>
              <a:t>. </a:t>
            </a:r>
          </a:p>
          <a:p>
            <a:pPr marL="457200" indent="-457200">
              <a:lnSpc>
                <a:spcPct val="80000"/>
              </a:lnSpc>
              <a:buFont typeface="+mj-lt"/>
              <a:buAutoNum type="arabicPeriod"/>
            </a:pPr>
            <a:r>
              <a:rPr lang="en-US" sz="2400" dirty="0" err="1">
                <a:solidFill>
                  <a:schemeClr val="tx1"/>
                </a:solidFill>
              </a:rPr>
              <a:t>Bağımlı</a:t>
            </a:r>
            <a:r>
              <a:rPr lang="en-US" sz="2400" dirty="0">
                <a:solidFill>
                  <a:schemeClr val="tx1"/>
                </a:solidFill>
              </a:rPr>
              <a:t> </a:t>
            </a:r>
            <a:r>
              <a:rPr lang="en-US" sz="2400" dirty="0" err="1">
                <a:solidFill>
                  <a:schemeClr val="tx1"/>
                </a:solidFill>
              </a:rPr>
              <a:t>değişkenin</a:t>
            </a:r>
            <a:r>
              <a:rPr lang="en-US" sz="2400" dirty="0">
                <a:solidFill>
                  <a:schemeClr val="tx1"/>
                </a:solidFill>
              </a:rPr>
              <a:t> </a:t>
            </a:r>
            <a:r>
              <a:rPr lang="en-US" sz="2400" dirty="0" err="1">
                <a:solidFill>
                  <a:schemeClr val="tx1"/>
                </a:solidFill>
              </a:rPr>
              <a:t>en</a:t>
            </a:r>
            <a:r>
              <a:rPr lang="en-US" sz="2400" dirty="0">
                <a:solidFill>
                  <a:schemeClr val="tx1"/>
                </a:solidFill>
              </a:rPr>
              <a:t> </a:t>
            </a:r>
            <a:r>
              <a:rPr lang="en-US" sz="2400" dirty="0" err="1">
                <a:solidFill>
                  <a:schemeClr val="tx1"/>
                </a:solidFill>
              </a:rPr>
              <a:t>az</a:t>
            </a:r>
            <a:r>
              <a:rPr lang="en-US" sz="2400" dirty="0">
                <a:solidFill>
                  <a:schemeClr val="tx1"/>
                </a:solidFill>
              </a:rPr>
              <a:t> </a:t>
            </a:r>
            <a:r>
              <a:rPr lang="en-US" sz="2400" dirty="0" err="1">
                <a:solidFill>
                  <a:schemeClr val="tx1"/>
                </a:solidFill>
              </a:rPr>
              <a:t>eşit</a:t>
            </a:r>
            <a:r>
              <a:rPr lang="en-US" sz="2400" dirty="0">
                <a:solidFill>
                  <a:schemeClr val="tx1"/>
                </a:solidFill>
              </a:rPr>
              <a:t> </a:t>
            </a:r>
            <a:r>
              <a:rPr lang="en-US" sz="2400" dirty="0" err="1">
                <a:solidFill>
                  <a:schemeClr val="tx1"/>
                </a:solidFill>
              </a:rPr>
              <a:t>aralıklı</a:t>
            </a:r>
            <a:r>
              <a:rPr lang="en-US" sz="2400" dirty="0">
                <a:solidFill>
                  <a:schemeClr val="tx1"/>
                </a:solidFill>
              </a:rPr>
              <a:t> </a:t>
            </a:r>
            <a:r>
              <a:rPr lang="en-US" sz="2400" dirty="0" err="1">
                <a:solidFill>
                  <a:schemeClr val="tx1"/>
                </a:solidFill>
              </a:rPr>
              <a:t>ölçek</a:t>
            </a:r>
            <a:r>
              <a:rPr lang="en-US" sz="2400" dirty="0">
                <a:solidFill>
                  <a:schemeClr val="tx1"/>
                </a:solidFill>
              </a:rPr>
              <a:t> </a:t>
            </a:r>
            <a:r>
              <a:rPr lang="en-US" sz="2400" dirty="0" err="1">
                <a:solidFill>
                  <a:schemeClr val="tx1"/>
                </a:solidFill>
              </a:rPr>
              <a:t>olması</a:t>
            </a:r>
            <a:r>
              <a:rPr lang="en-US" sz="2400" dirty="0">
                <a:solidFill>
                  <a:schemeClr val="tx1"/>
                </a:solidFill>
              </a:rPr>
              <a:t> </a:t>
            </a:r>
          </a:p>
          <a:p>
            <a:pPr marL="457200" indent="-457200">
              <a:lnSpc>
                <a:spcPct val="80000"/>
              </a:lnSpc>
              <a:buFont typeface="+mj-lt"/>
              <a:buAutoNum type="arabicPeriod"/>
            </a:pPr>
            <a:r>
              <a:rPr lang="en-US" sz="2400" dirty="0" err="1">
                <a:solidFill>
                  <a:schemeClr val="tx1"/>
                </a:solidFill>
              </a:rPr>
              <a:t>Gözlemler</a:t>
            </a:r>
            <a:r>
              <a:rPr lang="en-US" sz="2400" dirty="0">
                <a:solidFill>
                  <a:schemeClr val="tx1"/>
                </a:solidFill>
              </a:rPr>
              <a:t> </a:t>
            </a:r>
            <a:r>
              <a:rPr lang="en-US" sz="2400" dirty="0" err="1">
                <a:solidFill>
                  <a:schemeClr val="tx1"/>
                </a:solidFill>
              </a:rPr>
              <a:t>rassal</a:t>
            </a:r>
            <a:r>
              <a:rPr lang="en-US" sz="2400" dirty="0">
                <a:solidFill>
                  <a:schemeClr val="tx1"/>
                </a:solidFill>
              </a:rPr>
              <a:t> </a:t>
            </a:r>
            <a:r>
              <a:rPr lang="en-US" sz="2400" dirty="0" err="1">
                <a:solidFill>
                  <a:schemeClr val="tx1"/>
                </a:solidFill>
              </a:rPr>
              <a:t>olarak</a:t>
            </a:r>
            <a:r>
              <a:rPr lang="en-US" sz="2400" dirty="0">
                <a:solidFill>
                  <a:schemeClr val="tx1"/>
                </a:solidFill>
              </a:rPr>
              <a:t> </a:t>
            </a:r>
            <a:r>
              <a:rPr lang="en-US" sz="2400" dirty="0" err="1">
                <a:solidFill>
                  <a:schemeClr val="tx1"/>
                </a:solidFill>
              </a:rPr>
              <a:t>seçilmeli</a:t>
            </a:r>
            <a:r>
              <a:rPr lang="en-US" sz="2400" dirty="0">
                <a:solidFill>
                  <a:schemeClr val="tx1"/>
                </a:solidFill>
              </a:rPr>
              <a:t> </a:t>
            </a:r>
            <a:r>
              <a:rPr lang="en-US" sz="2400" dirty="0" err="1">
                <a:solidFill>
                  <a:schemeClr val="tx1"/>
                </a:solidFill>
              </a:rPr>
              <a:t>ve</a:t>
            </a:r>
            <a:r>
              <a:rPr lang="en-US" sz="2400" dirty="0">
                <a:solidFill>
                  <a:schemeClr val="tx1"/>
                </a:solidFill>
              </a:rPr>
              <a:t> </a:t>
            </a:r>
            <a:r>
              <a:rPr lang="en-US" sz="2400" dirty="0" err="1">
                <a:solidFill>
                  <a:schemeClr val="tx1"/>
                </a:solidFill>
              </a:rPr>
              <a:t>birbirlerinden</a:t>
            </a:r>
            <a:r>
              <a:rPr lang="en-US" sz="2400" dirty="0">
                <a:solidFill>
                  <a:schemeClr val="tx1"/>
                </a:solidFill>
              </a:rPr>
              <a:t> </a:t>
            </a:r>
            <a:r>
              <a:rPr lang="en-US" sz="2400" dirty="0" err="1">
                <a:solidFill>
                  <a:schemeClr val="tx1"/>
                </a:solidFill>
              </a:rPr>
              <a:t>bağımsız</a:t>
            </a:r>
            <a:r>
              <a:rPr lang="en-US" sz="2400" dirty="0">
                <a:solidFill>
                  <a:schemeClr val="tx1"/>
                </a:solidFill>
              </a:rPr>
              <a:t> </a:t>
            </a:r>
            <a:r>
              <a:rPr lang="en-US" sz="2400" dirty="0" err="1">
                <a:solidFill>
                  <a:schemeClr val="tx1"/>
                </a:solidFill>
              </a:rPr>
              <a:t>olmalı</a:t>
            </a:r>
            <a:endParaRPr lang="en-US" sz="1800" dirty="0">
              <a:solidFill>
                <a:schemeClr val="tx1"/>
              </a:solidFill>
            </a:endParaRPr>
          </a:p>
        </p:txBody>
      </p:sp>
    </p:spTree>
    <p:extLst>
      <p:ext uri="{BB962C8B-B14F-4D97-AF65-F5344CB8AC3E}">
        <p14:creationId xmlns:p14="http://schemas.microsoft.com/office/powerpoint/2010/main" val="1699319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886700" cy="615602"/>
          </a:xfrm>
        </p:spPr>
        <p:txBody>
          <a:bodyPr>
            <a:normAutofit fontScale="90000"/>
          </a:bodyPr>
          <a:lstStyle/>
          <a:p>
            <a:r>
              <a:rPr lang="en-US" b="1" dirty="0">
                <a:solidFill>
                  <a:schemeClr val="bg1"/>
                </a:solidFill>
              </a:rPr>
              <a:t>Test </a:t>
            </a:r>
            <a:r>
              <a:rPr lang="en-US" b="1" dirty="0" err="1">
                <a:solidFill>
                  <a:schemeClr val="bg1"/>
                </a:solidFill>
              </a:rPr>
              <a:t>İstatistiği</a:t>
            </a:r>
            <a:endParaRPr lang="en-US" b="1" dirty="0">
              <a:solidFill>
                <a:schemeClr val="bg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45840" y="1772816"/>
                <a:ext cx="8568952" cy="4320480"/>
              </a:xfrm>
            </p:spPr>
            <p:txBody>
              <a:bodyPr>
                <a:noAutofit/>
              </a:bodyPr>
              <a:lstStyle/>
              <a:p>
                <a:pPr marL="0" indent="0">
                  <a:buNone/>
                </a:pPr>
                <a:r>
                  <a:rPr lang="en-US" sz="3200" dirty="0">
                    <a:solidFill>
                      <a:schemeClr val="tx1"/>
                    </a:solidFill>
                  </a:rPr>
                  <a:t>𝐹 = </a:t>
                </a:r>
                <a14:m>
                  <m:oMath xmlns:m="http://schemas.openxmlformats.org/officeDocument/2006/math">
                    <m:f>
                      <m:fPr>
                        <m:ctrlPr>
                          <a:rPr lang="mr-IN" sz="2000" i="1" smtClean="0">
                            <a:solidFill>
                              <a:schemeClr val="tx1"/>
                            </a:solidFill>
                            <a:latin typeface="Cambria Math" panose="02040503050406030204" pitchFamily="18" charset="0"/>
                          </a:rPr>
                        </m:ctrlPr>
                      </m:fPr>
                      <m:num>
                        <m:r>
                          <m:rPr>
                            <m:nor/>
                          </m:rPr>
                          <a:rPr lang="en-US" sz="2000" dirty="0" smtClean="0">
                            <a:solidFill>
                              <a:schemeClr val="tx1"/>
                            </a:solidFill>
                          </a:rPr>
                          <m:t>𝑀𝑆</m:t>
                        </m:r>
                        <m:r>
                          <m:rPr>
                            <m:nor/>
                          </m:rPr>
                          <a:rPr lang="tr-TR" sz="2000" b="0" i="0" dirty="0" smtClean="0">
                            <a:solidFill>
                              <a:schemeClr val="tx1"/>
                            </a:solidFill>
                          </a:rPr>
                          <m:t> </m:t>
                        </m:r>
                        <m:r>
                          <m:rPr>
                            <m:nor/>
                          </m:rPr>
                          <a:rPr lang="en-US" sz="2000" dirty="0" smtClean="0">
                            <a:solidFill>
                              <a:schemeClr val="tx1"/>
                            </a:solidFill>
                          </a:rPr>
                          <m:t>(</m:t>
                        </m:r>
                        <m:r>
                          <m:rPr>
                            <m:nor/>
                          </m:rPr>
                          <a:rPr lang="en-US" sz="2000" dirty="0" smtClean="0">
                            <a:solidFill>
                              <a:schemeClr val="tx1"/>
                            </a:solidFill>
                          </a:rPr>
                          <m:t>𝑇𝑟𝑒𝑎𝑡𝑚𝑒𝑛𝑡</m:t>
                        </m:r>
                        <m:r>
                          <m:rPr>
                            <m:nor/>
                          </m:rPr>
                          <a:rPr lang="en-US" sz="2000" dirty="0" smtClean="0">
                            <a:solidFill>
                              <a:schemeClr val="tx1"/>
                            </a:solidFill>
                          </a:rPr>
                          <m:t>)</m:t>
                        </m:r>
                      </m:num>
                      <m:den>
                        <m:r>
                          <m:rPr>
                            <m:nor/>
                          </m:rPr>
                          <a:rPr lang="en-US" sz="2000" dirty="0" smtClean="0">
                            <a:solidFill>
                              <a:schemeClr val="tx1"/>
                            </a:solidFill>
                          </a:rPr>
                          <m:t>𝑀𝑆</m:t>
                        </m:r>
                        <m:r>
                          <m:rPr>
                            <m:nor/>
                          </m:rPr>
                          <a:rPr lang="tr-TR" sz="2000" b="0" i="0" dirty="0" smtClean="0">
                            <a:solidFill>
                              <a:schemeClr val="tx1"/>
                            </a:solidFill>
                          </a:rPr>
                          <m:t> </m:t>
                        </m:r>
                        <m:r>
                          <m:rPr>
                            <m:nor/>
                          </m:rPr>
                          <a:rPr lang="en-US" sz="2000" dirty="0" smtClean="0">
                            <a:solidFill>
                              <a:schemeClr val="tx1"/>
                            </a:solidFill>
                          </a:rPr>
                          <m:t>(</m:t>
                        </m:r>
                        <m:r>
                          <m:rPr>
                            <m:nor/>
                          </m:rPr>
                          <a:rPr lang="en-US" sz="2000" dirty="0" smtClean="0">
                            <a:solidFill>
                              <a:schemeClr val="tx1"/>
                            </a:solidFill>
                          </a:rPr>
                          <m:t>𝐸𝑟𝑟𝑜𝑟</m:t>
                        </m:r>
                        <m:r>
                          <m:rPr>
                            <m:nor/>
                          </m:rPr>
                          <a:rPr lang="en-US" sz="2000" dirty="0" smtClean="0">
                            <a:solidFill>
                              <a:schemeClr val="tx1"/>
                            </a:solidFill>
                          </a:rPr>
                          <m:t>)</m:t>
                        </m:r>
                      </m:den>
                    </m:f>
                  </m:oMath>
                </a14:m>
                <a:r>
                  <a:rPr lang="en-US" sz="2000" dirty="0">
                    <a:solidFill>
                      <a:schemeClr val="tx1"/>
                    </a:solidFill>
                  </a:rPr>
                  <a:t> ≈ </a:t>
                </a:r>
                <a14:m>
                  <m:oMath xmlns:m="http://schemas.openxmlformats.org/officeDocument/2006/math">
                    <m:f>
                      <m:fPr>
                        <m:ctrlPr>
                          <a:rPr lang="mr-IN" sz="1800" i="1" smtClean="0">
                            <a:solidFill>
                              <a:schemeClr val="tx1"/>
                            </a:solidFill>
                            <a:latin typeface="Cambria Math" panose="02040503050406030204" pitchFamily="18" charset="0"/>
                            <a:ea typeface="Cambria Math" charset="0"/>
                            <a:cs typeface="Cambria Math" charset="0"/>
                          </a:rPr>
                        </m:ctrlPr>
                      </m:fPr>
                      <m:num>
                        <m:r>
                          <m:rPr>
                            <m:nor/>
                          </m:rPr>
                          <a:rPr lang="tr-TR" sz="1800" b="0" i="1" smtClean="0">
                            <a:solidFill>
                              <a:schemeClr val="tx1"/>
                            </a:solidFill>
                            <a:latin typeface="Cambria Math" charset="0"/>
                            <a:ea typeface="Cambria Math" charset="0"/>
                            <a:cs typeface="Cambria Math" charset="0"/>
                          </a:rPr>
                          <m:t>gruplararas</m:t>
                        </m:r>
                        <m:r>
                          <m:rPr>
                            <m:nor/>
                          </m:rPr>
                          <a:rPr lang="tr-TR" sz="1800" b="0" i="1" smtClean="0">
                            <a:solidFill>
                              <a:schemeClr val="tx1"/>
                            </a:solidFill>
                            <a:latin typeface="Cambria Math" charset="0"/>
                            <a:ea typeface="Cambria Math" charset="0"/>
                            <a:cs typeface="Cambria Math" charset="0"/>
                          </a:rPr>
                          <m:t>ı </m:t>
                        </m:r>
                        <m:r>
                          <m:rPr>
                            <m:nor/>
                          </m:rPr>
                          <a:rPr lang="tr-TR" sz="1800" b="0" i="1" smtClean="0">
                            <a:solidFill>
                              <a:schemeClr val="tx1"/>
                            </a:solidFill>
                            <a:latin typeface="Cambria Math" charset="0"/>
                            <a:ea typeface="Cambria Math" charset="0"/>
                            <a:cs typeface="Cambria Math" charset="0"/>
                          </a:rPr>
                          <m:t>ortalama</m:t>
                        </m:r>
                        <m:r>
                          <m:rPr>
                            <m:nor/>
                          </m:rPr>
                          <a:rPr lang="tr-TR" sz="1800" b="0" i="1" smtClean="0">
                            <a:solidFill>
                              <a:schemeClr val="tx1"/>
                            </a:solidFill>
                            <a:latin typeface="Cambria Math" charset="0"/>
                            <a:ea typeface="Cambria Math" charset="0"/>
                            <a:cs typeface="Cambria Math" charset="0"/>
                          </a:rPr>
                          <m:t> </m:t>
                        </m:r>
                        <m:r>
                          <m:rPr>
                            <m:nor/>
                          </m:rPr>
                          <a:rPr lang="tr-TR" sz="1800" b="0" i="1" smtClean="0">
                            <a:solidFill>
                              <a:schemeClr val="tx1"/>
                            </a:solidFill>
                            <a:latin typeface="Cambria Math" charset="0"/>
                            <a:ea typeface="Cambria Math" charset="0"/>
                            <a:cs typeface="Cambria Math" charset="0"/>
                          </a:rPr>
                          <m:t>varyans</m:t>
                        </m:r>
                        <m:r>
                          <m:rPr>
                            <m:nor/>
                          </m:rPr>
                          <a:rPr lang="tr-TR" sz="1800" b="0" i="1" smtClean="0">
                            <a:solidFill>
                              <a:schemeClr val="tx1"/>
                            </a:solidFill>
                            <a:latin typeface="Cambria Math" charset="0"/>
                            <a:ea typeface="Cambria Math" charset="0"/>
                            <a:cs typeface="Cambria Math" charset="0"/>
                          </a:rPr>
                          <m:t> (</m:t>
                        </m:r>
                        <m:r>
                          <m:rPr>
                            <m:nor/>
                          </m:rPr>
                          <a:rPr lang="tr-TR" sz="1800" b="0" i="1" smtClean="0">
                            <a:solidFill>
                              <a:schemeClr val="tx1"/>
                            </a:solidFill>
                            <a:latin typeface="Cambria Math" charset="0"/>
                            <a:ea typeface="Cambria Math" charset="0"/>
                            <a:cs typeface="Cambria Math" charset="0"/>
                          </a:rPr>
                          <m:t>kareler</m:t>
                        </m:r>
                        <m:r>
                          <m:rPr>
                            <m:nor/>
                          </m:rPr>
                          <a:rPr lang="tr-TR" sz="1800" b="0" i="1" smtClean="0">
                            <a:solidFill>
                              <a:schemeClr val="tx1"/>
                            </a:solidFill>
                            <a:latin typeface="Cambria Math" charset="0"/>
                            <a:ea typeface="Cambria Math" charset="0"/>
                            <a:cs typeface="Cambria Math" charset="0"/>
                          </a:rPr>
                          <m:t> </m:t>
                        </m:r>
                        <m:r>
                          <m:rPr>
                            <m:nor/>
                          </m:rPr>
                          <a:rPr lang="tr-TR" sz="1800" b="0" i="1" smtClean="0">
                            <a:solidFill>
                              <a:schemeClr val="tx1"/>
                            </a:solidFill>
                            <a:latin typeface="Cambria Math" charset="0"/>
                            <a:ea typeface="Cambria Math" charset="0"/>
                            <a:cs typeface="Cambria Math" charset="0"/>
                          </a:rPr>
                          <m:t>ortalamas</m:t>
                        </m:r>
                        <m:r>
                          <m:rPr>
                            <m:nor/>
                          </m:rPr>
                          <a:rPr lang="tr-TR" sz="1800" b="0" i="1" smtClean="0">
                            <a:solidFill>
                              <a:schemeClr val="tx1"/>
                            </a:solidFill>
                            <a:latin typeface="Cambria Math" charset="0"/>
                            <a:ea typeface="Cambria Math" charset="0"/>
                            <a:cs typeface="Cambria Math" charset="0"/>
                          </a:rPr>
                          <m:t>ı)</m:t>
                        </m:r>
                      </m:num>
                      <m:den>
                        <m:r>
                          <m:rPr>
                            <m:nor/>
                          </m:rPr>
                          <a:rPr lang="tr-TR" sz="1800" b="0" i="1" smtClean="0">
                            <a:solidFill>
                              <a:schemeClr val="tx1"/>
                            </a:solidFill>
                            <a:latin typeface="Cambria Math" charset="0"/>
                            <a:ea typeface="Cambria Math" charset="0"/>
                            <a:cs typeface="Cambria Math" charset="0"/>
                          </a:rPr>
                          <m:t>grup</m:t>
                        </m:r>
                        <m:r>
                          <m:rPr>
                            <m:nor/>
                          </m:rPr>
                          <a:rPr lang="tr-TR" sz="1800" b="0" i="1" smtClean="0">
                            <a:solidFill>
                              <a:schemeClr val="tx1"/>
                            </a:solidFill>
                            <a:latin typeface="Cambria Math" charset="0"/>
                            <a:ea typeface="Cambria Math" charset="0"/>
                            <a:cs typeface="Cambria Math" charset="0"/>
                          </a:rPr>
                          <m:t> </m:t>
                        </m:r>
                        <m:r>
                          <m:rPr>
                            <m:nor/>
                          </m:rPr>
                          <a:rPr lang="tr-TR" sz="1800" b="0" i="1" smtClean="0">
                            <a:solidFill>
                              <a:schemeClr val="tx1"/>
                            </a:solidFill>
                            <a:latin typeface="Cambria Math" charset="0"/>
                            <a:ea typeface="Cambria Math" charset="0"/>
                            <a:cs typeface="Cambria Math" charset="0"/>
                          </a:rPr>
                          <m:t>i</m:t>
                        </m:r>
                        <m:r>
                          <m:rPr>
                            <m:nor/>
                          </m:rPr>
                          <a:rPr lang="tr-TR" sz="1800" b="0" i="1" smtClean="0">
                            <a:solidFill>
                              <a:schemeClr val="tx1"/>
                            </a:solidFill>
                            <a:latin typeface="Cambria Math" charset="0"/>
                            <a:ea typeface="Cambria Math" charset="0"/>
                            <a:cs typeface="Cambria Math" charset="0"/>
                          </a:rPr>
                          <m:t>ç</m:t>
                        </m:r>
                        <m:r>
                          <m:rPr>
                            <m:nor/>
                          </m:rPr>
                          <a:rPr lang="tr-TR" sz="1800" b="0" i="1" smtClean="0">
                            <a:solidFill>
                              <a:schemeClr val="tx1"/>
                            </a:solidFill>
                            <a:latin typeface="Cambria Math" charset="0"/>
                            <a:ea typeface="Cambria Math" charset="0"/>
                            <a:cs typeface="Cambria Math" charset="0"/>
                          </a:rPr>
                          <m:t>i</m:t>
                        </m:r>
                        <m:r>
                          <m:rPr>
                            <m:nor/>
                          </m:rPr>
                          <a:rPr lang="tr-TR" sz="1800" b="0" i="1" smtClean="0">
                            <a:solidFill>
                              <a:schemeClr val="tx1"/>
                            </a:solidFill>
                            <a:latin typeface="Cambria Math" charset="0"/>
                            <a:ea typeface="Cambria Math" charset="0"/>
                            <a:cs typeface="Cambria Math" charset="0"/>
                          </a:rPr>
                          <m:t> </m:t>
                        </m:r>
                        <m:r>
                          <m:rPr>
                            <m:nor/>
                          </m:rPr>
                          <a:rPr lang="tr-TR" sz="1800" b="0" i="1" smtClean="0">
                            <a:solidFill>
                              <a:schemeClr val="tx1"/>
                            </a:solidFill>
                            <a:latin typeface="Cambria Math" charset="0"/>
                            <a:ea typeface="Cambria Math" charset="0"/>
                            <a:cs typeface="Cambria Math" charset="0"/>
                          </a:rPr>
                          <m:t>ortalama</m:t>
                        </m:r>
                        <m:r>
                          <m:rPr>
                            <m:nor/>
                          </m:rPr>
                          <a:rPr lang="tr-TR" sz="1800" b="0" i="1" smtClean="0">
                            <a:solidFill>
                              <a:schemeClr val="tx1"/>
                            </a:solidFill>
                            <a:latin typeface="Cambria Math" charset="0"/>
                            <a:ea typeface="Cambria Math" charset="0"/>
                            <a:cs typeface="Cambria Math" charset="0"/>
                          </a:rPr>
                          <m:t> </m:t>
                        </m:r>
                        <m:r>
                          <m:rPr>
                            <m:nor/>
                          </m:rPr>
                          <a:rPr lang="tr-TR" sz="1800" b="0" i="1" smtClean="0">
                            <a:solidFill>
                              <a:schemeClr val="tx1"/>
                            </a:solidFill>
                            <a:latin typeface="Cambria Math" charset="0"/>
                            <a:ea typeface="Cambria Math" charset="0"/>
                            <a:cs typeface="Cambria Math" charset="0"/>
                          </a:rPr>
                          <m:t>varyans</m:t>
                        </m:r>
                        <m:r>
                          <a:rPr lang="tr-TR" sz="1800" b="0" i="1" smtClean="0">
                            <a:solidFill>
                              <a:schemeClr val="tx1"/>
                            </a:solidFill>
                            <a:latin typeface="Cambria Math" charset="0"/>
                            <a:ea typeface="Cambria Math" charset="0"/>
                            <a:cs typeface="Cambria Math" charset="0"/>
                          </a:rPr>
                          <m:t> (</m:t>
                        </m:r>
                        <m:r>
                          <a:rPr lang="tr-TR" sz="1800" b="0" i="1" smtClean="0">
                            <a:solidFill>
                              <a:schemeClr val="tx1"/>
                            </a:solidFill>
                            <a:latin typeface="Cambria Math" charset="0"/>
                            <a:ea typeface="Cambria Math" charset="0"/>
                            <a:cs typeface="Cambria Math" charset="0"/>
                          </a:rPr>
                          <m:t>𝑘𝑎𝑟𝑒𝑙𝑒𝑟</m:t>
                        </m:r>
                        <m:r>
                          <a:rPr lang="tr-TR" sz="1800" b="0" i="1" smtClean="0">
                            <a:solidFill>
                              <a:schemeClr val="tx1"/>
                            </a:solidFill>
                            <a:latin typeface="Cambria Math" charset="0"/>
                            <a:ea typeface="Cambria Math" charset="0"/>
                            <a:cs typeface="Cambria Math" charset="0"/>
                          </a:rPr>
                          <m:t> </m:t>
                        </m:r>
                        <m:r>
                          <a:rPr lang="tr-TR" sz="1800" b="0" i="1" smtClean="0">
                            <a:solidFill>
                              <a:schemeClr val="tx1"/>
                            </a:solidFill>
                            <a:latin typeface="Cambria Math" charset="0"/>
                            <a:ea typeface="Cambria Math" charset="0"/>
                            <a:cs typeface="Cambria Math" charset="0"/>
                          </a:rPr>
                          <m:t>𝑜𝑟𝑡𝑎𝑙𝑎𝑚𝑎𝑠𝚤</m:t>
                        </m:r>
                        <m:r>
                          <a:rPr lang="tr-TR" sz="1800" b="0" i="1" smtClean="0">
                            <a:solidFill>
                              <a:schemeClr val="tx1"/>
                            </a:solidFill>
                            <a:latin typeface="Cambria Math" charset="0"/>
                            <a:ea typeface="Cambria Math" charset="0"/>
                            <a:cs typeface="Cambria Math" charset="0"/>
                          </a:rPr>
                          <m:t>)</m:t>
                        </m:r>
                      </m:den>
                    </m:f>
                  </m:oMath>
                </a14:m>
                <a:r>
                  <a:rPr lang="en-US" sz="1800" dirty="0">
                    <a:solidFill>
                      <a:schemeClr val="tx1"/>
                    </a:solidFill>
                  </a:rPr>
                  <a:t> </a:t>
                </a:r>
              </a:p>
              <a:p>
                <a:endParaRPr lang="en-US" sz="2400" dirty="0">
                  <a:solidFill>
                    <a:schemeClr val="tx1"/>
                  </a:solidFill>
                </a:endParaRPr>
              </a:p>
              <a:p>
                <a:r>
                  <a:rPr lang="en-US" sz="2800" dirty="0" err="1">
                    <a:solidFill>
                      <a:schemeClr val="tx1"/>
                    </a:solidFill>
                  </a:rPr>
                  <a:t>Serbestlik</a:t>
                </a:r>
                <a:r>
                  <a:rPr lang="en-US" sz="2800" dirty="0">
                    <a:solidFill>
                      <a:schemeClr val="tx1"/>
                    </a:solidFill>
                  </a:rPr>
                  <a:t> </a:t>
                </a:r>
                <a:r>
                  <a:rPr lang="en-US" sz="2800" dirty="0" err="1">
                    <a:solidFill>
                      <a:schemeClr val="tx1"/>
                    </a:solidFill>
                  </a:rPr>
                  <a:t>Derecesi</a:t>
                </a:r>
                <a:r>
                  <a:rPr lang="en-US" sz="2800" dirty="0">
                    <a:solidFill>
                      <a:schemeClr val="tx1"/>
                    </a:solidFill>
                  </a:rPr>
                  <a:t> (</a:t>
                </a:r>
                <a:r>
                  <a:rPr lang="en-US" sz="2800" dirty="0" err="1">
                    <a:solidFill>
                      <a:schemeClr val="tx1"/>
                    </a:solidFill>
                  </a:rPr>
                  <a:t>sd</a:t>
                </a:r>
                <a:r>
                  <a:rPr lang="en-US" sz="2800" dirty="0">
                    <a:solidFill>
                      <a:schemeClr val="tx1"/>
                    </a:solidFill>
                  </a:rPr>
                  <a:t>): 2 </a:t>
                </a:r>
                <a:r>
                  <a:rPr lang="en-US" sz="2800" dirty="0" err="1">
                    <a:solidFill>
                      <a:schemeClr val="tx1"/>
                    </a:solidFill>
                  </a:rPr>
                  <a:t>tane</a:t>
                </a:r>
                <a:r>
                  <a:rPr lang="en-US" sz="2800" dirty="0">
                    <a:solidFill>
                      <a:schemeClr val="tx1"/>
                    </a:solidFill>
                  </a:rPr>
                  <a:t> </a:t>
                </a:r>
                <a:r>
                  <a:rPr lang="en-US" sz="2800" dirty="0" err="1">
                    <a:solidFill>
                      <a:schemeClr val="tx1"/>
                    </a:solidFill>
                  </a:rPr>
                  <a:t>sd</a:t>
                </a:r>
                <a:r>
                  <a:rPr lang="en-US" sz="2800" dirty="0">
                    <a:solidFill>
                      <a:schemeClr val="tx1"/>
                    </a:solidFill>
                  </a:rPr>
                  <a:t> </a:t>
                </a:r>
                <a:r>
                  <a:rPr lang="en-US" sz="2800" dirty="0" err="1">
                    <a:solidFill>
                      <a:schemeClr val="tx1"/>
                    </a:solidFill>
                  </a:rPr>
                  <a:t>var</a:t>
                </a:r>
                <a:r>
                  <a:rPr lang="en-US" sz="2800" dirty="0">
                    <a:solidFill>
                      <a:schemeClr val="tx1"/>
                    </a:solidFill>
                  </a:rPr>
                  <a:t> </a:t>
                </a:r>
              </a:p>
              <a:p>
                <a:pPr lvl="3"/>
                <a:r>
                  <a:rPr lang="en-US" sz="1800" dirty="0">
                    <a:solidFill>
                      <a:schemeClr val="tx1"/>
                    </a:solidFill>
                  </a:rPr>
                  <a:t>Pay 𝑑𝑓 = 𝑘 − 1 </a:t>
                </a:r>
              </a:p>
              <a:p>
                <a:pPr lvl="3"/>
                <a:r>
                  <a:rPr lang="en-US" sz="1800" dirty="0" err="1">
                    <a:solidFill>
                      <a:schemeClr val="tx1"/>
                    </a:solidFill>
                  </a:rPr>
                  <a:t>Payda</a:t>
                </a:r>
                <a:r>
                  <a:rPr lang="en-US" sz="1800" dirty="0">
                    <a:solidFill>
                      <a:schemeClr val="tx1"/>
                    </a:solidFill>
                  </a:rPr>
                  <a:t> 𝑑𝑓 = 𝑁 − 𝑘 </a:t>
                </a:r>
              </a:p>
              <a:p>
                <a:pPr lvl="2"/>
                <a:r>
                  <a:rPr lang="en-US" sz="2000" dirty="0" err="1">
                    <a:solidFill>
                      <a:schemeClr val="tx1"/>
                    </a:solidFill>
                  </a:rPr>
                  <a:t>Notasyon</a:t>
                </a:r>
                <a:r>
                  <a:rPr lang="en-US" sz="2000" dirty="0">
                    <a:solidFill>
                      <a:schemeClr val="tx1"/>
                    </a:solidFill>
                  </a:rPr>
                  <a:t>: </a:t>
                </a:r>
              </a:p>
              <a:p>
                <a:pPr lvl="3"/>
                <a:r>
                  <a:rPr lang="en-US" sz="1800" dirty="0">
                    <a:solidFill>
                      <a:schemeClr val="tx1"/>
                    </a:solidFill>
                  </a:rPr>
                  <a:t>𝑘: </a:t>
                </a:r>
                <a:r>
                  <a:rPr lang="en-US" sz="1800" dirty="0" err="1">
                    <a:solidFill>
                      <a:schemeClr val="tx1"/>
                    </a:solidFill>
                  </a:rPr>
                  <a:t>grup</a:t>
                </a:r>
                <a:r>
                  <a:rPr lang="en-US" sz="1800" dirty="0">
                    <a:solidFill>
                      <a:schemeClr val="tx1"/>
                    </a:solidFill>
                  </a:rPr>
                  <a:t> </a:t>
                </a:r>
                <a:r>
                  <a:rPr lang="en-US" sz="1800" dirty="0" err="1">
                    <a:solidFill>
                      <a:schemeClr val="tx1"/>
                    </a:solidFill>
                  </a:rPr>
                  <a:t>sayısı</a:t>
                </a:r>
                <a:endParaRPr lang="en-US" sz="1800" dirty="0">
                  <a:solidFill>
                    <a:schemeClr val="tx1"/>
                  </a:solidFill>
                </a:endParaRPr>
              </a:p>
              <a:p>
                <a:pPr lvl="3"/>
                <a:r>
                  <a:rPr lang="en-US" sz="1800" dirty="0">
                    <a:solidFill>
                      <a:schemeClr val="tx1"/>
                    </a:solidFill>
                  </a:rPr>
                  <a:t> 𝑛: her </a:t>
                </a:r>
                <a:r>
                  <a:rPr lang="en-US" sz="1800" dirty="0" err="1">
                    <a:solidFill>
                      <a:schemeClr val="tx1"/>
                    </a:solidFill>
                  </a:rPr>
                  <a:t>bir</a:t>
                </a:r>
                <a:r>
                  <a:rPr lang="en-US" sz="1800" dirty="0">
                    <a:solidFill>
                      <a:schemeClr val="tx1"/>
                    </a:solidFill>
                  </a:rPr>
                  <a:t> </a:t>
                </a:r>
                <a:r>
                  <a:rPr lang="en-US" sz="1800" dirty="0" err="1">
                    <a:solidFill>
                      <a:schemeClr val="tx1"/>
                    </a:solidFill>
                  </a:rPr>
                  <a:t>örneklemin</a:t>
                </a:r>
                <a:r>
                  <a:rPr lang="en-US" sz="1800" dirty="0">
                    <a:solidFill>
                      <a:schemeClr val="tx1"/>
                    </a:solidFill>
                  </a:rPr>
                  <a:t> (</a:t>
                </a:r>
                <a:r>
                  <a:rPr lang="en-US" sz="1800" dirty="0" err="1">
                    <a:solidFill>
                      <a:schemeClr val="tx1"/>
                    </a:solidFill>
                  </a:rPr>
                  <a:t>grubun</a:t>
                </a:r>
                <a:r>
                  <a:rPr lang="en-US" sz="1800" dirty="0">
                    <a:solidFill>
                      <a:schemeClr val="tx1"/>
                    </a:solidFill>
                  </a:rPr>
                  <a:t>) </a:t>
                </a:r>
                <a:r>
                  <a:rPr lang="en-US" sz="1800" dirty="0" err="1">
                    <a:solidFill>
                      <a:schemeClr val="tx1"/>
                    </a:solidFill>
                  </a:rPr>
                  <a:t>büyüklüğü</a:t>
                </a:r>
                <a:endParaRPr lang="en-US" sz="1800" dirty="0">
                  <a:solidFill>
                    <a:schemeClr val="tx1"/>
                  </a:solidFill>
                </a:endParaRPr>
              </a:p>
              <a:p>
                <a:pPr lvl="3"/>
                <a:r>
                  <a:rPr lang="en-US" sz="1800" dirty="0">
                    <a:solidFill>
                      <a:schemeClr val="tx1"/>
                    </a:solidFill>
                  </a:rPr>
                  <a:t> N: </a:t>
                </a:r>
                <a:r>
                  <a:rPr lang="en-US" sz="1800" dirty="0" err="1">
                    <a:solidFill>
                      <a:schemeClr val="tx1"/>
                    </a:solidFill>
                  </a:rPr>
                  <a:t>tüm</a:t>
                </a:r>
                <a:r>
                  <a:rPr lang="en-US" sz="1800" dirty="0">
                    <a:solidFill>
                      <a:schemeClr val="tx1"/>
                    </a:solidFill>
                  </a:rPr>
                  <a:t> </a:t>
                </a:r>
                <a:r>
                  <a:rPr lang="en-US" sz="1800" dirty="0" err="1">
                    <a:solidFill>
                      <a:schemeClr val="tx1"/>
                    </a:solidFill>
                  </a:rPr>
                  <a:t>örneklemlerin</a:t>
                </a:r>
                <a:r>
                  <a:rPr lang="en-US" sz="1800" dirty="0">
                    <a:solidFill>
                      <a:schemeClr val="tx1"/>
                    </a:solidFill>
                  </a:rPr>
                  <a:t> </a:t>
                </a:r>
                <a:r>
                  <a:rPr lang="en-US" sz="1800" dirty="0" err="1">
                    <a:solidFill>
                      <a:schemeClr val="tx1"/>
                    </a:solidFill>
                  </a:rPr>
                  <a:t>büyüklüğü</a:t>
                </a:r>
                <a:endParaRPr lang="en-US" sz="1800" dirty="0">
                  <a:solidFill>
                    <a:schemeClr val="tx1"/>
                  </a:solidFill>
                </a:endParaRPr>
              </a:p>
              <a:p>
                <a:endParaRPr lang="en-US" sz="24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45840" y="1772816"/>
                <a:ext cx="8568952" cy="4320480"/>
              </a:xfrm>
              <a:blipFill>
                <a:blip r:embed="rId2"/>
                <a:stretch>
                  <a:fillRect l="-2963" t="-2924"/>
                </a:stretch>
              </a:blipFill>
            </p:spPr>
            <p:txBody>
              <a:bodyPr/>
              <a:lstStyle/>
              <a:p>
                <a:r>
                  <a:rPr lang="tr-TR">
                    <a:noFill/>
                  </a:rPr>
                  <a:t> </a:t>
                </a:r>
              </a:p>
            </p:txBody>
          </p:sp>
        </mc:Fallback>
      </mc:AlternateContent>
    </p:spTree>
    <p:extLst>
      <p:ext uri="{BB962C8B-B14F-4D97-AF65-F5344CB8AC3E}">
        <p14:creationId xmlns:p14="http://schemas.microsoft.com/office/powerpoint/2010/main" val="1643062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007872"/>
            <a:ext cx="5040560" cy="2559153"/>
          </a:xfrm>
          <a:prstGeom prst="rect">
            <a:avLst/>
          </a:prstGeom>
        </p:spPr>
      </p:pic>
      <p:pic>
        <p:nvPicPr>
          <p:cNvPr id="5" name="Picture 4">
            <a:extLst>
              <a:ext uri="{FF2B5EF4-FFF2-40B4-BE49-F238E27FC236}">
                <a16:creationId xmlns:a16="http://schemas.microsoft.com/office/drawing/2014/main" id="{66707E59-63A5-8DD2-64FC-3578981799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629" y="3429000"/>
            <a:ext cx="6036486" cy="2705472"/>
          </a:xfrm>
          <a:prstGeom prst="rect">
            <a:avLst/>
          </a:prstGeom>
        </p:spPr>
      </p:pic>
      <p:sp>
        <p:nvSpPr>
          <p:cNvPr id="2" name="Title 1"/>
          <p:cNvSpPr>
            <a:spLocks noGrp="1"/>
          </p:cNvSpPr>
          <p:nvPr>
            <p:ph type="title"/>
          </p:nvPr>
        </p:nvSpPr>
        <p:spPr>
          <a:xfrm>
            <a:off x="5724128" y="1412776"/>
            <a:ext cx="3240360" cy="1248388"/>
          </a:xfrm>
        </p:spPr>
        <p:txBody>
          <a:bodyPr>
            <a:noAutofit/>
          </a:bodyPr>
          <a:lstStyle/>
          <a:p>
            <a:r>
              <a:rPr lang="en-US" sz="2400" b="1" dirty="0" err="1">
                <a:solidFill>
                  <a:schemeClr val="tx1"/>
                </a:solidFill>
                <a:highlight>
                  <a:srgbClr val="FFFFFF"/>
                </a:highlight>
              </a:rPr>
              <a:t>Gruplar</a:t>
            </a:r>
            <a:r>
              <a:rPr lang="en-US" sz="2400" b="1" dirty="0">
                <a:solidFill>
                  <a:schemeClr val="tx1"/>
                </a:solidFill>
                <a:highlight>
                  <a:srgbClr val="FFFFFF"/>
                </a:highlight>
              </a:rPr>
              <a:t> </a:t>
            </a:r>
            <a:r>
              <a:rPr lang="en-US" sz="2400" b="1" dirty="0" err="1">
                <a:solidFill>
                  <a:schemeClr val="tx1"/>
                </a:solidFill>
                <a:highlight>
                  <a:srgbClr val="FFFFFF"/>
                </a:highlight>
              </a:rPr>
              <a:t>arası</a:t>
            </a:r>
            <a:r>
              <a:rPr lang="en-US" sz="2400" b="1" dirty="0">
                <a:solidFill>
                  <a:schemeClr val="tx1"/>
                </a:solidFill>
                <a:highlight>
                  <a:srgbClr val="FFFFFF"/>
                </a:highlight>
              </a:rPr>
              <a:t> varyans </a:t>
            </a:r>
            <a:r>
              <a:rPr lang="en-US" sz="2400" b="1" dirty="0" err="1">
                <a:solidFill>
                  <a:schemeClr val="tx1"/>
                </a:solidFill>
                <a:highlight>
                  <a:srgbClr val="FFFFFF"/>
                </a:highlight>
              </a:rPr>
              <a:t>Grup</a:t>
            </a:r>
            <a:r>
              <a:rPr lang="en-US" sz="2400" b="1" dirty="0">
                <a:solidFill>
                  <a:schemeClr val="tx1"/>
                </a:solidFill>
                <a:highlight>
                  <a:srgbClr val="FFFFFF"/>
                </a:highlight>
              </a:rPr>
              <a:t> </a:t>
            </a:r>
            <a:r>
              <a:rPr lang="en-US" sz="2400" b="1" dirty="0" err="1">
                <a:solidFill>
                  <a:schemeClr val="tx1"/>
                </a:solidFill>
                <a:highlight>
                  <a:srgbClr val="FFFFFF"/>
                </a:highlight>
              </a:rPr>
              <a:t>içi</a:t>
            </a:r>
            <a:r>
              <a:rPr lang="en-US" sz="2400" b="1" dirty="0">
                <a:solidFill>
                  <a:schemeClr val="tx1"/>
                </a:solidFill>
                <a:highlight>
                  <a:srgbClr val="FFFFFF"/>
                </a:highlight>
              </a:rPr>
              <a:t> </a:t>
            </a:r>
            <a:r>
              <a:rPr lang="en-US" sz="2400" b="1" dirty="0" err="1">
                <a:solidFill>
                  <a:schemeClr val="tx1"/>
                </a:solidFill>
                <a:highlight>
                  <a:srgbClr val="FFFFFF"/>
                </a:highlight>
              </a:rPr>
              <a:t>varyansa</a:t>
            </a:r>
            <a:r>
              <a:rPr lang="en-US" sz="2400" b="1" dirty="0">
                <a:solidFill>
                  <a:schemeClr val="tx1"/>
                </a:solidFill>
                <a:highlight>
                  <a:srgbClr val="FFFFFF"/>
                </a:highlight>
              </a:rPr>
              <a:t> </a:t>
            </a:r>
            <a:r>
              <a:rPr lang="en-US" sz="2400" dirty="0" err="1">
                <a:solidFill>
                  <a:schemeClr val="tx1"/>
                </a:solidFill>
                <a:highlight>
                  <a:srgbClr val="FFFFFF"/>
                </a:highlight>
              </a:rPr>
              <a:t>göre</a:t>
            </a:r>
            <a:r>
              <a:rPr lang="en-US" sz="2400" dirty="0">
                <a:solidFill>
                  <a:schemeClr val="tx1"/>
                </a:solidFill>
                <a:highlight>
                  <a:srgbClr val="FFFFFF"/>
                </a:highlight>
              </a:rPr>
              <a:t> </a:t>
            </a:r>
            <a:r>
              <a:rPr lang="en-US" sz="2400" dirty="0" err="1">
                <a:solidFill>
                  <a:schemeClr val="tx1"/>
                </a:solidFill>
                <a:highlight>
                  <a:srgbClr val="FFFFFF"/>
                </a:highlight>
              </a:rPr>
              <a:t>az</a:t>
            </a:r>
            <a:r>
              <a:rPr lang="en-US" sz="2400" dirty="0">
                <a:solidFill>
                  <a:schemeClr val="tx1"/>
                </a:solidFill>
                <a:highlight>
                  <a:srgbClr val="FFFFFF"/>
                </a:highlight>
              </a:rPr>
              <a:t> :</a:t>
            </a:r>
            <a:r>
              <a:rPr lang="en-US" sz="2400" dirty="0" err="1">
                <a:solidFill>
                  <a:schemeClr val="tx1"/>
                </a:solidFill>
                <a:highlight>
                  <a:srgbClr val="FFFFFF"/>
                </a:highlight>
              </a:rPr>
              <a:t>Küçük</a:t>
            </a:r>
            <a:r>
              <a:rPr lang="en-US" sz="2400" dirty="0">
                <a:solidFill>
                  <a:schemeClr val="tx1"/>
                </a:solidFill>
                <a:highlight>
                  <a:srgbClr val="FFFFFF"/>
                </a:highlight>
              </a:rPr>
              <a:t> F-</a:t>
            </a:r>
            <a:r>
              <a:rPr lang="en-US" sz="2400" dirty="0" err="1">
                <a:solidFill>
                  <a:schemeClr val="tx1"/>
                </a:solidFill>
                <a:highlight>
                  <a:srgbClr val="FFFFFF"/>
                </a:highlight>
              </a:rPr>
              <a:t>istatistiği</a:t>
            </a:r>
            <a:r>
              <a:rPr lang="en-US" sz="2400" dirty="0">
                <a:solidFill>
                  <a:schemeClr val="tx1"/>
                </a:solidFill>
                <a:highlight>
                  <a:srgbClr val="FFFFFF"/>
                </a:highlight>
              </a:rPr>
              <a:t> </a:t>
            </a:r>
          </a:p>
        </p:txBody>
      </p:sp>
      <p:sp>
        <p:nvSpPr>
          <p:cNvPr id="6" name="Title 1">
            <a:extLst>
              <a:ext uri="{FF2B5EF4-FFF2-40B4-BE49-F238E27FC236}">
                <a16:creationId xmlns:a16="http://schemas.microsoft.com/office/drawing/2014/main" id="{79DA79C7-B024-8208-33EB-83F68C78FB33}"/>
              </a:ext>
            </a:extLst>
          </p:cNvPr>
          <p:cNvSpPr txBox="1">
            <a:spLocks/>
          </p:cNvSpPr>
          <p:nvPr/>
        </p:nvSpPr>
        <p:spPr>
          <a:xfrm>
            <a:off x="107504" y="332656"/>
            <a:ext cx="9145016" cy="648073"/>
          </a:xfrm>
          <a:prstGeom prst="rect">
            <a:avLst/>
          </a:prstGeom>
        </p:spPr>
        <p:txBody>
          <a:bodyPr vert="horz" lIns="91440" tIns="45720" rIns="91440" bIns="45720" rtlCol="0" anchor="b">
            <a:noAutofit/>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a:lstStyle>
          <a:p>
            <a:r>
              <a:rPr lang="en-US" sz="2800" b="1" dirty="0" err="1">
                <a:solidFill>
                  <a:schemeClr val="tx1"/>
                </a:solidFill>
              </a:rPr>
              <a:t>Gruplar</a:t>
            </a:r>
            <a:r>
              <a:rPr lang="en-US" sz="2800" b="1" dirty="0">
                <a:solidFill>
                  <a:schemeClr val="tx1"/>
                </a:solidFill>
              </a:rPr>
              <a:t> </a:t>
            </a:r>
            <a:r>
              <a:rPr lang="en-US" sz="2800" b="1" dirty="0" err="1">
                <a:solidFill>
                  <a:schemeClr val="tx1"/>
                </a:solidFill>
              </a:rPr>
              <a:t>arası</a:t>
            </a:r>
            <a:r>
              <a:rPr lang="en-US" sz="2800" b="1" dirty="0">
                <a:solidFill>
                  <a:schemeClr val="tx1"/>
                </a:solidFill>
              </a:rPr>
              <a:t> </a:t>
            </a:r>
            <a:r>
              <a:rPr lang="en-US" sz="2800" dirty="0">
                <a:solidFill>
                  <a:schemeClr val="tx1"/>
                </a:solidFill>
              </a:rPr>
              <a:t>varyans </a:t>
            </a:r>
            <a:r>
              <a:rPr lang="en-US" sz="2800" b="1" dirty="0" err="1">
                <a:solidFill>
                  <a:schemeClr val="tx1"/>
                </a:solidFill>
              </a:rPr>
              <a:t>Grup</a:t>
            </a:r>
            <a:r>
              <a:rPr lang="en-US" sz="2800" b="1" dirty="0">
                <a:solidFill>
                  <a:schemeClr val="tx1"/>
                </a:solidFill>
              </a:rPr>
              <a:t> </a:t>
            </a:r>
            <a:r>
              <a:rPr lang="en-US" sz="2800" b="1" dirty="0" err="1">
                <a:solidFill>
                  <a:schemeClr val="tx1"/>
                </a:solidFill>
              </a:rPr>
              <a:t>içine</a:t>
            </a:r>
            <a:r>
              <a:rPr lang="en-US" sz="2800" b="1" dirty="0">
                <a:solidFill>
                  <a:schemeClr val="tx1"/>
                </a:solidFill>
              </a:rPr>
              <a:t> </a:t>
            </a:r>
            <a:r>
              <a:rPr lang="en-US" sz="2800" dirty="0" err="1">
                <a:solidFill>
                  <a:schemeClr val="tx1"/>
                </a:solidFill>
              </a:rPr>
              <a:t>göre</a:t>
            </a:r>
            <a:r>
              <a:rPr lang="en-US" sz="2800" dirty="0">
                <a:solidFill>
                  <a:schemeClr val="tx1"/>
                </a:solidFill>
              </a:rPr>
              <a:t> </a:t>
            </a:r>
            <a:r>
              <a:rPr lang="en-US" sz="2800" dirty="0" err="1">
                <a:solidFill>
                  <a:schemeClr val="tx1"/>
                </a:solidFill>
              </a:rPr>
              <a:t>fazla</a:t>
            </a:r>
            <a:r>
              <a:rPr lang="en-US" sz="2800" dirty="0">
                <a:solidFill>
                  <a:schemeClr val="tx1"/>
                </a:solidFill>
              </a:rPr>
              <a:t> : </a:t>
            </a:r>
            <a:r>
              <a:rPr lang="en-US" sz="2800" dirty="0" err="1">
                <a:solidFill>
                  <a:schemeClr val="tx1"/>
                </a:solidFill>
              </a:rPr>
              <a:t>Büyük</a:t>
            </a:r>
            <a:r>
              <a:rPr lang="en-US" sz="2800" dirty="0">
                <a:solidFill>
                  <a:schemeClr val="tx1"/>
                </a:solidFill>
              </a:rPr>
              <a:t> F-</a:t>
            </a:r>
            <a:r>
              <a:rPr lang="en-US" sz="2800" dirty="0" err="1">
                <a:solidFill>
                  <a:schemeClr val="tx1"/>
                </a:solidFill>
              </a:rPr>
              <a:t>istatistiği</a:t>
            </a:r>
            <a:r>
              <a:rPr lang="en-US" sz="2800" dirty="0">
                <a:solidFill>
                  <a:schemeClr val="tx1"/>
                </a:solidFill>
              </a:rPr>
              <a:t> </a:t>
            </a:r>
          </a:p>
        </p:txBody>
      </p:sp>
      <p:sp>
        <p:nvSpPr>
          <p:cNvPr id="7" name="Title 1">
            <a:extLst>
              <a:ext uri="{FF2B5EF4-FFF2-40B4-BE49-F238E27FC236}">
                <a16:creationId xmlns:a16="http://schemas.microsoft.com/office/drawing/2014/main" id="{BA9D5201-EFBA-8AE7-3567-B9199C4107E3}"/>
              </a:ext>
            </a:extLst>
          </p:cNvPr>
          <p:cNvSpPr txBox="1">
            <a:spLocks/>
          </p:cNvSpPr>
          <p:nvPr/>
        </p:nvSpPr>
        <p:spPr>
          <a:xfrm>
            <a:off x="5938192" y="4196837"/>
            <a:ext cx="3240360" cy="1248388"/>
          </a:xfrm>
          <a:prstGeom prst="rect">
            <a:avLst/>
          </a:prstGeom>
        </p:spPr>
        <p:txBody>
          <a:bodyPr vert="horz" lIns="91440" tIns="45720" rIns="91440" bIns="45720" rtlCol="0" anchor="b">
            <a:noAutofit/>
          </a:bodyPr>
          <a:lstStyle>
            <a:lvl1pPr algn="l" rtl="0" eaLnBrk="1" fontAlgn="base" hangingPunct="1">
              <a:lnSpc>
                <a:spcPct val="85000"/>
              </a:lnSpc>
              <a:spcBef>
                <a:spcPct val="0"/>
              </a:spcBef>
              <a:spcAft>
                <a:spcPct val="0"/>
              </a:spcAft>
              <a:defRPr sz="4800" kern="1200" spc="-50">
                <a:solidFill>
                  <a:srgbClr val="404040"/>
                </a:solidFill>
                <a:latin typeface="+mj-lt"/>
                <a:ea typeface="+mj-ea"/>
                <a:cs typeface="+mj-cs"/>
              </a:defRPr>
            </a:lvl1pPr>
            <a:lvl2pPr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2pPr>
            <a:lvl3pPr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3pPr>
            <a:lvl4pPr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4pPr>
            <a:lvl5pPr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5pPr>
            <a:lvl6pPr marL="457200"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6pPr>
            <a:lvl7pPr marL="914400"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7pPr>
            <a:lvl8pPr marL="1371600"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8pPr>
            <a:lvl9pPr marL="1828800" algn="l" rtl="0" eaLnBrk="1" fontAlgn="base" hangingPunct="1">
              <a:lnSpc>
                <a:spcPct val="85000"/>
              </a:lnSpc>
              <a:spcBef>
                <a:spcPct val="0"/>
              </a:spcBef>
              <a:spcAft>
                <a:spcPct val="0"/>
              </a:spcAft>
              <a:defRPr sz="4800">
                <a:solidFill>
                  <a:srgbClr val="404040"/>
                </a:solidFill>
                <a:latin typeface="Calibri Light" panose="020F0302020204030204" pitchFamily="34" charset="0"/>
              </a:defRPr>
            </a:lvl9pPr>
          </a:lstStyle>
          <a:p>
            <a:r>
              <a:rPr lang="en-US" sz="2400" b="1" dirty="0" err="1">
                <a:solidFill>
                  <a:schemeClr val="tx1"/>
                </a:solidFill>
                <a:highlight>
                  <a:srgbClr val="FFFFFF"/>
                </a:highlight>
              </a:rPr>
              <a:t>Gruplar</a:t>
            </a:r>
            <a:r>
              <a:rPr lang="en-US" sz="2400" b="1" dirty="0">
                <a:solidFill>
                  <a:schemeClr val="tx1"/>
                </a:solidFill>
                <a:highlight>
                  <a:srgbClr val="FFFFFF"/>
                </a:highlight>
              </a:rPr>
              <a:t> </a:t>
            </a:r>
            <a:r>
              <a:rPr lang="en-US" sz="2400" b="1" dirty="0" err="1">
                <a:solidFill>
                  <a:schemeClr val="tx1"/>
                </a:solidFill>
                <a:highlight>
                  <a:srgbClr val="FFFFFF"/>
                </a:highlight>
              </a:rPr>
              <a:t>arası</a:t>
            </a:r>
            <a:r>
              <a:rPr lang="en-US" sz="2400" b="1" dirty="0">
                <a:solidFill>
                  <a:schemeClr val="tx1"/>
                </a:solidFill>
                <a:highlight>
                  <a:srgbClr val="FFFFFF"/>
                </a:highlight>
              </a:rPr>
              <a:t> varyans </a:t>
            </a:r>
            <a:r>
              <a:rPr lang="en-US" sz="2400" b="1" dirty="0" err="1">
                <a:solidFill>
                  <a:schemeClr val="tx1"/>
                </a:solidFill>
                <a:highlight>
                  <a:srgbClr val="FFFFFF"/>
                </a:highlight>
              </a:rPr>
              <a:t>Grup</a:t>
            </a:r>
            <a:r>
              <a:rPr lang="en-US" sz="2400" b="1" dirty="0">
                <a:solidFill>
                  <a:schemeClr val="tx1"/>
                </a:solidFill>
                <a:highlight>
                  <a:srgbClr val="FFFFFF"/>
                </a:highlight>
              </a:rPr>
              <a:t> </a:t>
            </a:r>
            <a:r>
              <a:rPr lang="en-US" sz="2400" b="1" dirty="0" err="1">
                <a:solidFill>
                  <a:schemeClr val="tx1"/>
                </a:solidFill>
                <a:highlight>
                  <a:srgbClr val="FFFFFF"/>
                </a:highlight>
              </a:rPr>
              <a:t>içi</a:t>
            </a:r>
            <a:r>
              <a:rPr lang="en-US" sz="2400" b="1" dirty="0">
                <a:solidFill>
                  <a:schemeClr val="tx1"/>
                </a:solidFill>
                <a:highlight>
                  <a:srgbClr val="FFFFFF"/>
                </a:highlight>
              </a:rPr>
              <a:t> </a:t>
            </a:r>
            <a:r>
              <a:rPr lang="en-US" sz="2400" b="1" dirty="0" err="1">
                <a:solidFill>
                  <a:schemeClr val="tx1"/>
                </a:solidFill>
                <a:highlight>
                  <a:srgbClr val="FFFFFF"/>
                </a:highlight>
              </a:rPr>
              <a:t>varyansa</a:t>
            </a:r>
            <a:r>
              <a:rPr lang="en-US" sz="2400" b="1" dirty="0">
                <a:solidFill>
                  <a:schemeClr val="tx1"/>
                </a:solidFill>
                <a:highlight>
                  <a:srgbClr val="FFFFFF"/>
                </a:highlight>
              </a:rPr>
              <a:t> </a:t>
            </a:r>
            <a:r>
              <a:rPr lang="en-US" sz="2400" dirty="0" err="1">
                <a:solidFill>
                  <a:schemeClr val="tx1"/>
                </a:solidFill>
                <a:highlight>
                  <a:srgbClr val="FFFFFF"/>
                </a:highlight>
              </a:rPr>
              <a:t>göre</a:t>
            </a:r>
            <a:r>
              <a:rPr lang="en-US" sz="2400" dirty="0">
                <a:solidFill>
                  <a:schemeClr val="tx1"/>
                </a:solidFill>
                <a:highlight>
                  <a:srgbClr val="FFFFFF"/>
                </a:highlight>
              </a:rPr>
              <a:t> </a:t>
            </a:r>
            <a:r>
              <a:rPr lang="en-US" sz="2400" dirty="0" err="1">
                <a:solidFill>
                  <a:schemeClr val="tx1"/>
                </a:solidFill>
                <a:highlight>
                  <a:srgbClr val="FFFFFF"/>
                </a:highlight>
              </a:rPr>
              <a:t>fazla</a:t>
            </a:r>
            <a:r>
              <a:rPr lang="en-US" sz="2400" dirty="0">
                <a:solidFill>
                  <a:schemeClr val="tx1"/>
                </a:solidFill>
                <a:highlight>
                  <a:srgbClr val="FFFFFF"/>
                </a:highlight>
              </a:rPr>
              <a:t> :</a:t>
            </a:r>
            <a:r>
              <a:rPr lang="en-US" sz="2400" dirty="0" err="1">
                <a:solidFill>
                  <a:schemeClr val="tx1"/>
                </a:solidFill>
                <a:highlight>
                  <a:srgbClr val="FFFFFF"/>
                </a:highlight>
              </a:rPr>
              <a:t>Büyük</a:t>
            </a:r>
            <a:r>
              <a:rPr lang="en-US" sz="2400" dirty="0">
                <a:solidFill>
                  <a:schemeClr val="tx1"/>
                </a:solidFill>
                <a:highlight>
                  <a:srgbClr val="FFFFFF"/>
                </a:highlight>
              </a:rPr>
              <a:t> F-</a:t>
            </a:r>
            <a:r>
              <a:rPr lang="en-US" sz="2400" dirty="0" err="1">
                <a:solidFill>
                  <a:schemeClr val="tx1"/>
                </a:solidFill>
                <a:highlight>
                  <a:srgbClr val="FFFFFF"/>
                </a:highlight>
              </a:rPr>
              <a:t>istatistiği</a:t>
            </a:r>
            <a:r>
              <a:rPr lang="en-US" sz="2400" dirty="0">
                <a:solidFill>
                  <a:schemeClr val="tx1"/>
                </a:solidFill>
                <a:highlight>
                  <a:srgbClr val="FFFFFF"/>
                </a:highlight>
              </a:rPr>
              <a:t> </a:t>
            </a:r>
          </a:p>
        </p:txBody>
      </p:sp>
    </p:spTree>
    <p:extLst>
      <p:ext uri="{BB962C8B-B14F-4D97-AF65-F5344CB8AC3E}">
        <p14:creationId xmlns:p14="http://schemas.microsoft.com/office/powerpoint/2010/main" val="1611383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7886700" cy="543594"/>
          </a:xfrm>
        </p:spPr>
        <p:txBody>
          <a:bodyPr>
            <a:normAutofit fontScale="90000"/>
          </a:bodyPr>
          <a:lstStyle/>
          <a:p>
            <a:r>
              <a:rPr lang="en-US" dirty="0">
                <a:solidFill>
                  <a:schemeClr val="bg1"/>
                </a:solidFill>
              </a:rPr>
              <a:t>ANOVA: </a:t>
            </a:r>
            <a:r>
              <a:rPr lang="en-US" dirty="0" err="1">
                <a:solidFill>
                  <a:schemeClr val="bg1"/>
                </a:solidFill>
              </a:rPr>
              <a:t>Aşamalar</a:t>
            </a:r>
            <a:endParaRPr lang="en-US" dirty="0">
              <a:solidFill>
                <a:schemeClr val="bg1"/>
              </a:solidFill>
            </a:endParaRPr>
          </a:p>
        </p:txBody>
      </p:sp>
      <p:sp>
        <p:nvSpPr>
          <p:cNvPr id="3" name="Content Placeholder 2"/>
          <p:cNvSpPr>
            <a:spLocks noGrp="1"/>
          </p:cNvSpPr>
          <p:nvPr>
            <p:ph idx="1"/>
          </p:nvPr>
        </p:nvSpPr>
        <p:spPr>
          <a:xfrm>
            <a:off x="395536" y="1268760"/>
            <a:ext cx="7886700" cy="4351338"/>
          </a:xfrm>
        </p:spPr>
        <p:txBody>
          <a:bodyPr>
            <a:normAutofit/>
          </a:bodyPr>
          <a:lstStyle/>
          <a:p>
            <a:pPr marL="0" indent="0">
              <a:buNone/>
            </a:pPr>
            <a:r>
              <a:rPr lang="en-US" sz="2800" dirty="0" err="1">
                <a:solidFill>
                  <a:schemeClr val="tx1"/>
                </a:solidFill>
              </a:rPr>
              <a:t>Aşama</a:t>
            </a:r>
            <a:r>
              <a:rPr lang="en-US" sz="2800" dirty="0">
                <a:solidFill>
                  <a:schemeClr val="tx1"/>
                </a:solidFill>
              </a:rPr>
              <a:t> 1. </a:t>
            </a:r>
            <a:r>
              <a:rPr lang="en-US" sz="2800" dirty="0" err="1">
                <a:solidFill>
                  <a:schemeClr val="tx1"/>
                </a:solidFill>
              </a:rPr>
              <a:t>Hipotezinizi</a:t>
            </a:r>
            <a:r>
              <a:rPr lang="en-US" sz="2800" dirty="0">
                <a:solidFill>
                  <a:schemeClr val="tx1"/>
                </a:solidFill>
              </a:rPr>
              <a:t> </a:t>
            </a:r>
            <a:r>
              <a:rPr lang="en-US" sz="2800" dirty="0" err="1">
                <a:solidFill>
                  <a:schemeClr val="tx1"/>
                </a:solidFill>
              </a:rPr>
              <a:t>kurun</a:t>
            </a:r>
            <a:endParaRPr lang="en-US" sz="2800" dirty="0">
              <a:solidFill>
                <a:schemeClr val="tx1"/>
              </a:solidFill>
            </a:endParaRPr>
          </a:p>
          <a:p>
            <a:pPr marL="0" indent="0">
              <a:buNone/>
            </a:pPr>
            <a:r>
              <a:rPr lang="en-US" sz="2800" dirty="0" err="1">
                <a:solidFill>
                  <a:schemeClr val="tx1"/>
                </a:solidFill>
              </a:rPr>
              <a:t>Aşama</a:t>
            </a:r>
            <a:r>
              <a:rPr lang="en-US" sz="2800" dirty="0">
                <a:solidFill>
                  <a:schemeClr val="tx1"/>
                </a:solidFill>
              </a:rPr>
              <a:t> 2. </a:t>
            </a:r>
            <a:r>
              <a:rPr lang="en-US" sz="2800" dirty="0" err="1">
                <a:solidFill>
                  <a:schemeClr val="tx1"/>
                </a:solidFill>
              </a:rPr>
              <a:t>Sayıltıları</a:t>
            </a:r>
            <a:r>
              <a:rPr lang="en-US" sz="2800" dirty="0">
                <a:solidFill>
                  <a:schemeClr val="tx1"/>
                </a:solidFill>
              </a:rPr>
              <a:t> test </a:t>
            </a:r>
            <a:r>
              <a:rPr lang="en-US" sz="2800" dirty="0" err="1">
                <a:solidFill>
                  <a:schemeClr val="tx1"/>
                </a:solidFill>
              </a:rPr>
              <a:t>edin</a:t>
            </a:r>
            <a:endParaRPr lang="en-US" sz="2800" dirty="0">
              <a:solidFill>
                <a:schemeClr val="tx1"/>
              </a:solidFill>
            </a:endParaRPr>
          </a:p>
          <a:p>
            <a:pPr marL="0" indent="0">
              <a:buNone/>
            </a:pPr>
            <a:r>
              <a:rPr lang="en-US" sz="2800" dirty="0" err="1">
                <a:solidFill>
                  <a:schemeClr val="tx1"/>
                </a:solidFill>
              </a:rPr>
              <a:t>Aşama</a:t>
            </a:r>
            <a:r>
              <a:rPr lang="en-US" sz="2800" dirty="0">
                <a:solidFill>
                  <a:schemeClr val="tx1"/>
                </a:solidFill>
              </a:rPr>
              <a:t> 3. </a:t>
            </a:r>
            <a:r>
              <a:rPr lang="en-US" sz="2800" dirty="0" err="1">
                <a:solidFill>
                  <a:schemeClr val="tx1"/>
                </a:solidFill>
              </a:rPr>
              <a:t>Testi</a:t>
            </a:r>
            <a:r>
              <a:rPr lang="en-US" sz="2800" dirty="0">
                <a:solidFill>
                  <a:schemeClr val="tx1"/>
                </a:solidFill>
              </a:rPr>
              <a:t> </a:t>
            </a:r>
            <a:r>
              <a:rPr lang="en-US" sz="2800" dirty="0" err="1">
                <a:solidFill>
                  <a:schemeClr val="tx1"/>
                </a:solidFill>
              </a:rPr>
              <a:t>uygulayın</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istatistiği</a:t>
            </a:r>
            <a:r>
              <a:rPr lang="en-US" sz="2800" dirty="0">
                <a:solidFill>
                  <a:schemeClr val="tx1"/>
                </a:solidFill>
              </a:rPr>
              <a:t> </a:t>
            </a:r>
            <a:r>
              <a:rPr lang="en-US" sz="2800" dirty="0" err="1">
                <a:solidFill>
                  <a:schemeClr val="tx1"/>
                </a:solidFill>
              </a:rPr>
              <a:t>hesaplayın</a:t>
            </a:r>
            <a:endParaRPr lang="en-US" sz="2800" dirty="0">
              <a:solidFill>
                <a:schemeClr val="tx1"/>
              </a:solidFill>
            </a:endParaRPr>
          </a:p>
          <a:p>
            <a:pPr marL="0" indent="0">
              <a:buNone/>
            </a:pPr>
            <a:r>
              <a:rPr lang="en-US" sz="2800" dirty="0" err="1">
                <a:solidFill>
                  <a:schemeClr val="tx1"/>
                </a:solidFill>
              </a:rPr>
              <a:t>Aşama</a:t>
            </a:r>
            <a:r>
              <a:rPr lang="en-US" sz="2800" dirty="0">
                <a:solidFill>
                  <a:schemeClr val="tx1"/>
                </a:solidFill>
              </a:rPr>
              <a:t> 4. p </a:t>
            </a:r>
            <a:r>
              <a:rPr lang="en-US" sz="2800" dirty="0" err="1">
                <a:solidFill>
                  <a:schemeClr val="tx1"/>
                </a:solidFill>
              </a:rPr>
              <a:t>değerini</a:t>
            </a:r>
            <a:r>
              <a:rPr lang="en-US" sz="2800" dirty="0">
                <a:solidFill>
                  <a:schemeClr val="tx1"/>
                </a:solidFill>
              </a:rPr>
              <a:t> </a:t>
            </a:r>
            <a:r>
              <a:rPr lang="en-US" sz="2800" dirty="0" err="1">
                <a:solidFill>
                  <a:schemeClr val="tx1"/>
                </a:solidFill>
              </a:rPr>
              <a:t>yorumla</a:t>
            </a:r>
            <a:endParaRPr lang="en-US" sz="2800" dirty="0">
              <a:solidFill>
                <a:schemeClr val="tx1"/>
              </a:solidFill>
            </a:endParaRPr>
          </a:p>
          <a:p>
            <a:pPr lvl="1"/>
            <a:r>
              <a:rPr lang="en-US" sz="2400" dirty="0">
                <a:solidFill>
                  <a:schemeClr val="tx1"/>
                </a:solidFill>
              </a:rPr>
              <a:t>Eğer </a:t>
            </a:r>
            <a:r>
              <a:rPr lang="en-US" sz="2400" dirty="0" err="1">
                <a:solidFill>
                  <a:schemeClr val="tx1"/>
                </a:solidFill>
              </a:rPr>
              <a:t>boş</a:t>
            </a:r>
            <a:r>
              <a:rPr lang="en-US" sz="2400" dirty="0">
                <a:solidFill>
                  <a:schemeClr val="tx1"/>
                </a:solidFill>
              </a:rPr>
              <a:t> </a:t>
            </a:r>
            <a:r>
              <a:rPr lang="en-US" sz="2400" dirty="0" err="1">
                <a:solidFill>
                  <a:schemeClr val="tx1"/>
                </a:solidFill>
              </a:rPr>
              <a:t>hipotezi</a:t>
            </a:r>
            <a:r>
              <a:rPr lang="en-US" sz="2400" dirty="0">
                <a:solidFill>
                  <a:schemeClr val="tx1"/>
                </a:solidFill>
              </a:rPr>
              <a:t> </a:t>
            </a:r>
            <a:r>
              <a:rPr lang="en-US" sz="2400" dirty="0" err="1">
                <a:solidFill>
                  <a:schemeClr val="tx1"/>
                </a:solidFill>
              </a:rPr>
              <a:t>kabul</a:t>
            </a:r>
            <a:r>
              <a:rPr lang="en-US" sz="2400" dirty="0">
                <a:solidFill>
                  <a:schemeClr val="tx1"/>
                </a:solidFill>
              </a:rPr>
              <a:t> </a:t>
            </a:r>
            <a:r>
              <a:rPr lang="en-US" sz="2400" dirty="0" err="1">
                <a:solidFill>
                  <a:schemeClr val="tx1"/>
                </a:solidFill>
              </a:rPr>
              <a:t>ederseniz</a:t>
            </a:r>
            <a:r>
              <a:rPr lang="en-US" sz="2400" dirty="0">
                <a:solidFill>
                  <a:schemeClr val="tx1"/>
                </a:solidFill>
              </a:rPr>
              <a:t>, DURUN </a:t>
            </a:r>
            <a:r>
              <a:rPr lang="en-US" sz="2400" dirty="0" err="1">
                <a:solidFill>
                  <a:schemeClr val="tx1"/>
                </a:solidFill>
              </a:rPr>
              <a:t>ve</a:t>
            </a:r>
            <a:r>
              <a:rPr lang="en-US" sz="2400" dirty="0">
                <a:solidFill>
                  <a:schemeClr val="tx1"/>
                </a:solidFill>
              </a:rPr>
              <a:t> </a:t>
            </a:r>
            <a:r>
              <a:rPr lang="en-US" sz="2400" dirty="0" err="1">
                <a:solidFill>
                  <a:schemeClr val="tx1"/>
                </a:solidFill>
              </a:rPr>
              <a:t>Sonucu</a:t>
            </a:r>
            <a:r>
              <a:rPr lang="en-US" sz="2400" dirty="0">
                <a:solidFill>
                  <a:schemeClr val="tx1"/>
                </a:solidFill>
              </a:rPr>
              <a:t> </a:t>
            </a:r>
            <a:r>
              <a:rPr lang="en-US" sz="2400" dirty="0" err="1">
                <a:solidFill>
                  <a:schemeClr val="tx1"/>
                </a:solidFill>
              </a:rPr>
              <a:t>Yorumlayın</a:t>
            </a:r>
            <a:endParaRPr lang="en-US" sz="2400" dirty="0">
              <a:solidFill>
                <a:schemeClr val="tx1"/>
              </a:solidFill>
            </a:endParaRPr>
          </a:p>
          <a:p>
            <a:pPr lvl="1"/>
            <a:r>
              <a:rPr lang="en-US" sz="2400" dirty="0">
                <a:solidFill>
                  <a:schemeClr val="tx1"/>
                </a:solidFill>
              </a:rPr>
              <a:t>Eğer </a:t>
            </a:r>
            <a:r>
              <a:rPr lang="en-US" sz="2400" dirty="0" err="1">
                <a:solidFill>
                  <a:schemeClr val="tx1"/>
                </a:solidFill>
              </a:rPr>
              <a:t>boş</a:t>
            </a:r>
            <a:r>
              <a:rPr lang="en-US" sz="2400" dirty="0">
                <a:solidFill>
                  <a:schemeClr val="tx1"/>
                </a:solidFill>
              </a:rPr>
              <a:t> </a:t>
            </a:r>
            <a:r>
              <a:rPr lang="en-US" sz="2400" dirty="0" err="1">
                <a:solidFill>
                  <a:schemeClr val="tx1"/>
                </a:solidFill>
              </a:rPr>
              <a:t>hipotezi</a:t>
            </a:r>
            <a:r>
              <a:rPr lang="en-US" sz="2400" dirty="0">
                <a:solidFill>
                  <a:schemeClr val="tx1"/>
                </a:solidFill>
              </a:rPr>
              <a:t> red </a:t>
            </a:r>
            <a:r>
              <a:rPr lang="en-US" sz="2400" dirty="0" err="1">
                <a:solidFill>
                  <a:schemeClr val="tx1"/>
                </a:solidFill>
              </a:rPr>
              <a:t>ederseniz</a:t>
            </a:r>
            <a:r>
              <a:rPr lang="en-US" sz="2400" dirty="0">
                <a:solidFill>
                  <a:schemeClr val="tx1"/>
                </a:solidFill>
              </a:rPr>
              <a:t> </a:t>
            </a:r>
            <a:r>
              <a:rPr lang="en-US" sz="2400" dirty="0" err="1">
                <a:solidFill>
                  <a:schemeClr val="tx1"/>
                </a:solidFill>
              </a:rPr>
              <a:t>işlem</a:t>
            </a:r>
            <a:r>
              <a:rPr lang="en-US" sz="2400" dirty="0">
                <a:solidFill>
                  <a:schemeClr val="tx1"/>
                </a:solidFill>
              </a:rPr>
              <a:t> </a:t>
            </a:r>
            <a:r>
              <a:rPr lang="en-US" sz="2400" dirty="0" err="1">
                <a:solidFill>
                  <a:schemeClr val="tx1"/>
                </a:solidFill>
              </a:rPr>
              <a:t>sonrası</a:t>
            </a:r>
            <a:r>
              <a:rPr lang="en-US" sz="2400" dirty="0">
                <a:solidFill>
                  <a:schemeClr val="tx1"/>
                </a:solidFill>
              </a:rPr>
              <a:t> (post-hoc) </a:t>
            </a:r>
            <a:r>
              <a:rPr lang="en-US" sz="2400" dirty="0" err="1">
                <a:solidFill>
                  <a:schemeClr val="tx1"/>
                </a:solidFill>
              </a:rPr>
              <a:t>testleriyle</a:t>
            </a:r>
            <a:r>
              <a:rPr lang="en-US" sz="2400" dirty="0">
                <a:solidFill>
                  <a:schemeClr val="tx1"/>
                </a:solidFill>
              </a:rPr>
              <a:t> </a:t>
            </a:r>
            <a:r>
              <a:rPr lang="en-US" sz="2400" dirty="0" err="1">
                <a:solidFill>
                  <a:schemeClr val="tx1"/>
                </a:solidFill>
              </a:rPr>
              <a:t>hangi</a:t>
            </a:r>
            <a:r>
              <a:rPr lang="en-US" sz="2400" dirty="0">
                <a:solidFill>
                  <a:schemeClr val="tx1"/>
                </a:solidFill>
              </a:rPr>
              <a:t> </a:t>
            </a:r>
            <a:r>
              <a:rPr lang="en-US" sz="2400" dirty="0" err="1">
                <a:solidFill>
                  <a:schemeClr val="tx1"/>
                </a:solidFill>
              </a:rPr>
              <a:t>gruplar</a:t>
            </a:r>
            <a:r>
              <a:rPr lang="en-US" sz="2400" dirty="0">
                <a:solidFill>
                  <a:schemeClr val="tx1"/>
                </a:solidFill>
              </a:rPr>
              <a:t> </a:t>
            </a:r>
            <a:r>
              <a:rPr lang="en-US" sz="2400" dirty="0" err="1">
                <a:solidFill>
                  <a:schemeClr val="tx1"/>
                </a:solidFill>
              </a:rPr>
              <a:t>arasında</a:t>
            </a:r>
            <a:r>
              <a:rPr lang="en-US" sz="2400" dirty="0">
                <a:solidFill>
                  <a:schemeClr val="tx1"/>
                </a:solidFill>
              </a:rPr>
              <a:t> fark var </a:t>
            </a:r>
            <a:r>
              <a:rPr lang="en-US" sz="2400" dirty="0" err="1">
                <a:solidFill>
                  <a:schemeClr val="tx1"/>
                </a:solidFill>
              </a:rPr>
              <a:t>tespit</a:t>
            </a:r>
            <a:r>
              <a:rPr lang="en-US" sz="2400" dirty="0">
                <a:solidFill>
                  <a:schemeClr val="tx1"/>
                </a:solidFill>
              </a:rPr>
              <a:t> </a:t>
            </a:r>
            <a:r>
              <a:rPr lang="en-US" sz="2400" dirty="0" err="1">
                <a:solidFill>
                  <a:schemeClr val="tx1"/>
                </a:solidFill>
              </a:rPr>
              <a:t>etmeniz</a:t>
            </a:r>
            <a:r>
              <a:rPr lang="en-US" sz="2400" dirty="0">
                <a:solidFill>
                  <a:schemeClr val="tx1"/>
                </a:solidFill>
              </a:rPr>
              <a:t> </a:t>
            </a:r>
            <a:r>
              <a:rPr lang="en-US" sz="2400" dirty="0" err="1">
                <a:solidFill>
                  <a:schemeClr val="tx1"/>
                </a:solidFill>
              </a:rPr>
              <a:t>gerekir</a:t>
            </a:r>
            <a:r>
              <a:rPr lang="en-US" sz="2400" dirty="0">
                <a:solidFill>
                  <a:schemeClr val="tx1"/>
                </a:solidFill>
              </a:rPr>
              <a:t>.</a:t>
            </a:r>
          </a:p>
          <a:p>
            <a:pPr lvl="1"/>
            <a:endParaRPr lang="en-US" sz="2400" dirty="0">
              <a:solidFill>
                <a:schemeClr val="tx1"/>
              </a:solidFill>
            </a:endParaRPr>
          </a:p>
        </p:txBody>
      </p:sp>
    </p:spTree>
    <p:extLst>
      <p:ext uri="{BB962C8B-B14F-4D97-AF65-F5344CB8AC3E}">
        <p14:creationId xmlns:p14="http://schemas.microsoft.com/office/powerpoint/2010/main" val="36034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90" name="Rectangle 2"/>
          <p:cNvSpPr>
            <a:spLocks noGrp="1" noChangeArrowheads="1"/>
          </p:cNvSpPr>
          <p:nvPr>
            <p:ph type="title"/>
          </p:nvPr>
        </p:nvSpPr>
        <p:spPr/>
        <p:txBody>
          <a:bodyPr/>
          <a:lstStyle/>
          <a:p>
            <a:pPr eaLnBrk="1" fontAlgn="auto" hangingPunct="1">
              <a:spcAft>
                <a:spcPts val="0"/>
              </a:spcAft>
              <a:defRPr/>
            </a:pPr>
            <a:r>
              <a:rPr lang="tr-TR" dirty="0">
                <a:solidFill>
                  <a:schemeClr val="bg1"/>
                </a:solidFill>
              </a:rPr>
              <a:t>Tek yönlü ANOVA örneği</a:t>
            </a:r>
            <a:endParaRPr lang="en-US" dirty="0">
              <a:solidFill>
                <a:schemeClr val="bg1"/>
              </a:solidFill>
            </a:endParaRPr>
          </a:p>
        </p:txBody>
      </p:sp>
      <p:pic>
        <p:nvPicPr>
          <p:cNvPr id="20483" name="Resim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989138"/>
            <a:ext cx="8137525"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Metin kutusu 5"/>
          <p:cNvSpPr txBox="1">
            <a:spLocks noChangeArrowheads="1"/>
          </p:cNvSpPr>
          <p:nvPr/>
        </p:nvSpPr>
        <p:spPr bwMode="auto">
          <a:xfrm>
            <a:off x="250825" y="968375"/>
            <a:ext cx="87137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0"/>
              </a:spcBef>
              <a:spcAft>
                <a:spcPct val="0"/>
              </a:spcAft>
              <a:defRPr sz="2000">
                <a:solidFill>
                  <a:schemeClr val="tx1"/>
                </a:solidFill>
                <a:latin typeface="Arial" charset="0"/>
              </a:defRPr>
            </a:lvl6pPr>
            <a:lvl7pPr marL="2971800" indent="-228600" eaLnBrk="0" fontAlgn="base" hangingPunct="0">
              <a:spcBef>
                <a:spcPct val="0"/>
              </a:spcBef>
              <a:spcAft>
                <a:spcPct val="0"/>
              </a:spcAft>
              <a:defRPr sz="2000">
                <a:solidFill>
                  <a:schemeClr val="tx1"/>
                </a:solidFill>
                <a:latin typeface="Arial" charset="0"/>
              </a:defRPr>
            </a:lvl7pPr>
            <a:lvl8pPr marL="3429000" indent="-228600" eaLnBrk="0" fontAlgn="base" hangingPunct="0">
              <a:spcBef>
                <a:spcPct val="0"/>
              </a:spcBef>
              <a:spcAft>
                <a:spcPct val="0"/>
              </a:spcAft>
              <a:defRPr sz="2000">
                <a:solidFill>
                  <a:schemeClr val="tx1"/>
                </a:solidFill>
                <a:latin typeface="Arial" charset="0"/>
              </a:defRPr>
            </a:lvl8pPr>
            <a:lvl9pPr marL="3886200" indent="-228600" eaLnBrk="0" fontAlgn="base" hangingPunct="0">
              <a:spcBef>
                <a:spcPct val="0"/>
              </a:spcBef>
              <a:spcAft>
                <a:spcPct val="0"/>
              </a:spcAft>
              <a:defRPr sz="2000">
                <a:solidFill>
                  <a:schemeClr val="tx1"/>
                </a:solidFill>
                <a:latin typeface="Arial" charset="0"/>
              </a:defRPr>
            </a:lvl9pPr>
          </a:lstStyle>
          <a:p>
            <a:pPr eaLnBrk="1" hangingPunct="1"/>
            <a:r>
              <a:rPr lang="tr-TR" altLang="tr-TR"/>
              <a:t>Sınavlar.sav veri seti: Öğrencilerin matematik notları sosyoekonomik düzeylerine göre farklılık gösteriyor mu?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5858" name="Rectangle 2"/>
          <p:cNvSpPr>
            <a:spLocks noGrp="1" noChangeArrowheads="1"/>
          </p:cNvSpPr>
          <p:nvPr>
            <p:ph type="title"/>
          </p:nvPr>
        </p:nvSpPr>
        <p:spPr/>
        <p:txBody>
          <a:bodyPr/>
          <a:lstStyle/>
          <a:p>
            <a:pPr eaLnBrk="1" fontAlgn="auto" hangingPunct="1">
              <a:spcAft>
                <a:spcPts val="0"/>
              </a:spcAft>
              <a:defRPr/>
            </a:pPr>
            <a:r>
              <a:rPr lang="tr-TR" dirty="0">
                <a:solidFill>
                  <a:schemeClr val="tx1">
                    <a:lumMod val="75000"/>
                    <a:lumOff val="25000"/>
                  </a:schemeClr>
                </a:solidFill>
              </a:rPr>
              <a:t>Önce hipotez kuralım</a:t>
            </a:r>
            <a:endParaRPr lang="en-US" dirty="0">
              <a:solidFill>
                <a:schemeClr val="tx1">
                  <a:lumMod val="75000"/>
                  <a:lumOff val="25000"/>
                </a:schemeClr>
              </a:solidFill>
            </a:endParaRPr>
          </a:p>
        </p:txBody>
      </p:sp>
      <p:sp>
        <p:nvSpPr>
          <p:cNvPr id="21508" name="Dikdörtgen 1"/>
          <p:cNvSpPr>
            <a:spLocks noChangeArrowheads="1"/>
          </p:cNvSpPr>
          <p:nvPr/>
        </p:nvSpPr>
        <p:spPr bwMode="auto">
          <a:xfrm>
            <a:off x="822325" y="1947863"/>
            <a:ext cx="816451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0"/>
              </a:spcBef>
              <a:spcAft>
                <a:spcPct val="0"/>
              </a:spcAft>
              <a:defRPr sz="2000">
                <a:solidFill>
                  <a:schemeClr val="tx1"/>
                </a:solidFill>
                <a:latin typeface="Arial" charset="0"/>
              </a:defRPr>
            </a:lvl6pPr>
            <a:lvl7pPr marL="2971800" indent="-228600" eaLnBrk="0" fontAlgn="base" hangingPunct="0">
              <a:spcBef>
                <a:spcPct val="0"/>
              </a:spcBef>
              <a:spcAft>
                <a:spcPct val="0"/>
              </a:spcAft>
              <a:defRPr sz="2000">
                <a:solidFill>
                  <a:schemeClr val="tx1"/>
                </a:solidFill>
                <a:latin typeface="Arial" charset="0"/>
              </a:defRPr>
            </a:lvl7pPr>
            <a:lvl8pPr marL="3429000" indent="-228600" eaLnBrk="0" fontAlgn="base" hangingPunct="0">
              <a:spcBef>
                <a:spcPct val="0"/>
              </a:spcBef>
              <a:spcAft>
                <a:spcPct val="0"/>
              </a:spcAft>
              <a:defRPr sz="2000">
                <a:solidFill>
                  <a:schemeClr val="tx1"/>
                </a:solidFill>
                <a:latin typeface="Arial" charset="0"/>
              </a:defRPr>
            </a:lvl8pPr>
            <a:lvl9pPr marL="3886200" indent="-228600" eaLnBrk="0" fontAlgn="base" hangingPunct="0">
              <a:spcBef>
                <a:spcPct val="0"/>
              </a:spcBef>
              <a:spcAft>
                <a:spcPct val="0"/>
              </a:spcAft>
              <a:defRPr sz="2000">
                <a:solidFill>
                  <a:schemeClr val="tx1"/>
                </a:solidFill>
                <a:latin typeface="Arial" charset="0"/>
              </a:defRPr>
            </a:lvl9pPr>
          </a:lstStyle>
          <a:p>
            <a:pPr eaLnBrk="1" hangingPunct="1"/>
            <a:r>
              <a:rPr lang="tr-TR" altLang="tr-TR" b="1" u="sng" dirty="0"/>
              <a:t>çift yönlü varyans analizi için hipotezler</a:t>
            </a:r>
            <a:br>
              <a:rPr lang="tr-TR" altLang="tr-TR" dirty="0"/>
            </a:br>
            <a:endParaRPr lang="tr-TR" altLang="tr-TR" dirty="0"/>
          </a:p>
          <a:p>
            <a:pPr eaLnBrk="1" hangingPunct="1"/>
            <a:r>
              <a:rPr lang="tr-TR" altLang="tr-TR" dirty="0"/>
              <a:t>H0:  %95 güvenle, grupların ortalamaları arasında istatistiksel olarak anlamlı bir farklılık yoktur. </a:t>
            </a:r>
            <a:r>
              <a:rPr lang="tr-TR" dirty="0">
                <a:sym typeface="Symbol" charset="2"/>
              </a:rPr>
              <a:t></a:t>
            </a:r>
            <a:r>
              <a:rPr lang="tr-TR" baseline="-25000" dirty="0"/>
              <a:t>1</a:t>
            </a:r>
            <a:r>
              <a:rPr lang="tr-TR" dirty="0"/>
              <a:t>=</a:t>
            </a:r>
            <a:r>
              <a:rPr lang="tr-TR" dirty="0">
                <a:sym typeface="Symbol" charset="2"/>
              </a:rPr>
              <a:t></a:t>
            </a:r>
            <a:r>
              <a:rPr lang="tr-TR" baseline="-25000" dirty="0"/>
              <a:t>2</a:t>
            </a:r>
            <a:r>
              <a:rPr lang="tr-TR" dirty="0"/>
              <a:t>=</a:t>
            </a:r>
            <a:r>
              <a:rPr lang="tr-TR" dirty="0">
                <a:sym typeface="Symbol" charset="2"/>
              </a:rPr>
              <a:t></a:t>
            </a:r>
            <a:r>
              <a:rPr lang="tr-TR" baseline="-25000" dirty="0"/>
              <a:t>3</a:t>
            </a:r>
            <a:br>
              <a:rPr lang="tr-TR" altLang="tr-TR" dirty="0"/>
            </a:br>
            <a:endParaRPr lang="tr-TR" altLang="tr-TR" dirty="0"/>
          </a:p>
          <a:p>
            <a:pPr eaLnBrk="1" hangingPunct="1"/>
            <a:r>
              <a:rPr lang="tr-TR" altLang="tr-TR" dirty="0"/>
              <a:t>H1:%95 güvenle, grupların ortalamaları arasında istatistiksel olarak anlamlı bir farklılık vardır.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46" name="Rectangle 6"/>
          <p:cNvSpPr>
            <a:spLocks noGrp="1" noChangeArrowheads="1"/>
          </p:cNvSpPr>
          <p:nvPr>
            <p:ph type="title"/>
          </p:nvPr>
        </p:nvSpPr>
        <p:spPr>
          <a:xfrm>
            <a:off x="246063" y="287338"/>
            <a:ext cx="7543800" cy="595312"/>
          </a:xfrm>
        </p:spPr>
        <p:txBody>
          <a:bodyPr>
            <a:normAutofit fontScale="90000"/>
          </a:bodyPr>
          <a:lstStyle/>
          <a:p>
            <a:pPr eaLnBrk="1" fontAlgn="auto" hangingPunct="1">
              <a:spcAft>
                <a:spcPts val="0"/>
              </a:spcAft>
              <a:defRPr/>
            </a:pPr>
            <a:r>
              <a:rPr lang="tr-TR" dirty="0" err="1">
                <a:solidFill>
                  <a:schemeClr val="bg1"/>
                </a:solidFill>
              </a:rPr>
              <a:t>JASP’ta</a:t>
            </a:r>
            <a:r>
              <a:rPr lang="tr-TR" dirty="0">
                <a:solidFill>
                  <a:schemeClr val="bg1"/>
                </a:solidFill>
              </a:rPr>
              <a:t> Analiz</a:t>
            </a:r>
          </a:p>
        </p:txBody>
      </p:sp>
      <p:pic>
        <p:nvPicPr>
          <p:cNvPr id="4" name="Resim 3">
            <a:extLst>
              <a:ext uri="{FF2B5EF4-FFF2-40B4-BE49-F238E27FC236}">
                <a16:creationId xmlns:a16="http://schemas.microsoft.com/office/drawing/2014/main" id="{BE540D2C-6BE9-4596-9989-099BA215FCAA}"/>
              </a:ext>
            </a:extLst>
          </p:cNvPr>
          <p:cNvPicPr>
            <a:picLocks noChangeAspect="1"/>
          </p:cNvPicPr>
          <p:nvPr/>
        </p:nvPicPr>
        <p:blipFill>
          <a:blip r:embed="rId2"/>
          <a:stretch>
            <a:fillRect/>
          </a:stretch>
        </p:blipFill>
        <p:spPr>
          <a:xfrm>
            <a:off x="323528" y="1340768"/>
            <a:ext cx="3448075" cy="3910041"/>
          </a:xfrm>
          <a:prstGeom prst="rect">
            <a:avLst/>
          </a:prstGeom>
        </p:spPr>
      </p:pic>
      <p:pic>
        <p:nvPicPr>
          <p:cNvPr id="6" name="Resim 5">
            <a:extLst>
              <a:ext uri="{FF2B5EF4-FFF2-40B4-BE49-F238E27FC236}">
                <a16:creationId xmlns:a16="http://schemas.microsoft.com/office/drawing/2014/main" id="{D5E7D402-2D65-4F45-A73F-9CE38E2726EB}"/>
              </a:ext>
            </a:extLst>
          </p:cNvPr>
          <p:cNvPicPr>
            <a:picLocks noChangeAspect="1"/>
          </p:cNvPicPr>
          <p:nvPr/>
        </p:nvPicPr>
        <p:blipFill>
          <a:blip r:embed="rId3"/>
          <a:stretch>
            <a:fillRect/>
          </a:stretch>
        </p:blipFill>
        <p:spPr>
          <a:xfrm>
            <a:off x="4067944" y="1318766"/>
            <a:ext cx="4535840" cy="405422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7886700" cy="577827"/>
          </a:xfrm>
        </p:spPr>
        <p:txBody>
          <a:bodyPr>
            <a:normAutofit fontScale="90000"/>
          </a:bodyPr>
          <a:lstStyle/>
          <a:p>
            <a:r>
              <a:rPr lang="en-US" b="1" dirty="0" err="1">
                <a:solidFill>
                  <a:schemeClr val="bg1"/>
                </a:solidFill>
              </a:rPr>
              <a:t>Sayıltıları</a:t>
            </a:r>
            <a:r>
              <a:rPr lang="en-US" b="1" dirty="0">
                <a:solidFill>
                  <a:schemeClr val="bg1"/>
                </a:solidFill>
              </a:rPr>
              <a:t> Test </a:t>
            </a:r>
            <a:r>
              <a:rPr lang="en-US" b="1" dirty="0" err="1">
                <a:solidFill>
                  <a:schemeClr val="bg1"/>
                </a:solidFill>
              </a:rPr>
              <a:t>Edelim</a:t>
            </a:r>
            <a:r>
              <a:rPr lang="en-US" b="1" dirty="0">
                <a:solidFill>
                  <a:schemeClr val="bg1"/>
                </a:solidFill>
              </a:rPr>
              <a:t> </a:t>
            </a:r>
          </a:p>
        </p:txBody>
      </p:sp>
      <p:pic>
        <p:nvPicPr>
          <p:cNvPr id="6" name="Resim 5">
            <a:extLst>
              <a:ext uri="{FF2B5EF4-FFF2-40B4-BE49-F238E27FC236}">
                <a16:creationId xmlns:a16="http://schemas.microsoft.com/office/drawing/2014/main" id="{A2347E68-53AA-4B6C-8162-DD68B57B8607}"/>
              </a:ext>
            </a:extLst>
          </p:cNvPr>
          <p:cNvPicPr>
            <a:picLocks noChangeAspect="1"/>
          </p:cNvPicPr>
          <p:nvPr/>
        </p:nvPicPr>
        <p:blipFill>
          <a:blip r:embed="rId2"/>
          <a:stretch>
            <a:fillRect/>
          </a:stretch>
        </p:blipFill>
        <p:spPr>
          <a:xfrm>
            <a:off x="107504" y="908720"/>
            <a:ext cx="5214754" cy="1584176"/>
          </a:xfrm>
          <a:prstGeom prst="rect">
            <a:avLst/>
          </a:prstGeom>
        </p:spPr>
      </p:pic>
      <p:pic>
        <p:nvPicPr>
          <p:cNvPr id="12" name="Resim 11">
            <a:extLst>
              <a:ext uri="{FF2B5EF4-FFF2-40B4-BE49-F238E27FC236}">
                <a16:creationId xmlns:a16="http://schemas.microsoft.com/office/drawing/2014/main" id="{CD773741-F3B0-4D22-BAE7-80D4FE10BBA0}"/>
              </a:ext>
            </a:extLst>
          </p:cNvPr>
          <p:cNvPicPr>
            <a:picLocks noChangeAspect="1"/>
          </p:cNvPicPr>
          <p:nvPr/>
        </p:nvPicPr>
        <p:blipFill>
          <a:blip r:embed="rId3"/>
          <a:stretch>
            <a:fillRect/>
          </a:stretch>
        </p:blipFill>
        <p:spPr>
          <a:xfrm>
            <a:off x="5376532" y="838475"/>
            <a:ext cx="3795630" cy="4824536"/>
          </a:xfrm>
          <a:prstGeom prst="rect">
            <a:avLst/>
          </a:prstGeom>
        </p:spPr>
      </p:pic>
      <p:sp>
        <p:nvSpPr>
          <p:cNvPr id="15" name="Dikdörtgen 6">
            <a:extLst>
              <a:ext uri="{FF2B5EF4-FFF2-40B4-BE49-F238E27FC236}">
                <a16:creationId xmlns:a16="http://schemas.microsoft.com/office/drawing/2014/main" id="{D36454CD-DE22-41FE-BEE4-68111BC0D89E}"/>
              </a:ext>
            </a:extLst>
          </p:cNvPr>
          <p:cNvSpPr>
            <a:spLocks noChangeArrowheads="1"/>
          </p:cNvSpPr>
          <p:nvPr/>
        </p:nvSpPr>
        <p:spPr bwMode="auto">
          <a:xfrm>
            <a:off x="78749" y="2831498"/>
            <a:ext cx="525825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0"/>
              </a:spcBef>
              <a:spcAft>
                <a:spcPct val="0"/>
              </a:spcAft>
              <a:defRPr sz="2000">
                <a:solidFill>
                  <a:schemeClr val="tx1"/>
                </a:solidFill>
                <a:latin typeface="Arial" charset="0"/>
              </a:defRPr>
            </a:lvl6pPr>
            <a:lvl7pPr marL="2971800" indent="-228600" eaLnBrk="0" fontAlgn="base" hangingPunct="0">
              <a:spcBef>
                <a:spcPct val="0"/>
              </a:spcBef>
              <a:spcAft>
                <a:spcPct val="0"/>
              </a:spcAft>
              <a:defRPr sz="2000">
                <a:solidFill>
                  <a:schemeClr val="tx1"/>
                </a:solidFill>
                <a:latin typeface="Arial" charset="0"/>
              </a:defRPr>
            </a:lvl7pPr>
            <a:lvl8pPr marL="3429000" indent="-228600" eaLnBrk="0" fontAlgn="base" hangingPunct="0">
              <a:spcBef>
                <a:spcPct val="0"/>
              </a:spcBef>
              <a:spcAft>
                <a:spcPct val="0"/>
              </a:spcAft>
              <a:defRPr sz="2000">
                <a:solidFill>
                  <a:schemeClr val="tx1"/>
                </a:solidFill>
                <a:latin typeface="Arial" charset="0"/>
              </a:defRPr>
            </a:lvl8pPr>
            <a:lvl9pPr marL="3886200" indent="-228600" eaLnBrk="0" fontAlgn="base" hangingPunct="0">
              <a:spcBef>
                <a:spcPct val="0"/>
              </a:spcBef>
              <a:spcAft>
                <a:spcPct val="0"/>
              </a:spcAft>
              <a:defRPr sz="2000">
                <a:solidFill>
                  <a:schemeClr val="tx1"/>
                </a:solidFill>
                <a:latin typeface="Arial" charset="0"/>
              </a:defRPr>
            </a:lvl9pPr>
          </a:lstStyle>
          <a:p>
            <a:pPr eaLnBrk="1" hangingPunct="1"/>
            <a:r>
              <a:rPr lang="tr-TR" altLang="tr-TR" sz="1600" b="1" dirty="0"/>
              <a:t>Varyansların homojenliği testi için hipotezler;</a:t>
            </a:r>
            <a:br>
              <a:rPr lang="tr-TR" altLang="tr-TR" sz="1600" b="1" dirty="0"/>
            </a:br>
            <a:r>
              <a:rPr lang="tr-TR" altLang="tr-TR" sz="1600" dirty="0"/>
              <a:t>H0: %95 güvenle, grup </a:t>
            </a:r>
            <a:r>
              <a:rPr lang="tr-TR" altLang="tr-TR" sz="1600" dirty="0" err="1"/>
              <a:t>varyansları</a:t>
            </a:r>
            <a:r>
              <a:rPr lang="tr-TR" altLang="tr-TR" sz="1600" dirty="0"/>
              <a:t> homojendir. (p&lt;0.05 ise </a:t>
            </a:r>
            <a:r>
              <a:rPr lang="tr-TR" altLang="tr-TR" sz="1600" dirty="0" err="1"/>
              <a:t>Ho</a:t>
            </a:r>
            <a:r>
              <a:rPr lang="tr-TR" altLang="tr-TR" sz="1600" dirty="0"/>
              <a:t> </a:t>
            </a:r>
            <a:r>
              <a:rPr lang="tr-TR" altLang="tr-TR" sz="1600" dirty="0" err="1"/>
              <a:t>Red</a:t>
            </a:r>
            <a:r>
              <a:rPr lang="tr-TR" altLang="tr-TR" sz="1600" dirty="0"/>
              <a:t>)</a:t>
            </a:r>
            <a:br>
              <a:rPr lang="tr-TR" altLang="tr-TR" sz="1600" dirty="0"/>
            </a:br>
            <a:r>
              <a:rPr lang="tr-TR" altLang="tr-TR" sz="1600" dirty="0"/>
              <a:t>H1: %95 güvenle, grup </a:t>
            </a:r>
            <a:r>
              <a:rPr lang="tr-TR" altLang="tr-TR" sz="1600" dirty="0" err="1"/>
              <a:t>varyansları</a:t>
            </a:r>
            <a:r>
              <a:rPr lang="tr-TR" altLang="tr-TR" sz="1600" dirty="0"/>
              <a:t> homojen değildir. </a:t>
            </a:r>
          </a:p>
        </p:txBody>
      </p:sp>
      <p:sp>
        <p:nvSpPr>
          <p:cNvPr id="17" name="Metin kutusu 16">
            <a:extLst>
              <a:ext uri="{FF2B5EF4-FFF2-40B4-BE49-F238E27FC236}">
                <a16:creationId xmlns:a16="http://schemas.microsoft.com/office/drawing/2014/main" id="{832BD571-032C-4421-B402-E078F92CDAD5}"/>
              </a:ext>
            </a:extLst>
          </p:cNvPr>
          <p:cNvSpPr txBox="1"/>
          <p:nvPr/>
        </p:nvSpPr>
        <p:spPr>
          <a:xfrm>
            <a:off x="118277" y="4036018"/>
            <a:ext cx="5258255" cy="1015663"/>
          </a:xfrm>
          <a:prstGeom prst="rect">
            <a:avLst/>
          </a:prstGeom>
          <a:noFill/>
        </p:spPr>
        <p:txBody>
          <a:bodyPr wrap="square">
            <a:spAutoFit/>
          </a:bodyPr>
          <a:lstStyle/>
          <a:p>
            <a:pPr eaLnBrk="1" hangingPunct="1"/>
            <a:r>
              <a:rPr lang="tr-TR" altLang="tr-TR" dirty="0"/>
              <a:t>Burada p değeri 0.868&gt;0.05 olduğu için homojenlik testi için olan H0 hipotezi kabul edilir. </a:t>
            </a:r>
          </a:p>
        </p:txBody>
      </p:sp>
      <p:sp>
        <p:nvSpPr>
          <p:cNvPr id="18" name="Dikdörtgen 8">
            <a:extLst>
              <a:ext uri="{FF2B5EF4-FFF2-40B4-BE49-F238E27FC236}">
                <a16:creationId xmlns:a16="http://schemas.microsoft.com/office/drawing/2014/main" id="{D397DD7A-C4D8-4E53-BE0C-A55A302E35FA}"/>
              </a:ext>
            </a:extLst>
          </p:cNvPr>
          <p:cNvSpPr>
            <a:spLocks noChangeArrowheads="1"/>
          </p:cNvSpPr>
          <p:nvPr/>
        </p:nvSpPr>
        <p:spPr bwMode="auto">
          <a:xfrm>
            <a:off x="357981" y="5767205"/>
            <a:ext cx="8428037" cy="923330"/>
          </a:xfrm>
          <a:prstGeom prst="rect">
            <a:avLst/>
          </a:prstGeom>
          <a:solidFill>
            <a:schemeClr val="accent4">
              <a:lumMod val="40000"/>
              <a:lumOff val="60000"/>
            </a:schemeClr>
          </a:solidFill>
          <a:ln>
            <a:noFill/>
          </a:ln>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0"/>
              </a:spcBef>
              <a:spcAft>
                <a:spcPct val="0"/>
              </a:spcAft>
              <a:defRPr sz="2000">
                <a:solidFill>
                  <a:schemeClr val="tx1"/>
                </a:solidFill>
                <a:latin typeface="Arial" charset="0"/>
              </a:defRPr>
            </a:lvl6pPr>
            <a:lvl7pPr marL="2971800" indent="-228600" eaLnBrk="0" fontAlgn="base" hangingPunct="0">
              <a:spcBef>
                <a:spcPct val="0"/>
              </a:spcBef>
              <a:spcAft>
                <a:spcPct val="0"/>
              </a:spcAft>
              <a:defRPr sz="2000">
                <a:solidFill>
                  <a:schemeClr val="tx1"/>
                </a:solidFill>
                <a:latin typeface="Arial" charset="0"/>
              </a:defRPr>
            </a:lvl7pPr>
            <a:lvl8pPr marL="3429000" indent="-228600" eaLnBrk="0" fontAlgn="base" hangingPunct="0">
              <a:spcBef>
                <a:spcPct val="0"/>
              </a:spcBef>
              <a:spcAft>
                <a:spcPct val="0"/>
              </a:spcAft>
              <a:defRPr sz="2000">
                <a:solidFill>
                  <a:schemeClr val="tx1"/>
                </a:solidFill>
                <a:latin typeface="Arial" charset="0"/>
              </a:defRPr>
            </a:lvl8pPr>
            <a:lvl9pPr marL="3886200" indent="-228600" eaLnBrk="0" fontAlgn="base" hangingPunct="0">
              <a:spcBef>
                <a:spcPct val="0"/>
              </a:spcBef>
              <a:spcAft>
                <a:spcPct val="0"/>
              </a:spcAft>
              <a:defRPr sz="2000">
                <a:solidFill>
                  <a:schemeClr val="tx1"/>
                </a:solidFill>
                <a:latin typeface="Arial" charset="0"/>
              </a:defRPr>
            </a:lvl9pPr>
          </a:lstStyle>
          <a:p>
            <a:pPr algn="ctr" eaLnBrk="1" hangingPunct="1"/>
            <a:r>
              <a:rPr lang="tr-TR" altLang="tr-TR" sz="1800" dirty="0"/>
              <a:t>Gruplar arası </a:t>
            </a:r>
            <a:r>
              <a:rPr lang="tr-TR" altLang="tr-TR" sz="1800" dirty="0" err="1"/>
              <a:t>varyanslar</a:t>
            </a:r>
            <a:r>
              <a:rPr lang="tr-TR" altLang="tr-TR" sz="1800" dirty="0"/>
              <a:t> </a:t>
            </a:r>
            <a:r>
              <a:rPr lang="tr-TR" altLang="tr-TR" sz="1800" b="1" u="sng" dirty="0"/>
              <a:t>homojense</a:t>
            </a:r>
            <a:r>
              <a:rPr lang="tr-TR" altLang="tr-TR" sz="1800" dirty="0"/>
              <a:t> gruplar arası ortalamaların farklı olup olmadığını saptayabilmek için ANOVA tablosu, </a:t>
            </a:r>
            <a:r>
              <a:rPr lang="tr-TR" altLang="tr-TR" sz="1800" b="1" u="sng" dirty="0"/>
              <a:t>homojen değilse </a:t>
            </a:r>
            <a:br>
              <a:rPr lang="tr-TR" altLang="tr-TR" sz="1800" dirty="0"/>
            </a:br>
            <a:r>
              <a:rPr lang="tr-TR" altLang="tr-TR" sz="1800" dirty="0"/>
              <a:t>Brown–Forsythe F (1974) ve </a:t>
            </a:r>
            <a:r>
              <a:rPr lang="tr-TR" altLang="tr-TR" sz="1800" dirty="0" err="1"/>
              <a:t>Welch’s</a:t>
            </a:r>
            <a:r>
              <a:rPr lang="tr-TR" altLang="tr-TR" sz="1800" dirty="0"/>
              <a:t> F (1951) istatistikleri kullanılabilir. </a:t>
            </a:r>
          </a:p>
        </p:txBody>
      </p:sp>
    </p:spTree>
    <p:extLst>
      <p:ext uri="{BB962C8B-B14F-4D97-AF65-F5344CB8AC3E}">
        <p14:creationId xmlns:p14="http://schemas.microsoft.com/office/powerpoint/2010/main" val="1131822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7886700" cy="838475"/>
          </a:xfrm>
        </p:spPr>
        <p:txBody>
          <a:bodyPr>
            <a:noAutofit/>
          </a:bodyPr>
          <a:lstStyle/>
          <a:p>
            <a:r>
              <a:rPr lang="en-US" sz="3000" b="1" dirty="0" err="1">
                <a:solidFill>
                  <a:schemeClr val="bg1"/>
                </a:solidFill>
              </a:rPr>
              <a:t>Sayıltıları</a:t>
            </a:r>
            <a:r>
              <a:rPr lang="en-US" sz="3000" b="1" dirty="0">
                <a:solidFill>
                  <a:schemeClr val="bg1"/>
                </a:solidFill>
              </a:rPr>
              <a:t> Test </a:t>
            </a:r>
            <a:r>
              <a:rPr lang="en-US" sz="3000" b="1" dirty="0" err="1">
                <a:solidFill>
                  <a:schemeClr val="bg1"/>
                </a:solidFill>
              </a:rPr>
              <a:t>Edelim</a:t>
            </a:r>
            <a:r>
              <a:rPr lang="tr-TR" sz="3000" b="1" dirty="0">
                <a:solidFill>
                  <a:schemeClr val="bg1"/>
                </a:solidFill>
              </a:rPr>
              <a:t>-</a:t>
            </a:r>
            <a:br>
              <a:rPr lang="tr-TR" sz="3000" b="1" dirty="0">
                <a:solidFill>
                  <a:schemeClr val="bg1"/>
                </a:solidFill>
              </a:rPr>
            </a:br>
            <a:r>
              <a:rPr lang="tr-TR" sz="3000" b="1" dirty="0">
                <a:solidFill>
                  <a:schemeClr val="bg1"/>
                </a:solidFill>
              </a:rPr>
              <a:t>Grup Düzeyinde Normallik</a:t>
            </a:r>
            <a:r>
              <a:rPr lang="en-US" sz="3000" b="1" dirty="0">
                <a:solidFill>
                  <a:schemeClr val="bg1"/>
                </a:solidFill>
              </a:rPr>
              <a:t> </a:t>
            </a:r>
          </a:p>
        </p:txBody>
      </p:sp>
      <p:pic>
        <p:nvPicPr>
          <p:cNvPr id="4" name="Resim 3">
            <a:extLst>
              <a:ext uri="{FF2B5EF4-FFF2-40B4-BE49-F238E27FC236}">
                <a16:creationId xmlns:a16="http://schemas.microsoft.com/office/drawing/2014/main" id="{9DE01028-3848-4A73-BAFC-B7326D549A51}"/>
              </a:ext>
            </a:extLst>
          </p:cNvPr>
          <p:cNvPicPr>
            <a:picLocks noChangeAspect="1"/>
          </p:cNvPicPr>
          <p:nvPr/>
        </p:nvPicPr>
        <p:blipFill>
          <a:blip r:embed="rId2"/>
          <a:stretch>
            <a:fillRect/>
          </a:stretch>
        </p:blipFill>
        <p:spPr>
          <a:xfrm>
            <a:off x="271016" y="980728"/>
            <a:ext cx="3888432" cy="2703600"/>
          </a:xfrm>
          <a:prstGeom prst="rect">
            <a:avLst/>
          </a:prstGeom>
        </p:spPr>
      </p:pic>
      <p:pic>
        <p:nvPicPr>
          <p:cNvPr id="8" name="Resim 7">
            <a:extLst>
              <a:ext uri="{FF2B5EF4-FFF2-40B4-BE49-F238E27FC236}">
                <a16:creationId xmlns:a16="http://schemas.microsoft.com/office/drawing/2014/main" id="{C875583B-7CC5-4177-B41A-AC7B31181A61}"/>
              </a:ext>
            </a:extLst>
          </p:cNvPr>
          <p:cNvPicPr>
            <a:picLocks noChangeAspect="1"/>
          </p:cNvPicPr>
          <p:nvPr/>
        </p:nvPicPr>
        <p:blipFill>
          <a:blip r:embed="rId3"/>
          <a:stretch>
            <a:fillRect/>
          </a:stretch>
        </p:blipFill>
        <p:spPr>
          <a:xfrm>
            <a:off x="3707904" y="3501008"/>
            <a:ext cx="5274958" cy="2703600"/>
          </a:xfrm>
          <a:prstGeom prst="rect">
            <a:avLst/>
          </a:prstGeom>
        </p:spPr>
      </p:pic>
      <p:sp>
        <p:nvSpPr>
          <p:cNvPr id="10" name="Metin kutusu 9">
            <a:extLst>
              <a:ext uri="{FF2B5EF4-FFF2-40B4-BE49-F238E27FC236}">
                <a16:creationId xmlns:a16="http://schemas.microsoft.com/office/drawing/2014/main" id="{7BF6160B-E052-43B1-B9F5-CFBE2CCA7BD9}"/>
              </a:ext>
            </a:extLst>
          </p:cNvPr>
          <p:cNvSpPr txBox="1"/>
          <p:nvPr/>
        </p:nvSpPr>
        <p:spPr>
          <a:xfrm>
            <a:off x="4572000" y="1824248"/>
            <a:ext cx="4121546" cy="1323439"/>
          </a:xfrm>
          <a:prstGeom prst="rect">
            <a:avLst/>
          </a:prstGeom>
          <a:noFill/>
        </p:spPr>
        <p:txBody>
          <a:bodyPr wrap="square">
            <a:spAutoFit/>
          </a:bodyPr>
          <a:lstStyle/>
          <a:p>
            <a:pPr eaLnBrk="1" hangingPunct="1"/>
            <a:r>
              <a:rPr lang="tr-TR" altLang="tr-TR" dirty="0"/>
              <a:t>Z çarpıklık ve Z basıklık değerlerini hesapladığımızda düşük SED grubunun dağılımının normalden uzak olduğunu görebiliriz.</a:t>
            </a:r>
          </a:p>
        </p:txBody>
      </p:sp>
    </p:spTree>
    <p:extLst>
      <p:ext uri="{BB962C8B-B14F-4D97-AF65-F5344CB8AC3E}">
        <p14:creationId xmlns:p14="http://schemas.microsoft.com/office/powerpoint/2010/main" val="1731517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33" name="Rectangle 5"/>
          <p:cNvSpPr>
            <a:spLocks noGrp="1" noChangeArrowheads="1"/>
          </p:cNvSpPr>
          <p:nvPr>
            <p:ph type="title"/>
          </p:nvPr>
        </p:nvSpPr>
        <p:spPr>
          <a:xfrm>
            <a:off x="395288" y="836613"/>
            <a:ext cx="8229600" cy="914400"/>
          </a:xfrm>
        </p:spPr>
        <p:txBody>
          <a:bodyPr/>
          <a:lstStyle/>
          <a:p>
            <a:pPr eaLnBrk="1" fontAlgn="auto" hangingPunct="1">
              <a:spcAft>
                <a:spcPts val="0"/>
              </a:spcAft>
              <a:defRPr/>
            </a:pPr>
            <a:r>
              <a:rPr lang="tr-TR" sz="3600" dirty="0">
                <a:solidFill>
                  <a:schemeClr val="tx1"/>
                </a:solidFill>
              </a:rPr>
              <a:t>Tanımlayıcı istatistikler</a:t>
            </a:r>
            <a:endParaRPr lang="en-US" sz="3600" dirty="0">
              <a:solidFill>
                <a:schemeClr val="tx1"/>
              </a:solidFill>
            </a:endParaRPr>
          </a:p>
        </p:txBody>
      </p:sp>
      <p:pic>
        <p:nvPicPr>
          <p:cNvPr id="4" name="Resim 3">
            <a:extLst>
              <a:ext uri="{FF2B5EF4-FFF2-40B4-BE49-F238E27FC236}">
                <a16:creationId xmlns:a16="http://schemas.microsoft.com/office/drawing/2014/main" id="{5C03E115-0FDF-4EBE-AF94-FD2EF5B9943C}"/>
              </a:ext>
            </a:extLst>
          </p:cNvPr>
          <p:cNvPicPr>
            <a:picLocks noChangeAspect="1"/>
          </p:cNvPicPr>
          <p:nvPr/>
        </p:nvPicPr>
        <p:blipFill>
          <a:blip r:embed="rId2"/>
          <a:stretch>
            <a:fillRect/>
          </a:stretch>
        </p:blipFill>
        <p:spPr>
          <a:xfrm>
            <a:off x="287301" y="2132856"/>
            <a:ext cx="8843229" cy="21602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2418860D-572A-4DAE-8CB9-BB5466AFBE89}"/>
              </a:ext>
            </a:extLst>
          </p:cNvPr>
          <p:cNvPicPr>
            <a:picLocks noChangeAspect="1"/>
          </p:cNvPicPr>
          <p:nvPr/>
        </p:nvPicPr>
        <p:blipFill>
          <a:blip r:embed="rId2"/>
          <a:stretch>
            <a:fillRect/>
          </a:stretch>
        </p:blipFill>
        <p:spPr>
          <a:xfrm>
            <a:off x="331488" y="1102960"/>
            <a:ext cx="8481024" cy="1993883"/>
          </a:xfrm>
          <a:prstGeom prst="rect">
            <a:avLst/>
          </a:prstGeom>
        </p:spPr>
      </p:pic>
      <p:sp>
        <p:nvSpPr>
          <p:cNvPr id="1126412" name="Rectangle 12"/>
          <p:cNvSpPr>
            <a:spLocks noGrp="1" noChangeArrowheads="1"/>
          </p:cNvSpPr>
          <p:nvPr>
            <p:ph type="title"/>
          </p:nvPr>
        </p:nvSpPr>
        <p:spPr>
          <a:xfrm>
            <a:off x="469900" y="171651"/>
            <a:ext cx="7543800" cy="700087"/>
          </a:xfrm>
        </p:spPr>
        <p:txBody>
          <a:bodyPr/>
          <a:lstStyle/>
          <a:p>
            <a:pPr eaLnBrk="1" fontAlgn="auto" hangingPunct="1">
              <a:spcAft>
                <a:spcPts val="0"/>
              </a:spcAft>
              <a:defRPr/>
            </a:pPr>
            <a:r>
              <a:rPr lang="tr-TR" sz="3600" dirty="0">
                <a:solidFill>
                  <a:schemeClr val="bg1"/>
                </a:solidFill>
              </a:rPr>
              <a:t>ANOVA ve Ortalamaların Eşitliği testi</a:t>
            </a:r>
            <a:endParaRPr lang="en-US" sz="3600" dirty="0">
              <a:solidFill>
                <a:schemeClr val="bg1"/>
              </a:solidFill>
            </a:endParaRPr>
          </a:p>
        </p:txBody>
      </p:sp>
      <p:sp>
        <p:nvSpPr>
          <p:cNvPr id="26628" name="Oval 15"/>
          <p:cNvSpPr>
            <a:spLocks noChangeArrowheads="1"/>
          </p:cNvSpPr>
          <p:nvPr/>
        </p:nvSpPr>
        <p:spPr bwMode="auto">
          <a:xfrm>
            <a:off x="6588224" y="1924708"/>
            <a:ext cx="1065336" cy="350386"/>
          </a:xfrm>
          <a:prstGeom prst="ellipse">
            <a:avLst/>
          </a:prstGeom>
          <a:noFill/>
          <a:ln w="38100">
            <a:solidFill>
              <a:schemeClr val="accent2">
                <a:lumMod val="75000"/>
              </a:schemeClr>
            </a:solidFill>
            <a:round/>
            <a:headEnd/>
            <a:tailEnd/>
          </a:ln>
          <a:effectLst/>
        </p:spPr>
        <p:txBody>
          <a:bodyPr wrap="none" anchor="ct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0"/>
              </a:spcBef>
              <a:spcAft>
                <a:spcPct val="0"/>
              </a:spcAft>
              <a:defRPr sz="2000">
                <a:solidFill>
                  <a:schemeClr val="tx1"/>
                </a:solidFill>
                <a:latin typeface="Arial" charset="0"/>
              </a:defRPr>
            </a:lvl6pPr>
            <a:lvl7pPr marL="2971800" indent="-228600" eaLnBrk="0" fontAlgn="base" hangingPunct="0">
              <a:spcBef>
                <a:spcPct val="0"/>
              </a:spcBef>
              <a:spcAft>
                <a:spcPct val="0"/>
              </a:spcAft>
              <a:defRPr sz="2000">
                <a:solidFill>
                  <a:schemeClr val="tx1"/>
                </a:solidFill>
                <a:latin typeface="Arial" charset="0"/>
              </a:defRPr>
            </a:lvl7pPr>
            <a:lvl8pPr marL="3429000" indent="-228600" eaLnBrk="0" fontAlgn="base" hangingPunct="0">
              <a:spcBef>
                <a:spcPct val="0"/>
              </a:spcBef>
              <a:spcAft>
                <a:spcPct val="0"/>
              </a:spcAft>
              <a:defRPr sz="2000">
                <a:solidFill>
                  <a:schemeClr val="tx1"/>
                </a:solidFill>
                <a:latin typeface="Arial" charset="0"/>
              </a:defRPr>
            </a:lvl8pPr>
            <a:lvl9pPr marL="3886200" indent="-228600" eaLnBrk="0" fontAlgn="base" hangingPunct="0">
              <a:spcBef>
                <a:spcPct val="0"/>
              </a:spcBef>
              <a:spcAft>
                <a:spcPct val="0"/>
              </a:spcAft>
              <a:defRPr sz="2000">
                <a:solidFill>
                  <a:schemeClr val="tx1"/>
                </a:solidFill>
                <a:latin typeface="Arial" charset="0"/>
              </a:defRPr>
            </a:lvl9pPr>
          </a:lstStyle>
          <a:p>
            <a:pPr algn="ctr" eaLnBrk="1" hangingPunct="1"/>
            <a:endParaRPr lang="tr-TR" altLang="tr-TR" dirty="0"/>
          </a:p>
        </p:txBody>
      </p:sp>
      <p:sp>
        <p:nvSpPr>
          <p:cNvPr id="2" name="Rectangle 1"/>
          <p:cNvSpPr/>
          <p:nvPr/>
        </p:nvSpPr>
        <p:spPr>
          <a:xfrm>
            <a:off x="469900" y="2974122"/>
            <a:ext cx="6966520" cy="707886"/>
          </a:xfrm>
          <a:prstGeom prst="rect">
            <a:avLst/>
          </a:prstGeom>
        </p:spPr>
        <p:txBody>
          <a:bodyPr wrap="square">
            <a:spAutoFit/>
          </a:bodyPr>
          <a:lstStyle/>
          <a:p>
            <a:r>
              <a:rPr lang="en-US" dirty="0">
                <a:latin typeface="Helvetica" charset="0"/>
              </a:rPr>
              <a:t>p&lt;</a:t>
            </a:r>
            <a:r>
              <a:rPr lang="en-TR" dirty="0"/>
              <a:t> 0</a:t>
            </a:r>
            <a:r>
              <a:rPr lang="en-US" dirty="0">
                <a:latin typeface="Helvetica" charset="0"/>
              </a:rPr>
              <a:t>.05 </a:t>
            </a:r>
            <a:r>
              <a:rPr lang="en-US" dirty="0" err="1">
                <a:latin typeface="Helvetica" charset="0"/>
              </a:rPr>
              <a:t>ise</a:t>
            </a:r>
            <a:r>
              <a:rPr lang="en-US" dirty="0">
                <a:latin typeface="Helvetica" charset="0"/>
              </a:rPr>
              <a:t> GRUPLAR ARASI </a:t>
            </a:r>
            <a:r>
              <a:rPr lang="en-US" dirty="0">
                <a:solidFill>
                  <a:srgbClr val="00B050"/>
                </a:solidFill>
                <a:latin typeface="Helvetica" charset="0"/>
              </a:rPr>
              <a:t>ANLAMLI FARK VAR </a:t>
            </a:r>
          </a:p>
          <a:p>
            <a:r>
              <a:rPr lang="en-US" dirty="0">
                <a:latin typeface="Helvetica" charset="0"/>
              </a:rPr>
              <a:t>p≥ 0.05 </a:t>
            </a:r>
            <a:r>
              <a:rPr lang="en-US" dirty="0" err="1">
                <a:latin typeface="Helvetica" charset="0"/>
              </a:rPr>
              <a:t>ise</a:t>
            </a:r>
            <a:r>
              <a:rPr lang="en-US" dirty="0">
                <a:latin typeface="Helvetica" charset="0"/>
              </a:rPr>
              <a:t> </a:t>
            </a:r>
            <a:r>
              <a:rPr lang="en-US" dirty="0">
                <a:solidFill>
                  <a:srgbClr val="FF2600"/>
                </a:solidFill>
                <a:latin typeface="Helvetica" charset="0"/>
              </a:rPr>
              <a:t>ANLAMLI FARK YOK</a:t>
            </a:r>
            <a:endParaRPr lang="en-US" dirty="0">
              <a:effectLst/>
              <a:latin typeface="Helvetica" charset="0"/>
            </a:endParaRPr>
          </a:p>
        </p:txBody>
      </p:sp>
      <p:sp>
        <p:nvSpPr>
          <p:cNvPr id="9" name="Rectangle 3">
            <a:extLst>
              <a:ext uri="{FF2B5EF4-FFF2-40B4-BE49-F238E27FC236}">
                <a16:creationId xmlns:a16="http://schemas.microsoft.com/office/drawing/2014/main" id="{39CAE9A7-CA7D-48A2-85E6-D4992C769EC3}"/>
              </a:ext>
            </a:extLst>
          </p:cNvPr>
          <p:cNvSpPr>
            <a:spLocks noGrp="1" noChangeArrowheads="1"/>
          </p:cNvSpPr>
          <p:nvPr>
            <p:ph idx="1"/>
          </p:nvPr>
        </p:nvSpPr>
        <p:spPr>
          <a:xfrm>
            <a:off x="366972" y="4077072"/>
            <a:ext cx="8445539" cy="2132659"/>
          </a:xfrm>
        </p:spPr>
        <p:txBody>
          <a:bodyPr/>
          <a:lstStyle/>
          <a:p>
            <a:pPr eaLnBrk="1" hangingPunct="1">
              <a:lnSpc>
                <a:spcPct val="100000"/>
              </a:lnSpc>
            </a:pPr>
            <a:r>
              <a:rPr lang="tr-TR" altLang="tr-TR" b="1" dirty="0">
                <a:solidFill>
                  <a:schemeClr val="tx1"/>
                </a:solidFill>
              </a:rPr>
              <a:t>Etki Büyüklüğü </a:t>
            </a:r>
            <a:r>
              <a:rPr lang="el-GR" altLang="tr-TR" dirty="0">
                <a:solidFill>
                  <a:schemeClr val="tx1"/>
                </a:solidFill>
              </a:rPr>
              <a:t>η</a:t>
            </a:r>
            <a:r>
              <a:rPr lang="tr-TR" altLang="tr-TR" baseline="30000" dirty="0">
                <a:solidFill>
                  <a:schemeClr val="tx1"/>
                </a:solidFill>
              </a:rPr>
              <a:t>2</a:t>
            </a:r>
            <a:r>
              <a:rPr lang="tr-TR" altLang="tr-TR" dirty="0">
                <a:solidFill>
                  <a:schemeClr val="tx1"/>
                </a:solidFill>
              </a:rPr>
              <a:t> (</a:t>
            </a:r>
            <a:r>
              <a:rPr lang="tr-TR" altLang="tr-TR" dirty="0" err="1">
                <a:solidFill>
                  <a:schemeClr val="tx1"/>
                </a:solidFill>
              </a:rPr>
              <a:t>eta</a:t>
            </a:r>
            <a:r>
              <a:rPr lang="tr-TR" altLang="tr-TR" dirty="0">
                <a:solidFill>
                  <a:schemeClr val="tx1"/>
                </a:solidFill>
              </a:rPr>
              <a:t>) ile ölçülür</a:t>
            </a:r>
            <a:br>
              <a:rPr lang="tr-TR" altLang="tr-TR" dirty="0">
                <a:solidFill>
                  <a:schemeClr val="tx1"/>
                </a:solidFill>
              </a:rPr>
            </a:br>
            <a:r>
              <a:rPr lang="el-GR" altLang="tr-TR" dirty="0">
                <a:solidFill>
                  <a:schemeClr val="tx1"/>
                </a:solidFill>
              </a:rPr>
              <a:t>η2=  </a:t>
            </a:r>
            <a:r>
              <a:rPr lang="tr-TR" altLang="tr-TR" dirty="0">
                <a:solidFill>
                  <a:schemeClr val="tx1"/>
                </a:solidFill>
              </a:rPr>
              <a:t>kareler toplamı(gruplar arası)/Kareler Toplamı(toplam)</a:t>
            </a:r>
            <a:br>
              <a:rPr lang="tr-TR" altLang="tr-TR" dirty="0">
                <a:solidFill>
                  <a:schemeClr val="tx1"/>
                </a:solidFill>
              </a:rPr>
            </a:br>
            <a:r>
              <a:rPr lang="el-GR" altLang="tr-TR" dirty="0">
                <a:solidFill>
                  <a:schemeClr val="tx1"/>
                </a:solidFill>
              </a:rPr>
              <a:t>η</a:t>
            </a:r>
            <a:r>
              <a:rPr lang="tr-TR" altLang="tr-TR" baseline="30000" dirty="0">
                <a:solidFill>
                  <a:schemeClr val="tx1"/>
                </a:solidFill>
              </a:rPr>
              <a:t>2 </a:t>
            </a:r>
            <a:r>
              <a:rPr lang="tr-TR" altLang="tr-TR" dirty="0">
                <a:solidFill>
                  <a:schemeClr val="tx1"/>
                </a:solidFill>
              </a:rPr>
              <a:t>= </a:t>
            </a:r>
            <a:r>
              <a:rPr lang="tr-TR" altLang="tr-TR" dirty="0" err="1">
                <a:solidFill>
                  <a:schemeClr val="tx1"/>
                </a:solidFill>
              </a:rPr>
              <a:t>Between</a:t>
            </a:r>
            <a:r>
              <a:rPr lang="tr-TR" altLang="tr-TR" dirty="0">
                <a:solidFill>
                  <a:schemeClr val="tx1"/>
                </a:solidFill>
              </a:rPr>
              <a:t> </a:t>
            </a:r>
            <a:r>
              <a:rPr lang="tr-TR" altLang="tr-TR" dirty="0" err="1">
                <a:solidFill>
                  <a:schemeClr val="tx1"/>
                </a:solidFill>
              </a:rPr>
              <a:t>Sum</a:t>
            </a:r>
            <a:r>
              <a:rPr lang="tr-TR" altLang="tr-TR" dirty="0">
                <a:solidFill>
                  <a:schemeClr val="tx1"/>
                </a:solidFill>
              </a:rPr>
              <a:t> of </a:t>
            </a:r>
            <a:r>
              <a:rPr lang="tr-TR" altLang="tr-TR" dirty="0" err="1">
                <a:solidFill>
                  <a:schemeClr val="tx1"/>
                </a:solidFill>
              </a:rPr>
              <a:t>Squares</a:t>
            </a:r>
            <a:r>
              <a:rPr lang="tr-TR" altLang="tr-TR" dirty="0">
                <a:solidFill>
                  <a:schemeClr val="tx1"/>
                </a:solidFill>
              </a:rPr>
              <a:t> / Total </a:t>
            </a:r>
            <a:r>
              <a:rPr lang="tr-TR" altLang="tr-TR" dirty="0" err="1">
                <a:solidFill>
                  <a:schemeClr val="tx1"/>
                </a:solidFill>
              </a:rPr>
              <a:t>Sum</a:t>
            </a:r>
            <a:r>
              <a:rPr lang="tr-TR" altLang="tr-TR" dirty="0">
                <a:solidFill>
                  <a:schemeClr val="tx1"/>
                </a:solidFill>
              </a:rPr>
              <a:t> of </a:t>
            </a:r>
            <a:r>
              <a:rPr lang="tr-TR" altLang="tr-TR" dirty="0" err="1">
                <a:solidFill>
                  <a:schemeClr val="tx1"/>
                </a:solidFill>
              </a:rPr>
              <a:t>Squares</a:t>
            </a:r>
            <a:r>
              <a:rPr lang="tr-TR" altLang="tr-TR" dirty="0">
                <a:solidFill>
                  <a:schemeClr val="tx1"/>
                </a:solidFill>
              </a:rPr>
              <a:t> </a:t>
            </a:r>
            <a:br>
              <a:rPr lang="tr-TR" altLang="tr-TR" dirty="0">
                <a:solidFill>
                  <a:schemeClr val="tx1"/>
                </a:solidFill>
              </a:rPr>
            </a:br>
            <a:r>
              <a:rPr lang="tr-TR" altLang="tr-TR" dirty="0">
                <a:solidFill>
                  <a:schemeClr val="tx1"/>
                </a:solidFill>
              </a:rPr>
              <a:t>= 1307/17466=0,08</a:t>
            </a:r>
          </a:p>
          <a:p>
            <a:pPr eaLnBrk="1" hangingPunct="1">
              <a:lnSpc>
                <a:spcPct val="100000"/>
              </a:lnSpc>
            </a:pPr>
            <a:r>
              <a:rPr lang="tr-TR" altLang="tr-TR" dirty="0">
                <a:solidFill>
                  <a:schemeClr val="tx1"/>
                </a:solidFill>
              </a:rPr>
              <a:t>Orta düzeyden daha düşük bir etki. Yani sosyoekonomik düzey matematik başarısında çok büyük bir etkiye sahip değil.</a:t>
            </a:r>
            <a:endParaRPr lang="en-US" altLang="tr-TR"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251519" y="1124744"/>
            <a:ext cx="8521005" cy="4923631"/>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p:cNvSpPr>
            <a:spLocks noGrp="1"/>
          </p:cNvSpPr>
          <p:nvPr>
            <p:ph type="title"/>
          </p:nvPr>
        </p:nvSpPr>
        <p:spPr>
          <a:xfrm>
            <a:off x="457200" y="0"/>
            <a:ext cx="8147248" cy="914400"/>
          </a:xfrm>
        </p:spPr>
        <p:txBody>
          <a:bodyPr>
            <a:normAutofit fontScale="90000"/>
          </a:bodyPr>
          <a:lstStyle/>
          <a:p>
            <a:r>
              <a:rPr lang="en-US" dirty="0">
                <a:solidFill>
                  <a:schemeClr val="bg1"/>
                </a:solidFill>
              </a:rPr>
              <a:t>Post-Hoc </a:t>
            </a:r>
            <a:r>
              <a:rPr lang="en-US" dirty="0" err="1">
                <a:solidFill>
                  <a:schemeClr val="bg1"/>
                </a:solidFill>
              </a:rPr>
              <a:t>Çoklu</a:t>
            </a:r>
            <a:r>
              <a:rPr lang="en-US" dirty="0">
                <a:solidFill>
                  <a:schemeClr val="bg1"/>
                </a:solidFill>
              </a:rPr>
              <a:t> </a:t>
            </a:r>
            <a:r>
              <a:rPr lang="en-US" dirty="0" err="1">
                <a:solidFill>
                  <a:schemeClr val="bg1"/>
                </a:solidFill>
              </a:rPr>
              <a:t>Karşılaştırma</a:t>
            </a:r>
            <a:r>
              <a:rPr lang="en-US" dirty="0">
                <a:solidFill>
                  <a:schemeClr val="bg1"/>
                </a:solidFill>
              </a:rPr>
              <a:t> </a:t>
            </a:r>
            <a:r>
              <a:rPr lang="en-US" dirty="0" err="1">
                <a:solidFill>
                  <a:schemeClr val="bg1"/>
                </a:solidFill>
              </a:rPr>
              <a:t>Testleri</a:t>
            </a:r>
            <a:endParaRPr lang="en-US"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526" name="Rectangle 6"/>
          <p:cNvSpPr>
            <a:spLocks noGrp="1" noChangeArrowheads="1"/>
          </p:cNvSpPr>
          <p:nvPr>
            <p:ph type="title"/>
          </p:nvPr>
        </p:nvSpPr>
        <p:spPr>
          <a:xfrm>
            <a:off x="822325" y="273050"/>
            <a:ext cx="7543800" cy="635000"/>
          </a:xfrm>
        </p:spPr>
        <p:txBody>
          <a:bodyPr wrap="square" numCol="1" anchorCtr="0" compatLnSpc="1">
            <a:prstTxWarp prst="textNoShape">
              <a:avLst/>
            </a:prstTxWarp>
          </a:bodyPr>
          <a:lstStyle/>
          <a:p>
            <a:pPr eaLnBrk="1" hangingPunct="1"/>
            <a:r>
              <a:rPr lang="tr-TR" altLang="x-none" sz="4000">
                <a:solidFill>
                  <a:schemeClr val="bg1"/>
                </a:solidFill>
              </a:rPr>
              <a:t>Post hoc (Çoklu Karşılaştırma) testleri</a:t>
            </a:r>
            <a:endParaRPr lang="en-US" altLang="x-none" sz="4000">
              <a:solidFill>
                <a:schemeClr val="bg1"/>
              </a:solidFill>
            </a:endParaRPr>
          </a:p>
        </p:txBody>
      </p:sp>
      <p:sp>
        <p:nvSpPr>
          <p:cNvPr id="27651" name="Dikdörtgen 2"/>
          <p:cNvSpPr>
            <a:spLocks noChangeArrowheads="1"/>
          </p:cNvSpPr>
          <p:nvPr/>
        </p:nvSpPr>
        <p:spPr bwMode="auto">
          <a:xfrm>
            <a:off x="252412" y="1066800"/>
            <a:ext cx="889158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0"/>
              </a:spcBef>
              <a:spcAft>
                <a:spcPct val="0"/>
              </a:spcAft>
              <a:defRPr sz="2000">
                <a:solidFill>
                  <a:schemeClr val="tx1"/>
                </a:solidFill>
                <a:latin typeface="Arial" charset="0"/>
              </a:defRPr>
            </a:lvl6pPr>
            <a:lvl7pPr marL="2971800" indent="-228600" eaLnBrk="0" fontAlgn="base" hangingPunct="0">
              <a:spcBef>
                <a:spcPct val="0"/>
              </a:spcBef>
              <a:spcAft>
                <a:spcPct val="0"/>
              </a:spcAft>
              <a:defRPr sz="2000">
                <a:solidFill>
                  <a:schemeClr val="tx1"/>
                </a:solidFill>
                <a:latin typeface="Arial" charset="0"/>
              </a:defRPr>
            </a:lvl7pPr>
            <a:lvl8pPr marL="3429000" indent="-228600" eaLnBrk="0" fontAlgn="base" hangingPunct="0">
              <a:spcBef>
                <a:spcPct val="0"/>
              </a:spcBef>
              <a:spcAft>
                <a:spcPct val="0"/>
              </a:spcAft>
              <a:defRPr sz="2000">
                <a:solidFill>
                  <a:schemeClr val="tx1"/>
                </a:solidFill>
                <a:latin typeface="Arial" charset="0"/>
              </a:defRPr>
            </a:lvl8pPr>
            <a:lvl9pPr marL="3886200" indent="-228600" eaLnBrk="0" fontAlgn="base" hangingPunct="0">
              <a:spcBef>
                <a:spcPct val="0"/>
              </a:spcBef>
              <a:spcAft>
                <a:spcPct val="0"/>
              </a:spcAft>
              <a:defRPr sz="2000">
                <a:solidFill>
                  <a:schemeClr val="tx1"/>
                </a:solidFill>
                <a:latin typeface="Arial" charset="0"/>
              </a:defRPr>
            </a:lvl9pPr>
          </a:lstStyle>
          <a:p>
            <a:pPr eaLnBrk="1" hangingPunct="1"/>
            <a:r>
              <a:rPr lang="tr-TR" altLang="tr-TR" dirty="0" err="1"/>
              <a:t>Varyansların</a:t>
            </a:r>
            <a:r>
              <a:rPr lang="tr-TR" altLang="tr-TR" dirty="0"/>
              <a:t> homojen olması (</a:t>
            </a:r>
            <a:r>
              <a:rPr lang="tr-TR" altLang="tr-TR" dirty="0" err="1"/>
              <a:t>Equal</a:t>
            </a:r>
            <a:r>
              <a:rPr lang="tr-TR" altLang="tr-TR" dirty="0"/>
              <a:t> </a:t>
            </a:r>
            <a:r>
              <a:rPr lang="tr-TR" altLang="tr-TR" dirty="0" err="1"/>
              <a:t>variances</a:t>
            </a:r>
            <a:r>
              <a:rPr lang="tr-TR" altLang="tr-TR" dirty="0"/>
              <a:t> </a:t>
            </a:r>
            <a:r>
              <a:rPr lang="tr-TR" altLang="tr-TR" dirty="0" err="1"/>
              <a:t>Assumed</a:t>
            </a:r>
            <a:r>
              <a:rPr lang="tr-TR" altLang="tr-TR" dirty="0"/>
              <a:t>) ve grup büyüklüklerinin farklı olması halinde yapılacak testlerden </a:t>
            </a:r>
            <a:r>
              <a:rPr lang="tr-TR" altLang="tr-TR" dirty="0" err="1"/>
              <a:t>Tukey</a:t>
            </a:r>
            <a:r>
              <a:rPr lang="tr-TR" altLang="tr-TR" dirty="0"/>
              <a:t> testini yapalım</a:t>
            </a:r>
          </a:p>
        </p:txBody>
      </p:sp>
      <p:pic>
        <p:nvPicPr>
          <p:cNvPr id="4" name="Resim 3">
            <a:extLst>
              <a:ext uri="{FF2B5EF4-FFF2-40B4-BE49-F238E27FC236}">
                <a16:creationId xmlns:a16="http://schemas.microsoft.com/office/drawing/2014/main" id="{731C5134-9A45-404D-8478-BB08BCE4E1E6}"/>
              </a:ext>
            </a:extLst>
          </p:cNvPr>
          <p:cNvPicPr>
            <a:picLocks noChangeAspect="1"/>
          </p:cNvPicPr>
          <p:nvPr/>
        </p:nvPicPr>
        <p:blipFill>
          <a:blip r:embed="rId2"/>
          <a:stretch>
            <a:fillRect/>
          </a:stretch>
        </p:blipFill>
        <p:spPr>
          <a:xfrm>
            <a:off x="2195736" y="2261592"/>
            <a:ext cx="4515516" cy="38075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a:extLst>
              <a:ext uri="{FF2B5EF4-FFF2-40B4-BE49-F238E27FC236}">
                <a16:creationId xmlns:a16="http://schemas.microsoft.com/office/drawing/2014/main" id="{69B676D8-E4F5-4CE9-BDFB-056662539C81}"/>
              </a:ext>
            </a:extLst>
          </p:cNvPr>
          <p:cNvPicPr>
            <a:picLocks noChangeAspect="1"/>
          </p:cNvPicPr>
          <p:nvPr/>
        </p:nvPicPr>
        <p:blipFill>
          <a:blip r:embed="rId2"/>
          <a:stretch>
            <a:fillRect/>
          </a:stretch>
        </p:blipFill>
        <p:spPr>
          <a:xfrm>
            <a:off x="153974" y="3954760"/>
            <a:ext cx="8798351" cy="2736304"/>
          </a:xfrm>
          <a:prstGeom prst="rect">
            <a:avLst/>
          </a:prstGeom>
        </p:spPr>
      </p:pic>
      <p:sp>
        <p:nvSpPr>
          <p:cNvPr id="2" name="Title 1"/>
          <p:cNvSpPr>
            <a:spLocks noGrp="1"/>
          </p:cNvSpPr>
          <p:nvPr>
            <p:ph type="title"/>
          </p:nvPr>
        </p:nvSpPr>
        <p:spPr>
          <a:xfrm>
            <a:off x="395536" y="116632"/>
            <a:ext cx="8147248" cy="914400"/>
          </a:xfrm>
        </p:spPr>
        <p:txBody>
          <a:bodyPr>
            <a:noAutofit/>
          </a:bodyPr>
          <a:lstStyle/>
          <a:p>
            <a:r>
              <a:rPr lang="en-US" sz="3600" dirty="0">
                <a:solidFill>
                  <a:schemeClr val="bg1"/>
                </a:solidFill>
              </a:rPr>
              <a:t>Post-Hoc </a:t>
            </a:r>
            <a:r>
              <a:rPr lang="en-US" sz="3600" dirty="0" err="1">
                <a:solidFill>
                  <a:schemeClr val="bg1"/>
                </a:solidFill>
              </a:rPr>
              <a:t>Çoklu</a:t>
            </a:r>
            <a:r>
              <a:rPr lang="en-US" sz="3600" dirty="0">
                <a:solidFill>
                  <a:schemeClr val="bg1"/>
                </a:solidFill>
              </a:rPr>
              <a:t> </a:t>
            </a:r>
            <a:r>
              <a:rPr lang="en-US" sz="3600" dirty="0" err="1">
                <a:solidFill>
                  <a:schemeClr val="bg1"/>
                </a:solidFill>
              </a:rPr>
              <a:t>Karşılaştırma</a:t>
            </a:r>
            <a:r>
              <a:rPr lang="en-US" sz="3600" dirty="0">
                <a:solidFill>
                  <a:schemeClr val="bg1"/>
                </a:solidFill>
              </a:rPr>
              <a:t> </a:t>
            </a:r>
            <a:r>
              <a:rPr lang="en-US" sz="3600" dirty="0" err="1">
                <a:solidFill>
                  <a:schemeClr val="bg1"/>
                </a:solidFill>
              </a:rPr>
              <a:t>Testleri</a:t>
            </a:r>
            <a:r>
              <a:rPr lang="en-US" sz="3600" dirty="0">
                <a:solidFill>
                  <a:schemeClr val="bg1"/>
                </a:solidFill>
              </a:rPr>
              <a:t> alfa </a:t>
            </a:r>
            <a:r>
              <a:rPr lang="en-US" sz="3600" dirty="0" err="1">
                <a:solidFill>
                  <a:schemeClr val="bg1"/>
                </a:solidFill>
              </a:rPr>
              <a:t>düzeltme</a:t>
            </a:r>
            <a:endParaRPr lang="en-US" sz="3600" dirty="0">
              <a:solidFill>
                <a:schemeClr val="bg1"/>
              </a:solidFill>
            </a:endParaRPr>
          </a:p>
        </p:txBody>
      </p:sp>
      <p:sp>
        <p:nvSpPr>
          <p:cNvPr id="3" name="Text Placeholder 2"/>
          <p:cNvSpPr>
            <a:spLocks noGrp="1"/>
          </p:cNvSpPr>
          <p:nvPr>
            <p:ph type="body" sz="half" idx="1"/>
          </p:nvPr>
        </p:nvSpPr>
        <p:spPr>
          <a:xfrm>
            <a:off x="120625" y="1124744"/>
            <a:ext cx="8496944" cy="2736304"/>
          </a:xfrm>
        </p:spPr>
        <p:txBody>
          <a:bodyPr/>
          <a:lstStyle/>
          <a:p>
            <a:pPr>
              <a:buFont typeface="Wingdings" pitchFamily="2" charset="2"/>
              <a:buChar char="§"/>
            </a:pPr>
            <a:r>
              <a:rPr lang="en-US" dirty="0">
                <a:solidFill>
                  <a:schemeClr val="tx1"/>
                </a:solidFill>
              </a:rPr>
              <a:t>Post Hoc </a:t>
            </a:r>
            <a:r>
              <a:rPr lang="en-US" dirty="0" err="1">
                <a:solidFill>
                  <a:schemeClr val="tx1"/>
                </a:solidFill>
              </a:rPr>
              <a:t>Çoklu</a:t>
            </a:r>
            <a:r>
              <a:rPr lang="en-US" dirty="0">
                <a:solidFill>
                  <a:schemeClr val="tx1"/>
                </a:solidFill>
              </a:rPr>
              <a:t> </a:t>
            </a:r>
            <a:r>
              <a:rPr lang="en-US" dirty="0" err="1">
                <a:solidFill>
                  <a:schemeClr val="tx1"/>
                </a:solidFill>
              </a:rPr>
              <a:t>Karşılaştırma</a:t>
            </a:r>
            <a:r>
              <a:rPr lang="en-US" dirty="0">
                <a:solidFill>
                  <a:schemeClr val="tx1"/>
                </a:solidFill>
              </a:rPr>
              <a:t> </a:t>
            </a:r>
            <a:r>
              <a:rPr lang="en-US" dirty="0" err="1">
                <a:solidFill>
                  <a:schemeClr val="tx1"/>
                </a:solidFill>
              </a:rPr>
              <a:t>Testleri</a:t>
            </a:r>
            <a:r>
              <a:rPr lang="en-US" dirty="0">
                <a:solidFill>
                  <a:schemeClr val="tx1"/>
                </a:solidFill>
              </a:rPr>
              <a:t> </a:t>
            </a:r>
            <a:r>
              <a:rPr lang="tr-TR" dirty="0">
                <a:solidFill>
                  <a:schemeClr val="tx1"/>
                </a:solidFill>
              </a:rPr>
              <a:t>için </a:t>
            </a:r>
            <a:r>
              <a:rPr lang="tr-TR" dirty="0" err="1">
                <a:solidFill>
                  <a:schemeClr val="tx1"/>
                </a:solidFill>
              </a:rPr>
              <a:t>JASP’ta</a:t>
            </a:r>
            <a:r>
              <a:rPr lang="en-US" dirty="0">
                <a:solidFill>
                  <a:schemeClr val="tx1"/>
                </a:solidFill>
              </a:rPr>
              <a:t> alfa </a:t>
            </a:r>
            <a:r>
              <a:rPr lang="en-US" dirty="0" err="1">
                <a:solidFill>
                  <a:schemeClr val="tx1"/>
                </a:solidFill>
              </a:rPr>
              <a:t>değeri</a:t>
            </a:r>
            <a:r>
              <a:rPr lang="tr-TR" dirty="0">
                <a:solidFill>
                  <a:schemeClr val="tx1"/>
                </a:solidFill>
              </a:rPr>
              <a:t> düzeltmesi yapmanıza gerek yok.</a:t>
            </a:r>
          </a:p>
          <a:p>
            <a:pPr>
              <a:buFont typeface="Wingdings" pitchFamily="2" charset="2"/>
              <a:buChar char="§"/>
            </a:pPr>
            <a:r>
              <a:rPr lang="tr-TR" dirty="0">
                <a:solidFill>
                  <a:schemeClr val="tx1"/>
                </a:solidFill>
              </a:rPr>
              <a:t>Ama SPSS gibi programlarda alfayı </a:t>
            </a:r>
            <a:r>
              <a:rPr lang="en-US" dirty="0" err="1">
                <a:solidFill>
                  <a:schemeClr val="tx1"/>
                </a:solidFill>
              </a:rPr>
              <a:t>düzenlemek</a:t>
            </a:r>
            <a:r>
              <a:rPr lang="en-US" dirty="0">
                <a:solidFill>
                  <a:schemeClr val="tx1"/>
                </a:solidFill>
              </a:rPr>
              <a:t> </a:t>
            </a:r>
            <a:r>
              <a:rPr lang="en-US" dirty="0" err="1">
                <a:solidFill>
                  <a:schemeClr val="tx1"/>
                </a:solidFill>
              </a:rPr>
              <a:t>için</a:t>
            </a:r>
            <a:r>
              <a:rPr lang="en-US" dirty="0">
                <a:solidFill>
                  <a:schemeClr val="tx1"/>
                </a:solidFill>
              </a:rPr>
              <a:t> </a:t>
            </a:r>
            <a:r>
              <a:rPr lang="en-US" dirty="0" err="1">
                <a:solidFill>
                  <a:schemeClr val="tx1"/>
                </a:solidFill>
              </a:rPr>
              <a:t>en</a:t>
            </a:r>
            <a:r>
              <a:rPr lang="en-US" dirty="0">
                <a:solidFill>
                  <a:schemeClr val="tx1"/>
                </a:solidFill>
              </a:rPr>
              <a:t> </a:t>
            </a:r>
            <a:r>
              <a:rPr lang="en-US" dirty="0" err="1">
                <a:solidFill>
                  <a:schemeClr val="tx1"/>
                </a:solidFill>
              </a:rPr>
              <a:t>sık</a:t>
            </a:r>
            <a:r>
              <a:rPr lang="en-US" dirty="0">
                <a:solidFill>
                  <a:schemeClr val="tx1"/>
                </a:solidFill>
              </a:rPr>
              <a:t> </a:t>
            </a:r>
            <a:r>
              <a:rPr lang="en-US" dirty="0" err="1">
                <a:solidFill>
                  <a:schemeClr val="tx1"/>
                </a:solidFill>
              </a:rPr>
              <a:t>kullanılan</a:t>
            </a:r>
            <a:r>
              <a:rPr lang="en-US" dirty="0">
                <a:solidFill>
                  <a:schemeClr val="tx1"/>
                </a:solidFill>
              </a:rPr>
              <a:t> </a:t>
            </a:r>
            <a:r>
              <a:rPr lang="en-US" dirty="0" err="1">
                <a:solidFill>
                  <a:schemeClr val="tx1"/>
                </a:solidFill>
              </a:rPr>
              <a:t>yöntem</a:t>
            </a:r>
            <a:r>
              <a:rPr lang="en-US" dirty="0">
                <a:solidFill>
                  <a:schemeClr val="tx1"/>
                </a:solidFill>
              </a:rPr>
              <a:t> alfa </a:t>
            </a:r>
            <a:r>
              <a:rPr lang="en-US" dirty="0" err="1">
                <a:solidFill>
                  <a:schemeClr val="tx1"/>
                </a:solidFill>
              </a:rPr>
              <a:t>değerini</a:t>
            </a:r>
            <a:r>
              <a:rPr lang="en-US" dirty="0">
                <a:solidFill>
                  <a:schemeClr val="tx1"/>
                </a:solidFill>
              </a:rPr>
              <a:t> </a:t>
            </a:r>
            <a:r>
              <a:rPr lang="en-US" dirty="0" err="1">
                <a:solidFill>
                  <a:schemeClr val="tx1"/>
                </a:solidFill>
              </a:rPr>
              <a:t>yaptığınız</a:t>
            </a:r>
            <a:r>
              <a:rPr lang="en-US" dirty="0">
                <a:solidFill>
                  <a:schemeClr val="tx1"/>
                </a:solidFill>
              </a:rPr>
              <a:t> </a:t>
            </a:r>
            <a:r>
              <a:rPr lang="en-US" dirty="0" err="1">
                <a:solidFill>
                  <a:schemeClr val="tx1"/>
                </a:solidFill>
              </a:rPr>
              <a:t>karşılaştırma</a:t>
            </a:r>
            <a:r>
              <a:rPr lang="en-US" dirty="0">
                <a:solidFill>
                  <a:schemeClr val="tx1"/>
                </a:solidFill>
              </a:rPr>
              <a:t> test </a:t>
            </a:r>
            <a:r>
              <a:rPr lang="en-US" dirty="0" err="1">
                <a:solidFill>
                  <a:schemeClr val="tx1"/>
                </a:solidFill>
              </a:rPr>
              <a:t>adedine</a:t>
            </a:r>
            <a:r>
              <a:rPr lang="en-US" dirty="0">
                <a:solidFill>
                  <a:schemeClr val="tx1"/>
                </a:solidFill>
              </a:rPr>
              <a:t> </a:t>
            </a:r>
            <a:r>
              <a:rPr lang="en-US" dirty="0" err="1">
                <a:solidFill>
                  <a:schemeClr val="tx1"/>
                </a:solidFill>
              </a:rPr>
              <a:t>bölmektir</a:t>
            </a:r>
            <a:r>
              <a:rPr lang="en-US" dirty="0">
                <a:solidFill>
                  <a:schemeClr val="tx1"/>
                </a:solidFill>
              </a:rPr>
              <a:t>.</a:t>
            </a:r>
            <a:r>
              <a:rPr lang="tr-TR" dirty="0">
                <a:solidFill>
                  <a:schemeClr val="tx1"/>
                </a:solidFill>
              </a:rPr>
              <a:t> </a:t>
            </a:r>
            <a:r>
              <a:rPr lang="en-US" dirty="0" err="1">
                <a:solidFill>
                  <a:schemeClr val="tx1"/>
                </a:solidFill>
              </a:rPr>
              <a:t>Örneğin</a:t>
            </a:r>
            <a:r>
              <a:rPr lang="en-US" dirty="0">
                <a:solidFill>
                  <a:schemeClr val="tx1"/>
                </a:solidFill>
              </a:rPr>
              <a:t>, 10 </a:t>
            </a:r>
            <a:r>
              <a:rPr lang="en-US" dirty="0" err="1">
                <a:solidFill>
                  <a:schemeClr val="tx1"/>
                </a:solidFill>
              </a:rPr>
              <a:t>tane</a:t>
            </a:r>
            <a:r>
              <a:rPr lang="en-US" dirty="0">
                <a:solidFill>
                  <a:schemeClr val="tx1"/>
                </a:solidFill>
              </a:rPr>
              <a:t> (</a:t>
            </a:r>
            <a:r>
              <a:rPr lang="en-US" dirty="0" err="1">
                <a:solidFill>
                  <a:schemeClr val="tx1"/>
                </a:solidFill>
              </a:rPr>
              <a:t>karşılaştırma</a:t>
            </a:r>
            <a:r>
              <a:rPr lang="en-US" dirty="0">
                <a:solidFill>
                  <a:schemeClr val="tx1"/>
                </a:solidFill>
              </a:rPr>
              <a:t> </a:t>
            </a:r>
            <a:r>
              <a:rPr lang="en-US" dirty="0" err="1">
                <a:solidFill>
                  <a:schemeClr val="tx1"/>
                </a:solidFill>
              </a:rPr>
              <a:t>sayısı</a:t>
            </a:r>
            <a:r>
              <a:rPr lang="en-US" dirty="0">
                <a:solidFill>
                  <a:schemeClr val="tx1"/>
                </a:solidFill>
              </a:rPr>
              <a:t>) t -</a:t>
            </a:r>
            <a:r>
              <a:rPr lang="en-US" dirty="0" err="1">
                <a:solidFill>
                  <a:schemeClr val="tx1"/>
                </a:solidFill>
              </a:rPr>
              <a:t>testi</a:t>
            </a:r>
            <a:r>
              <a:rPr lang="en-US" dirty="0">
                <a:solidFill>
                  <a:schemeClr val="tx1"/>
                </a:solidFill>
              </a:rPr>
              <a:t> </a:t>
            </a:r>
            <a:r>
              <a:rPr lang="en-US" dirty="0" err="1">
                <a:solidFill>
                  <a:schemeClr val="tx1"/>
                </a:solidFill>
              </a:rPr>
              <a:t>uyguladıysanız</a:t>
            </a:r>
            <a:r>
              <a:rPr lang="en-US" dirty="0">
                <a:solidFill>
                  <a:schemeClr val="tx1"/>
                </a:solidFill>
              </a:rPr>
              <a:t> 0.05 </a:t>
            </a:r>
            <a:r>
              <a:rPr lang="en-US" dirty="0" err="1">
                <a:solidFill>
                  <a:schemeClr val="tx1"/>
                </a:solidFill>
              </a:rPr>
              <a:t>olan</a:t>
            </a:r>
            <a:r>
              <a:rPr lang="en-US" dirty="0">
                <a:solidFill>
                  <a:schemeClr val="tx1"/>
                </a:solidFill>
              </a:rPr>
              <a:t> alfa </a:t>
            </a:r>
            <a:r>
              <a:rPr lang="en-US" dirty="0" err="1">
                <a:solidFill>
                  <a:schemeClr val="tx1"/>
                </a:solidFill>
              </a:rPr>
              <a:t>değerini</a:t>
            </a:r>
            <a:r>
              <a:rPr lang="en-US" dirty="0">
                <a:solidFill>
                  <a:schemeClr val="tx1"/>
                </a:solidFill>
              </a:rPr>
              <a:t> 10 a </a:t>
            </a:r>
            <a:r>
              <a:rPr lang="en-US" dirty="0" err="1">
                <a:solidFill>
                  <a:schemeClr val="tx1"/>
                </a:solidFill>
              </a:rPr>
              <a:t>bölerek</a:t>
            </a:r>
            <a:r>
              <a:rPr lang="en-US" dirty="0">
                <a:solidFill>
                  <a:schemeClr val="tx1"/>
                </a:solidFill>
              </a:rPr>
              <a:t> 0.005 </a:t>
            </a:r>
            <a:r>
              <a:rPr lang="en-US" dirty="0" err="1">
                <a:solidFill>
                  <a:schemeClr val="tx1"/>
                </a:solidFill>
              </a:rPr>
              <a:t>elde</a:t>
            </a:r>
            <a:r>
              <a:rPr lang="en-US" dirty="0">
                <a:solidFill>
                  <a:schemeClr val="tx1"/>
                </a:solidFill>
              </a:rPr>
              <a:t> </a:t>
            </a:r>
            <a:r>
              <a:rPr lang="en-US" dirty="0" err="1">
                <a:solidFill>
                  <a:schemeClr val="tx1"/>
                </a:solidFill>
              </a:rPr>
              <a:t>ederiz</a:t>
            </a:r>
            <a:r>
              <a:rPr lang="en-US" dirty="0">
                <a:solidFill>
                  <a:schemeClr val="tx1"/>
                </a:solidFill>
              </a:rPr>
              <a:t> </a:t>
            </a:r>
            <a:r>
              <a:rPr lang="en-US" dirty="0" err="1">
                <a:solidFill>
                  <a:schemeClr val="tx1"/>
                </a:solidFill>
              </a:rPr>
              <a:t>ve</a:t>
            </a:r>
            <a:r>
              <a:rPr lang="en-US" dirty="0">
                <a:solidFill>
                  <a:schemeClr val="tx1"/>
                </a:solidFill>
              </a:rPr>
              <a:t> alfa </a:t>
            </a:r>
            <a:r>
              <a:rPr lang="en-US" dirty="0" err="1">
                <a:solidFill>
                  <a:schemeClr val="tx1"/>
                </a:solidFill>
              </a:rPr>
              <a:t>değeri</a:t>
            </a:r>
            <a:r>
              <a:rPr lang="en-US" dirty="0">
                <a:solidFill>
                  <a:schemeClr val="tx1"/>
                </a:solidFill>
              </a:rPr>
              <a:t> </a:t>
            </a:r>
            <a:r>
              <a:rPr lang="en-US" dirty="0" err="1">
                <a:solidFill>
                  <a:schemeClr val="tx1"/>
                </a:solidFill>
              </a:rPr>
              <a:t>olarak</a:t>
            </a:r>
            <a:r>
              <a:rPr lang="en-US" dirty="0">
                <a:solidFill>
                  <a:schemeClr val="tx1"/>
                </a:solidFill>
              </a:rPr>
              <a:t> 0.05 </a:t>
            </a:r>
            <a:r>
              <a:rPr lang="en-US" dirty="0" err="1">
                <a:solidFill>
                  <a:schemeClr val="tx1"/>
                </a:solidFill>
              </a:rPr>
              <a:t>yerine</a:t>
            </a:r>
            <a:r>
              <a:rPr lang="en-US" dirty="0">
                <a:solidFill>
                  <a:schemeClr val="tx1"/>
                </a:solidFill>
              </a:rPr>
              <a:t> 0.005 </a:t>
            </a:r>
            <a:r>
              <a:rPr lang="en-US" dirty="0" err="1">
                <a:solidFill>
                  <a:schemeClr val="tx1"/>
                </a:solidFill>
              </a:rPr>
              <a:t>kullanırız</a:t>
            </a:r>
            <a:r>
              <a:rPr lang="en-US" dirty="0">
                <a:solidFill>
                  <a:schemeClr val="tx1"/>
                </a:solidFill>
              </a:rPr>
              <a:t>. Bu </a:t>
            </a:r>
            <a:r>
              <a:rPr lang="en-US" dirty="0" err="1">
                <a:solidFill>
                  <a:schemeClr val="tx1"/>
                </a:solidFill>
              </a:rPr>
              <a:t>yönteme</a:t>
            </a:r>
            <a:r>
              <a:rPr lang="en-US" dirty="0">
                <a:solidFill>
                  <a:schemeClr val="tx1"/>
                </a:solidFill>
              </a:rPr>
              <a:t> </a:t>
            </a:r>
            <a:r>
              <a:rPr lang="en-US" dirty="0">
                <a:solidFill>
                  <a:srgbClr val="C00000"/>
                </a:solidFill>
              </a:rPr>
              <a:t>Bonferroni </a:t>
            </a:r>
            <a:r>
              <a:rPr lang="en-US" dirty="0" err="1">
                <a:solidFill>
                  <a:srgbClr val="C00000"/>
                </a:solidFill>
              </a:rPr>
              <a:t>düzeltmesi</a:t>
            </a:r>
            <a:r>
              <a:rPr lang="en-US" dirty="0">
                <a:solidFill>
                  <a:srgbClr val="C00000"/>
                </a:solidFill>
              </a:rPr>
              <a:t> </a:t>
            </a:r>
            <a:r>
              <a:rPr lang="en-US" dirty="0" err="1">
                <a:solidFill>
                  <a:schemeClr val="tx1"/>
                </a:solidFill>
              </a:rPr>
              <a:t>denir</a:t>
            </a:r>
            <a:r>
              <a:rPr lang="en-US" dirty="0">
                <a:solidFill>
                  <a:schemeClr val="tx1"/>
                </a:solidFill>
              </a:rPr>
              <a:t>. </a:t>
            </a:r>
            <a:r>
              <a:rPr lang="en-US" dirty="0" err="1">
                <a:solidFill>
                  <a:schemeClr val="tx1"/>
                </a:solidFill>
              </a:rPr>
              <a:t>Bazı</a:t>
            </a:r>
            <a:r>
              <a:rPr lang="en-US" dirty="0">
                <a:solidFill>
                  <a:schemeClr val="tx1"/>
                </a:solidFill>
              </a:rPr>
              <a:t> </a:t>
            </a:r>
            <a:r>
              <a:rPr lang="en-US" dirty="0" err="1">
                <a:solidFill>
                  <a:schemeClr val="tx1"/>
                </a:solidFill>
              </a:rPr>
              <a:t>istatistikçiler</a:t>
            </a:r>
            <a:r>
              <a:rPr lang="en-US" dirty="0">
                <a:solidFill>
                  <a:schemeClr val="tx1"/>
                </a:solidFill>
              </a:rPr>
              <a:t> </a:t>
            </a:r>
            <a:r>
              <a:rPr lang="en-US" dirty="0" err="1">
                <a:solidFill>
                  <a:schemeClr val="tx1"/>
                </a:solidFill>
              </a:rPr>
              <a:t>eğer</a:t>
            </a:r>
            <a:r>
              <a:rPr lang="en-US" dirty="0">
                <a:solidFill>
                  <a:schemeClr val="tx1"/>
                </a:solidFill>
              </a:rPr>
              <a:t> </a:t>
            </a:r>
            <a:r>
              <a:rPr lang="en-US" dirty="0" err="1">
                <a:solidFill>
                  <a:schemeClr val="tx1"/>
                </a:solidFill>
              </a:rPr>
              <a:t>söz</a:t>
            </a:r>
            <a:r>
              <a:rPr lang="en-US" dirty="0">
                <a:solidFill>
                  <a:schemeClr val="tx1"/>
                </a:solidFill>
              </a:rPr>
              <a:t> </a:t>
            </a:r>
            <a:r>
              <a:rPr lang="en-US" dirty="0" err="1">
                <a:solidFill>
                  <a:schemeClr val="tx1"/>
                </a:solidFill>
              </a:rPr>
              <a:t>konusu</a:t>
            </a:r>
            <a:r>
              <a:rPr lang="en-US" dirty="0">
                <a:solidFill>
                  <a:schemeClr val="tx1"/>
                </a:solidFill>
              </a:rPr>
              <a:t> Ho </a:t>
            </a:r>
            <a:r>
              <a:rPr lang="en-US" dirty="0" err="1">
                <a:solidFill>
                  <a:schemeClr val="tx1"/>
                </a:solidFill>
              </a:rPr>
              <a:t>hipotezleri</a:t>
            </a:r>
            <a:r>
              <a:rPr lang="en-US" dirty="0">
                <a:solidFill>
                  <a:schemeClr val="tx1"/>
                </a:solidFill>
              </a:rPr>
              <a:t> </a:t>
            </a:r>
            <a:r>
              <a:rPr lang="en-US" dirty="0" err="1">
                <a:solidFill>
                  <a:schemeClr val="tx1"/>
                </a:solidFill>
              </a:rPr>
              <a:t>birbirinden</a:t>
            </a:r>
            <a:r>
              <a:rPr lang="en-US" dirty="0">
                <a:solidFill>
                  <a:schemeClr val="tx1"/>
                </a:solidFill>
              </a:rPr>
              <a:t> </a:t>
            </a:r>
            <a:r>
              <a:rPr lang="en-US" dirty="0" err="1">
                <a:solidFill>
                  <a:schemeClr val="tx1"/>
                </a:solidFill>
              </a:rPr>
              <a:t>bağımsız</a:t>
            </a:r>
            <a:r>
              <a:rPr lang="en-US" dirty="0">
                <a:solidFill>
                  <a:schemeClr val="tx1"/>
                </a:solidFill>
              </a:rPr>
              <a:t> </a:t>
            </a:r>
            <a:r>
              <a:rPr lang="en-US" dirty="0" err="1">
                <a:solidFill>
                  <a:schemeClr val="tx1"/>
                </a:solidFill>
              </a:rPr>
              <a:t>yani</a:t>
            </a:r>
            <a:r>
              <a:rPr lang="en-US" dirty="0">
                <a:solidFill>
                  <a:schemeClr val="tx1"/>
                </a:solidFill>
              </a:rPr>
              <a:t> </a:t>
            </a:r>
            <a:r>
              <a:rPr lang="en-US" dirty="0" err="1">
                <a:solidFill>
                  <a:schemeClr val="tx1"/>
                </a:solidFill>
              </a:rPr>
              <a:t>aynı</a:t>
            </a:r>
            <a:r>
              <a:rPr lang="en-US" dirty="0">
                <a:solidFill>
                  <a:schemeClr val="tx1"/>
                </a:solidFill>
              </a:rPr>
              <a:t> </a:t>
            </a:r>
            <a:r>
              <a:rPr lang="en-US" dirty="0" err="1">
                <a:solidFill>
                  <a:schemeClr val="tx1"/>
                </a:solidFill>
              </a:rPr>
              <a:t>popülasyona</a:t>
            </a:r>
            <a:r>
              <a:rPr lang="en-US" dirty="0">
                <a:solidFill>
                  <a:schemeClr val="tx1"/>
                </a:solidFill>
              </a:rPr>
              <a:t> </a:t>
            </a:r>
            <a:r>
              <a:rPr lang="en-US" dirty="0" err="1">
                <a:solidFill>
                  <a:schemeClr val="tx1"/>
                </a:solidFill>
              </a:rPr>
              <a:t>ait</a:t>
            </a:r>
            <a:r>
              <a:rPr lang="en-US" dirty="0">
                <a:solidFill>
                  <a:schemeClr val="tx1"/>
                </a:solidFill>
              </a:rPr>
              <a:t> </a:t>
            </a:r>
            <a:r>
              <a:rPr lang="en-US" dirty="0" err="1">
                <a:solidFill>
                  <a:schemeClr val="tx1"/>
                </a:solidFill>
              </a:rPr>
              <a:t>değilse</a:t>
            </a:r>
            <a:r>
              <a:rPr lang="en-US" dirty="0">
                <a:solidFill>
                  <a:schemeClr val="tx1"/>
                </a:solidFill>
              </a:rPr>
              <a:t> </a:t>
            </a:r>
            <a:r>
              <a:rPr lang="en-US" dirty="0" err="1">
                <a:solidFill>
                  <a:schemeClr val="tx1"/>
                </a:solidFill>
              </a:rPr>
              <a:t>böyle</a:t>
            </a:r>
            <a:r>
              <a:rPr lang="en-US" dirty="0">
                <a:solidFill>
                  <a:schemeClr val="tx1"/>
                </a:solidFill>
              </a:rPr>
              <a:t> </a:t>
            </a:r>
            <a:r>
              <a:rPr lang="en-US" dirty="0" err="1">
                <a:solidFill>
                  <a:schemeClr val="tx1"/>
                </a:solidFill>
              </a:rPr>
              <a:t>bir</a:t>
            </a:r>
            <a:r>
              <a:rPr lang="en-US" dirty="0">
                <a:solidFill>
                  <a:schemeClr val="tx1"/>
                </a:solidFill>
              </a:rPr>
              <a:t> </a:t>
            </a:r>
            <a:r>
              <a:rPr lang="en-US" dirty="0" err="1">
                <a:solidFill>
                  <a:schemeClr val="tx1"/>
                </a:solidFill>
              </a:rPr>
              <a:t>düzeltme</a:t>
            </a:r>
            <a:r>
              <a:rPr lang="en-US" dirty="0">
                <a:solidFill>
                  <a:schemeClr val="tx1"/>
                </a:solidFill>
              </a:rPr>
              <a:t> </a:t>
            </a:r>
            <a:r>
              <a:rPr lang="en-US" dirty="0" err="1">
                <a:solidFill>
                  <a:schemeClr val="tx1"/>
                </a:solidFill>
              </a:rPr>
              <a:t>yapılmasını</a:t>
            </a:r>
            <a:r>
              <a:rPr lang="en-US" dirty="0">
                <a:solidFill>
                  <a:schemeClr val="tx1"/>
                </a:solidFill>
              </a:rPr>
              <a:t> </a:t>
            </a:r>
            <a:r>
              <a:rPr lang="en-US" dirty="0" err="1">
                <a:solidFill>
                  <a:schemeClr val="tx1"/>
                </a:solidFill>
              </a:rPr>
              <a:t>önermemektedir</a:t>
            </a:r>
            <a:r>
              <a:rPr lang="en-US" dirty="0">
                <a:solidFill>
                  <a:schemeClr val="tx1"/>
                </a:solidFill>
              </a:rPr>
              <a:t>.</a:t>
            </a:r>
          </a:p>
          <a:p>
            <a:pPr>
              <a:buFont typeface="Wingdings" pitchFamily="2" charset="2"/>
              <a:buChar char="§"/>
            </a:pPr>
            <a:endParaRPr lang="en-US" dirty="0">
              <a:solidFill>
                <a:schemeClr val="tx1"/>
              </a:solidFill>
            </a:endParaRPr>
          </a:p>
        </p:txBody>
      </p:sp>
      <p:sp>
        <p:nvSpPr>
          <p:cNvPr id="4" name="TextBox 1">
            <a:extLst>
              <a:ext uri="{FF2B5EF4-FFF2-40B4-BE49-F238E27FC236}">
                <a16:creationId xmlns:a16="http://schemas.microsoft.com/office/drawing/2014/main" id="{D0527808-E3A7-4BFF-9D9B-984A8871DFE1}"/>
              </a:ext>
            </a:extLst>
          </p:cNvPr>
          <p:cNvSpPr txBox="1"/>
          <p:nvPr/>
        </p:nvSpPr>
        <p:spPr>
          <a:xfrm>
            <a:off x="4453553" y="4437112"/>
            <a:ext cx="2160240" cy="646331"/>
          </a:xfrm>
          <a:prstGeom prst="rect">
            <a:avLst/>
          </a:prstGeom>
          <a:noFill/>
        </p:spPr>
        <p:txBody>
          <a:bodyPr wrap="square" rtlCol="0">
            <a:spAutoFit/>
          </a:bodyPr>
          <a:lstStyle/>
          <a:p>
            <a:r>
              <a:rPr lang="en-US" dirty="0">
                <a:solidFill>
                  <a:srgbClr val="C00000"/>
                </a:solidFill>
              </a:rPr>
              <a:t>t</a:t>
            </a:r>
            <a:r>
              <a:rPr lang="en-US" baseline="-25000" dirty="0">
                <a:solidFill>
                  <a:srgbClr val="C00000"/>
                </a:solidFill>
              </a:rPr>
              <a:t> </a:t>
            </a:r>
            <a:r>
              <a:rPr lang="en-US" baseline="-25000" dirty="0" err="1">
                <a:solidFill>
                  <a:srgbClr val="C00000"/>
                </a:solidFill>
              </a:rPr>
              <a:t>ist</a:t>
            </a:r>
            <a:r>
              <a:rPr lang="en-US" dirty="0">
                <a:solidFill>
                  <a:srgbClr val="C00000"/>
                </a:solidFill>
              </a:rPr>
              <a:t>=Mean diff/s</a:t>
            </a:r>
            <a:r>
              <a:rPr lang="tr-TR" dirty="0">
                <a:solidFill>
                  <a:srgbClr val="C00000"/>
                </a:solidFill>
              </a:rPr>
              <a:t>e</a:t>
            </a:r>
            <a:r>
              <a:rPr lang="en-US" dirty="0">
                <a:solidFill>
                  <a:srgbClr val="C00000"/>
                </a:solidFill>
              </a:rPr>
              <a:t>  </a:t>
            </a:r>
            <a:r>
              <a:rPr lang="en-US" dirty="0"/>
              <a:t> </a:t>
            </a:r>
          </a:p>
          <a:p>
            <a:endParaRPr lang="en-US" sz="2400" i="1" baseline="-25000" dirty="0"/>
          </a:p>
        </p:txBody>
      </p:sp>
    </p:spTree>
    <p:extLst>
      <p:ext uri="{BB962C8B-B14F-4D97-AF65-F5344CB8AC3E}">
        <p14:creationId xmlns:p14="http://schemas.microsoft.com/office/powerpoint/2010/main" val="883114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7"/>
          <p:cNvSpPr txBox="1">
            <a:spLocks noChangeArrowheads="1"/>
          </p:cNvSpPr>
          <p:nvPr/>
        </p:nvSpPr>
        <p:spPr bwMode="auto">
          <a:xfrm>
            <a:off x="468313" y="260350"/>
            <a:ext cx="79200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0"/>
              </a:spcBef>
              <a:spcAft>
                <a:spcPct val="0"/>
              </a:spcAft>
              <a:defRPr sz="2000">
                <a:solidFill>
                  <a:schemeClr val="tx1"/>
                </a:solidFill>
                <a:latin typeface="Arial" charset="0"/>
              </a:defRPr>
            </a:lvl6pPr>
            <a:lvl7pPr marL="2971800" indent="-228600" eaLnBrk="0" fontAlgn="base" hangingPunct="0">
              <a:spcBef>
                <a:spcPct val="0"/>
              </a:spcBef>
              <a:spcAft>
                <a:spcPct val="0"/>
              </a:spcAft>
              <a:defRPr sz="2000">
                <a:solidFill>
                  <a:schemeClr val="tx1"/>
                </a:solidFill>
                <a:latin typeface="Arial" charset="0"/>
              </a:defRPr>
            </a:lvl7pPr>
            <a:lvl8pPr marL="3429000" indent="-228600" eaLnBrk="0" fontAlgn="base" hangingPunct="0">
              <a:spcBef>
                <a:spcPct val="0"/>
              </a:spcBef>
              <a:spcAft>
                <a:spcPct val="0"/>
              </a:spcAft>
              <a:defRPr sz="2000">
                <a:solidFill>
                  <a:schemeClr val="tx1"/>
                </a:solidFill>
                <a:latin typeface="Arial" charset="0"/>
              </a:defRPr>
            </a:lvl8pPr>
            <a:lvl9pPr marL="3886200" indent="-228600" eaLnBrk="0" fontAlgn="base" hangingPunct="0">
              <a:spcBef>
                <a:spcPct val="0"/>
              </a:spcBef>
              <a:spcAft>
                <a:spcPct val="0"/>
              </a:spcAft>
              <a:defRPr sz="2000">
                <a:solidFill>
                  <a:schemeClr val="tx1"/>
                </a:solidFill>
                <a:latin typeface="Arial" charset="0"/>
              </a:defRPr>
            </a:lvl9pPr>
          </a:lstStyle>
          <a:p>
            <a:pPr algn="ctr" eaLnBrk="1" hangingPunct="1"/>
            <a:r>
              <a:rPr lang="tr-TR" altLang="tr-TR" sz="3600" dirty="0"/>
              <a:t>Grafikler</a:t>
            </a:r>
            <a:endParaRPr lang="en-US" altLang="tr-TR" sz="3600" dirty="0"/>
          </a:p>
        </p:txBody>
      </p:sp>
      <p:pic>
        <p:nvPicPr>
          <p:cNvPr id="3" name="Resim 2">
            <a:extLst>
              <a:ext uri="{FF2B5EF4-FFF2-40B4-BE49-F238E27FC236}">
                <a16:creationId xmlns:a16="http://schemas.microsoft.com/office/drawing/2014/main" id="{04CECB50-4AB1-4751-9DEB-4D0AFAA800E7}"/>
              </a:ext>
            </a:extLst>
          </p:cNvPr>
          <p:cNvPicPr>
            <a:picLocks noChangeAspect="1"/>
          </p:cNvPicPr>
          <p:nvPr/>
        </p:nvPicPr>
        <p:blipFill>
          <a:blip r:embed="rId2"/>
          <a:stretch>
            <a:fillRect/>
          </a:stretch>
        </p:blipFill>
        <p:spPr>
          <a:xfrm>
            <a:off x="179512" y="1556792"/>
            <a:ext cx="4320480" cy="2809665"/>
          </a:xfrm>
          <a:prstGeom prst="rect">
            <a:avLst/>
          </a:prstGeom>
        </p:spPr>
      </p:pic>
      <p:pic>
        <p:nvPicPr>
          <p:cNvPr id="5" name="Resim 4">
            <a:extLst>
              <a:ext uri="{FF2B5EF4-FFF2-40B4-BE49-F238E27FC236}">
                <a16:creationId xmlns:a16="http://schemas.microsoft.com/office/drawing/2014/main" id="{AD2DA854-D172-4991-A24A-A204DB9AFD47}"/>
              </a:ext>
            </a:extLst>
          </p:cNvPr>
          <p:cNvPicPr>
            <a:picLocks noChangeAspect="1"/>
          </p:cNvPicPr>
          <p:nvPr/>
        </p:nvPicPr>
        <p:blipFill>
          <a:blip r:embed="rId3"/>
          <a:stretch>
            <a:fillRect/>
          </a:stretch>
        </p:blipFill>
        <p:spPr>
          <a:xfrm>
            <a:off x="4742020" y="1124744"/>
            <a:ext cx="4222468" cy="441673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618" name="Rectangle 2"/>
          <p:cNvSpPr>
            <a:spLocks noGrp="1" noChangeArrowheads="1"/>
          </p:cNvSpPr>
          <p:nvPr>
            <p:ph type="title"/>
          </p:nvPr>
        </p:nvSpPr>
        <p:spPr/>
        <p:txBody>
          <a:bodyPr>
            <a:normAutofit fontScale="90000"/>
          </a:bodyPr>
          <a:lstStyle/>
          <a:p>
            <a:pPr eaLnBrk="1" fontAlgn="auto" hangingPunct="1">
              <a:spcAft>
                <a:spcPts val="0"/>
              </a:spcAft>
              <a:defRPr/>
            </a:pPr>
            <a:r>
              <a:rPr lang="tr-TR" sz="3600" b="1" dirty="0">
                <a:solidFill>
                  <a:schemeClr val="bg1"/>
                </a:solidFill>
              </a:rPr>
              <a:t>APA stiline göre ANOVA sonuçlarını rapor etme</a:t>
            </a:r>
            <a:endParaRPr lang="en-US" sz="3600" b="1" dirty="0">
              <a:solidFill>
                <a:schemeClr val="bg1"/>
              </a:solidFill>
            </a:endParaRPr>
          </a:p>
        </p:txBody>
      </p:sp>
      <p:sp>
        <p:nvSpPr>
          <p:cNvPr id="29699" name="Rectangle 3"/>
          <p:cNvSpPr>
            <a:spLocks noGrp="1" noChangeArrowheads="1"/>
          </p:cNvSpPr>
          <p:nvPr>
            <p:ph type="body" sz="half" idx="1"/>
          </p:nvPr>
        </p:nvSpPr>
        <p:spPr>
          <a:xfrm>
            <a:off x="468313" y="1873250"/>
            <a:ext cx="8002587" cy="3860006"/>
          </a:xfrm>
        </p:spPr>
        <p:txBody>
          <a:bodyPr/>
          <a:lstStyle/>
          <a:p>
            <a:pPr eaLnBrk="1" hangingPunct="1">
              <a:buFont typeface="Wingdings" pitchFamily="2" charset="2"/>
              <a:buChar char="Ø"/>
            </a:pPr>
            <a:r>
              <a:rPr lang="tr-TR" altLang="tr-TR" dirty="0"/>
              <a:t>Sosyoekonomik düzeylerin (SED) matematik başarısı üzerinde istatistiksel açıdan anlamlı etkisi görüldü, F(2, 197) = 7,968, p&lt;0,001, </a:t>
            </a:r>
            <a:r>
              <a:rPr lang="el-GR" altLang="tr-TR" dirty="0"/>
              <a:t>η</a:t>
            </a:r>
            <a:r>
              <a:rPr lang="tr-TR" altLang="tr-TR" baseline="30000" dirty="0"/>
              <a:t>2</a:t>
            </a:r>
            <a:r>
              <a:rPr lang="tr-TR" altLang="tr-TR" dirty="0"/>
              <a:t>=0,075 </a:t>
            </a:r>
            <a:r>
              <a:rPr lang="tr-TR" altLang="tr-TR" dirty="0">
                <a:ea typeface="Arial" charset="0"/>
                <a:cs typeface="Arial" charset="0"/>
              </a:rPr>
              <a:t>. </a:t>
            </a:r>
          </a:p>
          <a:p>
            <a:pPr>
              <a:buFont typeface="Wingdings" pitchFamily="2" charset="2"/>
              <a:buChar char="Ø"/>
            </a:pPr>
            <a:r>
              <a:rPr lang="tr-TR" altLang="tr-TR" dirty="0" err="1">
                <a:ea typeface="Arial" charset="0"/>
                <a:cs typeface="Arial" charset="0"/>
              </a:rPr>
              <a:t>Tukey</a:t>
            </a:r>
            <a:r>
              <a:rPr lang="tr-TR" altLang="tr-TR" dirty="0">
                <a:ea typeface="Arial" charset="0"/>
                <a:cs typeface="Arial" charset="0"/>
              </a:rPr>
              <a:t> post-hoc test sonuçlarına göre (α=0.017) düşük SED sahip olanlar  (49,17±8,88) ile yüksek </a:t>
            </a:r>
            <a:r>
              <a:rPr lang="tr-TR" altLang="tr-TR" dirty="0" err="1">
                <a:ea typeface="Arial" charset="0"/>
                <a:cs typeface="Arial" charset="0"/>
              </a:rPr>
              <a:t>SED’lerin</a:t>
            </a:r>
            <a:r>
              <a:rPr lang="tr-TR" altLang="tr-TR" dirty="0">
                <a:ea typeface="Arial" charset="0"/>
                <a:cs typeface="Arial" charset="0"/>
              </a:rPr>
              <a:t> (56,17±8,69) matematik başarı ortalamaları arasında istatistiksel açıdan anlamlı (p &lt;0,001) bir farklılık vardır. </a:t>
            </a:r>
          </a:p>
          <a:p>
            <a:pPr>
              <a:buFont typeface="Wingdings" pitchFamily="2" charset="2"/>
              <a:buChar char="Ø"/>
            </a:pPr>
            <a:r>
              <a:rPr lang="tr-TR" altLang="tr-TR" dirty="0">
                <a:ea typeface="Arial" charset="0"/>
                <a:cs typeface="Arial" charset="0"/>
              </a:rPr>
              <a:t>Aynı şekilde orta düzey SED (52,21±9,36) ile yüksek </a:t>
            </a:r>
            <a:r>
              <a:rPr lang="tr-TR" altLang="tr-TR" dirty="0" err="1">
                <a:ea typeface="Arial" charset="0"/>
                <a:cs typeface="Arial" charset="0"/>
              </a:rPr>
              <a:t>SED’lerin</a:t>
            </a:r>
            <a:r>
              <a:rPr lang="tr-TR" altLang="tr-TR" dirty="0">
                <a:ea typeface="Arial" charset="0"/>
                <a:cs typeface="Arial" charset="0"/>
              </a:rPr>
              <a:t> (56,17±8,69) matematik başarı ortalamaları arasında istatistiksel açıdan anlamlı (p&lt;0.05) bir farklılık vardır.</a:t>
            </a:r>
          </a:p>
          <a:p>
            <a:pPr eaLnBrk="1" hangingPunct="1">
              <a:buFont typeface="Wingdings" pitchFamily="2" charset="2"/>
              <a:buChar char="Ø"/>
            </a:pPr>
            <a:r>
              <a:rPr lang="tr-TR" altLang="tr-TR" dirty="0">
                <a:ea typeface="Arial" charset="0"/>
                <a:cs typeface="Arial" charset="0"/>
              </a:rPr>
              <a:t>SED arttıkça matematik başarılarında artış görülmüştür.</a:t>
            </a:r>
          </a:p>
        </p:txBody>
      </p:sp>
    </p:spTree>
  </p:cSld>
  <p:clrMapOvr>
    <a:masterClrMapping/>
  </p:clrMapOvr>
</p:sld>
</file>

<file path=ppt/theme/theme1.xml><?xml version="1.0" encoding="utf-8"?>
<a:theme xmlns:a="http://schemas.openxmlformats.org/drawingml/2006/main" name="Geçmişe bakış">
  <a:themeElements>
    <a:clrScheme name="Yeşil Sarı">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Geçmişe bakış">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varyans-analizi" id="{50EE162D-B702-F54D-A6E4-015CE2F59682}" vid="{8B6BA2D8-A8BA-9547-B970-0CDC18CF28BB}"/>
    </a:ext>
  </a:extLst>
</a:theme>
</file>

<file path=ppt/theme/theme2.xml><?xml version="1.0" encoding="utf-8"?>
<a:theme xmlns:a="http://schemas.openxmlformats.org/drawingml/2006/main" name="Özel Tasarı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ryans-analizi" id="{50EE162D-B702-F54D-A6E4-015CE2F59682}" vid="{63EB58F1-7A07-7C4B-B7BD-4AAC2524AF8D}"/>
    </a:ext>
  </a:extLst>
</a:theme>
</file>

<file path=ppt/theme/theme3.xml><?xml version="1.0" encoding="utf-8"?>
<a:theme xmlns:a="http://schemas.openxmlformats.org/drawingml/2006/main" name="Office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varyans-analizi</Template>
  <TotalTime>555</TotalTime>
  <Words>1155</Words>
  <Application>Microsoft Office PowerPoint</Application>
  <PresentationFormat>Ekran Gösterisi (4:3)</PresentationFormat>
  <Paragraphs>88</Paragraphs>
  <Slides>21</Slides>
  <Notes>1</Notes>
  <HiddenSlides>0</HiddenSlides>
  <MMClips>0</MMClips>
  <ScaleCrop>false</ScaleCrop>
  <HeadingPairs>
    <vt:vector size="6" baseType="variant">
      <vt:variant>
        <vt:lpstr>Kullanılan Yazı Tipleri</vt:lpstr>
      </vt:variant>
      <vt:variant>
        <vt:i4>7</vt:i4>
      </vt:variant>
      <vt:variant>
        <vt:lpstr>Tema</vt:lpstr>
      </vt:variant>
      <vt:variant>
        <vt:i4>2</vt:i4>
      </vt:variant>
      <vt:variant>
        <vt:lpstr>Slayt Başlıkları</vt:lpstr>
      </vt:variant>
      <vt:variant>
        <vt:i4>21</vt:i4>
      </vt:variant>
    </vt:vector>
  </HeadingPairs>
  <TitlesOfParts>
    <vt:vector size="30" baseType="lpstr">
      <vt:lpstr>Arial</vt:lpstr>
      <vt:lpstr>Calibri</vt:lpstr>
      <vt:lpstr>Calibri Light</vt:lpstr>
      <vt:lpstr>Cambria Math</vt:lpstr>
      <vt:lpstr>Helvetica</vt:lpstr>
      <vt:lpstr>Times New Roman</vt:lpstr>
      <vt:lpstr>Wingdings</vt:lpstr>
      <vt:lpstr>Geçmişe bakış</vt:lpstr>
      <vt:lpstr>Özel Tasarım</vt:lpstr>
      <vt:lpstr>Varyans Analizi (ANOVA)</vt:lpstr>
      <vt:lpstr>Varyans Analizi (ANOVA)</vt:lpstr>
      <vt:lpstr>PowerPoint Sunusu</vt:lpstr>
      <vt:lpstr>ANOVA’nın t testinden farkı</vt:lpstr>
      <vt:lpstr>Bir başka deyişle</vt:lpstr>
      <vt:lpstr>Sayıltılar</vt:lpstr>
      <vt:lpstr>Test İstatistiği</vt:lpstr>
      <vt:lpstr>Gruplar arası varyans Grup içi varyansa göre az :Küçük F-istatistiği </vt:lpstr>
      <vt:lpstr>ANOVA: Aşamalar</vt:lpstr>
      <vt:lpstr>Tek yönlü ANOVA örneği</vt:lpstr>
      <vt:lpstr>Önce hipotez kuralım</vt:lpstr>
      <vt:lpstr>JASP’ta Analiz</vt:lpstr>
      <vt:lpstr>Sayıltıları Test Edelim </vt:lpstr>
      <vt:lpstr>Sayıltıları Test Edelim- Grup Düzeyinde Normallik </vt:lpstr>
      <vt:lpstr>Tanımlayıcı istatistikler</vt:lpstr>
      <vt:lpstr>ANOVA ve Ortalamaların Eşitliği testi</vt:lpstr>
      <vt:lpstr>Post-Hoc Çoklu Karşılaştırma Testleri</vt:lpstr>
      <vt:lpstr>Post hoc (Çoklu Karşılaştırma) testleri</vt:lpstr>
      <vt:lpstr>Post-Hoc Çoklu Karşılaştırma Testleri alfa düzeltme</vt:lpstr>
      <vt:lpstr>PowerPoint Sunusu</vt:lpstr>
      <vt:lpstr>APA stiline göre ANOVA sonuçlarını rapor etme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Varyans Analizi (ANOVA)</dc:title>
  <dc:creator>Reviewer</dc:creator>
  <cp:lastModifiedBy>user</cp:lastModifiedBy>
  <cp:revision>32</cp:revision>
  <dcterms:created xsi:type="dcterms:W3CDTF">2017-04-12T13:40:38Z</dcterms:created>
  <dcterms:modified xsi:type="dcterms:W3CDTF">2023-11-28T10:36:33Z</dcterms:modified>
</cp:coreProperties>
</file>