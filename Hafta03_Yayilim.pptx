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1pPr>
    <a:lvl2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2pPr>
    <a:lvl3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3pPr>
    <a:lvl4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4pPr>
    <a:lvl5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5pPr>
    <a:lvl6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6pPr>
    <a:lvl7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7pPr>
    <a:lvl8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8pPr>
    <a:lvl9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4B13F">
              <a:alpha val="9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882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8BC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54545">
              <a:alpha val="41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282A2F"/>
        </a:fontRef>
        <a:srgbClr val="282A2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D5C">
              <a:alpha val="82000"/>
            </a:srgb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B2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87B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254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7A8DB2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EDEDF">
              <a:alpha val="19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444C55">
              <a:alpha val="5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2616200"/>
            <a:ext cx="10464800" cy="2540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207000"/>
            <a:ext cx="10464800" cy="1663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21"/>
          </p:nvPr>
        </p:nvSpPr>
        <p:spPr>
          <a:xfrm>
            <a:off x="-1358900" y="-1143000"/>
            <a:ext cx="14668500" cy="100584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181100" y="6794500"/>
            <a:ext cx="10642600" cy="15113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181100" y="8382000"/>
            <a:ext cx="10642600" cy="939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606800"/>
            <a:ext cx="10464800" cy="2540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21"/>
          </p:nvPr>
        </p:nvSpPr>
        <p:spPr>
          <a:xfrm>
            <a:off x="2044700" y="-25400"/>
            <a:ext cx="12534901" cy="8648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609600" y="1155700"/>
            <a:ext cx="5994400" cy="3568700"/>
          </a:xfrm>
          <a:prstGeom prst="rect">
            <a:avLst/>
          </a:prstGeom>
        </p:spPr>
        <p:txBody>
          <a:bodyPr anchor="b"/>
          <a:lstStyle>
            <a:lvl1pPr>
              <a:defRPr sz="58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609600" y="4762500"/>
            <a:ext cx="5994400" cy="356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xfrm>
            <a:off x="1270000" y="2768600"/>
            <a:ext cx="10464800" cy="57404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idx="21"/>
          </p:nvPr>
        </p:nvSpPr>
        <p:spPr>
          <a:xfrm>
            <a:off x="3543300" y="2018930"/>
            <a:ext cx="10299700" cy="7112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270000" y="2946400"/>
            <a:ext cx="5270500" cy="6096000"/>
          </a:xfrm>
          <a:prstGeom prst="rect">
            <a:avLst/>
          </a:prstGeom>
        </p:spPr>
        <p:txBody>
          <a:bodyPr/>
          <a:lstStyle>
            <a:lvl1pPr marL="482600" indent="-482600">
              <a:spcBef>
                <a:spcPts val="3200"/>
              </a:spcBef>
              <a:buBlip>
                <a:blip r:embed="rId2"/>
              </a:buBlip>
              <a:defRPr sz="3200"/>
            </a:lvl1pPr>
            <a:lvl2pPr marL="965200" indent="-482600">
              <a:spcBef>
                <a:spcPts val="3200"/>
              </a:spcBef>
              <a:buBlip>
                <a:blip r:embed="rId2"/>
              </a:buBlip>
              <a:defRPr sz="3200"/>
            </a:lvl2pPr>
            <a:lvl3pPr marL="1447800" indent="-482600">
              <a:spcBef>
                <a:spcPts val="3200"/>
              </a:spcBef>
              <a:buBlip>
                <a:blip r:embed="rId2"/>
              </a:buBlip>
              <a:defRPr sz="3200"/>
            </a:lvl3pPr>
            <a:lvl4pPr marL="1930400" indent="-482600">
              <a:spcBef>
                <a:spcPts val="3200"/>
              </a:spcBef>
              <a:buBlip>
                <a:blip r:embed="rId2"/>
              </a:buBlip>
              <a:defRPr sz="3200"/>
            </a:lvl4pPr>
            <a:lvl5pPr marL="2413000" indent="-482600">
              <a:spcBef>
                <a:spcPts val="3200"/>
              </a:spcBef>
              <a:buBlip>
                <a:blip r:embed="rId2"/>
              </a:buBlip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256723" y="9197831"/>
            <a:ext cx="409839" cy="45417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idx="21"/>
          </p:nvPr>
        </p:nvSpPr>
        <p:spPr>
          <a:xfrm>
            <a:off x="4703923" y="3389019"/>
            <a:ext cx="9639301" cy="6401759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half" idx="22"/>
          </p:nvPr>
        </p:nvSpPr>
        <p:spPr>
          <a:xfrm rot="21600000">
            <a:off x="7281774" y="-1330382"/>
            <a:ext cx="4978401" cy="6332526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idx="23"/>
          </p:nvPr>
        </p:nvSpPr>
        <p:spPr>
          <a:xfrm rot="21600000">
            <a:off x="-3213100" y="762000"/>
            <a:ext cx="12280900" cy="84963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1270000" y="6362700"/>
            <a:ext cx="10464800" cy="5715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1270000" y="4518049"/>
            <a:ext cx="10464800" cy="71750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2400"/>
              </a:spcBef>
              <a:buSzTx/>
              <a:buNone/>
              <a:defRPr sz="3800"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21"/>
          </p:nvPr>
        </p:nvSpPr>
        <p:spPr>
          <a:xfrm>
            <a:off x="-769775" y="-216731"/>
            <a:ext cx="14960601" cy="10287001"/>
          </a:xfrm>
          <a:prstGeom prst="rect">
            <a:avLst/>
          </a:prstGeom>
          <a:ln w="88900"/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270000" y="1066800"/>
            <a:ext cx="10464800" cy="7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buBlip>
                <a:blip r:embed="rId3"/>
              </a:buBlip>
            </a:lvl1pPr>
            <a:lvl2pPr>
              <a:buBlip>
                <a:blip r:embed="rId3"/>
              </a:buBlip>
            </a:lvl2pPr>
            <a:lvl3pPr>
              <a:buBlip>
                <a:blip r:embed="rId3"/>
              </a:buBlip>
            </a:lvl3pPr>
            <a:lvl4pPr>
              <a:buBlip>
                <a:blip r:embed="rId3"/>
              </a:buBlip>
            </a:lvl4pPr>
            <a:lvl5pPr>
              <a:buBlip>
                <a:blip r:embed="rId3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270000" y="203200"/>
            <a:ext cx="104648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7011" y="9197831"/>
            <a:ext cx="409839" cy="45417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titleStyle>
    <p:bodyStyle>
      <a:lvl1pPr marL="571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1143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1714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2286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2857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3429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4000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4572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5143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7.jpeg"/><Relationship Id="rId7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etimsel İstatistik-II"/>
          <p:cNvSpPr txBox="1"/>
          <p:nvPr>
            <p:ph type="title"/>
          </p:nvPr>
        </p:nvSpPr>
        <p:spPr>
          <a:xfrm>
            <a:off x="524668" y="335905"/>
            <a:ext cx="11650664" cy="2274590"/>
          </a:xfrm>
          <a:prstGeom prst="rect">
            <a:avLst/>
          </a:prstGeom>
        </p:spPr>
        <p:txBody>
          <a:bodyPr/>
          <a:lstStyle>
            <a:lvl1pPr defTabSz="374904">
              <a:defRPr sz="7380"/>
            </a:lvl1pPr>
          </a:lstStyle>
          <a:p>
            <a:pPr/>
            <a:r>
              <a:t>Betimsel İstatistik-II</a:t>
            </a:r>
          </a:p>
        </p:txBody>
      </p:sp>
      <p:sp>
        <p:nvSpPr>
          <p:cNvPr id="120" name="“Yayılım (Dispersion) veya Değişkenlik (Variability) Ölçüleri”"/>
          <p:cNvSpPr txBox="1"/>
          <p:nvPr>
            <p:ph type="body" sz="quarter" idx="1"/>
          </p:nvPr>
        </p:nvSpPr>
        <p:spPr>
          <a:xfrm>
            <a:off x="325586" y="3530600"/>
            <a:ext cx="7172028" cy="3251200"/>
          </a:xfrm>
          <a:prstGeom prst="rect">
            <a:avLst/>
          </a:prstGeom>
        </p:spPr>
        <p:txBody>
          <a:bodyPr/>
          <a:lstStyle/>
          <a:p>
            <a:pPr marL="0" indent="0" algn="ctr" defTabSz="379475">
              <a:spcBef>
                <a:spcPts val="0"/>
              </a:spcBef>
              <a:buSzTx/>
              <a:buNone/>
              <a:defRPr sz="4565">
                <a:solidFill>
                  <a:schemeClr val="accent5"/>
                </a:solidFill>
              </a:defRPr>
            </a:pPr>
            <a:r>
              <a:t>“Yayılım (Dispersion) veya Değişkenlik (Variability) Ölçüleri”</a:t>
            </a:r>
          </a:p>
          <a:p>
            <a:pPr marL="0" indent="0" algn="ctr" defTabSz="379475">
              <a:spcBef>
                <a:spcPts val="0"/>
              </a:spcBef>
              <a:buSzTx/>
              <a:buNone/>
              <a:defRPr sz="4565">
                <a:solidFill>
                  <a:schemeClr val="accent5"/>
                </a:solidFill>
              </a:defRPr>
            </a:pPr>
            <a:r>
              <a:t> </a:t>
            </a:r>
          </a:p>
        </p:txBody>
      </p:sp>
      <p:pic>
        <p:nvPicPr>
          <p:cNvPr id="121" name="Screen Shot 2018-10-29 at 02.44.42.png" descr="Screen Shot 2018-10-29 at 02.44.42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5442" y="2644257"/>
            <a:ext cx="5031368" cy="7164814"/>
          </a:xfrm>
          <a:prstGeom prst="rect">
            <a:avLst/>
          </a:prstGeom>
        </p:spPr>
      </p:pic>
      <p:sp>
        <p:nvSpPr>
          <p:cNvPr id="122" name="Prof.Dr. Evrim Genç Kumtepe"/>
          <p:cNvSpPr txBox="1"/>
          <p:nvPr/>
        </p:nvSpPr>
        <p:spPr>
          <a:xfrm>
            <a:off x="560842" y="8536757"/>
            <a:ext cx="5999972" cy="6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/>
            <a:r>
              <a:t>Prof.Dr. Evrim Genç Kumtepe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Kısaca bu derste:"/>
          <p:cNvSpPr txBox="1"/>
          <p:nvPr>
            <p:ph type="title"/>
          </p:nvPr>
        </p:nvSpPr>
        <p:spPr>
          <a:xfrm>
            <a:off x="50800" y="203200"/>
            <a:ext cx="10464800" cy="25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r>
              <a:t>Kısaca bu derste:</a:t>
            </a:r>
          </a:p>
        </p:txBody>
      </p:sp>
      <p:sp>
        <p:nvSpPr>
          <p:cNvPr id="125" name="İstatistikte yayılım ne demek?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>
              <a:buBlip>
                <a:blip r:embed="rId2"/>
              </a:buBlip>
            </a:pPr>
            <a:r>
              <a:t>İstatistikte yayılım ne demek?</a:t>
            </a:r>
          </a:p>
          <a:p>
            <a:pPr>
              <a:buBlip>
                <a:blip r:embed="rId2"/>
              </a:buBlip>
            </a:pPr>
            <a:r>
              <a:t>Yayılımı ölçmenin amacı nedir?</a:t>
            </a:r>
          </a:p>
          <a:p>
            <a:pPr>
              <a:buBlip>
                <a:blip r:embed="rId2"/>
              </a:buBlip>
            </a:pPr>
            <a:r>
              <a:t>Yayılımı ölçmenin yöntemleri nelerdir?</a:t>
            </a:r>
          </a:p>
        </p:txBody>
      </p:sp>
      <p:pic>
        <p:nvPicPr>
          <p:cNvPr id="126" name="Screen Shot 2018-10-29 at 03.00.58.png" descr="Screen Shot 2018-10-29 at 03.00.58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76333" y="2118330"/>
            <a:ext cx="5079033" cy="7262704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Yayılım ne demek?"/>
          <p:cNvSpPr txBox="1"/>
          <p:nvPr>
            <p:ph type="title"/>
          </p:nvPr>
        </p:nvSpPr>
        <p:spPr>
          <a:xfrm>
            <a:off x="1270000" y="248741"/>
            <a:ext cx="10464800" cy="13514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5860"/>
                </a:solidFill>
              </a:defRPr>
            </a:lvl1pPr>
          </a:lstStyle>
          <a:p>
            <a:pPr/>
            <a:r>
              <a:t>Yayılım ne demek?</a:t>
            </a:r>
          </a:p>
        </p:txBody>
      </p:sp>
      <p:sp>
        <p:nvSpPr>
          <p:cNvPr id="129" name="Bir dağılımda gözlemlerin merkezin (ör., ortalama) her iki tarafına ne şekilde/ölçüde yayıldığını ortaya koymaktadır.…"/>
          <p:cNvSpPr txBox="1"/>
          <p:nvPr>
            <p:ph type="body" idx="1"/>
          </p:nvPr>
        </p:nvSpPr>
        <p:spPr>
          <a:xfrm>
            <a:off x="365918" y="4598789"/>
            <a:ext cx="12455923" cy="4889600"/>
          </a:xfrm>
          <a:prstGeom prst="rect">
            <a:avLst/>
          </a:prstGeom>
        </p:spPr>
        <p:txBody>
          <a:bodyPr/>
          <a:lstStyle/>
          <a:p>
            <a:pPr marL="436880" indent="-436880" defTabSz="393192">
              <a:spcBef>
                <a:spcPts val="0"/>
              </a:spcBef>
              <a:buBlip>
                <a:blip r:embed="rId2"/>
              </a:buBlip>
              <a:defRPr sz="2752"/>
            </a:pPr>
            <a:r>
              <a:t>Bir dağılımda gözlemlerin merkezin (ör., ortalama) her iki tarafına ne şekilde/ölçüde yayıldığını ortaya koymaktadır.</a:t>
            </a:r>
          </a:p>
          <a:p>
            <a:pPr marL="0" indent="0" defTabSz="393192">
              <a:spcBef>
                <a:spcPts val="0"/>
              </a:spcBef>
              <a:buSzTx/>
              <a:buNone/>
              <a:defRPr sz="2752"/>
            </a:pPr>
          </a:p>
          <a:p>
            <a:pPr marL="0" indent="0" defTabSz="393192">
              <a:spcBef>
                <a:spcPts val="0"/>
              </a:spcBef>
              <a:buSzTx/>
              <a:buNone/>
              <a:defRPr sz="2752"/>
            </a:pPr>
            <a:r>
              <a:t>• Verilerin ne kadar değişkenlik gösterdiğini açıklar (yani, ortalamanın etrafına nasıl yayılır).</a:t>
            </a:r>
          </a:p>
          <a:p>
            <a:pPr marL="0" indent="0" defTabSz="393192">
              <a:spcBef>
                <a:spcPts val="0"/>
              </a:spcBef>
              <a:buSzTx/>
              <a:buNone/>
              <a:defRPr sz="2752"/>
            </a:pPr>
          </a:p>
          <a:p>
            <a:pPr marL="0" indent="0" defTabSz="393192">
              <a:spcBef>
                <a:spcPts val="0"/>
              </a:spcBef>
              <a:buSzTx/>
              <a:buNone/>
              <a:defRPr sz="2752"/>
            </a:pPr>
            <a:r>
              <a:t>• “Değişkenlik (variability)” veya “yayıklık” olarak da adlandırılır</a:t>
            </a:r>
          </a:p>
        </p:txBody>
      </p:sp>
      <p:pic>
        <p:nvPicPr>
          <p:cNvPr id="130" name="yayık.png" descr="yayık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56364" y="1364158"/>
            <a:ext cx="5727014" cy="3127457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Yayılımı Ölçmenin Amacı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Yayılımı Ölçmenin Amacı</a:t>
            </a:r>
          </a:p>
        </p:txBody>
      </p:sp>
      <p:sp>
        <p:nvSpPr>
          <p:cNvPr id="133" name="Yayılımı ölçmenin iki temel amacı vardır:…"/>
          <p:cNvSpPr txBox="1"/>
          <p:nvPr>
            <p:ph type="body" sz="half" idx="1"/>
          </p:nvPr>
        </p:nvSpPr>
        <p:spPr>
          <a:xfrm>
            <a:off x="197709" y="2624666"/>
            <a:ext cx="7172525" cy="5740401"/>
          </a:xfrm>
          <a:prstGeom prst="rect">
            <a:avLst/>
          </a:prstGeom>
        </p:spPr>
        <p:txBody>
          <a:bodyPr anchor="t"/>
          <a:lstStyle/>
          <a:p>
            <a:pPr marL="0" indent="0" defTabSz="388620">
              <a:spcBef>
                <a:spcPts val="0"/>
              </a:spcBef>
              <a:buSzTx/>
              <a:buNone/>
              <a:defRPr sz="2975"/>
            </a:pPr>
            <a:r>
              <a:t>Yayılımı ölçmenin iki temel amacı vardır:</a:t>
            </a:r>
          </a:p>
          <a:p>
            <a:pPr marL="194310" indent="-194310" defTabSz="388620">
              <a:spcBef>
                <a:spcPts val="0"/>
              </a:spcBef>
              <a:buSzPct val="100000"/>
              <a:buAutoNum type="arabicPeriod" startAt="1"/>
              <a:defRPr sz="2975"/>
            </a:pPr>
            <a:r>
              <a:t> Bir frekans dağılımını karakterize etmek için kullanılan en önemli ölçümlerden biridir.</a:t>
            </a:r>
          </a:p>
          <a:p>
            <a:pPr marL="194310" indent="-194310" defTabSz="388620">
              <a:spcBef>
                <a:spcPts val="0"/>
              </a:spcBef>
              <a:buSzPct val="100000"/>
              <a:buAutoNum type="arabicPeriod" startAt="1"/>
              <a:defRPr sz="2975"/>
            </a:pPr>
            <a:r>
              <a:t> İki veya daha fazla frekans dağılımı arasında bir karşılaştırma ölçütü sağlar sağlar.</a:t>
            </a:r>
          </a:p>
        </p:txBody>
      </p:sp>
      <p:pic>
        <p:nvPicPr>
          <p:cNvPr id="134" name="Screen Shot 2018-10-30 at 16.59.11.png" descr="Screen Shot 2018-10-30 at 16.59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25544" y="3207477"/>
            <a:ext cx="5448075" cy="4133569"/>
          </a:xfrm>
          <a:prstGeom prst="rect">
            <a:avLst/>
          </a:prstGeom>
          <a:ln w="889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Yayılım ölçümleri, veri değerlerinin yayılması veya değişkenliği hakkında bilgi verir…"/>
          <p:cNvSpPr txBox="1"/>
          <p:nvPr>
            <p:ph type="body" idx="1"/>
          </p:nvPr>
        </p:nvSpPr>
        <p:spPr>
          <a:xfrm>
            <a:off x="499636" y="4366550"/>
            <a:ext cx="12428737" cy="5073453"/>
          </a:xfrm>
          <a:prstGeom prst="rect">
            <a:avLst/>
          </a:prstGeom>
        </p:spPr>
        <p:txBody>
          <a:bodyPr/>
          <a:lstStyle/>
          <a:p>
            <a:pPr marL="0" indent="0" algn="ctr" defTabSz="338327">
              <a:spcBef>
                <a:spcPts val="0"/>
              </a:spcBef>
              <a:buSzTx/>
              <a:buNone/>
              <a:defRPr sz="2664">
                <a:solidFill>
                  <a:schemeClr val="accent5"/>
                </a:solidFill>
              </a:defRPr>
            </a:pPr>
            <a:r>
              <a:t>Yayılım ölçümleri, veri değerlerinin yayılması veya değişkenliği hakkında bilgi verir</a:t>
            </a:r>
          </a:p>
          <a:p>
            <a:pPr marL="0" indent="0" defTabSz="338327">
              <a:spcBef>
                <a:spcPts val="0"/>
              </a:spcBef>
              <a:buSzTx/>
              <a:buNone/>
              <a:defRPr sz="2590"/>
            </a:pPr>
          </a:p>
          <a:p>
            <a:pPr marL="411162" indent="-411162" defTabSz="338327">
              <a:spcBef>
                <a:spcPts val="0"/>
              </a:spcBef>
              <a:buBlip>
                <a:blip r:embed="rId2"/>
              </a:buBlip>
              <a:defRPr sz="2590"/>
            </a:pPr>
            <a:r>
              <a:t>Gözlem değerlerinin birbirine ne kadar yakınsa, yayılım (değişkenlik) ölçüsü o kadar düşüktür ve dağılım (distribution) pik yapmıştır</a:t>
            </a:r>
          </a:p>
          <a:p>
            <a:pPr marL="411162" indent="-411162" defTabSz="338327">
              <a:spcBef>
                <a:spcPts val="0"/>
              </a:spcBef>
              <a:buBlip>
                <a:blip r:embed="rId2"/>
              </a:buBlip>
              <a:defRPr sz="2590"/>
            </a:pPr>
            <a:r>
              <a:t>Değerlerin birbirine daha az benzemesi, yayılım ölçüsünü o kadar artırır ve dağılım basıktır</a:t>
            </a:r>
          </a:p>
          <a:p>
            <a:pPr marL="411162" indent="-411162" defTabSz="338327">
              <a:spcBef>
                <a:spcPts val="0"/>
              </a:spcBef>
              <a:buBlip>
                <a:blip r:embed="rId2"/>
              </a:buBlip>
              <a:defRPr sz="2590"/>
            </a:pPr>
            <a:r>
              <a:t>Bir diğer deyişle, değerlerinin birbirinden çok uzaklaşması yayılım ölçüsünü artırır</a:t>
            </a:r>
          </a:p>
        </p:txBody>
      </p:sp>
      <p:pic>
        <p:nvPicPr>
          <p:cNvPr id="137" name="Image" descr="Imag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06586" y="123170"/>
            <a:ext cx="5814838" cy="3408068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138" name="Merkez ortak ama yayılımlar farklı"/>
          <p:cNvSpPr txBox="1"/>
          <p:nvPr/>
        </p:nvSpPr>
        <p:spPr>
          <a:xfrm>
            <a:off x="2531782" y="3507828"/>
            <a:ext cx="8364446" cy="705812"/>
          </a:xfrm>
          <a:prstGeom prst="rect">
            <a:avLst/>
          </a:prstGeom>
          <a:solidFill>
            <a:schemeClr val="accent3">
              <a:satOff val="-7512"/>
              <a:lumOff val="-147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282A2F"/>
                </a:solidFill>
              </a:defRPr>
            </a:lvl1pPr>
          </a:lstStyle>
          <a:p>
            <a:pPr/>
            <a:r>
              <a:t>Merkez ortak ama yayılımlar farklı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Yayılım Ölçümleri"/>
          <p:cNvSpPr txBox="1"/>
          <p:nvPr>
            <p:ph type="title"/>
          </p:nvPr>
        </p:nvSpPr>
        <p:spPr>
          <a:xfrm>
            <a:off x="1270000" y="203200"/>
            <a:ext cx="10464800" cy="1329829"/>
          </a:xfrm>
          <a:prstGeom prst="rect">
            <a:avLst/>
          </a:prstGeom>
        </p:spPr>
        <p:txBody>
          <a:bodyPr/>
          <a:lstStyle/>
          <a:p>
            <a:pPr/>
            <a:r>
              <a:t>Yayılım Ölçümleri</a:t>
            </a:r>
          </a:p>
        </p:txBody>
      </p:sp>
      <p:pic>
        <p:nvPicPr>
          <p:cNvPr id="141" name="Image" descr="Imag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" y="1785890"/>
            <a:ext cx="13030200" cy="7544953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çıklık (Range)"/>
          <p:cNvSpPr txBox="1"/>
          <p:nvPr>
            <p:ph type="title"/>
          </p:nvPr>
        </p:nvSpPr>
        <p:spPr>
          <a:xfrm>
            <a:off x="152400" y="118533"/>
            <a:ext cx="10464800" cy="1583863"/>
          </a:xfrm>
          <a:prstGeom prst="rect">
            <a:avLst/>
          </a:prstGeom>
        </p:spPr>
        <p:txBody>
          <a:bodyPr/>
          <a:lstStyle/>
          <a:p>
            <a:pPr/>
            <a:r>
              <a:t>Açıklık (Range)</a:t>
            </a:r>
          </a:p>
        </p:txBody>
      </p:sp>
      <p:sp>
        <p:nvSpPr>
          <p:cNvPr id="144" name="•Basitçe veri setinin yayılımı hakkında bilgi verir…"/>
          <p:cNvSpPr txBox="1"/>
          <p:nvPr>
            <p:ph type="body" idx="1"/>
          </p:nvPr>
        </p:nvSpPr>
        <p:spPr>
          <a:xfrm>
            <a:off x="380140" y="2195611"/>
            <a:ext cx="12244520" cy="4883879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0"/>
              </a:spcBef>
              <a:buSzTx/>
              <a:buNone/>
              <a:defRPr sz="3200"/>
            </a:pPr>
            <a:r>
              <a:t>•Basitçe veri setinin yayılımı hakkında bilgi verir</a:t>
            </a:r>
          </a:p>
          <a:p>
            <a:pPr marL="508000" indent="-508000">
              <a:spcBef>
                <a:spcPts val="0"/>
              </a:spcBef>
              <a:buBlip>
                <a:blip r:embed="rId2"/>
              </a:buBlip>
              <a:defRPr sz="3200"/>
            </a:pPr>
            <a:r>
              <a:t>Veri setindeki en büyük gözlemle en küçük gözlem arasındaki fark</a:t>
            </a:r>
          </a:p>
          <a:p>
            <a:pPr marL="0" indent="0">
              <a:spcBef>
                <a:spcPts val="0"/>
              </a:spcBef>
              <a:buSzTx/>
              <a:buNone/>
              <a:defRPr sz="3200"/>
            </a:pPr>
            <a:r>
              <a:rPr>
                <a:solidFill>
                  <a:schemeClr val="accent5"/>
                </a:solidFill>
              </a:rPr>
              <a:t>R (Açıklık) </a:t>
            </a:r>
            <a:r>
              <a:rPr>
                <a:solidFill>
                  <a:schemeClr val="accent5"/>
                </a:solidFill>
              </a:rPr>
              <a:t>= maks. gözlem - min. gözlem</a:t>
            </a:r>
            <a:endParaRPr>
              <a:solidFill>
                <a:schemeClr val="accent5"/>
              </a:solidFill>
            </a:endParaRPr>
          </a:p>
          <a:p>
            <a:pPr lvl="1" marL="1079500" indent="-508000">
              <a:spcBef>
                <a:spcPts val="0"/>
              </a:spcBef>
              <a:buBlip>
                <a:blip r:embed="rId2"/>
              </a:buBlip>
              <a:defRPr sz="3200"/>
            </a:pPr>
            <a:r>
              <a:t>Ör., TL cinsinden 130000, 35000, 30000, 30000, 30000, 30000, 25000, 25000 </a:t>
            </a:r>
          </a:p>
          <a:p>
            <a:pPr lvl="1" marL="1079500" indent="-508000">
              <a:spcBef>
                <a:spcPts val="0"/>
              </a:spcBef>
              <a:buBlip>
                <a:blip r:embed="rId2"/>
              </a:buBlip>
              <a:defRPr sz="3200"/>
            </a:pPr>
            <a:r>
              <a:t>Açıklık = 130000 - 25000 = 105000 TL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"/>
          <p:cNvSpPr/>
          <p:nvPr/>
        </p:nvSpPr>
        <p:spPr>
          <a:xfrm>
            <a:off x="6913827" y="6658958"/>
            <a:ext cx="2201334" cy="914437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47" name="Rectangle"/>
          <p:cNvSpPr/>
          <p:nvPr/>
        </p:nvSpPr>
        <p:spPr>
          <a:xfrm>
            <a:off x="3903133" y="6654782"/>
            <a:ext cx="2201334" cy="914436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48" name="Circle"/>
          <p:cNvSpPr/>
          <p:nvPr/>
        </p:nvSpPr>
        <p:spPr>
          <a:xfrm>
            <a:off x="4603386" y="6714000"/>
            <a:ext cx="800828" cy="79600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sx="100000" sy="100000" kx="0" ky="0" algn="b" rotWithShape="0" blurRad="2794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49" name="Circle"/>
          <p:cNvSpPr/>
          <p:nvPr/>
        </p:nvSpPr>
        <p:spPr>
          <a:xfrm>
            <a:off x="7439719" y="6714000"/>
            <a:ext cx="800829" cy="79600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sx="100000" sy="100000" kx="0" ky="0" algn="b" rotWithShape="0" blurRad="2794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50" name="Circle"/>
          <p:cNvSpPr/>
          <p:nvPr/>
        </p:nvSpPr>
        <p:spPr>
          <a:xfrm>
            <a:off x="6101986" y="6714000"/>
            <a:ext cx="800828" cy="796000"/>
          </a:xfrm>
          <a:prstGeom prst="ellipse">
            <a:avLst/>
          </a:prstGeom>
          <a:solidFill>
            <a:schemeClr val="accent2">
              <a:hueOff val="1462849"/>
              <a:satOff val="-6597"/>
              <a:lumOff val="-35580"/>
            </a:schemeClr>
          </a:solidFill>
          <a:ln w="12700">
            <a:miter lim="400000"/>
          </a:ln>
          <a:effectLst>
            <a:outerShdw sx="100000" sy="100000" kx="0" ky="0" algn="b" rotWithShape="0" blurRad="2794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51" name="Çeyrekler Arası Açıklık…"/>
          <p:cNvSpPr txBox="1"/>
          <p:nvPr>
            <p:ph type="title"/>
          </p:nvPr>
        </p:nvSpPr>
        <p:spPr>
          <a:xfrm>
            <a:off x="1083733" y="67733"/>
            <a:ext cx="10464801" cy="1563490"/>
          </a:xfrm>
          <a:prstGeom prst="rect">
            <a:avLst/>
          </a:prstGeom>
        </p:spPr>
        <p:txBody>
          <a:bodyPr/>
          <a:lstStyle/>
          <a:p>
            <a:pPr defTabSz="278892">
              <a:defRPr sz="4392"/>
            </a:pPr>
            <a:r>
              <a:t>Çeyrekler Arası Açıklık </a:t>
            </a:r>
          </a:p>
          <a:p>
            <a:pPr defTabSz="278892">
              <a:defRPr sz="4392"/>
            </a:pPr>
            <a:r>
              <a:t>(Inter Quartile Range-IQR)</a:t>
            </a:r>
          </a:p>
        </p:txBody>
      </p:sp>
      <p:sp>
        <p:nvSpPr>
          <p:cNvPr id="152" name="Veri Setindeki Gözlem Sayısı (n) ve alt ve üst grubun gözlem sayısı Tek Sayı ise;…"/>
          <p:cNvSpPr txBox="1"/>
          <p:nvPr>
            <p:ph type="body" idx="1"/>
          </p:nvPr>
        </p:nvSpPr>
        <p:spPr>
          <a:xfrm>
            <a:off x="560586" y="1534865"/>
            <a:ext cx="12459362" cy="4808936"/>
          </a:xfrm>
          <a:prstGeom prst="rect">
            <a:avLst/>
          </a:prstGeom>
        </p:spPr>
        <p:txBody>
          <a:bodyPr anchor="t"/>
          <a:lstStyle/>
          <a:p>
            <a:pPr marL="422909" indent="-422909" defTabSz="338327">
              <a:spcBef>
                <a:spcPts val="2600"/>
              </a:spcBef>
              <a:buBlip>
                <a:blip r:embed="rId4"/>
              </a:buBlip>
              <a:defRPr sz="2664">
                <a:solidFill>
                  <a:schemeClr val="accent5"/>
                </a:solidFill>
              </a:defRPr>
            </a:pPr>
            <a:r>
              <a:t>Veri Setindeki Gözlem Sayısı (n) ve alt ve üst grubun gözlem sayısı </a:t>
            </a:r>
            <a:r>
              <a:rPr u="sng"/>
              <a:t>Tek Sayı </a:t>
            </a:r>
            <a:r>
              <a:t>ise;</a:t>
            </a:r>
          </a:p>
          <a:p>
            <a:pPr marL="0" indent="0" defTabSz="338327">
              <a:spcBef>
                <a:spcPts val="0"/>
              </a:spcBef>
              <a:buSzTx/>
              <a:buNone/>
              <a:defRPr sz="2368"/>
            </a:pPr>
            <a:r>
              <a:t>• 1. ve 3. çeyrekler arasındaki fark</a:t>
            </a:r>
          </a:p>
          <a:p>
            <a:pPr marL="0" indent="0" defTabSz="338327">
              <a:spcBef>
                <a:spcPts val="0"/>
              </a:spcBef>
              <a:buSzTx/>
              <a:buNone/>
              <a:defRPr sz="2368"/>
            </a:pPr>
            <a:r>
              <a:t>• </a:t>
            </a:r>
            <a:r>
              <a:t>IQR hesaplamak için</a:t>
            </a:r>
          </a:p>
          <a:p>
            <a:pPr lvl="1" marL="798830" indent="-375920" defTabSz="338327">
              <a:spcBef>
                <a:spcPts val="0"/>
              </a:spcBef>
              <a:buSzPct val="100000"/>
              <a:buChar char="-"/>
              <a:defRPr sz="2368"/>
            </a:pPr>
            <a:r>
              <a:t>Veri setini küçükten büyüğe sıraya dizin</a:t>
            </a:r>
          </a:p>
          <a:p>
            <a:pPr lvl="1" marL="798830" indent="-375920" defTabSz="338327">
              <a:spcBef>
                <a:spcPts val="0"/>
              </a:spcBef>
              <a:buSzPct val="100000"/>
              <a:buChar char="-"/>
              <a:defRPr sz="2368"/>
            </a:pPr>
            <a:r>
              <a:t>Veri setinin medyanını esas alarak veriyi %50’lik iki parçaya ayırın</a:t>
            </a:r>
          </a:p>
          <a:p>
            <a:pPr lvl="1" marL="798830" indent="-375920" defTabSz="338327">
              <a:spcBef>
                <a:spcPts val="0"/>
              </a:spcBef>
              <a:buSzPct val="100000"/>
              <a:buChar char="-"/>
              <a:defRPr sz="2368"/>
            </a:pPr>
            <a:r>
              <a:t>En üst ve en alt %50’lik grupların ayrı ayrı medyanını bulun</a:t>
            </a:r>
          </a:p>
          <a:p>
            <a:pPr lvl="1" marL="798830" indent="-375920" defTabSz="338327">
              <a:spcBef>
                <a:spcPts val="0"/>
              </a:spcBef>
              <a:buSzPct val="100000"/>
              <a:buChar char="-"/>
              <a:defRPr sz="2368"/>
            </a:pPr>
            <a:r>
              <a:t>Büyük medyan değerinden küçük medyan değerini çıkarın </a:t>
            </a:r>
          </a:p>
          <a:p>
            <a:pPr lvl="2" marL="1221740" indent="-375920" defTabSz="338327">
              <a:spcBef>
                <a:spcPts val="0"/>
              </a:spcBef>
              <a:buSzPct val="100000"/>
              <a:buChar char="-"/>
              <a:defRPr sz="2368"/>
            </a:pPr>
            <a:r>
              <a:t>IQR = Q3 - Q1</a:t>
            </a:r>
          </a:p>
        </p:txBody>
      </p:sp>
      <p:sp>
        <p:nvSpPr>
          <p:cNvPr id="153" name="Ör.   2  4  4  5  6  7  8"/>
          <p:cNvSpPr txBox="1"/>
          <p:nvPr/>
        </p:nvSpPr>
        <p:spPr>
          <a:xfrm>
            <a:off x="3002845" y="6759094"/>
            <a:ext cx="5784143" cy="705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algn="l">
              <a:defRPr sz="3200"/>
            </a:pPr>
            <a:r>
              <a:t>Ör.   2  4  4  5  6  7  8</a:t>
            </a:r>
          </a:p>
        </p:txBody>
      </p:sp>
      <p:sp>
        <p:nvSpPr>
          <p:cNvPr id="154" name="Q2…"/>
          <p:cNvSpPr txBox="1"/>
          <p:nvPr/>
        </p:nvSpPr>
        <p:spPr>
          <a:xfrm>
            <a:off x="5010868" y="8345752"/>
            <a:ext cx="2911697" cy="1393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/>
            </a:pPr>
            <a:r>
              <a:t>Q2 </a:t>
            </a:r>
          </a:p>
          <a:p>
            <a:pPr>
              <a:defRPr sz="2200"/>
            </a:pPr>
            <a:r>
              <a:t>Tüm veri setinin </a:t>
            </a:r>
          </a:p>
          <a:p>
            <a:pPr>
              <a:defRPr sz="2200"/>
            </a:pPr>
            <a:r>
              <a:t>Medyanı</a:t>
            </a:r>
          </a:p>
        </p:txBody>
      </p:sp>
      <p:sp>
        <p:nvSpPr>
          <p:cNvPr id="155" name="Q1…"/>
          <p:cNvSpPr txBox="1"/>
          <p:nvPr/>
        </p:nvSpPr>
        <p:spPr>
          <a:xfrm>
            <a:off x="1065911" y="8091752"/>
            <a:ext cx="3384361" cy="1393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/>
            </a:pPr>
            <a:r>
              <a:t>Q1</a:t>
            </a:r>
          </a:p>
          <a:p>
            <a:pPr>
              <a:defRPr sz="2200"/>
            </a:pPr>
            <a:r>
              <a:t>En Alt Çeyrek</a:t>
            </a:r>
          </a:p>
          <a:p>
            <a:pPr>
              <a:defRPr sz="2200"/>
            </a:pPr>
            <a:r>
              <a:t>Alt %50’nin medyanı</a:t>
            </a:r>
          </a:p>
        </p:txBody>
      </p:sp>
      <p:sp>
        <p:nvSpPr>
          <p:cNvPr id="156" name="Q3…"/>
          <p:cNvSpPr txBox="1"/>
          <p:nvPr/>
        </p:nvSpPr>
        <p:spPr>
          <a:xfrm>
            <a:off x="8483162" y="7888552"/>
            <a:ext cx="3421409" cy="1393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/>
            </a:pPr>
            <a:r>
              <a:t>Q3</a:t>
            </a:r>
          </a:p>
          <a:p>
            <a:pPr>
              <a:defRPr sz="2200"/>
            </a:pPr>
            <a:r>
              <a:t>En Üst Çeyrek</a:t>
            </a:r>
          </a:p>
          <a:p>
            <a:pPr>
              <a:defRPr sz="2200"/>
            </a:pPr>
            <a:r>
              <a:t>Üst %50’nin medyanı</a:t>
            </a:r>
          </a:p>
        </p:txBody>
      </p:sp>
      <p:pic>
        <p:nvPicPr>
          <p:cNvPr id="157" name="Line Line" descr="Line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8644396">
            <a:off x="3528272" y="7626985"/>
            <a:ext cx="1350607" cy="405069"/>
          </a:xfrm>
          <a:prstGeom prst="rect">
            <a:avLst/>
          </a:prstGeom>
        </p:spPr>
      </p:pic>
      <p:pic>
        <p:nvPicPr>
          <p:cNvPr id="159" name="Line Line" descr="Line Lin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2011133">
            <a:off x="8134727" y="7622906"/>
            <a:ext cx="1430268" cy="405069"/>
          </a:xfrm>
          <a:prstGeom prst="rect">
            <a:avLst/>
          </a:prstGeom>
        </p:spPr>
      </p:pic>
      <p:pic>
        <p:nvPicPr>
          <p:cNvPr id="161" name="Line Line" descr="Line Li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5400000">
            <a:off x="6044411" y="7839285"/>
            <a:ext cx="844612" cy="405070"/>
          </a:xfrm>
          <a:prstGeom prst="rect">
            <a:avLst/>
          </a:prstGeom>
        </p:spPr>
      </p:pic>
      <p:sp>
        <p:nvSpPr>
          <p:cNvPr id="163" name="IQR=7-4=3"/>
          <p:cNvSpPr txBox="1"/>
          <p:nvPr/>
        </p:nvSpPr>
        <p:spPr>
          <a:xfrm>
            <a:off x="10051522" y="6581312"/>
            <a:ext cx="2611528" cy="705812"/>
          </a:xfrm>
          <a:prstGeom prst="rect">
            <a:avLst/>
          </a:prstGeom>
          <a:blipFill>
            <a:blip r:embed="rId8"/>
          </a:blipFill>
          <a:ln w="12700">
            <a:miter lim="400000"/>
          </a:ln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pPr/>
            <a:r>
              <a:t>IQR=7-4=3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Örnek Çözelim"/>
          <p:cNvSpPr txBox="1"/>
          <p:nvPr>
            <p:ph type="title"/>
          </p:nvPr>
        </p:nvSpPr>
        <p:spPr>
          <a:xfrm>
            <a:off x="474133" y="389466"/>
            <a:ext cx="10112773" cy="1222575"/>
          </a:xfrm>
          <a:prstGeom prst="rect">
            <a:avLst/>
          </a:prstGeom>
        </p:spPr>
        <p:txBody>
          <a:bodyPr/>
          <a:lstStyle>
            <a:lvl1pPr algn="l">
              <a:defRPr sz="4400">
                <a:solidFill>
                  <a:schemeClr val="accent5"/>
                </a:solidFill>
              </a:defRPr>
            </a:lvl1pPr>
          </a:lstStyle>
          <a:p>
            <a:pPr/>
            <a:r>
              <a:t>Örnek Çözelim</a:t>
            </a:r>
          </a:p>
        </p:txBody>
      </p:sp>
      <p:sp>
        <p:nvSpPr>
          <p:cNvPr id="166" name="Aşağıdaki veri seti için IQR nedir?…"/>
          <p:cNvSpPr txBox="1"/>
          <p:nvPr>
            <p:ph type="body" idx="1"/>
          </p:nvPr>
        </p:nvSpPr>
        <p:spPr>
          <a:xfrm>
            <a:off x="499996" y="1915583"/>
            <a:ext cx="11234804" cy="6593417"/>
          </a:xfrm>
          <a:prstGeom prst="rect">
            <a:avLst/>
          </a:prstGeom>
        </p:spPr>
        <p:txBody>
          <a:bodyPr anchor="t"/>
          <a:lstStyle/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Aşağıdaki veri seti için IQR nedir?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 </a:t>
            </a:r>
            <a:r>
              <a:t>100, 64, 75, 82, 96, 50, 78, 62, 80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1 → Veri setini sıraya dizelim ve medyanı bulalım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50 62 </a:t>
            </a:r>
            <a:r>
              <a:t>64 </a:t>
            </a:r>
            <a:r>
              <a:t>75 </a:t>
            </a:r>
            <a:r>
              <a:t>78 80 </a:t>
            </a:r>
            <a:r>
              <a:t>82 96 100 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Medyan değeri =78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2 → 1. ve 3. çeyrekleri bulalım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1. çeyrek (62+64)/2=63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3. çeyrek (82+96)/2= 89</a:t>
            </a: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</a:p>
          <a:p>
            <a:pPr marL="0" indent="0" defTabSz="397763">
              <a:spcBef>
                <a:spcPts val="0"/>
              </a:spcBef>
              <a:buSzTx/>
              <a:buNone/>
              <a:defRPr sz="2784"/>
            </a:pPr>
            <a:r>
              <a:t>IQR = 89 – 63 = </a:t>
            </a:r>
            <a:r>
              <a:rPr>
                <a:solidFill>
                  <a:schemeClr val="accent5"/>
                </a:solidFill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Oval"/>
          <p:cNvSpPr/>
          <p:nvPr/>
        </p:nvSpPr>
        <p:spPr>
          <a:xfrm>
            <a:off x="7507452" y="4878224"/>
            <a:ext cx="1221715" cy="79600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sx="100000" sy="100000" kx="0" ky="0" algn="b" rotWithShape="0" blurRad="2794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69" name="Çeyrekler Arası Açıklık…"/>
          <p:cNvSpPr txBox="1"/>
          <p:nvPr>
            <p:ph type="title"/>
          </p:nvPr>
        </p:nvSpPr>
        <p:spPr>
          <a:xfrm>
            <a:off x="1270000" y="203200"/>
            <a:ext cx="10464800" cy="1364133"/>
          </a:xfrm>
          <a:prstGeom prst="rect">
            <a:avLst/>
          </a:prstGeom>
        </p:spPr>
        <p:txBody>
          <a:bodyPr/>
          <a:lstStyle/>
          <a:p>
            <a:pPr defTabSz="210311">
              <a:defRPr sz="3312"/>
            </a:pPr>
            <a:r>
              <a:t>Çeyrekler Arası Açıklık </a:t>
            </a:r>
          </a:p>
          <a:p>
            <a:pPr defTabSz="210311">
              <a:defRPr sz="3312"/>
            </a:pPr>
            <a:r>
              <a:t>(Inter Quartile Range-IQR)</a:t>
            </a:r>
          </a:p>
        </p:txBody>
      </p:sp>
      <p:sp>
        <p:nvSpPr>
          <p:cNvPr id="170" name="Veri  setindeki gözlem sayısı çift bir sayı ise medyan 5 ile 6’nın arasındadır. Aynı şekilde üst ve alt grupların da medyan değerleri grupların gözlem sayısının çift veya tek olmasına göre hesaplanır."/>
          <p:cNvSpPr txBox="1"/>
          <p:nvPr>
            <p:ph type="body" idx="1"/>
          </p:nvPr>
        </p:nvSpPr>
        <p:spPr>
          <a:xfrm>
            <a:off x="1270000" y="2043448"/>
            <a:ext cx="10464800" cy="6465552"/>
          </a:xfrm>
          <a:prstGeom prst="rect">
            <a:avLst/>
          </a:prstGeom>
        </p:spPr>
        <p:txBody>
          <a:bodyPr anchor="t"/>
          <a:lstStyle>
            <a:lvl1pPr algn="just">
              <a:buBlip>
                <a:blip r:embed="rId2"/>
              </a:buBlip>
              <a:defRPr sz="2600"/>
            </a:lvl1pPr>
          </a:lstStyle>
          <a:p>
            <a:pPr/>
            <a:r>
              <a:t>Veri  setindeki gözlem sayısı çift bir sayı ise medyan 5 ile 6’nın arasındadır. Aynı şekilde üst ve alt grupların da medyan değerleri grupların gözlem sayısının çift veya tek olmasına göre hesaplanır. </a:t>
            </a:r>
          </a:p>
        </p:txBody>
      </p:sp>
      <p:sp>
        <p:nvSpPr>
          <p:cNvPr id="171" name="Oval"/>
          <p:cNvSpPr/>
          <p:nvPr/>
        </p:nvSpPr>
        <p:spPr>
          <a:xfrm>
            <a:off x="4459452" y="4885218"/>
            <a:ext cx="1377687" cy="796000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sx="100000" sy="100000" kx="0" ky="0" algn="b" rotWithShape="0" blurRad="2794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72" name="Oval"/>
          <p:cNvSpPr/>
          <p:nvPr/>
        </p:nvSpPr>
        <p:spPr>
          <a:xfrm>
            <a:off x="5983452" y="4885218"/>
            <a:ext cx="1377686" cy="796000"/>
          </a:xfrm>
          <a:prstGeom prst="ellipse">
            <a:avLst/>
          </a:prstGeom>
          <a:solidFill>
            <a:schemeClr val="accent2">
              <a:hueOff val="1462849"/>
              <a:satOff val="-6597"/>
              <a:lumOff val="-35580"/>
            </a:schemeClr>
          </a:solidFill>
          <a:ln w="12700">
            <a:miter lim="400000"/>
          </a:ln>
          <a:effectLst>
            <a:outerShdw sx="100000" sy="100000" kx="0" ky="0" algn="b" rotWithShape="0" blurRad="279400" dist="0" dir="162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pPr>
          </a:p>
        </p:txBody>
      </p:sp>
      <p:sp>
        <p:nvSpPr>
          <p:cNvPr id="173" name="Ör.   2  4  4  5  6  7  8  9"/>
          <p:cNvSpPr txBox="1"/>
          <p:nvPr/>
        </p:nvSpPr>
        <p:spPr>
          <a:xfrm>
            <a:off x="2809708" y="4923318"/>
            <a:ext cx="6433484" cy="705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algn="l">
              <a:defRPr sz="3200"/>
            </a:pPr>
            <a:r>
              <a:t>Ör.   2  4  4  5  6  7  8  9</a:t>
            </a:r>
          </a:p>
        </p:txBody>
      </p:sp>
      <p:sp>
        <p:nvSpPr>
          <p:cNvPr id="174" name="Q2…"/>
          <p:cNvSpPr txBox="1"/>
          <p:nvPr/>
        </p:nvSpPr>
        <p:spPr>
          <a:xfrm>
            <a:off x="5252168" y="6478852"/>
            <a:ext cx="2911697" cy="182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/>
            </a:pPr>
            <a:r>
              <a:t>Q2 </a:t>
            </a:r>
          </a:p>
          <a:p>
            <a:pPr>
              <a:defRPr sz="2200"/>
            </a:pPr>
            <a:r>
              <a:t>Tüm veri setinin </a:t>
            </a:r>
          </a:p>
          <a:p>
            <a:pPr>
              <a:defRPr sz="2200"/>
            </a:pPr>
            <a:r>
              <a:t>Medyanı</a:t>
            </a:r>
          </a:p>
          <a:p>
            <a:pPr>
              <a:defRPr sz="2200"/>
            </a:pPr>
            <a:r>
              <a:t>(5+6)/5,5</a:t>
            </a:r>
          </a:p>
        </p:txBody>
      </p:sp>
      <p:sp>
        <p:nvSpPr>
          <p:cNvPr id="175" name="Q1…"/>
          <p:cNvSpPr txBox="1"/>
          <p:nvPr/>
        </p:nvSpPr>
        <p:spPr>
          <a:xfrm>
            <a:off x="1065911" y="6224852"/>
            <a:ext cx="3384361" cy="182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/>
            </a:pPr>
            <a:r>
              <a:t>Q1</a:t>
            </a:r>
          </a:p>
          <a:p>
            <a:pPr>
              <a:defRPr sz="2200"/>
            </a:pPr>
            <a:r>
              <a:t>En Alt Çeyrek</a:t>
            </a:r>
          </a:p>
          <a:p>
            <a:pPr>
              <a:defRPr sz="2200"/>
            </a:pPr>
            <a:r>
              <a:t>Alt %50’nin medyanı</a:t>
            </a:r>
          </a:p>
          <a:p>
            <a:pPr>
              <a:defRPr sz="2200"/>
            </a:pPr>
            <a:r>
              <a:t>(4+4)/2=4</a:t>
            </a:r>
          </a:p>
        </p:txBody>
      </p:sp>
      <p:sp>
        <p:nvSpPr>
          <p:cNvPr id="176" name="Q3…"/>
          <p:cNvSpPr txBox="1"/>
          <p:nvPr/>
        </p:nvSpPr>
        <p:spPr>
          <a:xfrm>
            <a:off x="8655350" y="6478852"/>
            <a:ext cx="3421409" cy="182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/>
            </a:pPr>
            <a:r>
              <a:t>Q3</a:t>
            </a:r>
          </a:p>
          <a:p>
            <a:pPr>
              <a:defRPr sz="2200"/>
            </a:pPr>
            <a:r>
              <a:t>En Üst Çeyrek</a:t>
            </a:r>
          </a:p>
          <a:p>
            <a:pPr>
              <a:defRPr sz="2200"/>
            </a:pPr>
            <a:r>
              <a:t>Üst %50’nin medyanı</a:t>
            </a:r>
          </a:p>
          <a:p>
            <a:pPr>
              <a:defRPr sz="2200"/>
            </a:pPr>
            <a:r>
              <a:t>(7+8)/2=7,5</a:t>
            </a:r>
          </a:p>
        </p:txBody>
      </p:sp>
      <p:pic>
        <p:nvPicPr>
          <p:cNvPr id="177" name="Line Line" descr="Line Lin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8644396">
            <a:off x="3528272" y="5975985"/>
            <a:ext cx="1350607" cy="405069"/>
          </a:xfrm>
          <a:prstGeom prst="rect">
            <a:avLst/>
          </a:prstGeom>
        </p:spPr>
      </p:pic>
      <p:pic>
        <p:nvPicPr>
          <p:cNvPr id="179" name="Line Line" descr="Line 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2011133">
            <a:off x="8134727" y="5971906"/>
            <a:ext cx="1430268" cy="405069"/>
          </a:xfrm>
          <a:prstGeom prst="rect">
            <a:avLst/>
          </a:prstGeom>
        </p:spPr>
      </p:pic>
      <p:pic>
        <p:nvPicPr>
          <p:cNvPr id="181" name="Line Line" descr="Line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5400000">
            <a:off x="6249990" y="5982935"/>
            <a:ext cx="844611" cy="405069"/>
          </a:xfrm>
          <a:prstGeom prst="rect">
            <a:avLst/>
          </a:prstGeom>
        </p:spPr>
      </p:pic>
      <p:sp>
        <p:nvSpPr>
          <p:cNvPr id="183" name="IQR=7,5-4,0=3,5"/>
          <p:cNvSpPr txBox="1"/>
          <p:nvPr/>
        </p:nvSpPr>
        <p:spPr>
          <a:xfrm>
            <a:off x="4631942" y="8757245"/>
            <a:ext cx="3740916" cy="705812"/>
          </a:xfrm>
          <a:prstGeom prst="rect">
            <a:avLst/>
          </a:prstGeom>
          <a:blipFill>
            <a:blip r:embed="rId6"/>
          </a:blipFill>
          <a:ln w="12700">
            <a:miter lim="400000"/>
          </a:ln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effectLst>
                  <a:outerShdw sx="100000" sy="100000" kx="0" ky="0" algn="b" rotWithShape="0" blurRad="63500" dist="25400" dir="270000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pPr/>
            <a:r>
              <a:t>IQR=7,5-4,0=3,5</a:t>
            </a:r>
          </a:p>
        </p:txBody>
      </p:sp>
      <p:pic>
        <p:nvPicPr>
          <p:cNvPr id="184" name="Line Line" descr="Line Li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6265728">
            <a:off x="5985853" y="5117839"/>
            <a:ext cx="1393528" cy="8890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 </a:t>
            </a:r>
          </a:p>
        </p:txBody>
      </p:sp>
      <p:sp>
        <p:nvSpPr>
          <p:cNvPr id="188" name="ŞİMDİ SINAVLAR VERİ SETİNDE UYGULAMA YAPALIM ☺"/>
          <p:cNvSpPr txBox="1"/>
          <p:nvPr>
            <p:ph type="title"/>
          </p:nvPr>
        </p:nvSpPr>
        <p:spPr>
          <a:xfrm>
            <a:off x="1270000" y="2861733"/>
            <a:ext cx="10464800" cy="2540001"/>
          </a:xfrm>
          <a:prstGeom prst="rect">
            <a:avLst/>
          </a:prstGeom>
        </p:spPr>
        <p:txBody>
          <a:bodyPr/>
          <a:lstStyle>
            <a:lvl1pPr algn="l">
              <a:defRPr sz="4300">
                <a:solidFill>
                  <a:schemeClr val="accent5"/>
                </a:solidFill>
              </a:defRPr>
            </a:lvl1pPr>
          </a:lstStyle>
          <a:p>
            <a:pPr/>
            <a:r>
              <a:t>ŞİMDİ SINAVLAR VERİ SETİNDE UYGULAMA YAPALIM 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Varyans ve Standart Sapma"/>
          <p:cNvSpPr txBox="1"/>
          <p:nvPr>
            <p:ph type="title"/>
          </p:nvPr>
        </p:nvSpPr>
        <p:spPr>
          <a:xfrm>
            <a:off x="1270000" y="203200"/>
            <a:ext cx="10464800" cy="834695"/>
          </a:xfrm>
          <a:prstGeom prst="rect">
            <a:avLst/>
          </a:prstGeom>
        </p:spPr>
        <p:txBody>
          <a:bodyPr/>
          <a:lstStyle>
            <a:lvl1pPr defTabSz="288036">
              <a:defRPr sz="4536"/>
            </a:lvl1pPr>
          </a:lstStyle>
          <a:p>
            <a:pPr/>
            <a:r>
              <a:t>Varyans ve Standart Sapma</a:t>
            </a:r>
          </a:p>
        </p:txBody>
      </p:sp>
      <p:sp>
        <p:nvSpPr>
          <p:cNvPr id="191" name="En yaygın kullanılan değişkenlik ölçüsüdür…"/>
          <p:cNvSpPr txBox="1"/>
          <p:nvPr>
            <p:ph type="body" sz="half" idx="1"/>
          </p:nvPr>
        </p:nvSpPr>
        <p:spPr>
          <a:xfrm>
            <a:off x="1107326" y="1769420"/>
            <a:ext cx="10464801" cy="2853665"/>
          </a:xfrm>
          <a:prstGeom prst="rect">
            <a:avLst/>
          </a:prstGeom>
        </p:spPr>
        <p:txBody>
          <a:bodyPr anchor="t"/>
          <a:lstStyle/>
          <a:p>
            <a:pPr marL="434340" indent="-434340" defTabSz="347472">
              <a:spcBef>
                <a:spcPts val="2700"/>
              </a:spcBef>
              <a:buBlip>
                <a:blip r:embed="rId2"/>
              </a:buBlip>
              <a:defRPr sz="2736"/>
            </a:pPr>
            <a:r>
              <a:t>En yaygın kullanılan değişkenlik ölçüsüdür</a:t>
            </a:r>
          </a:p>
          <a:p>
            <a:pPr marL="434340" indent="-434340" defTabSz="347472">
              <a:spcBef>
                <a:spcPts val="2700"/>
              </a:spcBef>
              <a:buBlip>
                <a:blip r:embed="rId2"/>
              </a:buBlip>
              <a:defRPr sz="2736"/>
            </a:pPr>
            <a:r>
              <a:t>Ortalamaya bağlı değişimi (yayılımı) gösterir</a:t>
            </a:r>
          </a:p>
          <a:p>
            <a:pPr lvl="1" marL="868680" indent="-434340" defTabSz="347472">
              <a:spcBef>
                <a:spcPts val="2700"/>
              </a:spcBef>
              <a:buBlip>
                <a:blip r:embed="rId2"/>
              </a:buBlip>
              <a:defRPr sz="2736"/>
            </a:pPr>
            <a:r>
              <a:t>Verilerin ortalamalarından sapmalara dayanır.</a:t>
            </a:r>
          </a:p>
        </p:txBody>
      </p:sp>
      <p:grpSp>
        <p:nvGrpSpPr>
          <p:cNvPr id="198" name="Group"/>
          <p:cNvGrpSpPr/>
          <p:nvPr/>
        </p:nvGrpSpPr>
        <p:grpSpPr>
          <a:xfrm>
            <a:off x="2066486" y="5218160"/>
            <a:ext cx="7496614" cy="4205240"/>
            <a:chOff x="0" y="0"/>
            <a:chExt cx="7496613" cy="4205239"/>
          </a:xfrm>
        </p:grpSpPr>
        <p:pic>
          <p:nvPicPr>
            <p:cNvPr id="192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61043"/>
              <a:ext cx="7496614" cy="4144197"/>
            </a:xfrm>
            <a:prstGeom prst="rect">
              <a:avLst/>
            </a:prstGeom>
            <a:ln w="88900" cap="flat">
              <a:noFill/>
              <a:miter lim="400000"/>
            </a:ln>
            <a:effectLst/>
          </p:spPr>
        </p:pic>
        <p:sp>
          <p:nvSpPr>
            <p:cNvPr id="193" name="ORTALAMA"/>
            <p:cNvSpPr txBox="1"/>
            <p:nvPr/>
          </p:nvSpPr>
          <p:spPr>
            <a:xfrm>
              <a:off x="2496430" y="-1"/>
              <a:ext cx="2503754" cy="705813"/>
            </a:xfrm>
            <a:prstGeom prst="rect">
              <a:avLst/>
            </a:prstGeom>
            <a:solidFill>
              <a:schemeClr val="accent3">
                <a:satOff val="-7512"/>
                <a:lumOff val="-1479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200">
                  <a:solidFill>
                    <a:srgbClr val="282A2F"/>
                  </a:solidFill>
                </a:defRPr>
              </a:lvl1pPr>
            </a:lstStyle>
            <a:p>
              <a:pPr/>
              <a:r>
                <a:t>ORTALAMA</a:t>
              </a:r>
            </a:p>
          </p:txBody>
        </p:sp>
        <p:sp>
          <p:nvSpPr>
            <p:cNvPr id="194" name="-2 Standart…"/>
            <p:cNvSpPr txBox="1"/>
            <p:nvPr/>
          </p:nvSpPr>
          <p:spPr>
            <a:xfrm>
              <a:off x="163139" y="3419270"/>
              <a:ext cx="1673882" cy="759138"/>
            </a:xfrm>
            <a:prstGeom prst="rect">
              <a:avLst/>
            </a:prstGeom>
            <a:blipFill rotWithShape="1">
              <a:blip r:embed="rId4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sx="100000" sy="100000" kx="0" ky="0" algn="b" rotWithShape="0" blurRad="63500" dist="0" dir="162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-2 Standart </a:t>
              </a:r>
            </a:p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Sapma</a:t>
              </a:r>
            </a:p>
          </p:txBody>
        </p:sp>
        <p:sp>
          <p:nvSpPr>
            <p:cNvPr id="195" name="-1 Standart…"/>
            <p:cNvSpPr txBox="1"/>
            <p:nvPr/>
          </p:nvSpPr>
          <p:spPr>
            <a:xfrm>
              <a:off x="2051205" y="3419270"/>
              <a:ext cx="1673883" cy="759138"/>
            </a:xfrm>
            <a:prstGeom prst="rect">
              <a:avLst/>
            </a:prstGeom>
            <a:blipFill rotWithShape="1">
              <a:blip r:embed="rId5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sx="100000" sy="100000" kx="0" ky="0" algn="b" rotWithShape="0" blurRad="63500" dist="0" dir="162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-1 Standart </a:t>
              </a:r>
            </a:p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Sapma</a:t>
              </a:r>
            </a:p>
          </p:txBody>
        </p:sp>
        <p:sp>
          <p:nvSpPr>
            <p:cNvPr id="196" name="+2 Standart…"/>
            <p:cNvSpPr txBox="1"/>
            <p:nvPr/>
          </p:nvSpPr>
          <p:spPr>
            <a:xfrm>
              <a:off x="5674939" y="3419270"/>
              <a:ext cx="1673883" cy="759138"/>
            </a:xfrm>
            <a:prstGeom prst="rect">
              <a:avLst/>
            </a:prstGeom>
            <a:blipFill rotWithShape="1">
              <a:blip r:embed="rId6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sx="100000" sy="100000" kx="0" ky="0" algn="b" rotWithShape="0" blurRad="63500" dist="0" dir="162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+2 Standart </a:t>
              </a:r>
            </a:p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Sapma</a:t>
              </a:r>
            </a:p>
          </p:txBody>
        </p:sp>
        <p:sp>
          <p:nvSpPr>
            <p:cNvPr id="197" name="+1Standart…"/>
            <p:cNvSpPr txBox="1"/>
            <p:nvPr/>
          </p:nvSpPr>
          <p:spPr>
            <a:xfrm>
              <a:off x="3863072" y="3419270"/>
              <a:ext cx="1673883" cy="759138"/>
            </a:xfrm>
            <a:prstGeom prst="rect">
              <a:avLst/>
            </a:prstGeom>
            <a:blipFill rotWithShape="1">
              <a:blip r:embed="rId7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sx="100000" sy="100000" kx="0" ky="0" algn="b" rotWithShape="0" blurRad="63500" dist="0" dir="162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+1Standart </a:t>
              </a:r>
            </a:p>
            <a:p>
              <a:pPr>
                <a:defRPr sz="1700">
                  <a:effectLst>
                    <a:outerShdw sx="100000" sy="100000" kx="0" ky="0" algn="b" rotWithShape="0" blurRad="63500" dist="25400" dir="2700000">
                      <a:srgbClr val="000000">
                        <a:alpha val="70000"/>
                      </a:srgbClr>
                    </a:outerShdw>
                  </a:effectLst>
                </a:defRPr>
              </a:pPr>
              <a:r>
                <a:t>Sapma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aryans ve Standart Sapma"/>
          <p:cNvSpPr txBox="1"/>
          <p:nvPr>
            <p:ph type="title"/>
          </p:nvPr>
        </p:nvSpPr>
        <p:spPr>
          <a:xfrm>
            <a:off x="1270000" y="203200"/>
            <a:ext cx="10464800" cy="1167474"/>
          </a:xfrm>
          <a:prstGeom prst="rect">
            <a:avLst/>
          </a:prstGeom>
        </p:spPr>
        <p:txBody>
          <a:bodyPr/>
          <a:lstStyle>
            <a:lvl1pPr defTabSz="333756">
              <a:defRPr sz="5256"/>
            </a:lvl1pPr>
          </a:lstStyle>
          <a:p>
            <a:pPr/>
            <a:r>
              <a:t>Varyans ve Standart Sapma</a:t>
            </a:r>
          </a:p>
        </p:txBody>
      </p:sp>
      <p:sp>
        <p:nvSpPr>
          <p:cNvPr id="201" name="Varyans bır dağılımıdaki gözlemlerin kendi ortalamasından sapmasının karesinin beklenen değeridir…"/>
          <p:cNvSpPr txBox="1"/>
          <p:nvPr>
            <p:ph type="body" idx="1"/>
          </p:nvPr>
        </p:nvSpPr>
        <p:spPr>
          <a:xfrm>
            <a:off x="297238" y="1688127"/>
            <a:ext cx="12158200" cy="4730394"/>
          </a:xfrm>
          <a:prstGeom prst="rect">
            <a:avLst/>
          </a:prstGeom>
        </p:spPr>
        <p:txBody>
          <a:bodyPr anchor="t"/>
          <a:lstStyle/>
          <a:p>
            <a:pPr marL="0" indent="0" defTabSz="265175">
              <a:spcBef>
                <a:spcPts val="0"/>
              </a:spcBef>
              <a:buSzTx/>
              <a:buNone/>
              <a:defRPr sz="1971"/>
            </a:pPr>
            <a:r>
              <a:rPr>
                <a:solidFill>
                  <a:schemeClr val="accent5"/>
                </a:solidFill>
              </a:rPr>
              <a:t>Varyans</a:t>
            </a:r>
            <a:r>
              <a:t> bır dağılımıdaki gözlemlerin kendi ortalamasından sapmasının karesinin beklenen değeridir</a:t>
            </a:r>
          </a:p>
          <a:p>
            <a:pPr lvl="1" marL="506412" indent="-174942" defTabSz="265175">
              <a:spcBef>
                <a:spcPts val="0"/>
              </a:spcBef>
              <a:buBlip>
                <a:blip r:embed="rId2"/>
              </a:buBlip>
              <a:defRPr sz="1971"/>
            </a:pPr>
            <a:r>
              <a:t>Dağılıma ait herbir değerin dağılımın ortalamasından ne kadar uzak olduğuyla ilgilidir </a:t>
            </a:r>
          </a:p>
          <a:p>
            <a:pPr lvl="1" marL="506412" indent="-174942" defTabSz="265175">
              <a:spcBef>
                <a:spcPts val="0"/>
              </a:spcBef>
              <a:buBlip>
                <a:blip r:embed="rId2"/>
              </a:buBlip>
              <a:defRPr sz="1971"/>
            </a:pPr>
            <a:r>
              <a:t>Varyans</a:t>
            </a:r>
            <a:r>
              <a:t> söz konusu sapmaların ortalama değerini ölçmede kullanılır</a:t>
            </a:r>
          </a:p>
          <a:p>
            <a:pPr marL="0" indent="0" defTabSz="265175">
              <a:spcBef>
                <a:spcPts val="0"/>
              </a:spcBef>
              <a:buSzTx/>
              <a:buNone/>
              <a:defRPr sz="1971"/>
            </a:pPr>
          </a:p>
          <a:p>
            <a:pPr marL="0" indent="0" defTabSz="265175">
              <a:spcBef>
                <a:spcPts val="0"/>
              </a:spcBef>
              <a:buSzTx/>
              <a:buNone/>
              <a:defRPr sz="1971"/>
            </a:pPr>
            <a:r>
              <a:rPr>
                <a:solidFill>
                  <a:schemeClr val="accent5"/>
                </a:solidFill>
              </a:rPr>
              <a:t>Standart sapma</a:t>
            </a:r>
            <a:r>
              <a:rPr>
                <a:solidFill>
                  <a:schemeClr val="accent5"/>
                </a:solidFill>
              </a:rPr>
              <a:t> </a:t>
            </a:r>
            <a:r>
              <a:t>varyansın kare köküdür. </a:t>
            </a:r>
          </a:p>
          <a:p>
            <a:pPr lvl="1" marL="506412" indent="-174942" defTabSz="265175">
              <a:spcBef>
                <a:spcPts val="0"/>
              </a:spcBef>
              <a:buBlip>
                <a:blip r:embed="rId2"/>
              </a:buBlip>
              <a:defRPr sz="1971"/>
            </a:pPr>
            <a:r>
              <a:t>Matematiksel bir ifade ile </a:t>
            </a:r>
            <a:r>
              <a:t>standart sapma</a:t>
            </a:r>
            <a:r>
              <a:t> veri değerlerinin aritmetik ortalamadan farklarının karelerinin toplamının gözlem sayısı (n) -1'e bölümünün kare köküdür</a:t>
            </a:r>
          </a:p>
          <a:p>
            <a:pPr lvl="2" marL="837882" indent="-174942" defTabSz="265175">
              <a:spcBef>
                <a:spcPts val="0"/>
              </a:spcBef>
              <a:buBlip>
                <a:blip r:embed="rId2"/>
              </a:buBlip>
              <a:defRPr sz="1971"/>
            </a:pPr>
            <a:r>
              <a:t> yani verilerin ortalamadan sapmalarının kareler ortalamasının karekökü olarak tanımlanır</a:t>
            </a:r>
          </a:p>
        </p:txBody>
      </p:sp>
      <p:pic>
        <p:nvPicPr>
          <p:cNvPr id="202" name="Screen Shot 2018-10-30 at 18.04.17.png" descr="Screen Shot 2018-10-30 at 18.04.1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59529" y="6587728"/>
            <a:ext cx="9443706" cy="2726529"/>
          </a:xfrm>
          <a:prstGeom prst="rect">
            <a:avLst/>
          </a:prstGeom>
          <a:ln w="88900">
            <a:miter lim="400000"/>
          </a:ln>
        </p:spPr>
      </p:pic>
      <p:sp>
        <p:nvSpPr>
          <p:cNvPr id="203" name="Örneklemin…"/>
          <p:cNvSpPr txBox="1"/>
          <p:nvPr/>
        </p:nvSpPr>
        <p:spPr>
          <a:xfrm>
            <a:off x="8127304" y="8409252"/>
            <a:ext cx="2794688" cy="961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solidFill>
                  <a:schemeClr val="accent5">
                    <a:hueOff val="457874"/>
                    <a:satOff val="-29218"/>
                    <a:lumOff val="-29125"/>
                  </a:schemeClr>
                </a:solidFill>
              </a:defRPr>
            </a:pPr>
            <a:r>
              <a:t>Örneklemin </a:t>
            </a:r>
          </a:p>
          <a:p>
            <a:pPr>
              <a:defRPr sz="2200">
                <a:solidFill>
                  <a:schemeClr val="accent5">
                    <a:hueOff val="457874"/>
                    <a:satOff val="-29218"/>
                    <a:lumOff val="-29125"/>
                  </a:schemeClr>
                </a:solidFill>
              </a:defRPr>
            </a:pPr>
            <a:r>
              <a:t>Standart Sapması</a:t>
            </a:r>
          </a:p>
        </p:txBody>
      </p:sp>
      <p:sp>
        <p:nvSpPr>
          <p:cNvPr id="204" name="Örneklemin Varyansı"/>
          <p:cNvSpPr txBox="1"/>
          <p:nvPr/>
        </p:nvSpPr>
        <p:spPr>
          <a:xfrm>
            <a:off x="3081928" y="8358705"/>
            <a:ext cx="2345167" cy="1062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chemeClr val="accent5">
                    <a:hueOff val="457874"/>
                    <a:satOff val="-29218"/>
                    <a:lumOff val="-29125"/>
                  </a:schemeClr>
                </a:solidFill>
              </a:defRPr>
            </a:lvl1pPr>
          </a:lstStyle>
          <a:p>
            <a:pPr/>
            <a:r>
              <a:t>Örneklemin Varyansı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Varyans ve Standart Sapma"/>
          <p:cNvSpPr txBox="1"/>
          <p:nvPr>
            <p:ph type="title"/>
          </p:nvPr>
        </p:nvSpPr>
        <p:spPr>
          <a:xfrm>
            <a:off x="1270000" y="203200"/>
            <a:ext cx="10464800" cy="1167474"/>
          </a:xfrm>
          <a:prstGeom prst="rect">
            <a:avLst/>
          </a:prstGeom>
        </p:spPr>
        <p:txBody>
          <a:bodyPr/>
          <a:lstStyle>
            <a:lvl1pPr defTabSz="333756">
              <a:defRPr sz="5256"/>
            </a:lvl1pPr>
          </a:lstStyle>
          <a:p>
            <a:pPr/>
            <a:r>
              <a:t>Varyans ve Standart Sapma</a:t>
            </a:r>
          </a:p>
        </p:txBody>
      </p:sp>
      <p:sp>
        <p:nvSpPr>
          <p:cNvPr id="207" name="Formülde bölen olarak popülasyon büyüklüğü (N) veya örneklem büyüklüğü (n-1) kullanılabilir…"/>
          <p:cNvSpPr txBox="1"/>
          <p:nvPr>
            <p:ph type="body" sz="half" idx="1"/>
          </p:nvPr>
        </p:nvSpPr>
        <p:spPr>
          <a:xfrm>
            <a:off x="1107326" y="1688127"/>
            <a:ext cx="11144449" cy="3699206"/>
          </a:xfrm>
          <a:prstGeom prst="rect">
            <a:avLst/>
          </a:prstGeom>
        </p:spPr>
        <p:txBody>
          <a:bodyPr anchor="t"/>
          <a:lstStyle/>
          <a:p>
            <a:pPr marL="411480" indent="-411480" defTabSz="329184">
              <a:spcBef>
                <a:spcPts val="2500"/>
              </a:spcBef>
              <a:buBlip>
                <a:blip r:embed="rId2"/>
              </a:buBlip>
              <a:defRPr sz="2592"/>
            </a:pPr>
            <a:r>
              <a:t>Formülde bölen olarak </a:t>
            </a:r>
            <a:r>
              <a:rPr>
                <a:solidFill>
                  <a:schemeClr val="accent3">
                    <a:satOff val="-19059"/>
                    <a:lumOff val="-22550"/>
                  </a:schemeClr>
                </a:solidFill>
              </a:rPr>
              <a:t>popülasyon </a:t>
            </a:r>
            <a:r>
              <a:t>büyüklüğü (N) veya </a:t>
            </a:r>
            <a:r>
              <a:rPr>
                <a:solidFill>
                  <a:schemeClr val="accent3">
                    <a:satOff val="-19059"/>
                    <a:lumOff val="-22550"/>
                  </a:schemeClr>
                </a:solidFill>
              </a:rPr>
              <a:t>örneklem</a:t>
            </a:r>
            <a:r>
              <a:t> büyüklüğü (n-1) kullanılabilir</a:t>
            </a:r>
          </a:p>
          <a:p>
            <a:pPr lvl="1" marL="822960" indent="-411480" defTabSz="329184">
              <a:spcBef>
                <a:spcPts val="2500"/>
              </a:spcBef>
              <a:buBlip>
                <a:blip r:embed="rId2"/>
              </a:buBlip>
              <a:defRPr sz="2592"/>
            </a:pPr>
            <a:r>
              <a:t>Eğer veriler kendi başına bir popülasyon olarak kabul edilebilirse, bölen”N olarak” alınmalıdır.</a:t>
            </a:r>
          </a:p>
          <a:p>
            <a:pPr lvl="1" marL="822960" indent="-411480" defTabSz="329184">
              <a:spcBef>
                <a:spcPts val="2500"/>
              </a:spcBef>
              <a:buBlip>
                <a:blip r:embed="rId2"/>
              </a:buBlip>
              <a:defRPr sz="2592"/>
            </a:pPr>
            <a:r>
              <a:t>Eğer veriler bir popülasyondan alınmış örneklem ise, bölen “n-1” olarak alınmalıdır</a:t>
            </a:r>
          </a:p>
        </p:txBody>
      </p:sp>
      <p:pic>
        <p:nvPicPr>
          <p:cNvPr id="208" name="Screen Shot 2018-10-30 at 18.10.03.png" descr="Screen Shot 2018-10-30 at 18.10.0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7150" y="6260357"/>
            <a:ext cx="10464801" cy="2201922"/>
          </a:xfrm>
          <a:prstGeom prst="rect">
            <a:avLst/>
          </a:prstGeom>
          <a:ln w="88900">
            <a:miter lim="400000"/>
          </a:ln>
        </p:spPr>
      </p:pic>
      <p:sp>
        <p:nvSpPr>
          <p:cNvPr id="209" name="Örneklem"/>
          <p:cNvSpPr txBox="1"/>
          <p:nvPr/>
        </p:nvSpPr>
        <p:spPr>
          <a:xfrm>
            <a:off x="9108095" y="8421952"/>
            <a:ext cx="1645907" cy="529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5"/>
                </a:solidFill>
              </a:defRPr>
            </a:lvl1pPr>
          </a:lstStyle>
          <a:p>
            <a:pPr/>
            <a:r>
              <a:t>Örneklem</a:t>
            </a:r>
          </a:p>
        </p:txBody>
      </p:sp>
      <p:sp>
        <p:nvSpPr>
          <p:cNvPr id="210" name="Popülasyon"/>
          <p:cNvSpPr txBox="1"/>
          <p:nvPr/>
        </p:nvSpPr>
        <p:spPr>
          <a:xfrm>
            <a:off x="2963395" y="8396805"/>
            <a:ext cx="2345167" cy="579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chemeClr val="accent5"/>
                </a:solidFill>
              </a:defRPr>
            </a:lvl1pPr>
          </a:lstStyle>
          <a:p>
            <a:pPr/>
            <a:r>
              <a:t>Popülasyon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Varyansın ve Standart Sapmanın Hesaplanması"/>
          <p:cNvSpPr txBox="1"/>
          <p:nvPr>
            <p:ph type="title"/>
          </p:nvPr>
        </p:nvSpPr>
        <p:spPr>
          <a:xfrm>
            <a:off x="682823" y="203200"/>
            <a:ext cx="11976762" cy="1303867"/>
          </a:xfrm>
          <a:prstGeom prst="rect">
            <a:avLst/>
          </a:prstGeom>
        </p:spPr>
        <p:txBody>
          <a:bodyPr/>
          <a:lstStyle>
            <a:lvl1pPr defTabSz="196596">
              <a:defRPr sz="3526">
                <a:solidFill>
                  <a:schemeClr val="accent5"/>
                </a:solidFill>
              </a:defRPr>
            </a:lvl1pPr>
          </a:lstStyle>
          <a:p>
            <a:pPr/>
            <a:r>
              <a:t>Varyansın ve Standart Sapmanın Hesaplanması</a:t>
            </a:r>
          </a:p>
        </p:txBody>
      </p:sp>
      <p:sp>
        <p:nvSpPr>
          <p:cNvPr id="213" name="Veri setinin ortalamasını hesaplayın…"/>
          <p:cNvSpPr txBox="1"/>
          <p:nvPr>
            <p:ph type="body" sz="half" idx="1"/>
          </p:nvPr>
        </p:nvSpPr>
        <p:spPr>
          <a:xfrm>
            <a:off x="1107326" y="1688127"/>
            <a:ext cx="6896961" cy="6760634"/>
          </a:xfrm>
          <a:prstGeom prst="rect">
            <a:avLst/>
          </a:prstGeom>
        </p:spPr>
        <p:txBody>
          <a:bodyPr anchor="t"/>
          <a:lstStyle/>
          <a:p>
            <a:pPr marL="569976" indent="-569976" defTabSz="301752">
              <a:spcBef>
                <a:spcPts val="2300"/>
              </a:spcBef>
              <a:buSzPct val="100000"/>
              <a:buAutoNum type="arabicPeriod" startAt="1"/>
              <a:defRPr sz="2376"/>
            </a:pPr>
            <a:r>
              <a:t>Veri setinin ortalamasını hesaplayın </a:t>
            </a:r>
          </a:p>
          <a:p>
            <a:pPr marL="569976" indent="-569976" defTabSz="301752">
              <a:spcBef>
                <a:spcPts val="2300"/>
              </a:spcBef>
              <a:buSzPct val="100000"/>
              <a:buAutoNum type="arabicPeriod" startAt="1"/>
              <a:defRPr sz="2376"/>
            </a:pPr>
            <a:r>
              <a:t>Veri setindeki Her bir gözlem değerinin ortalamadan farkını alın</a:t>
            </a:r>
          </a:p>
          <a:p>
            <a:pPr marL="569976" indent="-569976" defTabSz="301752">
              <a:spcBef>
                <a:spcPts val="2300"/>
              </a:spcBef>
              <a:buSzPct val="100000"/>
              <a:buAutoNum type="arabicPeriod" startAt="1"/>
              <a:defRPr sz="2376"/>
            </a:pPr>
            <a:r>
              <a:t>Her bir farkın karesini alın</a:t>
            </a:r>
          </a:p>
          <a:p>
            <a:pPr marL="569976" indent="-569976" defTabSz="301752">
              <a:spcBef>
                <a:spcPts val="2300"/>
              </a:spcBef>
              <a:buSzPct val="100000"/>
              <a:buAutoNum type="arabicPeriod" startAt="1"/>
              <a:defRPr sz="2376"/>
            </a:pPr>
            <a:r>
              <a:t>Farkların karelerinin toplamını alın </a:t>
            </a:r>
          </a:p>
          <a:p>
            <a:pPr marL="569976" indent="-569976" defTabSz="301752">
              <a:spcBef>
                <a:spcPts val="2300"/>
              </a:spcBef>
              <a:buSzPct val="100000"/>
              <a:buAutoNum type="arabicPeriod" startAt="1"/>
              <a:defRPr sz="2376"/>
            </a:pPr>
            <a:r>
              <a:rPr>
                <a:solidFill>
                  <a:schemeClr val="accent5"/>
                </a:solidFill>
              </a:rPr>
              <a:t>Varyansı </a:t>
            </a:r>
            <a:r>
              <a:t>bulmak için farkların kareler toplamını (n-1)’e bölün</a:t>
            </a:r>
          </a:p>
          <a:p>
            <a:pPr marL="569976" indent="-569976" defTabSz="301752">
              <a:spcBef>
                <a:spcPts val="2300"/>
              </a:spcBef>
              <a:buSzPct val="100000"/>
              <a:buAutoNum type="arabicPeriod" startAt="1"/>
              <a:defRPr sz="2376"/>
            </a:pPr>
            <a:r>
              <a:rPr>
                <a:solidFill>
                  <a:schemeClr val="accent5"/>
                </a:solidFill>
              </a:rPr>
              <a:t>Standart sapmaya</a:t>
            </a:r>
            <a:r>
              <a:t> ulaşmak için varyans sonucunun kare kökünü alın</a:t>
            </a:r>
          </a:p>
        </p:txBody>
      </p:sp>
      <p:pic>
        <p:nvPicPr>
          <p:cNvPr id="214" name="Screen Shot 2018-10-30 at 18.11.47.png" descr="Screen Shot 2018-10-30 at 18.11.47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6841" y="2910681"/>
            <a:ext cx="4258828" cy="367221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Varyans ve Standart Sapma"/>
          <p:cNvSpPr txBox="1"/>
          <p:nvPr>
            <p:ph type="title"/>
          </p:nvPr>
        </p:nvSpPr>
        <p:spPr>
          <a:xfrm>
            <a:off x="1270000" y="203200"/>
            <a:ext cx="10464800" cy="1167474"/>
          </a:xfrm>
          <a:prstGeom prst="rect">
            <a:avLst/>
          </a:prstGeom>
        </p:spPr>
        <p:txBody>
          <a:bodyPr/>
          <a:lstStyle>
            <a:lvl1pPr defTabSz="333756">
              <a:defRPr sz="5256"/>
            </a:lvl1pPr>
          </a:lstStyle>
          <a:p>
            <a:pPr/>
            <a:r>
              <a:t>Varyans ve Standart Sapma</a:t>
            </a:r>
          </a:p>
        </p:txBody>
      </p:sp>
      <p:sp>
        <p:nvSpPr>
          <p:cNvPr id="217" name="Şimdi aşağıda bu adımları bir örnekle görelim (n=5)"/>
          <p:cNvSpPr txBox="1"/>
          <p:nvPr>
            <p:ph type="body" sz="quarter" idx="1"/>
          </p:nvPr>
        </p:nvSpPr>
        <p:spPr>
          <a:xfrm>
            <a:off x="1107326" y="1688127"/>
            <a:ext cx="10464801" cy="867437"/>
          </a:xfrm>
          <a:prstGeom prst="rect">
            <a:avLst/>
          </a:prstGeom>
        </p:spPr>
        <p:txBody>
          <a:bodyPr anchor="t"/>
          <a:lstStyle>
            <a:lvl1pPr marL="411480" indent="-411480" defTabSz="329184">
              <a:spcBef>
                <a:spcPts val="2500"/>
              </a:spcBef>
              <a:buBlip>
                <a:blip r:embed="rId2"/>
              </a:buBlip>
              <a:defRPr sz="2592"/>
            </a:lvl1pPr>
          </a:lstStyle>
          <a:p>
            <a:pPr/>
            <a:r>
              <a:t>Şimdi aşağıda bu adımları bir örnekle görelim (n=5) </a:t>
            </a:r>
          </a:p>
        </p:txBody>
      </p:sp>
      <p:pic>
        <p:nvPicPr>
          <p:cNvPr id="218" name="Screen Shot 2018-10-30 at 18.27.02.png" descr="Screen Shot 2018-10-30 at 18.27.0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13507" y="2622814"/>
            <a:ext cx="9603186" cy="5138751"/>
          </a:xfrm>
          <a:prstGeom prst="rect">
            <a:avLst/>
          </a:prstGeom>
          <a:ln w="88900">
            <a:miter lim="400000"/>
          </a:ln>
        </p:spPr>
      </p:pic>
      <p:sp>
        <p:nvSpPr>
          <p:cNvPr id="219" name="Varyans= 114/(5-1)=114/4=28,5…"/>
          <p:cNvSpPr txBox="1"/>
          <p:nvPr/>
        </p:nvSpPr>
        <p:spPr>
          <a:xfrm>
            <a:off x="1014419" y="7789873"/>
            <a:ext cx="10650614" cy="1925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200"/>
            </a:pPr>
            <a:r>
              <a:t>Varyans= 114/(5-1)=114/4=28,5</a:t>
            </a:r>
          </a:p>
          <a:p>
            <a:pPr>
              <a:defRPr sz="3200"/>
            </a:pPr>
            <a:r>
              <a:t>Standart sapma için 28,5’un karekökü alınır </a:t>
            </a:r>
          </a:p>
          <a:p>
            <a:pPr>
              <a:defRPr sz="3200"/>
            </a:pPr>
            <a:r>
              <a:t>bu da yaklaşık 5,3 olacaktır.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 </a:t>
            </a:r>
          </a:p>
        </p:txBody>
      </p:sp>
      <p:sp>
        <p:nvSpPr>
          <p:cNvPr id="222" name="ŞİMDİ SINAVLAR VERİ SETİNDE UYGULAMA YAPALIM ☺"/>
          <p:cNvSpPr txBox="1"/>
          <p:nvPr>
            <p:ph type="title"/>
          </p:nvPr>
        </p:nvSpPr>
        <p:spPr>
          <a:xfrm>
            <a:off x="1270000" y="2861733"/>
            <a:ext cx="10464800" cy="2540001"/>
          </a:xfrm>
          <a:prstGeom prst="rect">
            <a:avLst/>
          </a:prstGeom>
        </p:spPr>
        <p:txBody>
          <a:bodyPr/>
          <a:lstStyle>
            <a:lvl1pPr algn="l">
              <a:defRPr sz="4300">
                <a:solidFill>
                  <a:schemeClr val="accent5"/>
                </a:solidFill>
              </a:defRPr>
            </a:lvl1pPr>
          </a:lstStyle>
          <a:p>
            <a:pPr/>
            <a:r>
              <a:t>ŞİMDİ SINAVLAR VERİ SETİNDE UYGULAMA YAPALIM 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2.jpe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3.jpeg"/></Relationships>

</file>

<file path=ppt/theme/theme1.xml><?xml version="1.0" encoding="utf-8"?>
<a:theme xmlns:a="http://schemas.openxmlformats.org/drawingml/2006/main" xmlns:r="http://schemas.openxmlformats.org/officeDocument/2006/relationships" name="Chalkboard">
  <a:themeElements>
    <a:clrScheme name="Chalkboard">
      <a:dk1>
        <a:srgbClr val="BF00FF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63500" dist="0" dir="162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63500" dist="25400" dir="270000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63500" dist="0" dir="162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63500" dist="25400" dir="270000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